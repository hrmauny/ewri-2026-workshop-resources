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  <p:sldMasterId id="2147483652" r:id="rId3"/>
    <p:sldMasterId id="2147483670" r:id="rId4"/>
    <p:sldMasterId id="2147483658" r:id="rId5"/>
    <p:sldMasterId id="2147483655" r:id="rId6"/>
  </p:sldMasterIdLst>
  <p:notesMasterIdLst>
    <p:notesMasterId r:id="rId19"/>
  </p:notesMasterIdLst>
  <p:sldIdLst>
    <p:sldId id="256" r:id="rId7"/>
    <p:sldId id="273" r:id="rId8"/>
    <p:sldId id="267" r:id="rId9"/>
    <p:sldId id="272" r:id="rId10"/>
    <p:sldId id="264" r:id="rId11"/>
    <p:sldId id="266" r:id="rId12"/>
    <p:sldId id="271" r:id="rId13"/>
    <p:sldId id="259" r:id="rId14"/>
    <p:sldId id="269" r:id="rId15"/>
    <p:sldId id="270" r:id="rId16"/>
    <p:sldId id="258" r:id="rId17"/>
    <p:sldId id="268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customXml" Target="../customXml/item2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customXml" Target="../customXml/item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Relationship Id="rId27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ntha Obeysekera" userId="746567d5-bca1-4cfe-9ff2-830dff7f142b" providerId="ADAL" clId="{0449B1CE-3603-4936-8D6C-FA466DF3740F}"/>
    <pc:docChg chg="undo custSel addSld delSld modSld sldOrd addMainMaster modMainMaster">
      <pc:chgData name="Jayantha Obeysekera" userId="746567d5-bca1-4cfe-9ff2-830dff7f142b" providerId="ADAL" clId="{0449B1CE-3603-4936-8D6C-FA466DF3740F}" dt="2026-04-21T14:34:16.409" v="700" actId="1076"/>
      <pc:docMkLst>
        <pc:docMk/>
      </pc:docMkLst>
      <pc:sldChg chg="delSp modSp mod">
        <pc:chgData name="Jayantha Obeysekera" userId="746567d5-bca1-4cfe-9ff2-830dff7f142b" providerId="ADAL" clId="{0449B1CE-3603-4936-8D6C-FA466DF3740F}" dt="2026-04-10T10:45:18.113" v="385" actId="255"/>
        <pc:sldMkLst>
          <pc:docMk/>
          <pc:sldMk cId="0" sldId="256"/>
        </pc:sldMkLst>
        <pc:spChg chg="mod">
          <ac:chgData name="Jayantha Obeysekera" userId="746567d5-bca1-4cfe-9ff2-830dff7f142b" providerId="ADAL" clId="{0449B1CE-3603-4936-8D6C-FA466DF3740F}" dt="2026-04-10T10:45:18.113" v="385" actId="255"/>
          <ac:spMkLst>
            <pc:docMk/>
            <pc:sldMk cId="0" sldId="256"/>
            <ac:spMk id="5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0:45:09.368" v="384" actId="14100"/>
          <ac:spMkLst>
            <pc:docMk/>
            <pc:sldMk cId="0" sldId="256"/>
            <ac:spMk id="7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0:44:54.272" v="382" actId="14100"/>
          <ac:spMkLst>
            <pc:docMk/>
            <pc:sldMk cId="0" sldId="256"/>
            <ac:spMk id="9" creationId="{00000000-0000-0000-0000-000000000000}"/>
          </ac:spMkLst>
        </pc:spChg>
      </pc:sldChg>
      <pc:sldChg chg="add ord">
        <pc:chgData name="Jayantha Obeysekera" userId="746567d5-bca1-4cfe-9ff2-830dff7f142b" providerId="ADAL" clId="{0449B1CE-3603-4936-8D6C-FA466DF3740F}" dt="2026-04-09T11:25:37.808" v="14"/>
        <pc:sldMkLst>
          <pc:docMk/>
          <pc:sldMk cId="0" sldId="258"/>
        </pc:sldMkLst>
      </pc:sldChg>
      <pc:sldChg chg="modSp add mod ord">
        <pc:chgData name="Jayantha Obeysekera" userId="746567d5-bca1-4cfe-9ff2-830dff7f142b" providerId="ADAL" clId="{0449B1CE-3603-4936-8D6C-FA466DF3740F}" dt="2026-04-10T11:03:22.163" v="528" actId="1076"/>
        <pc:sldMkLst>
          <pc:docMk/>
          <pc:sldMk cId="0" sldId="259"/>
        </pc:sldMkLst>
        <pc:spChg chg="mod">
          <ac:chgData name="Jayantha Obeysekera" userId="746567d5-bca1-4cfe-9ff2-830dff7f142b" providerId="ADAL" clId="{0449B1CE-3603-4936-8D6C-FA466DF3740F}" dt="2026-04-10T11:03:22.163" v="528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1:02:22.163" v="516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1:03:18.946" v="527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1:02:27.516" v="517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1:03:03.302" v="524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1:02:44.650" v="518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1:02:16.179" v="515" actId="1076"/>
          <ac:spMkLst>
            <pc:docMk/>
            <pc:sldMk cId="0" sldId="259"/>
            <ac:spMk id="16" creationId="{00000000-0000-0000-0000-000000000000}"/>
          </ac:spMkLst>
        </pc:spChg>
        <pc:picChg chg="mod">
          <ac:chgData name="Jayantha Obeysekera" userId="746567d5-bca1-4cfe-9ff2-830dff7f142b" providerId="ADAL" clId="{0449B1CE-3603-4936-8D6C-FA466DF3740F}" dt="2026-04-10T11:02:50.583" v="520" actId="1076"/>
          <ac:picMkLst>
            <pc:docMk/>
            <pc:sldMk cId="0" sldId="259"/>
            <ac:picMk id="8" creationId="{00000000-0000-0000-0000-000000000000}"/>
          </ac:picMkLst>
        </pc:picChg>
        <pc:picChg chg="mod">
          <ac:chgData name="Jayantha Obeysekera" userId="746567d5-bca1-4cfe-9ff2-830dff7f142b" providerId="ADAL" clId="{0449B1CE-3603-4936-8D6C-FA466DF3740F}" dt="2026-04-10T11:03:13.997" v="526" actId="1076"/>
          <ac:picMkLst>
            <pc:docMk/>
            <pc:sldMk cId="0" sldId="259"/>
            <ac:picMk id="11" creationId="{00000000-0000-0000-0000-000000000000}"/>
          </ac:picMkLst>
        </pc:picChg>
        <pc:picChg chg="mod">
          <ac:chgData name="Jayantha Obeysekera" userId="746567d5-bca1-4cfe-9ff2-830dff7f142b" providerId="ADAL" clId="{0449B1CE-3603-4936-8D6C-FA466DF3740F}" dt="2026-04-10T11:02:59.634" v="523" actId="14100"/>
          <ac:picMkLst>
            <pc:docMk/>
            <pc:sldMk cId="0" sldId="259"/>
            <ac:picMk id="14" creationId="{00000000-0000-0000-0000-000000000000}"/>
          </ac:picMkLst>
        </pc:picChg>
      </pc:sldChg>
      <pc:sldChg chg="addSp delSp modSp mod ord">
        <pc:chgData name="Jayantha Obeysekera" userId="746567d5-bca1-4cfe-9ff2-830dff7f142b" providerId="ADAL" clId="{0449B1CE-3603-4936-8D6C-FA466DF3740F}" dt="2026-04-10T10:56:06.137" v="439" actId="255"/>
        <pc:sldMkLst>
          <pc:docMk/>
          <pc:sldMk cId="2778663791" sldId="264"/>
        </pc:sldMkLst>
        <pc:spChg chg="mod">
          <ac:chgData name="Jayantha Obeysekera" userId="746567d5-bca1-4cfe-9ff2-830dff7f142b" providerId="ADAL" clId="{0449B1CE-3603-4936-8D6C-FA466DF3740F}" dt="2026-04-10T10:54:37.461" v="426" actId="120"/>
          <ac:spMkLst>
            <pc:docMk/>
            <pc:sldMk cId="2778663791" sldId="264"/>
            <ac:spMk id="5" creationId="{4D4A026E-8DEF-6555-6128-25C47F84F217}"/>
          </ac:spMkLst>
        </pc:spChg>
        <pc:spChg chg="mod ord">
          <ac:chgData name="Jayantha Obeysekera" userId="746567d5-bca1-4cfe-9ff2-830dff7f142b" providerId="ADAL" clId="{0449B1CE-3603-4936-8D6C-FA466DF3740F}" dt="2026-04-10T10:54:50.629" v="428" actId="1076"/>
          <ac:spMkLst>
            <pc:docMk/>
            <pc:sldMk cId="2778663791" sldId="264"/>
            <ac:spMk id="6" creationId="{FC2473CA-FB1E-7249-1D7B-DFD2E3E3936F}"/>
          </ac:spMkLst>
        </pc:spChg>
        <pc:spChg chg="mod">
          <ac:chgData name="Jayantha Obeysekera" userId="746567d5-bca1-4cfe-9ff2-830dff7f142b" providerId="ADAL" clId="{0449B1CE-3603-4936-8D6C-FA466DF3740F}" dt="2026-04-09T11:24:03.637" v="4" actId="1076"/>
          <ac:spMkLst>
            <pc:docMk/>
            <pc:sldMk cId="2778663791" sldId="264"/>
            <ac:spMk id="48" creationId="{8E714678-80F0-5E83-5F36-A873E9AF6E85}"/>
          </ac:spMkLst>
        </pc:spChg>
        <pc:spChg chg="mod">
          <ac:chgData name="Jayantha Obeysekera" userId="746567d5-bca1-4cfe-9ff2-830dff7f142b" providerId="ADAL" clId="{0449B1CE-3603-4936-8D6C-FA466DF3740F}" dt="2026-04-10T10:55:34.170" v="433" actId="14100"/>
          <ac:spMkLst>
            <pc:docMk/>
            <pc:sldMk cId="2778663791" sldId="264"/>
            <ac:spMk id="56" creationId="{EFBF8075-9603-9734-DB2F-413A1486C20A}"/>
          </ac:spMkLst>
        </pc:spChg>
        <pc:spChg chg="mod">
          <ac:chgData name="Jayantha Obeysekera" userId="746567d5-bca1-4cfe-9ff2-830dff7f142b" providerId="ADAL" clId="{0449B1CE-3603-4936-8D6C-FA466DF3740F}" dt="2026-04-10T10:56:06.137" v="439" actId="255"/>
          <ac:spMkLst>
            <pc:docMk/>
            <pc:sldMk cId="2778663791" sldId="264"/>
            <ac:spMk id="93" creationId="{137CB105-FF61-4A1B-502B-F6E08B645A1C}"/>
          </ac:spMkLst>
        </pc:spChg>
        <pc:spChg chg="mod ord">
          <ac:chgData name="Jayantha Obeysekera" userId="746567d5-bca1-4cfe-9ff2-830dff7f142b" providerId="ADAL" clId="{0449B1CE-3603-4936-8D6C-FA466DF3740F}" dt="2026-04-10T10:51:24.257" v="404" actId="1076"/>
          <ac:spMkLst>
            <pc:docMk/>
            <pc:sldMk cId="2778663791" sldId="264"/>
            <ac:spMk id="99" creationId="{5A84C839-D631-E457-91A3-EF6276CB7D9D}"/>
          </ac:spMkLst>
        </pc:spChg>
        <pc:spChg chg="mod">
          <ac:chgData name="Jayantha Obeysekera" userId="746567d5-bca1-4cfe-9ff2-830dff7f142b" providerId="ADAL" clId="{0449B1CE-3603-4936-8D6C-FA466DF3740F}" dt="2026-04-10T10:51:18.031" v="402" actId="1076"/>
          <ac:spMkLst>
            <pc:docMk/>
            <pc:sldMk cId="2778663791" sldId="264"/>
            <ac:spMk id="100" creationId="{B3CAE78B-FCE2-4412-760B-83273D6B3492}"/>
          </ac:spMkLst>
        </pc:spChg>
        <pc:spChg chg="mod">
          <ac:chgData name="Jayantha Obeysekera" userId="746567d5-bca1-4cfe-9ff2-830dff7f142b" providerId="ADAL" clId="{0449B1CE-3603-4936-8D6C-FA466DF3740F}" dt="2026-04-10T10:54:59.187" v="429" actId="1076"/>
          <ac:spMkLst>
            <pc:docMk/>
            <pc:sldMk cId="2778663791" sldId="264"/>
            <ac:spMk id="112" creationId="{4B19DF88-E514-A82B-5F72-7FC3D1C1F1A8}"/>
          </ac:spMkLst>
        </pc:spChg>
        <pc:spChg chg="mod">
          <ac:chgData name="Jayantha Obeysekera" userId="746567d5-bca1-4cfe-9ff2-830dff7f142b" providerId="ADAL" clId="{0449B1CE-3603-4936-8D6C-FA466DF3740F}" dt="2026-04-10T10:55:04.388" v="430" actId="1076"/>
          <ac:spMkLst>
            <pc:docMk/>
            <pc:sldMk cId="2778663791" sldId="264"/>
            <ac:spMk id="113" creationId="{F284017A-7C7A-16E4-4FE6-8F2042551363}"/>
          </ac:spMkLst>
        </pc:spChg>
        <pc:spChg chg="mod">
          <ac:chgData name="Jayantha Obeysekera" userId="746567d5-bca1-4cfe-9ff2-830dff7f142b" providerId="ADAL" clId="{0449B1CE-3603-4936-8D6C-FA466DF3740F}" dt="2026-04-10T10:55:42.822" v="434" actId="255"/>
          <ac:spMkLst>
            <pc:docMk/>
            <pc:sldMk cId="2778663791" sldId="264"/>
            <ac:spMk id="120" creationId="{1250AE88-77E2-15C8-0BCD-F1967FAD3EAB}"/>
          </ac:spMkLst>
        </pc:spChg>
        <pc:spChg chg="mod">
          <ac:chgData name="Jayantha Obeysekera" userId="746567d5-bca1-4cfe-9ff2-830dff7f142b" providerId="ADAL" clId="{0449B1CE-3603-4936-8D6C-FA466DF3740F}" dt="2026-04-10T10:55:56.539" v="437" actId="255"/>
          <ac:spMkLst>
            <pc:docMk/>
            <pc:sldMk cId="2778663791" sldId="264"/>
            <ac:spMk id="121" creationId="{46390848-D6FF-F4BF-5B7B-80A88E0B72C5}"/>
          </ac:spMkLst>
        </pc:spChg>
      </pc:sldChg>
      <pc:sldChg chg="delSp modSp mod ord">
        <pc:chgData name="Jayantha Obeysekera" userId="746567d5-bca1-4cfe-9ff2-830dff7f142b" providerId="ADAL" clId="{0449B1CE-3603-4936-8D6C-FA466DF3740F}" dt="2026-04-21T14:33:16.355" v="662" actId="1076"/>
        <pc:sldMkLst>
          <pc:docMk/>
          <pc:sldMk cId="0" sldId="266"/>
        </pc:sldMkLst>
        <pc:spChg chg="mod">
          <ac:chgData name="Jayantha Obeysekera" userId="746567d5-bca1-4cfe-9ff2-830dff7f142b" providerId="ADAL" clId="{0449B1CE-3603-4936-8D6C-FA466DF3740F}" dt="2026-04-10T10:57:36.730" v="486" actId="1076"/>
          <ac:spMkLst>
            <pc:docMk/>
            <pc:sldMk cId="0" sldId="266"/>
            <ac:spMk id="4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0:56:50.887" v="477" actId="1076"/>
          <ac:spMkLst>
            <pc:docMk/>
            <pc:sldMk cId="0" sldId="266"/>
            <ac:spMk id="5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1T14:33:16.355" v="662" actId="1076"/>
          <ac:spMkLst>
            <pc:docMk/>
            <pc:sldMk cId="0" sldId="266"/>
            <ac:spMk id="6" creationId="{00000000-0000-0000-0000-000000000000}"/>
          </ac:spMkLst>
        </pc:spChg>
        <pc:spChg chg="del mod">
          <ac:chgData name="Jayantha Obeysekera" userId="746567d5-bca1-4cfe-9ff2-830dff7f142b" providerId="ADAL" clId="{0449B1CE-3603-4936-8D6C-FA466DF3740F}" dt="2026-04-21T14:32:55.416" v="660" actId="478"/>
          <ac:spMkLst>
            <pc:docMk/>
            <pc:sldMk cId="0" sldId="266"/>
            <ac:spMk id="7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0:57:45.556" v="487" actId="255"/>
          <ac:spMkLst>
            <pc:docMk/>
            <pc:sldMk cId="0" sldId="266"/>
            <ac:spMk id="8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0:57:58.135" v="491" actId="1076"/>
          <ac:spMkLst>
            <pc:docMk/>
            <pc:sldMk cId="0" sldId="266"/>
            <ac:spMk id="9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1:00:02.166" v="503" actId="14100"/>
          <ac:spMkLst>
            <pc:docMk/>
            <pc:sldMk cId="0" sldId="266"/>
            <ac:spMk id="14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1:00:21.937" v="507" actId="14100"/>
          <ac:spMkLst>
            <pc:docMk/>
            <pc:sldMk cId="0" sldId="266"/>
            <ac:spMk id="15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1:00:17.451" v="506" actId="107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1:00:31.249" v="509" actId="1076"/>
          <ac:spMkLst>
            <pc:docMk/>
            <pc:sldMk cId="0" sldId="266"/>
            <ac:spMk id="20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1:00:39.184" v="511" actId="1076"/>
          <ac:spMkLst>
            <pc:docMk/>
            <pc:sldMk cId="0" sldId="266"/>
            <ac:spMk id="23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0:58:14.590" v="492" actId="1076"/>
          <ac:spMkLst>
            <pc:docMk/>
            <pc:sldMk cId="0" sldId="266"/>
            <ac:spMk id="25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0:58:43.615" v="493" actId="255"/>
          <ac:spMkLst>
            <pc:docMk/>
            <pc:sldMk cId="0" sldId="266"/>
            <ac:spMk id="26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0:59:32.944" v="499" actId="1076"/>
          <ac:spMkLst>
            <pc:docMk/>
            <pc:sldMk cId="0" sldId="266"/>
            <ac:spMk id="27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0:59:32.944" v="499" actId="1076"/>
          <ac:spMkLst>
            <pc:docMk/>
            <pc:sldMk cId="0" sldId="266"/>
            <ac:spMk id="28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0:59:34.820" v="500" actId="1076"/>
          <ac:spMkLst>
            <pc:docMk/>
            <pc:sldMk cId="0" sldId="266"/>
            <ac:spMk id="29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0:59:39.644" v="501" actId="1076"/>
          <ac:spMkLst>
            <pc:docMk/>
            <pc:sldMk cId="0" sldId="266"/>
            <ac:spMk id="30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0:59:39.644" v="501" actId="1076"/>
          <ac:spMkLst>
            <pc:docMk/>
            <pc:sldMk cId="0" sldId="266"/>
            <ac:spMk id="31" creationId="{00000000-0000-0000-0000-000000000000}"/>
          </ac:spMkLst>
        </pc:spChg>
      </pc:sldChg>
      <pc:sldChg chg="delSp modSp mod">
        <pc:chgData name="Jayantha Obeysekera" userId="746567d5-bca1-4cfe-9ff2-830dff7f142b" providerId="ADAL" clId="{0449B1CE-3603-4936-8D6C-FA466DF3740F}" dt="2026-04-21T14:32:05.884" v="655" actId="1076"/>
        <pc:sldMkLst>
          <pc:docMk/>
          <pc:sldMk cId="0" sldId="267"/>
        </pc:sldMkLst>
        <pc:spChg chg="mod">
          <ac:chgData name="Jayantha Obeysekera" userId="746567d5-bca1-4cfe-9ff2-830dff7f142b" providerId="ADAL" clId="{0449B1CE-3603-4936-8D6C-FA466DF3740F}" dt="2026-04-21T14:32:05.884" v="655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09T18:04:10.596" v="57" actId="255"/>
          <ac:spMkLst>
            <pc:docMk/>
            <pc:sldMk cId="0" sldId="267"/>
            <ac:spMk id="6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09T18:04:27.868" v="58" actId="255"/>
          <ac:spMkLst>
            <pc:docMk/>
            <pc:sldMk cId="0" sldId="267"/>
            <ac:spMk id="7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09T18:04:37.782" v="59" actId="255"/>
          <ac:spMkLst>
            <pc:docMk/>
            <pc:sldMk cId="0" sldId="267"/>
            <ac:spMk id="9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09T18:04:10.596" v="57" actId="255"/>
          <ac:spMkLst>
            <pc:docMk/>
            <pc:sldMk cId="0" sldId="267"/>
            <ac:spMk id="12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09T18:04:27.868" v="58" actId="255"/>
          <ac:spMkLst>
            <pc:docMk/>
            <pc:sldMk cId="0" sldId="267"/>
            <ac:spMk id="13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09T18:04:49.652" v="60" actId="255"/>
          <ac:spMkLst>
            <pc:docMk/>
            <pc:sldMk cId="0" sldId="267"/>
            <ac:spMk id="15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09T18:04:10.596" v="57" actId="255"/>
          <ac:spMkLst>
            <pc:docMk/>
            <pc:sldMk cId="0" sldId="267"/>
            <ac:spMk id="18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09T18:04:27.868" v="58" actId="255"/>
          <ac:spMkLst>
            <pc:docMk/>
            <pc:sldMk cId="0" sldId="267"/>
            <ac:spMk id="19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09T18:05:06.912" v="61" actId="255"/>
          <ac:spMkLst>
            <pc:docMk/>
            <pc:sldMk cId="0" sldId="267"/>
            <ac:spMk id="21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09T18:04:10.596" v="57" actId="255"/>
          <ac:spMkLst>
            <pc:docMk/>
            <pc:sldMk cId="0" sldId="267"/>
            <ac:spMk id="24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09T18:04:27.868" v="58" actId="255"/>
          <ac:spMkLst>
            <pc:docMk/>
            <pc:sldMk cId="0" sldId="267"/>
            <ac:spMk id="25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09T18:05:14.728" v="62" actId="255"/>
          <ac:spMkLst>
            <pc:docMk/>
            <pc:sldMk cId="0" sldId="267"/>
            <ac:spMk id="27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1T14:31:49.766" v="652" actId="255"/>
          <ac:spMkLst>
            <pc:docMk/>
            <pc:sldMk cId="0" sldId="267"/>
            <ac:spMk id="29" creationId="{00000000-0000-0000-0000-000000000000}"/>
          </ac:spMkLst>
        </pc:spChg>
      </pc:sldChg>
      <pc:sldChg chg="delSp modSp mod">
        <pc:chgData name="Jayantha Obeysekera" userId="746567d5-bca1-4cfe-9ff2-830dff7f142b" providerId="ADAL" clId="{0449B1CE-3603-4936-8D6C-FA466DF3740F}" dt="2026-04-10T11:15:22.504" v="651" actId="1076"/>
        <pc:sldMkLst>
          <pc:docMk/>
          <pc:sldMk cId="0" sldId="268"/>
        </pc:sldMkLst>
        <pc:spChg chg="mod">
          <ac:chgData name="Jayantha Obeysekera" userId="746567d5-bca1-4cfe-9ff2-830dff7f142b" providerId="ADAL" clId="{0449B1CE-3603-4936-8D6C-FA466DF3740F}" dt="2026-04-10T11:15:11.613" v="650" actId="14100"/>
          <ac:spMkLst>
            <pc:docMk/>
            <pc:sldMk cId="0" sldId="268"/>
            <ac:spMk id="4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1:15:22.504" v="651" actId="1076"/>
          <ac:spMkLst>
            <pc:docMk/>
            <pc:sldMk cId="0" sldId="268"/>
            <ac:spMk id="5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1:12:56.258" v="624" actId="255"/>
          <ac:spMkLst>
            <pc:docMk/>
            <pc:sldMk cId="0" sldId="268"/>
            <ac:spMk id="6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1:14:01.272" v="635" actId="14100"/>
          <ac:spMkLst>
            <pc:docMk/>
            <pc:sldMk cId="0" sldId="268"/>
            <ac:spMk id="7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1:14:22.105" v="639" actId="255"/>
          <ac:spMkLst>
            <pc:docMk/>
            <pc:sldMk cId="0" sldId="268"/>
            <ac:spMk id="9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1:14:45.837" v="645" actId="14100"/>
          <ac:spMkLst>
            <pc:docMk/>
            <pc:sldMk cId="0" sldId="268"/>
            <ac:spMk id="10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1:15:00.246" v="647" actId="107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1:15:07.151" v="649" actId="1076"/>
          <ac:spMkLst>
            <pc:docMk/>
            <pc:sldMk cId="0" sldId="268"/>
            <ac:spMk id="13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1:15:02.988" v="648" actId="1076"/>
          <ac:spMkLst>
            <pc:docMk/>
            <pc:sldMk cId="0" sldId="268"/>
            <ac:spMk id="14" creationId="{00000000-0000-0000-0000-000000000000}"/>
          </ac:spMkLst>
        </pc:spChg>
        <pc:picChg chg="mod">
          <ac:chgData name="Jayantha Obeysekera" userId="746567d5-bca1-4cfe-9ff2-830dff7f142b" providerId="ADAL" clId="{0449B1CE-3603-4936-8D6C-FA466DF3740F}" dt="2026-04-10T11:12:41.962" v="622" actId="14100"/>
          <ac:picMkLst>
            <pc:docMk/>
            <pc:sldMk cId="0" sldId="268"/>
            <ac:picMk id="25" creationId="{00000000-0000-0000-0000-000000000000}"/>
          </ac:picMkLst>
        </pc:picChg>
        <pc:picChg chg="mod">
          <ac:chgData name="Jayantha Obeysekera" userId="746567d5-bca1-4cfe-9ff2-830dff7f142b" providerId="ADAL" clId="{0449B1CE-3603-4936-8D6C-FA466DF3740F}" dt="2026-04-10T11:12:45.263" v="623" actId="14100"/>
          <ac:picMkLst>
            <pc:docMk/>
            <pc:sldMk cId="0" sldId="268"/>
            <ac:picMk id="28" creationId="{00000000-0000-0000-0000-000000000000}"/>
          </ac:picMkLst>
        </pc:picChg>
      </pc:sldChg>
      <pc:sldChg chg="delSp modSp mod">
        <pc:chgData name="Jayantha Obeysekera" userId="746567d5-bca1-4cfe-9ff2-830dff7f142b" providerId="ADAL" clId="{0449B1CE-3603-4936-8D6C-FA466DF3740F}" dt="2026-04-21T14:34:16.409" v="700" actId="1076"/>
        <pc:sldMkLst>
          <pc:docMk/>
          <pc:sldMk cId="0" sldId="270"/>
        </pc:sldMkLst>
        <pc:spChg chg="mod">
          <ac:chgData name="Jayantha Obeysekera" userId="746567d5-bca1-4cfe-9ff2-830dff7f142b" providerId="ADAL" clId="{0449B1CE-3603-4936-8D6C-FA466DF3740F}" dt="2026-04-10T11:06:01.145" v="561" actId="14100"/>
          <ac:spMkLst>
            <pc:docMk/>
            <pc:sldMk cId="0" sldId="270"/>
            <ac:spMk id="10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1:07:31.185" v="579" actId="1076"/>
          <ac:spMkLst>
            <pc:docMk/>
            <pc:sldMk cId="0" sldId="270"/>
            <ac:spMk id="11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1:06:06.822" v="562" actId="1076"/>
          <ac:spMkLst>
            <pc:docMk/>
            <pc:sldMk cId="0" sldId="270"/>
            <ac:spMk id="12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1T14:34:16.409" v="700" actId="1076"/>
          <ac:spMkLst>
            <pc:docMk/>
            <pc:sldMk cId="0" sldId="270"/>
            <ac:spMk id="13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1:05:40.539" v="556" actId="14100"/>
          <ac:spMkLst>
            <pc:docMk/>
            <pc:sldMk cId="0" sldId="270"/>
            <ac:spMk id="14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1:05:35.113" v="555" actId="1076"/>
          <ac:spMkLst>
            <pc:docMk/>
            <pc:sldMk cId="0" sldId="270"/>
            <ac:spMk id="15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1:07:00.720" v="574" actId="14100"/>
          <ac:spMkLst>
            <pc:docMk/>
            <pc:sldMk cId="0" sldId="270"/>
            <ac:spMk id="17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1:07:04.133" v="575" actId="1076"/>
          <ac:spMkLst>
            <pc:docMk/>
            <pc:sldMk cId="0" sldId="270"/>
            <ac:spMk id="18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1:06:54.744" v="572" actId="14100"/>
          <ac:spMkLst>
            <pc:docMk/>
            <pc:sldMk cId="0" sldId="270"/>
            <ac:spMk id="19" creationId="{00000000-0000-0000-0000-000000000000}"/>
          </ac:spMkLst>
        </pc:spChg>
        <pc:picChg chg="mod">
          <ac:chgData name="Jayantha Obeysekera" userId="746567d5-bca1-4cfe-9ff2-830dff7f142b" providerId="ADAL" clId="{0449B1CE-3603-4936-8D6C-FA466DF3740F}" dt="2026-04-10T11:07:11.086" v="576" actId="14100"/>
          <ac:picMkLst>
            <pc:docMk/>
            <pc:sldMk cId="0" sldId="270"/>
            <ac:picMk id="6" creationId="{00000000-0000-0000-0000-000000000000}"/>
          </ac:picMkLst>
        </pc:picChg>
        <pc:picChg chg="mod">
          <ac:chgData name="Jayantha Obeysekera" userId="746567d5-bca1-4cfe-9ff2-830dff7f142b" providerId="ADAL" clId="{0449B1CE-3603-4936-8D6C-FA466DF3740F}" dt="2026-04-10T11:07:15.051" v="577" actId="14100"/>
          <ac:picMkLst>
            <pc:docMk/>
            <pc:sldMk cId="0" sldId="270"/>
            <ac:picMk id="9" creationId="{00000000-0000-0000-0000-000000000000}"/>
          </ac:picMkLst>
        </pc:picChg>
        <pc:picChg chg="mod">
          <ac:chgData name="Jayantha Obeysekera" userId="746567d5-bca1-4cfe-9ff2-830dff7f142b" providerId="ADAL" clId="{0449B1CE-3603-4936-8D6C-FA466DF3740F}" dt="2026-04-10T11:05:27.583" v="553" actId="14100"/>
          <ac:picMkLst>
            <pc:docMk/>
            <pc:sldMk cId="0" sldId="270"/>
            <ac:picMk id="16" creationId="{00000000-0000-0000-0000-000000000000}"/>
          </ac:picMkLst>
        </pc:picChg>
      </pc:sldChg>
      <pc:sldChg chg="delSp modSp add mod">
        <pc:chgData name="Jayantha Obeysekera" userId="746567d5-bca1-4cfe-9ff2-830dff7f142b" providerId="ADAL" clId="{0449B1CE-3603-4936-8D6C-FA466DF3740F}" dt="2026-04-21T14:33:59.046" v="699" actId="20577"/>
        <pc:sldMkLst>
          <pc:docMk/>
          <pc:sldMk cId="0" sldId="271"/>
        </pc:sldMkLst>
        <pc:spChg chg="del">
          <ac:chgData name="Jayantha Obeysekera" userId="746567d5-bca1-4cfe-9ff2-830dff7f142b" providerId="ADAL" clId="{0449B1CE-3603-4936-8D6C-FA466DF3740F}" dt="2026-04-21T14:33:46.666" v="666" actId="478"/>
          <ac:spMkLst>
            <pc:docMk/>
            <pc:sldMk cId="0" sldId="271"/>
            <ac:spMk id="2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1T14:33:59.046" v="699" actId="20577"/>
          <ac:spMkLst>
            <pc:docMk/>
            <pc:sldMk cId="0" sldId="271"/>
            <ac:spMk id="3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1T14:33:35.563" v="665" actId="107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10T11:01:15.630" v="513" actId="255"/>
          <ac:spMkLst>
            <pc:docMk/>
            <pc:sldMk cId="0" sldId="271"/>
            <ac:spMk id="17" creationId="{00000000-0000-0000-0000-000000000000}"/>
          </ac:spMkLst>
        </pc:spChg>
      </pc:sldChg>
      <pc:sldChg chg="addSp modSp new mod setBg modClrScheme chgLayout">
        <pc:chgData name="Jayantha Obeysekera" userId="746567d5-bca1-4cfe-9ff2-830dff7f142b" providerId="ADAL" clId="{0449B1CE-3603-4936-8D6C-FA466DF3740F}" dt="2026-04-21T14:32:31.609" v="658" actId="1076"/>
        <pc:sldMkLst>
          <pc:docMk/>
          <pc:sldMk cId="4108958714" sldId="272"/>
        </pc:sldMkLst>
        <pc:spChg chg="add mod ord">
          <ac:chgData name="Jayantha Obeysekera" userId="746567d5-bca1-4cfe-9ff2-830dff7f142b" providerId="ADAL" clId="{0449B1CE-3603-4936-8D6C-FA466DF3740F}" dt="2026-04-21T14:32:21.746" v="656" actId="700"/>
          <ac:spMkLst>
            <pc:docMk/>
            <pc:sldMk cId="4108958714" sldId="272"/>
            <ac:spMk id="2" creationId="{E57988D0-9408-BCC8-8A2A-832AD6F0CB9B}"/>
          </ac:spMkLst>
        </pc:spChg>
        <pc:spChg chg="add mod ord">
          <ac:chgData name="Jayantha Obeysekera" userId="746567d5-bca1-4cfe-9ff2-830dff7f142b" providerId="ADAL" clId="{0449B1CE-3603-4936-8D6C-FA466DF3740F}" dt="2026-04-21T14:32:31.609" v="658" actId="1076"/>
          <ac:spMkLst>
            <pc:docMk/>
            <pc:sldMk cId="4108958714" sldId="272"/>
            <ac:spMk id="3" creationId="{FF232FEC-7347-4C11-B949-0A73C0A5435E}"/>
          </ac:spMkLst>
        </pc:spChg>
      </pc:sldChg>
      <pc:sldChg chg="addSp delSp modSp new mod setBg modClrScheme chgLayout">
        <pc:chgData name="Jayantha Obeysekera" userId="746567d5-bca1-4cfe-9ff2-830dff7f142b" providerId="ADAL" clId="{0449B1CE-3603-4936-8D6C-FA466DF3740F}" dt="2026-04-10T10:47:19.845" v="391" actId="14100"/>
        <pc:sldMkLst>
          <pc:docMk/>
          <pc:sldMk cId="684345773" sldId="273"/>
        </pc:sldMkLst>
        <pc:spChg chg="add mod ord">
          <ac:chgData name="Jayantha Obeysekera" userId="746567d5-bca1-4cfe-9ff2-830dff7f142b" providerId="ADAL" clId="{0449B1CE-3603-4936-8D6C-FA466DF3740F}" dt="2026-04-09T18:25:14.751" v="306" actId="20577"/>
          <ac:spMkLst>
            <pc:docMk/>
            <pc:sldMk cId="684345773" sldId="273"/>
            <ac:spMk id="4" creationId="{F70B5CA9-66BE-F4DA-988A-7E69443AA449}"/>
          </ac:spMkLst>
        </pc:spChg>
        <pc:graphicFrameChg chg="add mod modGraphic">
          <ac:chgData name="Jayantha Obeysekera" userId="746567d5-bca1-4cfe-9ff2-830dff7f142b" providerId="ADAL" clId="{0449B1CE-3603-4936-8D6C-FA466DF3740F}" dt="2026-04-09T18:25:04.920" v="297" actId="207"/>
          <ac:graphicFrameMkLst>
            <pc:docMk/>
            <pc:sldMk cId="684345773" sldId="273"/>
            <ac:graphicFrameMk id="6" creationId="{4D6D9330-EAF2-3EE6-F308-DE4DAC52E87F}"/>
          </ac:graphicFrameMkLst>
        </pc:graphicFrameChg>
        <pc:picChg chg="add mod">
          <ac:chgData name="Jayantha Obeysekera" userId="746567d5-bca1-4cfe-9ff2-830dff7f142b" providerId="ADAL" clId="{0449B1CE-3603-4936-8D6C-FA466DF3740F}" dt="2026-04-10T10:47:19.845" v="391" actId="14100"/>
          <ac:picMkLst>
            <pc:docMk/>
            <pc:sldMk cId="684345773" sldId="273"/>
            <ac:picMk id="3" creationId="{90380315-F7C9-8046-8221-3F451C3FF317}"/>
          </ac:picMkLst>
        </pc:picChg>
      </pc:sldChg>
      <pc:sldMasterChg chg="modSldLayout">
        <pc:chgData name="Jayantha Obeysekera" userId="746567d5-bca1-4cfe-9ff2-830dff7f142b" providerId="ADAL" clId="{0449B1CE-3603-4936-8D6C-FA466DF3740F}" dt="2026-04-09T11:29:58.131" v="26" actId="478"/>
        <pc:sldMasterMkLst>
          <pc:docMk/>
          <pc:sldMasterMk cId="130459040" sldId="2147483652"/>
        </pc:sldMasterMkLst>
        <pc:sldLayoutChg chg="delSp mod">
          <pc:chgData name="Jayantha Obeysekera" userId="746567d5-bca1-4cfe-9ff2-830dff7f142b" providerId="ADAL" clId="{0449B1CE-3603-4936-8D6C-FA466DF3740F}" dt="2026-04-09T11:29:58.131" v="26" actId="478"/>
          <pc:sldLayoutMkLst>
            <pc:docMk/>
            <pc:sldMasterMk cId="130459040" sldId="2147483652"/>
            <pc:sldLayoutMk cId="1803260132" sldId="2147483654"/>
          </pc:sldLayoutMkLst>
        </pc:sldLayoutChg>
      </pc:sldMasterChg>
      <pc:sldMasterChg chg="new mod addSldLayout">
        <pc:chgData name="Jayantha Obeysekera" userId="746567d5-bca1-4cfe-9ff2-830dff7f142b" providerId="ADAL" clId="{0449B1CE-3603-4936-8D6C-FA466DF3740F}" dt="2026-04-09T18:07:56.773" v="66" actId="6938"/>
        <pc:sldMasterMkLst>
          <pc:docMk/>
          <pc:sldMasterMk cId="36315882" sldId="2147483658"/>
        </pc:sldMasterMkLst>
        <pc:sldLayoutChg chg="new replId">
          <pc:chgData name="Jayantha Obeysekera" userId="746567d5-bca1-4cfe-9ff2-830dff7f142b" providerId="ADAL" clId="{0449B1CE-3603-4936-8D6C-FA466DF3740F}" dt="2026-04-09T18:07:56.773" v="66" actId="6938"/>
          <pc:sldLayoutMkLst>
            <pc:docMk/>
            <pc:sldMasterMk cId="36315882" sldId="2147483658"/>
            <pc:sldLayoutMk cId="768470191" sldId="2147483659"/>
          </pc:sldLayoutMkLst>
        </pc:sldLayoutChg>
        <pc:sldLayoutChg chg="new replId">
          <pc:chgData name="Jayantha Obeysekera" userId="746567d5-bca1-4cfe-9ff2-830dff7f142b" providerId="ADAL" clId="{0449B1CE-3603-4936-8D6C-FA466DF3740F}" dt="2026-04-09T18:07:56.773" v="66" actId="6938"/>
          <pc:sldLayoutMkLst>
            <pc:docMk/>
            <pc:sldMasterMk cId="36315882" sldId="2147483658"/>
            <pc:sldLayoutMk cId="1949580296" sldId="2147483660"/>
          </pc:sldLayoutMkLst>
        </pc:sldLayoutChg>
        <pc:sldLayoutChg chg="new replId">
          <pc:chgData name="Jayantha Obeysekera" userId="746567d5-bca1-4cfe-9ff2-830dff7f142b" providerId="ADAL" clId="{0449B1CE-3603-4936-8D6C-FA466DF3740F}" dt="2026-04-09T18:07:56.773" v="66" actId="6938"/>
          <pc:sldLayoutMkLst>
            <pc:docMk/>
            <pc:sldMasterMk cId="36315882" sldId="2147483658"/>
            <pc:sldLayoutMk cId="259748907" sldId="2147483661"/>
          </pc:sldLayoutMkLst>
        </pc:sldLayoutChg>
        <pc:sldLayoutChg chg="new replId">
          <pc:chgData name="Jayantha Obeysekera" userId="746567d5-bca1-4cfe-9ff2-830dff7f142b" providerId="ADAL" clId="{0449B1CE-3603-4936-8D6C-FA466DF3740F}" dt="2026-04-09T18:07:56.773" v="66" actId="6938"/>
          <pc:sldLayoutMkLst>
            <pc:docMk/>
            <pc:sldMasterMk cId="36315882" sldId="2147483658"/>
            <pc:sldLayoutMk cId="3454715029" sldId="2147483662"/>
          </pc:sldLayoutMkLst>
        </pc:sldLayoutChg>
        <pc:sldLayoutChg chg="new replId">
          <pc:chgData name="Jayantha Obeysekera" userId="746567d5-bca1-4cfe-9ff2-830dff7f142b" providerId="ADAL" clId="{0449B1CE-3603-4936-8D6C-FA466DF3740F}" dt="2026-04-09T18:07:56.773" v="66" actId="6938"/>
          <pc:sldLayoutMkLst>
            <pc:docMk/>
            <pc:sldMasterMk cId="36315882" sldId="2147483658"/>
            <pc:sldLayoutMk cId="346997210" sldId="2147483663"/>
          </pc:sldLayoutMkLst>
        </pc:sldLayoutChg>
        <pc:sldLayoutChg chg="new replId">
          <pc:chgData name="Jayantha Obeysekera" userId="746567d5-bca1-4cfe-9ff2-830dff7f142b" providerId="ADAL" clId="{0449B1CE-3603-4936-8D6C-FA466DF3740F}" dt="2026-04-09T18:07:56.773" v="66" actId="6938"/>
          <pc:sldLayoutMkLst>
            <pc:docMk/>
            <pc:sldMasterMk cId="36315882" sldId="2147483658"/>
            <pc:sldLayoutMk cId="3103424782" sldId="2147483664"/>
          </pc:sldLayoutMkLst>
        </pc:sldLayoutChg>
        <pc:sldLayoutChg chg="new replId">
          <pc:chgData name="Jayantha Obeysekera" userId="746567d5-bca1-4cfe-9ff2-830dff7f142b" providerId="ADAL" clId="{0449B1CE-3603-4936-8D6C-FA466DF3740F}" dt="2026-04-09T18:07:56.773" v="66" actId="6938"/>
          <pc:sldLayoutMkLst>
            <pc:docMk/>
            <pc:sldMasterMk cId="36315882" sldId="2147483658"/>
            <pc:sldLayoutMk cId="3672039871" sldId="2147483665"/>
          </pc:sldLayoutMkLst>
        </pc:sldLayoutChg>
        <pc:sldLayoutChg chg="new replId">
          <pc:chgData name="Jayantha Obeysekera" userId="746567d5-bca1-4cfe-9ff2-830dff7f142b" providerId="ADAL" clId="{0449B1CE-3603-4936-8D6C-FA466DF3740F}" dt="2026-04-09T18:07:56.773" v="66" actId="6938"/>
          <pc:sldLayoutMkLst>
            <pc:docMk/>
            <pc:sldMasterMk cId="36315882" sldId="2147483658"/>
            <pc:sldLayoutMk cId="2622371326" sldId="2147483666"/>
          </pc:sldLayoutMkLst>
        </pc:sldLayoutChg>
        <pc:sldLayoutChg chg="new replId">
          <pc:chgData name="Jayantha Obeysekera" userId="746567d5-bca1-4cfe-9ff2-830dff7f142b" providerId="ADAL" clId="{0449B1CE-3603-4936-8D6C-FA466DF3740F}" dt="2026-04-09T18:07:56.773" v="66" actId="6938"/>
          <pc:sldLayoutMkLst>
            <pc:docMk/>
            <pc:sldMasterMk cId="36315882" sldId="2147483658"/>
            <pc:sldLayoutMk cId="1353373535" sldId="2147483667"/>
          </pc:sldLayoutMkLst>
        </pc:sldLayoutChg>
        <pc:sldLayoutChg chg="new replId">
          <pc:chgData name="Jayantha Obeysekera" userId="746567d5-bca1-4cfe-9ff2-830dff7f142b" providerId="ADAL" clId="{0449B1CE-3603-4936-8D6C-FA466DF3740F}" dt="2026-04-09T18:07:56.773" v="66" actId="6938"/>
          <pc:sldLayoutMkLst>
            <pc:docMk/>
            <pc:sldMasterMk cId="36315882" sldId="2147483658"/>
            <pc:sldLayoutMk cId="2693955549" sldId="2147483668"/>
          </pc:sldLayoutMkLst>
        </pc:sldLayoutChg>
        <pc:sldLayoutChg chg="new replId">
          <pc:chgData name="Jayantha Obeysekera" userId="746567d5-bca1-4cfe-9ff2-830dff7f142b" providerId="ADAL" clId="{0449B1CE-3603-4936-8D6C-FA466DF3740F}" dt="2026-04-09T18:07:56.773" v="66" actId="6938"/>
          <pc:sldLayoutMkLst>
            <pc:docMk/>
            <pc:sldMasterMk cId="36315882" sldId="2147483658"/>
            <pc:sldLayoutMk cId="826140084" sldId="214748366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771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notebook: LOKseas_clean_training_with_gridsearch_with_uncertainty_verified.ipynb
- Model descriptions based on notebook markdown sections/cells 13, 16, 19, 24, 27, 32, and 35.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0E455-6D62-966A-EE41-C84954C76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CF3E8B-54FF-7D6A-007F-0261E519D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7865DB-D9F6-105F-7E04-FC251DE66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Attached notebook: /mnt/data/LOKseas_clean_training.ipynb
- Underlying CSV referenced by the notebook: LOKdat.csv
- Claims used in graphic derived from notebook cells showing: selected columns, Year &gt;= 1960 filter, Nov-Apr seasonal aggregation, WaterYear logic, sample counts, and train/test split.
[/Sources]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59FE1-C73C-1AA3-ED21-2E18F79FC2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5184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notebook: LOKseas_clean_training_with_gridsearch_with_uncertainty_verified.ipynb
- Data shape and sample counts from notebook outputs in cells 3, 5, 7, and 9.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notebook: LOKseas_clean_training_with_gridsearch_with_uncertainty_verified.ipynb
- Feature-importance figures extracted from notebook outputs in cells 21 and 29.
- Interpretation is an inference from those plots and should be presented as notebook-specific, not universal.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notebook: LOKseas_clean_training_with_gridsearch_with_uncertainty_verified.ipynb
- Comparison metrics table and charts from notebook outputs in cell 36.
- Logistic regression accuracy from notebook outputs in cell 17.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notebook: LOKseas_clean_training_with_gridsearch_with_uncertainty_verified.ipynb
- Hyperparameter grids and best CV RMSE from notebook outputs in cells 25 and 33.
- Uncertainty charts and interval summaries from notebook outputs in cells 23 and 31.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660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0221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C5A7A"/>
          </a:solidFill>
          <a:ln w="12700">
            <a:solidFill>
              <a:srgbClr val="0C5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260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F2285-D03D-AEC2-335D-8505A64F37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33F89A-1345-2E00-53CF-63D19DBCBA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7F3D6-6363-FC54-2C74-1FE90350C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E795A5-F92F-4BBB-BE07-AAECD228F52C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EA144-A553-2D38-15F7-79FBC29CB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E3949-4E17-877F-DD16-AFF1A0B69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08256-677C-465D-8BEC-0FA2B7008F6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7491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A59BE-4066-6FFA-4A5F-FFB03090F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BABC5-6609-5BDA-687E-39C03E4D2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D2C11-0297-B735-0A2C-B09B992C3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E795A5-F92F-4BBB-BE07-AAECD228F52C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14D36-3D4D-39A1-99DE-82EAC9CF4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60C24-B353-8D0F-54A6-2658CF5F2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08256-677C-465D-8BEC-0FA2B7008F6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0067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969B2-A4D5-3224-0F5C-372C4A45D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440D4-83D0-9641-3423-597BFEFF4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1ACFC-DF10-E49B-8D05-8765B8EC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E795A5-F92F-4BBB-BE07-AAECD228F52C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E9DBE-4B51-C801-51C5-CB56017C5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8BD80-0994-649B-0590-4B30527D5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08256-677C-465D-8BEC-0FA2B7008F6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7218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7B040-C485-D4DD-9903-687D2EC86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D9935-A864-4128-8464-F991DE59E4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D14CC-73CC-AA33-3902-88F48D183D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77B116-A7AC-8002-4204-CF272A9B2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E795A5-F92F-4BBB-BE07-AAECD228F52C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287C6-D3DB-90F0-D0F1-7B527AFF3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EF5DA5-D03E-C60D-E4FE-6123B06F9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08256-677C-465D-8BEC-0FA2B7008F6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9737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D0153-2B18-00A0-B690-E1A1D5C4F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FA9454-D440-DC9C-7009-5C5B907CE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341C55-0A2A-7865-DF09-5E6B51D11F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133F5A-C6A6-0985-C4F7-026AA79250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CDDBA-02BD-E2CD-F810-E1E5E9F646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1D1837-5F63-F408-3BB5-E5D0BFC1B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E795A5-F92F-4BBB-BE07-AAECD228F52C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A63510-ECA6-2BA2-A0ED-F8879D34E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7C041F-76AB-80EE-7E6A-7997ADA9B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08256-677C-465D-8BEC-0FA2B7008F6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3403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D4A30-DDE6-831A-CDF5-FB744B50A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5E12CE-A829-4FC9-84AF-1C352CD60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E795A5-F92F-4BBB-BE07-AAECD228F52C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2B0201-5812-99C9-AC32-49F5653BE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8733D-AF39-6533-588A-C4DBEC103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08256-677C-465D-8BEC-0FA2B7008F6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1104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F52D0-72E0-D088-13E0-5E59074EB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E795A5-F92F-4BBB-BE07-AAECD228F52C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A62E32-4946-F183-A4D4-F6DC1BE72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91366-5A18-C03A-2AE3-2C19D7D1C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08256-677C-465D-8BEC-0FA2B7008F6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9014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A591E-5459-F980-E64A-8171ADCFC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00BE0-F746-C3E1-0310-F7562677B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C035FB-EF0E-4846-757E-D97E316D4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75104-0088-949E-CF22-7B56C99BC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E795A5-F92F-4BBB-BE07-AAECD228F52C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EED53A-8595-C982-F8AD-129452093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AE0B3-93F6-E88B-59B6-4BF732AF0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08256-677C-465D-8BEC-0FA2B7008F6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4069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B8653-673B-0499-A2DD-C683A9C06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C8C2DB-7D91-B09B-9564-4F891C47EB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18D235-CF8C-49A4-B084-DAED019E12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BC42C-F5F6-61B8-EE3E-F599F6E33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E795A5-F92F-4BBB-BE07-AAECD228F52C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B89EB-02B0-DD51-03E7-9103578A1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D49663-3460-686A-E8F0-B7FDB5E2F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08256-677C-465D-8BEC-0FA2B7008F6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3481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22088-9850-48CD-0ADB-084BD07DD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2025B1-BDE0-283C-F96C-009623737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2EF05-DBA1-8FE7-CDDE-595D2444A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E795A5-F92F-4BBB-BE07-AAECD228F52C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40923-AAE9-B1CD-C5ED-20CBD1F11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8F8E6-0659-482D-4152-ACAC9C649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08256-677C-465D-8BEC-0FA2B7008F6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66917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A97454-F1FE-B263-9CF5-3A1E327414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D4A899-1245-2132-80E0-8E22E782F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32C33-ECAE-F011-D149-15EE4FA0F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E795A5-F92F-4BBB-BE07-AAECD228F52C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49FCB-6087-D801-0BFA-5A55C58CE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1CC4F-315B-029B-C8FE-33F257AB8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08256-677C-465D-8BEC-0FA2B7008F6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06391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F2285-D03D-AEC2-335D-8505A64F37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33F89A-1345-2E00-53CF-63D19DBCBA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7F3D6-6363-FC54-2C74-1FE90350C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795A5-F92F-4BBB-BE07-AAECD228F52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EA144-A553-2D38-15F7-79FBC29CB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E3949-4E17-877F-DD16-AFF1A0B69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8256-677C-465D-8BEC-0FA2B700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470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A59BE-4066-6FFA-4A5F-FFB03090F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BABC5-6609-5BDA-687E-39C03E4D2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D2C11-0297-B735-0A2C-B09B992C3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795A5-F92F-4BBB-BE07-AAECD228F52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14D36-3D4D-39A1-99DE-82EAC9CF4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60C24-B353-8D0F-54A6-2658CF5F2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8256-677C-465D-8BEC-0FA2B700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5802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969B2-A4D5-3224-0F5C-372C4A45D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440D4-83D0-9641-3423-597BFEFF4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1ACFC-DF10-E49B-8D05-8765B8EC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795A5-F92F-4BBB-BE07-AAECD228F52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E9DBE-4B51-C801-51C5-CB56017C5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8BD80-0994-649B-0590-4B30527D5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8256-677C-465D-8BEC-0FA2B700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489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7B040-C485-D4DD-9903-687D2EC86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D9935-A864-4128-8464-F991DE59E4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D14CC-73CC-AA33-3902-88F48D183D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77B116-A7AC-8002-4204-CF272A9B2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795A5-F92F-4BBB-BE07-AAECD228F52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287C6-D3DB-90F0-D0F1-7B527AFF3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EF5DA5-D03E-C60D-E4FE-6123B06F9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8256-677C-465D-8BEC-0FA2B700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150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D0153-2B18-00A0-B690-E1A1D5C4F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FA9454-D440-DC9C-7009-5C5B907CE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341C55-0A2A-7865-DF09-5E6B51D11F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133F5A-C6A6-0985-C4F7-026AA79250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CDDBA-02BD-E2CD-F810-E1E5E9F646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1D1837-5F63-F408-3BB5-E5D0BFC1B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795A5-F92F-4BBB-BE07-AAECD228F52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A63510-ECA6-2BA2-A0ED-F8879D34E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7C041F-76AB-80EE-7E6A-7997ADA9B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8256-677C-465D-8BEC-0FA2B700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972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D4A30-DDE6-831A-CDF5-FB744B50A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5E12CE-A829-4FC9-84AF-1C352CD60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795A5-F92F-4BBB-BE07-AAECD228F52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2B0201-5812-99C9-AC32-49F5653BE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8733D-AF39-6533-588A-C4DBEC103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8256-677C-465D-8BEC-0FA2B700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4247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F52D0-72E0-D088-13E0-5E59074EB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795A5-F92F-4BBB-BE07-AAECD228F52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A62E32-4946-F183-A4D4-F6DC1BE72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91366-5A18-C03A-2AE3-2C19D7D1C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8256-677C-465D-8BEC-0FA2B700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0398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A591E-5459-F980-E64A-8171ADCFC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00BE0-F746-C3E1-0310-F7562677B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C035FB-EF0E-4846-757E-D97E316D4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75104-0088-949E-CF22-7B56C99BC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795A5-F92F-4BBB-BE07-AAECD228F52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EED53A-8595-C982-F8AD-129452093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AE0B3-93F6-E88B-59B6-4BF732AF0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8256-677C-465D-8BEC-0FA2B700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713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B8653-673B-0499-A2DD-C683A9C06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C8C2DB-7D91-B09B-9564-4F891C47EB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18D235-CF8C-49A4-B084-DAED019E12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BC42C-F5F6-61B8-EE3E-F599F6E33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795A5-F92F-4BBB-BE07-AAECD228F52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B89EB-02B0-DD51-03E7-9103578A1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D49663-3460-686A-E8F0-B7FDB5E2F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8256-677C-465D-8BEC-0FA2B700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373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22088-9850-48CD-0ADB-084BD07DD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2025B1-BDE0-283C-F96C-009623737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2EF05-DBA1-8FE7-CDDE-595D2444A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795A5-F92F-4BBB-BE07-AAECD228F52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40923-AAE9-B1CD-C5ED-20CBD1F11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8F8E6-0659-482D-4152-ACAC9C649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8256-677C-465D-8BEC-0FA2B700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9555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A97454-F1FE-B263-9CF5-3A1E327414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D4A899-1245-2132-80E0-8E22E782F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32C33-ECAE-F011-D149-15EE4FA0F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795A5-F92F-4BBB-BE07-AAECD228F52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49FCB-6087-D801-0BFA-5A55C58CE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1CC4F-315B-029B-C8FE-33F257AB8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8256-677C-465D-8BEC-0FA2B700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1400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62154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4691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200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459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3363FA-AAE7-96A8-EFE7-BF3E4FBA4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4233D-F3F2-0371-34CC-6D3001FB5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17D40-4471-6D85-62DB-1CBEC7EED8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E795A5-F92F-4BBB-BE07-AAECD228F52C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4AB8E-5ABE-8D7B-9789-34CF59AE20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F3B18-FD40-C713-7691-99E80081D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08256-677C-465D-8BEC-0FA2B7008F6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7461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3363FA-AAE7-96A8-EFE7-BF3E4FBA4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4233D-F3F2-0371-34CC-6D3001FB5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17D40-4471-6D85-62DB-1CBEC7EED8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E795A5-F92F-4BBB-BE07-AAECD228F52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4AB8E-5ABE-8D7B-9789-34CF59AE20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F3B18-FD40-C713-7691-99E80081D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808256-677C-465D-8BEC-0FA2B700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5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128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5440680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846320" y="0"/>
            <a:ext cx="1097280" cy="6858000"/>
          </a:xfrm>
          <a:prstGeom prst="rect">
            <a:avLst/>
          </a:prstGeom>
          <a:solidFill>
            <a:srgbClr val="0B1F33">
              <a:alpha val="85000"/>
            </a:srgbClr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1051560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Lake </a:t>
            </a: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Okeechobee</a:t>
            </a:r>
            <a:endParaRPr lang="en-US" sz="32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Seasonal net Inflow Prediction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83769" y="2907792"/>
            <a:ext cx="4709333" cy="0"/>
          </a:xfrm>
          <a:prstGeom prst="line">
            <a:avLst/>
          </a:prstGeom>
          <a:noFill/>
          <a:ln w="38100">
            <a:solidFill>
              <a:srgbClr val="46C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3769" y="2852755"/>
            <a:ext cx="4272491" cy="351353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and scope the monthly climate dataset</a:t>
            </a:r>
            <a:endParaRPr lang="en-US" dirty="0"/>
          </a:p>
          <a:p>
            <a:pPr marL="177800" indent="-177800"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months into a Nov-Apr water-year summary</a:t>
            </a:r>
            <a:endParaRPr lang="en-US" dirty="0"/>
          </a:p>
          <a:p>
            <a:pPr marL="177800" indent="-177800"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Linear, Logistic, Random Forest, and XGBoost on the same split</a:t>
            </a:r>
            <a:endParaRPr lang="en-US" dirty="0"/>
          </a:p>
          <a:p>
            <a:pPr marL="177800" indent="-177800"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regression R² / RMSE, class accuracy, and feature importance</a:t>
            </a:r>
          </a:p>
          <a:p>
            <a:pPr marL="177800" indent="-177800"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ptos" pitchFamily="34" charset="0"/>
              </a:rPr>
              <a:t>Uncertainty estimation and parameter optimization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8497019" y="5417390"/>
            <a:ext cx="3694981" cy="1440610"/>
          </a:xfrm>
          <a:prstGeom prst="rect">
            <a:avLst/>
          </a:prstGeom>
          <a:solidFill>
            <a:srgbClr val="1A3D5F"/>
          </a:solidFill>
          <a:ln w="12700">
            <a:solidFill>
              <a:srgbClr val="1A3D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9CB9ED2-AD51-4A0D-2F1D-DB27BC50B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544" y="-38180"/>
            <a:ext cx="6719552" cy="545557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D9666F3-6241-41AE-A90B-5A51DF1C20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3779" y="4527919"/>
            <a:ext cx="3099873" cy="23249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380315-F7C9-8046-8221-3F451C3FF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70" y="2134680"/>
            <a:ext cx="15750811" cy="244655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70B5CA9-66BE-F4DA-988A-7E69443AA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Dataset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D6D9330-EAF2-3EE6-F308-DE4DAC52E8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8679758"/>
              </p:ext>
            </p:extLst>
          </p:nvPr>
        </p:nvGraphicFramePr>
        <p:xfrm>
          <a:off x="8195095" y="0"/>
          <a:ext cx="3683478" cy="7211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83478">
                  <a:extLst>
                    <a:ext uri="{9D8B030D-6E8A-4147-A177-3AD203B41FA5}">
                      <a16:colId xmlns:a16="http://schemas.microsoft.com/office/drawing/2014/main" val="2274746723"/>
                    </a:ext>
                  </a:extLst>
                </a:gridCol>
              </a:tblGrid>
              <a:tr h="2024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Year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0" marR="3040" marT="3040" marB="0" anchor="b"/>
                </a:tc>
                <a:extLst>
                  <a:ext uri="{0D108BD9-81ED-4DB2-BD59-A6C34878D82A}">
                    <a16:rowId xmlns:a16="http://schemas.microsoft.com/office/drawing/2014/main" val="566556531"/>
                  </a:ext>
                </a:extLst>
              </a:tr>
              <a:tr h="2024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Month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0" marR="3040" marT="3040" marB="0" anchor="b"/>
                </a:tc>
                <a:extLst>
                  <a:ext uri="{0D108BD9-81ED-4DB2-BD59-A6C34878D82A}">
                    <a16:rowId xmlns:a16="http://schemas.microsoft.com/office/drawing/2014/main" val="509505988"/>
                  </a:ext>
                </a:extLst>
              </a:tr>
              <a:tr h="2024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Int.Sunspot.Number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0" marR="3040" marT="3040" marB="0" anchor="b"/>
                </a:tc>
                <a:extLst>
                  <a:ext uri="{0D108BD9-81ED-4DB2-BD59-A6C34878D82A}">
                    <a16:rowId xmlns:a16="http://schemas.microsoft.com/office/drawing/2014/main" val="2741770343"/>
                  </a:ext>
                </a:extLst>
              </a:tr>
              <a:tr h="2507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Int.Sunspot.Number.Smoothed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0" marR="3040" marT="3040" marB="0" anchor="b"/>
                </a:tc>
                <a:extLst>
                  <a:ext uri="{0D108BD9-81ED-4DB2-BD59-A6C34878D82A}">
                    <a16:rowId xmlns:a16="http://schemas.microsoft.com/office/drawing/2014/main" val="1434503523"/>
                  </a:ext>
                </a:extLst>
              </a:tr>
              <a:tr h="2024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PDO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0" marR="3040" marT="3040" marB="0" anchor="b"/>
                </a:tc>
                <a:extLst>
                  <a:ext uri="{0D108BD9-81ED-4DB2-BD59-A6C34878D82A}">
                    <a16:rowId xmlns:a16="http://schemas.microsoft.com/office/drawing/2014/main" val="494771589"/>
                  </a:ext>
                </a:extLst>
              </a:tr>
              <a:tr h="2024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AMO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0" marR="3040" marT="3040" marB="0" anchor="b"/>
                </a:tc>
                <a:extLst>
                  <a:ext uri="{0D108BD9-81ED-4DB2-BD59-A6C34878D82A}">
                    <a16:rowId xmlns:a16="http://schemas.microsoft.com/office/drawing/2014/main" val="3848325091"/>
                  </a:ext>
                </a:extLst>
              </a:tr>
              <a:tr h="2024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ENSO_NINO.34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0" marR="3040" marT="3040" marB="0" anchor="b"/>
                </a:tc>
                <a:extLst>
                  <a:ext uri="{0D108BD9-81ED-4DB2-BD59-A6C34878D82A}">
                    <a16:rowId xmlns:a16="http://schemas.microsoft.com/office/drawing/2014/main" val="465246181"/>
                  </a:ext>
                </a:extLst>
              </a:tr>
              <a:tr h="2024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NiNO3Ext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0" marR="3040" marT="3040" marB="0" anchor="b"/>
                </a:tc>
                <a:extLst>
                  <a:ext uri="{0D108BD9-81ED-4DB2-BD59-A6C34878D82A}">
                    <a16:rowId xmlns:a16="http://schemas.microsoft.com/office/drawing/2014/main" val="3360657587"/>
                  </a:ext>
                </a:extLst>
              </a:tr>
              <a:tr h="2024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ENSO_ONI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0" marR="3040" marT="3040" marB="0" anchor="b"/>
                </a:tc>
                <a:extLst>
                  <a:ext uri="{0D108BD9-81ED-4DB2-BD59-A6C34878D82A}">
                    <a16:rowId xmlns:a16="http://schemas.microsoft.com/office/drawing/2014/main" val="319826802"/>
                  </a:ext>
                </a:extLst>
              </a:tr>
              <a:tr h="2024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AA_Orig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0" marR="3040" marT="3040" marB="0" anchor="b"/>
                </a:tc>
                <a:extLst>
                  <a:ext uri="{0D108BD9-81ED-4DB2-BD59-A6C34878D82A}">
                    <a16:rowId xmlns:a16="http://schemas.microsoft.com/office/drawing/2014/main" val="689820895"/>
                  </a:ext>
                </a:extLst>
              </a:tr>
              <a:tr h="2024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AA_Adj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0" marR="3040" marT="3040" marB="0" anchor="b"/>
                </a:tc>
                <a:extLst>
                  <a:ext uri="{0D108BD9-81ED-4DB2-BD59-A6C34878D82A}">
                    <a16:rowId xmlns:a16="http://schemas.microsoft.com/office/drawing/2014/main" val="3973356907"/>
                  </a:ext>
                </a:extLst>
              </a:tr>
              <a:tr h="2024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AA_12month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0" marR="3040" marT="3040" marB="0" anchor="b"/>
                </a:tc>
                <a:extLst>
                  <a:ext uri="{0D108BD9-81ED-4DB2-BD59-A6C34878D82A}">
                    <a16:rowId xmlns:a16="http://schemas.microsoft.com/office/drawing/2014/main" val="2969857525"/>
                  </a:ext>
                </a:extLst>
              </a:tr>
              <a:tr h="2024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LakeO_flow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0" marR="3040" marT="3040" marB="0" anchor="b"/>
                </a:tc>
                <a:extLst>
                  <a:ext uri="{0D108BD9-81ED-4DB2-BD59-A6C34878D82A}">
                    <a16:rowId xmlns:a16="http://schemas.microsoft.com/office/drawing/2014/main" val="2772196852"/>
                  </a:ext>
                </a:extLst>
              </a:tr>
              <a:tr h="2024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NAO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0" marR="3040" marT="3040" marB="0" anchor="b"/>
                </a:tc>
                <a:extLst>
                  <a:ext uri="{0D108BD9-81ED-4DB2-BD59-A6C34878D82A}">
                    <a16:rowId xmlns:a16="http://schemas.microsoft.com/office/drawing/2014/main" val="3916894472"/>
                  </a:ext>
                </a:extLst>
              </a:tr>
              <a:tr h="2024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Rainfall_PRISM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0" marR="3040" marT="3040" marB="0" anchor="b"/>
                </a:tc>
                <a:extLst>
                  <a:ext uri="{0D108BD9-81ED-4DB2-BD59-A6C34878D82A}">
                    <a16:rowId xmlns:a16="http://schemas.microsoft.com/office/drawing/2014/main" val="172378194"/>
                  </a:ext>
                </a:extLst>
              </a:tr>
              <a:tr h="2024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Rainfall_CD4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0" marR="3040" marT="3040" marB="0" anchor="b"/>
                </a:tc>
                <a:extLst>
                  <a:ext uri="{0D108BD9-81ED-4DB2-BD59-A6C34878D82A}">
                    <a16:rowId xmlns:a16="http://schemas.microsoft.com/office/drawing/2014/main" val="2221512831"/>
                  </a:ext>
                </a:extLst>
              </a:tr>
              <a:tr h="2024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Rainfall_CD5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0" marR="3040" marT="3040" marB="0" anchor="b"/>
                </a:tc>
                <a:extLst>
                  <a:ext uri="{0D108BD9-81ED-4DB2-BD59-A6C34878D82A}">
                    <a16:rowId xmlns:a16="http://schemas.microsoft.com/office/drawing/2014/main" val="2180039852"/>
                  </a:ext>
                </a:extLst>
              </a:tr>
              <a:tr h="2024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Rainfall_CD6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0" marR="3040" marT="3040" marB="0" anchor="b"/>
                </a:tc>
                <a:extLst>
                  <a:ext uri="{0D108BD9-81ED-4DB2-BD59-A6C34878D82A}">
                    <a16:rowId xmlns:a16="http://schemas.microsoft.com/office/drawing/2014/main" val="319408218"/>
                  </a:ext>
                </a:extLst>
              </a:tr>
              <a:tr h="2024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AMOGray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0" marR="3040" marT="3040" marB="0" anchor="b"/>
                </a:tc>
                <a:extLst>
                  <a:ext uri="{0D108BD9-81ED-4DB2-BD59-A6C34878D82A}">
                    <a16:rowId xmlns:a16="http://schemas.microsoft.com/office/drawing/2014/main" val="231429127"/>
                  </a:ext>
                </a:extLst>
              </a:tr>
              <a:tr h="2024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KG2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0" marR="3040" marT="3040" marB="0" anchor="b"/>
                </a:tc>
                <a:extLst>
                  <a:ext uri="{0D108BD9-81ED-4DB2-BD59-A6C34878D82A}">
                    <a16:rowId xmlns:a16="http://schemas.microsoft.com/office/drawing/2014/main" val="323352210"/>
                  </a:ext>
                </a:extLst>
              </a:tr>
              <a:tr h="2024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UKR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0" marR="3040" marT="3040" marB="0" anchor="b"/>
                </a:tc>
                <a:extLst>
                  <a:ext uri="{0D108BD9-81ED-4DB2-BD59-A6C34878D82A}">
                    <a16:rowId xmlns:a16="http://schemas.microsoft.com/office/drawing/2014/main" val="883149912"/>
                  </a:ext>
                </a:extLst>
              </a:tr>
              <a:tr h="2024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LKR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0" marR="3040" marT="3040" marB="0" anchor="b"/>
                </a:tc>
                <a:extLst>
                  <a:ext uri="{0D108BD9-81ED-4DB2-BD59-A6C34878D82A}">
                    <a16:rowId xmlns:a16="http://schemas.microsoft.com/office/drawing/2014/main" val="3053700762"/>
                  </a:ext>
                </a:extLst>
              </a:tr>
              <a:tr h="2024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LOK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0" marR="3040" marT="3040" marB="0" anchor="b"/>
                </a:tc>
                <a:extLst>
                  <a:ext uri="{0D108BD9-81ED-4DB2-BD59-A6C34878D82A}">
                    <a16:rowId xmlns:a16="http://schemas.microsoft.com/office/drawing/2014/main" val="1337060023"/>
                  </a:ext>
                </a:extLst>
              </a:tr>
              <a:tr h="2024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ECAL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0" marR="3040" marT="3040" marB="0" anchor="b"/>
                </a:tc>
                <a:extLst>
                  <a:ext uri="{0D108BD9-81ED-4DB2-BD59-A6C34878D82A}">
                    <a16:rowId xmlns:a16="http://schemas.microsoft.com/office/drawing/2014/main" val="2851423953"/>
                  </a:ext>
                </a:extLst>
              </a:tr>
              <a:tr h="2024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UEC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0" marR="3040" marT="3040" marB="0" anchor="b"/>
                </a:tc>
                <a:extLst>
                  <a:ext uri="{0D108BD9-81ED-4DB2-BD59-A6C34878D82A}">
                    <a16:rowId xmlns:a16="http://schemas.microsoft.com/office/drawing/2014/main" val="3640773407"/>
                  </a:ext>
                </a:extLst>
              </a:tr>
              <a:tr h="2024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Nino34Off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0" marR="3040" marT="3040" marB="0" anchor="b"/>
                </a:tc>
                <a:extLst>
                  <a:ext uri="{0D108BD9-81ED-4DB2-BD59-A6C34878D82A}">
                    <a16:rowId xmlns:a16="http://schemas.microsoft.com/office/drawing/2014/main" val="816703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4345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40657" y="682953"/>
            <a:ext cx="67058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23B4B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Models Used in the Notebook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97480" cy="44348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9224" y="1581912"/>
            <a:ext cx="2404872" cy="502920"/>
          </a:xfrm>
          <a:prstGeom prst="roundRect">
            <a:avLst>
              <a:gd name="adj" fmla="val 14545"/>
            </a:avLst>
          </a:prstGeom>
          <a:solidFill>
            <a:srgbClr val="F7FBFD"/>
          </a:solidFill>
          <a:ln w="12700">
            <a:solidFill>
              <a:srgbClr val="F7FBF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04088" y="1673352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23B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Linear regression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C5A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Baseline regression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2286000"/>
            <a:ext cx="1874520" cy="0"/>
          </a:xfrm>
          <a:prstGeom prst="line">
            <a:avLst/>
          </a:prstGeom>
          <a:noFill/>
          <a:ln w="15240">
            <a:solidFill>
              <a:srgbClr val="D7E3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2441448"/>
            <a:ext cx="2331720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Simple and transparent starting point.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Predicts continuous seasonal flow.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Useful for explaining coefficients and residuals.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10128" y="1417320"/>
            <a:ext cx="2697480" cy="44348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456432" y="1581912"/>
            <a:ext cx="2404872" cy="502920"/>
          </a:xfrm>
          <a:prstGeom prst="roundRect">
            <a:avLst>
              <a:gd name="adj" fmla="val 14545"/>
            </a:avLst>
          </a:prstGeom>
          <a:solidFill>
            <a:srgbClr val="F7FBFD"/>
          </a:solidFill>
          <a:ln w="12700">
            <a:solidFill>
              <a:srgbClr val="F7FBF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511296" y="1673352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23B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Logistic regression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584448" y="1920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F8A6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Classification example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721608" y="2286000"/>
            <a:ext cx="1874520" cy="0"/>
          </a:xfrm>
          <a:prstGeom prst="line">
            <a:avLst/>
          </a:prstGeom>
          <a:noFill/>
          <a:ln w="15240">
            <a:solidFill>
              <a:srgbClr val="D7E3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93008" y="2441448"/>
            <a:ext cx="2331720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Converts flow into low / medium / high classes.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Shows how the same data can support categorical prediction.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Accuracy reported separately from RMSE and R².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17336" y="1417320"/>
            <a:ext cx="2697480" cy="44348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63640" y="1581912"/>
            <a:ext cx="2404872" cy="502920"/>
          </a:xfrm>
          <a:prstGeom prst="roundRect">
            <a:avLst>
              <a:gd name="adj" fmla="val 14545"/>
            </a:avLst>
          </a:prstGeom>
          <a:solidFill>
            <a:srgbClr val="F7FBFD"/>
          </a:solidFill>
          <a:ln w="12700">
            <a:solidFill>
              <a:srgbClr val="F7FBF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18504" y="1673352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23B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Random Forest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91656" y="1920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E7E8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Ensemble trees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528816" y="2286000"/>
            <a:ext cx="1874520" cy="0"/>
          </a:xfrm>
          <a:prstGeom prst="line">
            <a:avLst/>
          </a:prstGeom>
          <a:noFill/>
          <a:ln w="15240">
            <a:solidFill>
              <a:srgbClr val="D7E3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441448"/>
            <a:ext cx="2331720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Handles nonlinear behavior and interactions.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Provides feature importance and tree-spread uncertainty.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Also tuned with grid search.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924544" y="1417320"/>
            <a:ext cx="2697480" cy="44348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070848" y="1581912"/>
            <a:ext cx="2404872" cy="502920"/>
          </a:xfrm>
          <a:prstGeom prst="roundRect">
            <a:avLst>
              <a:gd name="adj" fmla="val 14545"/>
            </a:avLst>
          </a:prstGeom>
          <a:solidFill>
            <a:srgbClr val="F7FBFD"/>
          </a:solidFill>
          <a:ln w="12700">
            <a:solidFill>
              <a:srgbClr val="F7FBF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125712" y="1673352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23B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XGBoost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198864" y="1920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8A68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Boosted trees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336024" y="2286000"/>
            <a:ext cx="1874520" cy="0"/>
          </a:xfrm>
          <a:prstGeom prst="line">
            <a:avLst/>
          </a:prstGeom>
          <a:noFill/>
          <a:ln w="15240">
            <a:solidFill>
              <a:srgbClr val="D7E3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107424" y="2441448"/>
            <a:ext cx="2331720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Usually strong predictive skill on tabular data</a:t>
            </a:r>
            <a:r>
              <a:rPr lang="en-US" noProof="0" dirty="0">
                <a:solidFill>
                  <a:srgbClr val="24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Sensitive to hyperparameters such as depth and learning rate.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Uncertainty estimated from a bootstrap ensemble.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31520" y="5943600"/>
            <a:ext cx="10972800" cy="219456"/>
          </a:xfrm>
          <a:prstGeom prst="roundRect">
            <a:avLst>
              <a:gd name="adj" fmla="val 50000"/>
            </a:avLst>
          </a:prstGeom>
          <a:solidFill>
            <a:srgbClr val="EEF6F9"/>
          </a:solidFill>
          <a:ln w="12700">
            <a:solidFill>
              <a:srgbClr val="D7E3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60120" y="5980176"/>
            <a:ext cx="10469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123B4B"/>
                </a:solidFill>
                <a:latin typeface="Aptos"/>
              </a:rPr>
              <a:t>S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23B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tart with interpretable models, then add complexity only when it improves skill or insight</a:t>
            </a:r>
            <a:r>
              <a:rPr kumimoji="0" lang="en-US" sz="1320" b="1" i="0" u="none" strike="noStrike" kern="1200" cap="none" spc="0" normalizeH="0" baseline="0" noProof="0" dirty="0">
                <a:ln>
                  <a:noFill/>
                </a:ln>
                <a:solidFill>
                  <a:srgbClr val="123B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  <a:endParaRPr kumimoji="0" lang="en-US" sz="13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988D0-9408-BCC8-8A2A-832AD6F0CB9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b="1" dirty="0"/>
              <a:t>Other Topics Covered in the Notebook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32FEC-7347-4C11-B949-0A73C0A5435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540953"/>
            <a:ext cx="10515600" cy="4351338"/>
          </a:xfrm>
          <a:prstGeom prst="rect">
            <a:avLst/>
          </a:prstGeom>
        </p:spPr>
        <p:txBody>
          <a:bodyPr>
            <a:normAutofit fontScale="85000" lnSpcReduction="10000"/>
          </a:bodyPr>
          <a:lstStyle/>
          <a:p>
            <a:pPr>
              <a:spcBef>
                <a:spcPts val="1089"/>
              </a:spcBef>
              <a:spcAft>
                <a:spcPts val="1451"/>
              </a:spcAft>
            </a:pPr>
            <a:r>
              <a:rPr lang="en-US" b="0" i="0" dirty="0">
                <a:effectLst/>
                <a:latin typeface="system-ui"/>
              </a:rPr>
              <a:t>Practical uncertainty bounds for tree-based models</a:t>
            </a:r>
          </a:p>
          <a:p>
            <a:pPr lvl="1"/>
            <a:r>
              <a:rPr lang="en-US" b="0" i="0" dirty="0">
                <a:effectLst/>
                <a:latin typeface="system-ui"/>
              </a:rPr>
              <a:t>For </a:t>
            </a:r>
            <a:r>
              <a:rPr lang="en-US" b="1" i="0" dirty="0">
                <a:effectLst/>
                <a:latin typeface="system-ui"/>
              </a:rPr>
              <a:t>Random Forest</a:t>
            </a:r>
            <a:r>
              <a:rPr lang="en-US" b="0" i="0" dirty="0">
                <a:effectLst/>
                <a:latin typeface="system-ui"/>
              </a:rPr>
              <a:t>, the interval is based on the spread of the individual trees.</a:t>
            </a:r>
          </a:p>
          <a:p>
            <a:pPr lvl="1"/>
            <a:r>
              <a:rPr lang="en-US" b="0" i="0" dirty="0">
                <a:effectLst/>
                <a:latin typeface="system-ui"/>
              </a:rPr>
              <a:t>For </a:t>
            </a:r>
            <a:r>
              <a:rPr lang="en-US" b="1" i="0" dirty="0" err="1">
                <a:effectLst/>
                <a:latin typeface="system-ui"/>
              </a:rPr>
              <a:t>XGBoost</a:t>
            </a:r>
            <a:r>
              <a:rPr lang="en-US" b="0" i="0" dirty="0">
                <a:effectLst/>
                <a:latin typeface="system-ui"/>
              </a:rPr>
              <a:t>, the interval is based on a small </a:t>
            </a:r>
            <a:r>
              <a:rPr lang="en-US" b="1" i="0" dirty="0">
                <a:effectLst/>
                <a:latin typeface="system-ui"/>
              </a:rPr>
              <a:t>bootstrap ensemble</a:t>
            </a:r>
            <a:r>
              <a:rPr lang="en-US" b="0" i="0" dirty="0">
                <a:effectLst/>
                <a:latin typeface="system-ui"/>
              </a:rPr>
              <a:t> of repeated model fits.</a:t>
            </a:r>
          </a:p>
          <a:p>
            <a:pPr marL="0" indent="0">
              <a:buNone/>
            </a:pPr>
            <a:endParaRPr lang="en-US" dirty="0"/>
          </a:p>
          <a:p>
            <a:pPr>
              <a:spcBef>
                <a:spcPts val="1089"/>
              </a:spcBef>
              <a:spcAft>
                <a:spcPts val="1451"/>
              </a:spcAft>
            </a:pPr>
            <a:r>
              <a:rPr lang="en-US" b="0" i="0" dirty="0">
                <a:effectLst/>
                <a:latin typeface="system-ui"/>
              </a:rPr>
              <a:t> Hyperparameter tuning for </a:t>
            </a:r>
            <a:r>
              <a:rPr lang="en-US" b="0" i="0" dirty="0" err="1">
                <a:effectLst/>
                <a:latin typeface="system-ui"/>
              </a:rPr>
              <a:t>XGBoost</a:t>
            </a:r>
            <a:r>
              <a:rPr lang="en-US" b="0" i="0" dirty="0">
                <a:effectLst/>
                <a:latin typeface="system-ui"/>
              </a:rPr>
              <a:t> with grid search</a:t>
            </a:r>
          </a:p>
          <a:p>
            <a:pPr lvl="1"/>
            <a:r>
              <a:rPr lang="en-US" b="0" i="0" dirty="0" err="1">
                <a:effectLst/>
                <a:latin typeface="system-ui"/>
              </a:rPr>
              <a:t>XGBoost</a:t>
            </a:r>
            <a:r>
              <a:rPr lang="en-US" b="0" i="0" dirty="0">
                <a:effectLst/>
                <a:latin typeface="system-ui"/>
              </a:rPr>
              <a:t> often performs very well, but it is also sensitive to hyperparameters such as </a:t>
            </a:r>
            <a:r>
              <a:rPr lang="en-US" b="1" i="0" dirty="0">
                <a:effectLst/>
                <a:latin typeface="system-ui"/>
              </a:rPr>
              <a:t>learning rate</a:t>
            </a:r>
            <a:r>
              <a:rPr lang="en-US" b="0" i="0" dirty="0">
                <a:effectLst/>
                <a:latin typeface="system-ui"/>
              </a:rPr>
              <a:t>, </a:t>
            </a:r>
            <a:r>
              <a:rPr lang="en-US" b="1" i="0" dirty="0">
                <a:effectLst/>
                <a:latin typeface="system-ui"/>
              </a:rPr>
              <a:t>tree depth</a:t>
            </a:r>
            <a:r>
              <a:rPr lang="en-US" b="0" i="0" dirty="0">
                <a:effectLst/>
                <a:latin typeface="system-ui"/>
              </a:rPr>
              <a:t>, and </a:t>
            </a:r>
            <a:r>
              <a:rPr lang="en-US" b="1" i="0" dirty="0">
                <a:effectLst/>
                <a:latin typeface="system-ui"/>
              </a:rPr>
              <a:t>number of trees</a:t>
            </a:r>
            <a:r>
              <a:rPr lang="en-US" b="0" i="0" dirty="0">
                <a:effectLst/>
                <a:latin typeface="system-ui"/>
              </a:rPr>
              <a:t>. Grid search helps us test several combinations systematically instead of guessing.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958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9665E-27B1-B086-AB0B-DCAD8024B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3369E14-3469-1C32-C292-FA9DA1CBD1A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custGeom>
            <a:avLst/>
            <a:gdLst>
              <a:gd name="csX0" fmla="*/ 0 w 12191695"/>
              <a:gd name="csY0" fmla="*/ 0 h 6858000"/>
              <a:gd name="csX1" fmla="*/ 12191695 w 12191695"/>
              <a:gd name="csY1" fmla="*/ 0 h 6858000"/>
              <a:gd name="csX2" fmla="*/ 12191695 w 12191695"/>
              <a:gd name="csY2" fmla="*/ 6858000 h 6858000"/>
              <a:gd name="csX3" fmla="*/ 0 w 12191695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1695" h="6858000">
                <a:moveTo>
                  <a:pt x="0" y="0"/>
                </a:moveTo>
                <a:lnTo>
                  <a:pt x="12191695" y="0"/>
                </a:lnTo>
                <a:lnTo>
                  <a:pt x="1219169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F7FBFF"/>
              </a:gs>
              <a:gs pos="50000">
                <a:srgbClr val="F2F7FD"/>
              </a:gs>
              <a:gs pos="100000">
                <a:srgbClr val="EDF4FB"/>
              </a:gs>
            </a:gsLst>
            <a:lin ang="2700000" scaled="1"/>
          </a:gradFill>
          <a:ln w="7614" cap="flat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D4A026E-8DEF-6555-6128-25C47F84F217}"/>
              </a:ext>
            </a:extLst>
          </p:cNvPr>
          <p:cNvSpPr/>
          <p:nvPr/>
        </p:nvSpPr>
        <p:spPr>
          <a:xfrm>
            <a:off x="327651" y="55035"/>
            <a:ext cx="11582110" cy="911370"/>
          </a:xfrm>
          <a:custGeom>
            <a:avLst/>
            <a:gdLst>
              <a:gd name="csX0" fmla="*/ 11368756 w 11582110"/>
              <a:gd name="csY0" fmla="*/ 0 h 853440"/>
              <a:gd name="csX1" fmla="*/ 11582110 w 11582110"/>
              <a:gd name="csY1" fmla="*/ 213360 h 853440"/>
              <a:gd name="csX2" fmla="*/ 11582110 w 11582110"/>
              <a:gd name="csY2" fmla="*/ 640080 h 853440"/>
              <a:gd name="csX3" fmla="*/ 11368756 w 11582110"/>
              <a:gd name="csY3" fmla="*/ 853440 h 853440"/>
              <a:gd name="csX4" fmla="*/ 213355 w 11582110"/>
              <a:gd name="csY4" fmla="*/ 853440 h 853440"/>
              <a:gd name="csX5" fmla="*/ 0 w 11582110"/>
              <a:gd name="csY5" fmla="*/ 640080 h 853440"/>
              <a:gd name="csX6" fmla="*/ 0 w 11582110"/>
              <a:gd name="csY6" fmla="*/ 213360 h 853440"/>
              <a:gd name="csX7" fmla="*/ 213355 w 11582110"/>
              <a:gd name="csY7" fmla="*/ 0 h 853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582110" h="853440">
                <a:moveTo>
                  <a:pt x="11368756" y="0"/>
                </a:moveTo>
                <a:cubicBezTo>
                  <a:pt x="11486588" y="0"/>
                  <a:pt x="11582110" y="95525"/>
                  <a:pt x="11582110" y="213360"/>
                </a:cubicBezTo>
                <a:lnTo>
                  <a:pt x="11582110" y="640080"/>
                </a:lnTo>
                <a:cubicBezTo>
                  <a:pt x="11582110" y="757916"/>
                  <a:pt x="11486588" y="853440"/>
                  <a:pt x="11368756" y="853440"/>
                </a:cubicBezTo>
                <a:lnTo>
                  <a:pt x="213355" y="853440"/>
                </a:lnTo>
                <a:cubicBezTo>
                  <a:pt x="95522" y="853440"/>
                  <a:pt x="0" y="757916"/>
                  <a:pt x="0" y="640080"/>
                </a:cubicBezTo>
                <a:lnTo>
                  <a:pt x="0" y="213360"/>
                </a:lnTo>
                <a:cubicBezTo>
                  <a:pt x="0" y="95525"/>
                  <a:pt x="95522" y="0"/>
                  <a:pt x="213355" y="0"/>
                </a:cubicBezTo>
                <a:close/>
              </a:path>
            </a:pathLst>
          </a:custGeom>
          <a:solidFill>
            <a:srgbClr val="FFFFFF"/>
          </a:solidFill>
          <a:ln w="7614" cap="flat">
            <a:solidFill>
              <a:srgbClr val="DCE6F0"/>
            </a:solidFill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2473CA-FB1E-7249-1D7B-DFD2E3E3936F}"/>
              </a:ext>
            </a:extLst>
          </p:cNvPr>
          <p:cNvSpPr txBox="1"/>
          <p:nvPr/>
        </p:nvSpPr>
        <p:spPr>
          <a:xfrm>
            <a:off x="395278" y="188632"/>
            <a:ext cx="12095822" cy="484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50" b="1" spc="0" baseline="0" dirty="0">
                <a:ln/>
                <a:solidFill>
                  <a:srgbClr val="173A5E"/>
                </a:solidFill>
                <a:latin typeface="Arial"/>
                <a:cs typeface="Arial"/>
                <a:sym typeface="Arial"/>
                <a:rtl val="0"/>
              </a:rPr>
              <a:t>LOK seasonal flow prediction: conceptual problem framing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E7F147-F968-B417-8482-9DC1AF2666B8}"/>
              </a:ext>
            </a:extLst>
          </p:cNvPr>
          <p:cNvSpPr txBox="1"/>
          <p:nvPr/>
        </p:nvSpPr>
        <p:spPr>
          <a:xfrm>
            <a:off x="441946" y="901404"/>
            <a:ext cx="4656020" cy="261699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US" sz="2250" spc="0" baseline="81333">
                <a:ln/>
                <a:solidFill>
                  <a:srgbClr val="4F6377"/>
                </a:solidFill>
                <a:latin typeface="Arial"/>
                <a:cs typeface="Arial"/>
                <a:sym typeface="Arial"/>
                <a:rtl val="0"/>
              </a:rPr>
              <a:t>and predict the seasonal mean LakeO_flow for Lake Okeechobee.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44BCAAD-B560-7755-5449-E61D7F2DA9FD}"/>
              </a:ext>
            </a:extLst>
          </p:cNvPr>
          <p:cNvSpPr/>
          <p:nvPr/>
        </p:nvSpPr>
        <p:spPr>
          <a:xfrm>
            <a:off x="380990" y="1257299"/>
            <a:ext cx="3536066" cy="3922581"/>
          </a:xfrm>
          <a:custGeom>
            <a:avLst/>
            <a:gdLst>
              <a:gd name="csX0" fmla="*/ 3078403 w 3276518"/>
              <a:gd name="csY0" fmla="*/ 0 h 3886200"/>
              <a:gd name="csX1" fmla="*/ 3276518 w 3276518"/>
              <a:gd name="csY1" fmla="*/ 198120 h 3886200"/>
              <a:gd name="csX2" fmla="*/ 3276518 w 3276518"/>
              <a:gd name="csY2" fmla="*/ 3688080 h 3886200"/>
              <a:gd name="csX3" fmla="*/ 3078403 w 3276518"/>
              <a:gd name="csY3" fmla="*/ 3886200 h 3886200"/>
              <a:gd name="csX4" fmla="*/ 198115 w 3276518"/>
              <a:gd name="csY4" fmla="*/ 3886200 h 3886200"/>
              <a:gd name="csX5" fmla="*/ 0 w 3276518"/>
              <a:gd name="csY5" fmla="*/ 3688080 h 3886200"/>
              <a:gd name="csX6" fmla="*/ 0 w 3276518"/>
              <a:gd name="csY6" fmla="*/ 198120 h 3886200"/>
              <a:gd name="csX7" fmla="*/ 198115 w 3276518"/>
              <a:gd name="csY7" fmla="*/ 0 h 3886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6518" h="3886200">
                <a:moveTo>
                  <a:pt x="3078403" y="0"/>
                </a:moveTo>
                <a:cubicBezTo>
                  <a:pt x="3187819" y="0"/>
                  <a:pt x="3276518" y="88701"/>
                  <a:pt x="3276518" y="198120"/>
                </a:cubicBezTo>
                <a:lnTo>
                  <a:pt x="3276518" y="3688080"/>
                </a:lnTo>
                <a:cubicBezTo>
                  <a:pt x="3276518" y="3797499"/>
                  <a:pt x="3187819" y="3886200"/>
                  <a:pt x="3078403" y="3886200"/>
                </a:cubicBezTo>
                <a:lnTo>
                  <a:pt x="198115" y="3886200"/>
                </a:lnTo>
                <a:cubicBezTo>
                  <a:pt x="88699" y="3886200"/>
                  <a:pt x="0" y="3797499"/>
                  <a:pt x="0" y="3688080"/>
                </a:cubicBezTo>
                <a:lnTo>
                  <a:pt x="0" y="198120"/>
                </a:lnTo>
                <a:cubicBezTo>
                  <a:pt x="0" y="88701"/>
                  <a:pt x="88699" y="0"/>
                  <a:pt x="198115" y="0"/>
                </a:cubicBezTo>
                <a:close/>
              </a:path>
            </a:pathLst>
          </a:custGeom>
          <a:solidFill>
            <a:srgbClr val="FFFFFF"/>
          </a:solidFill>
          <a:ln w="7614" cap="flat">
            <a:solidFill>
              <a:schemeClr val="tx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8ECDF6-6406-7C55-10F7-244936CD88BB}"/>
              </a:ext>
            </a:extLst>
          </p:cNvPr>
          <p:cNvSpPr txBox="1"/>
          <p:nvPr/>
        </p:nvSpPr>
        <p:spPr>
          <a:xfrm>
            <a:off x="533384" y="1282940"/>
            <a:ext cx="2292986" cy="3298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b="1" spc="0" baseline="0" dirty="0">
                <a:ln/>
                <a:solidFill>
                  <a:srgbClr val="173A5E"/>
                </a:solidFill>
                <a:latin typeface="Arial"/>
                <a:cs typeface="Arial"/>
                <a:sym typeface="Arial"/>
                <a:rtl val="0"/>
              </a:rPr>
              <a:t>1. Monthly data 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D5182D-7C7E-4180-F8C3-A2F57E5E9632}"/>
              </a:ext>
            </a:extLst>
          </p:cNvPr>
          <p:cNvSpPr txBox="1"/>
          <p:nvPr/>
        </p:nvSpPr>
        <p:spPr>
          <a:xfrm>
            <a:off x="518145" y="1703910"/>
            <a:ext cx="3047924" cy="484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75" spc="0" baseline="0" dirty="0">
                <a:ln/>
                <a:solidFill>
                  <a:srgbClr val="5A6B7D"/>
                </a:solidFill>
                <a:latin typeface="Arial"/>
                <a:cs typeface="Arial"/>
                <a:sym typeface="Arial"/>
                <a:rtl val="0"/>
              </a:rPr>
              <a:t>Each row is one month; columns include time, climate indices,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77A991C-D515-DF7B-CF5E-4F718B874646}"/>
              </a:ext>
            </a:extLst>
          </p:cNvPr>
          <p:cNvSpPr/>
          <p:nvPr/>
        </p:nvSpPr>
        <p:spPr>
          <a:xfrm>
            <a:off x="609584" y="2179320"/>
            <a:ext cx="3489871" cy="274320"/>
          </a:xfrm>
          <a:custGeom>
            <a:avLst/>
            <a:gdLst>
              <a:gd name="csX0" fmla="*/ 4328052 w 4404249"/>
              <a:gd name="csY0" fmla="*/ 0 h 274320"/>
              <a:gd name="csX1" fmla="*/ 4404250 w 4404249"/>
              <a:gd name="csY1" fmla="*/ 76200 h 274320"/>
              <a:gd name="csX2" fmla="*/ 4404250 w 4404249"/>
              <a:gd name="csY2" fmla="*/ 198120 h 274320"/>
              <a:gd name="csX3" fmla="*/ 4328052 w 4404249"/>
              <a:gd name="csY3" fmla="*/ 274320 h 274320"/>
              <a:gd name="csX4" fmla="*/ 76198 w 4404249"/>
              <a:gd name="csY4" fmla="*/ 274320 h 274320"/>
              <a:gd name="csX5" fmla="*/ 0 w 4404249"/>
              <a:gd name="csY5" fmla="*/ 198120 h 274320"/>
              <a:gd name="csX6" fmla="*/ 0 w 4404249"/>
              <a:gd name="csY6" fmla="*/ 76200 h 274320"/>
              <a:gd name="csX7" fmla="*/ 76198 w 4404249"/>
              <a:gd name="csY7" fmla="*/ 0 h 2743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404249" h="274320">
                <a:moveTo>
                  <a:pt x="4328052" y="0"/>
                </a:moveTo>
                <a:cubicBezTo>
                  <a:pt x="4370135" y="0"/>
                  <a:pt x="4404250" y="34116"/>
                  <a:pt x="4404250" y="76200"/>
                </a:cubicBezTo>
                <a:lnTo>
                  <a:pt x="4404250" y="198120"/>
                </a:lnTo>
                <a:cubicBezTo>
                  <a:pt x="4404250" y="240204"/>
                  <a:pt x="4370135" y="274320"/>
                  <a:pt x="4328052" y="274320"/>
                </a:cubicBezTo>
                <a:lnTo>
                  <a:pt x="76198" y="274320"/>
                </a:lnTo>
                <a:cubicBezTo>
                  <a:pt x="34115" y="274320"/>
                  <a:pt x="0" y="240204"/>
                  <a:pt x="0" y="198120"/>
                </a:cubicBezTo>
                <a:lnTo>
                  <a:pt x="0" y="76200"/>
                </a:lnTo>
                <a:cubicBezTo>
                  <a:pt x="0" y="34116"/>
                  <a:pt x="34115" y="0"/>
                  <a:pt x="76198" y="0"/>
                </a:cubicBezTo>
                <a:close/>
              </a:path>
            </a:pathLst>
          </a:custGeom>
          <a:solidFill>
            <a:srgbClr val="E7F0FA"/>
          </a:solidFill>
          <a:ln w="7614" cap="flat">
            <a:solidFill>
              <a:srgbClr val="BFD0E4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8F8385-97DC-6BAE-1666-C610EE37B1D1}"/>
              </a:ext>
            </a:extLst>
          </p:cNvPr>
          <p:cNvSpPr txBox="1"/>
          <p:nvPr/>
        </p:nvSpPr>
        <p:spPr>
          <a:xfrm>
            <a:off x="679306" y="2213007"/>
            <a:ext cx="424422" cy="2191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b="1" spc="0" baseline="0">
                <a:ln/>
                <a:solidFill>
                  <a:srgbClr val="214B75"/>
                </a:solidFill>
                <a:latin typeface="Arial"/>
                <a:cs typeface="Arial"/>
                <a:sym typeface="Arial"/>
                <a:rtl val="0"/>
              </a:rPr>
              <a:t>Year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85DF51-4536-6EC7-E9B8-9FF3474AF0EE}"/>
              </a:ext>
            </a:extLst>
          </p:cNvPr>
          <p:cNvSpPr txBox="1"/>
          <p:nvPr/>
        </p:nvSpPr>
        <p:spPr>
          <a:xfrm>
            <a:off x="1230680" y="2213007"/>
            <a:ext cx="525603" cy="2191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b="1" spc="0" baseline="0">
                <a:ln/>
                <a:solidFill>
                  <a:srgbClr val="214B75"/>
                </a:solidFill>
                <a:latin typeface="Arial"/>
                <a:cs typeface="Arial"/>
                <a:sym typeface="Arial"/>
                <a:rtl val="0"/>
              </a:rPr>
              <a:t>Month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A93CDF-90C7-5232-E09A-991B4EBE757E}"/>
              </a:ext>
            </a:extLst>
          </p:cNvPr>
          <p:cNvSpPr txBox="1"/>
          <p:nvPr/>
        </p:nvSpPr>
        <p:spPr>
          <a:xfrm>
            <a:off x="1870679" y="2213007"/>
            <a:ext cx="449536" cy="2191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b="1" spc="0" baseline="0">
                <a:ln/>
                <a:solidFill>
                  <a:srgbClr val="214B75"/>
                </a:solidFill>
                <a:latin typeface="Arial"/>
                <a:cs typeface="Arial"/>
                <a:sym typeface="Arial"/>
                <a:rtl val="0"/>
              </a:rPr>
              <a:t>AMO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3A38EA-2E81-363E-04BF-E956186E9954}"/>
              </a:ext>
            </a:extLst>
          </p:cNvPr>
          <p:cNvSpPr txBox="1"/>
          <p:nvPr/>
        </p:nvSpPr>
        <p:spPr>
          <a:xfrm>
            <a:off x="2433749" y="2213007"/>
            <a:ext cx="1014994" cy="2191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b="1" spc="0" baseline="0">
                <a:ln/>
                <a:solidFill>
                  <a:srgbClr val="214B75"/>
                </a:solidFill>
                <a:latin typeface="Arial"/>
                <a:cs typeface="Arial"/>
                <a:sym typeface="Arial"/>
                <a:rtl val="0"/>
              </a:rPr>
              <a:t>ENSO_NINO.34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22AC9D-D6EA-66C4-5DB8-07B5B5565452}"/>
              </a:ext>
            </a:extLst>
          </p:cNvPr>
          <p:cNvSpPr txBox="1"/>
          <p:nvPr/>
        </p:nvSpPr>
        <p:spPr>
          <a:xfrm>
            <a:off x="3580577" y="2213007"/>
            <a:ext cx="824406" cy="2191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b="1" spc="0" baseline="0">
                <a:ln/>
                <a:solidFill>
                  <a:srgbClr val="214B75"/>
                </a:solidFill>
                <a:latin typeface="Arial"/>
                <a:cs typeface="Arial"/>
                <a:sym typeface="Arial"/>
                <a:rtl val="0"/>
              </a:rPr>
              <a:t>LakeO_flow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976992-2A61-A48B-4829-B8F27F08A55E}"/>
              </a:ext>
            </a:extLst>
          </p:cNvPr>
          <p:cNvSpPr txBox="1"/>
          <p:nvPr/>
        </p:nvSpPr>
        <p:spPr>
          <a:xfrm>
            <a:off x="4528707" y="2213007"/>
            <a:ext cx="436867" cy="2191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b="1" spc="0" baseline="0">
                <a:ln/>
                <a:solidFill>
                  <a:srgbClr val="214B75"/>
                </a:solidFill>
                <a:latin typeface="Arial"/>
                <a:cs typeface="Arial"/>
                <a:sym typeface="Arial"/>
                <a:rtl val="0"/>
              </a:rPr>
              <a:t>NAO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1B1329C-E4FC-1D94-ADEF-209F52421275}"/>
              </a:ext>
            </a:extLst>
          </p:cNvPr>
          <p:cNvSpPr/>
          <p:nvPr/>
        </p:nvSpPr>
        <p:spPr>
          <a:xfrm>
            <a:off x="609584" y="2453640"/>
            <a:ext cx="4404249" cy="228600"/>
          </a:xfrm>
          <a:custGeom>
            <a:avLst/>
            <a:gdLst>
              <a:gd name="csX0" fmla="*/ 4373771 w 4404249"/>
              <a:gd name="csY0" fmla="*/ 0 h 228600"/>
              <a:gd name="csX1" fmla="*/ 4404250 w 4404249"/>
              <a:gd name="csY1" fmla="*/ 30480 h 228600"/>
              <a:gd name="csX2" fmla="*/ 4404250 w 4404249"/>
              <a:gd name="csY2" fmla="*/ 198120 h 228600"/>
              <a:gd name="csX3" fmla="*/ 4373771 w 4404249"/>
              <a:gd name="csY3" fmla="*/ 228600 h 228600"/>
              <a:gd name="csX4" fmla="*/ 30479 w 4404249"/>
              <a:gd name="csY4" fmla="*/ 228600 h 228600"/>
              <a:gd name="csX5" fmla="*/ 0 w 4404249"/>
              <a:gd name="csY5" fmla="*/ 198120 h 228600"/>
              <a:gd name="csX6" fmla="*/ 0 w 4404249"/>
              <a:gd name="csY6" fmla="*/ 30480 h 228600"/>
              <a:gd name="csX7" fmla="*/ 30479 w 4404249"/>
              <a:gd name="csY7" fmla="*/ 0 h 228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404249" h="228600">
                <a:moveTo>
                  <a:pt x="4373771" y="0"/>
                </a:moveTo>
                <a:cubicBezTo>
                  <a:pt x="4390604" y="0"/>
                  <a:pt x="4404250" y="13646"/>
                  <a:pt x="4404250" y="30480"/>
                </a:cubicBezTo>
                <a:lnTo>
                  <a:pt x="4404250" y="198120"/>
                </a:lnTo>
                <a:cubicBezTo>
                  <a:pt x="4404250" y="214954"/>
                  <a:pt x="4390604" y="228600"/>
                  <a:pt x="4373771" y="228600"/>
                </a:cubicBezTo>
                <a:lnTo>
                  <a:pt x="30479" y="228600"/>
                </a:lnTo>
                <a:cubicBezTo>
                  <a:pt x="13646" y="228600"/>
                  <a:pt x="0" y="214954"/>
                  <a:pt x="0" y="198120"/>
                </a:cubicBezTo>
                <a:lnTo>
                  <a:pt x="0" y="30480"/>
                </a:lnTo>
                <a:cubicBezTo>
                  <a:pt x="0" y="13646"/>
                  <a:pt x="13646" y="0"/>
                  <a:pt x="30479" y="0"/>
                </a:cubicBezTo>
                <a:close/>
              </a:path>
            </a:pathLst>
          </a:custGeom>
          <a:solidFill>
            <a:srgbClr val="FFFFFF"/>
          </a:solidFill>
          <a:ln w="7614" cap="flat">
            <a:solidFill>
              <a:srgbClr val="E2EBF4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C92023-055C-2664-1F94-41B436F6965D}"/>
              </a:ext>
            </a:extLst>
          </p:cNvPr>
          <p:cNvSpPr txBox="1"/>
          <p:nvPr/>
        </p:nvSpPr>
        <p:spPr>
          <a:xfrm>
            <a:off x="681420" y="2463745"/>
            <a:ext cx="420195" cy="210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30485E"/>
                </a:solidFill>
                <a:latin typeface="Arial"/>
                <a:cs typeface="Arial"/>
                <a:sym typeface="Arial"/>
                <a:rtl val="0"/>
              </a:rPr>
              <a:t>1960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D967E3-6574-6D21-9763-C1BE7AE39FB9}"/>
              </a:ext>
            </a:extLst>
          </p:cNvPr>
          <p:cNvSpPr txBox="1"/>
          <p:nvPr/>
        </p:nvSpPr>
        <p:spPr>
          <a:xfrm>
            <a:off x="1372378" y="2463745"/>
            <a:ext cx="242208" cy="210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30485E"/>
                </a:solidFill>
                <a:latin typeface="Arial"/>
                <a:cs typeface="Arial"/>
                <a:sym typeface="Arial"/>
                <a:rtl val="0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CA327E-CDA0-E03E-019C-782AA44FEB88}"/>
              </a:ext>
            </a:extLst>
          </p:cNvPr>
          <p:cNvSpPr txBox="1"/>
          <p:nvPr/>
        </p:nvSpPr>
        <p:spPr>
          <a:xfrm>
            <a:off x="1900195" y="2463745"/>
            <a:ext cx="390504" cy="210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30485E"/>
                </a:solidFill>
                <a:latin typeface="Arial"/>
                <a:cs typeface="Arial"/>
                <a:sym typeface="Arial"/>
                <a:rtl val="0"/>
              </a:rPr>
              <a:t>0.19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A6E9B7-2687-291E-438E-5B0331C083A8}"/>
              </a:ext>
            </a:extLst>
          </p:cNvPr>
          <p:cNvSpPr txBox="1"/>
          <p:nvPr/>
        </p:nvSpPr>
        <p:spPr>
          <a:xfrm>
            <a:off x="2728231" y="2463745"/>
            <a:ext cx="426029" cy="210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30485E"/>
                </a:solidFill>
                <a:latin typeface="Arial"/>
                <a:cs typeface="Arial"/>
                <a:sym typeface="Arial"/>
                <a:rtl val="0"/>
              </a:rPr>
              <a:t>-0.13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5BE15F-883D-1002-3FB3-9F5ECB0FFCEC}"/>
              </a:ext>
            </a:extLst>
          </p:cNvPr>
          <p:cNvSpPr txBox="1"/>
          <p:nvPr/>
        </p:nvSpPr>
        <p:spPr>
          <a:xfrm>
            <a:off x="3797527" y="2463745"/>
            <a:ext cx="390504" cy="210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30485E"/>
                </a:solidFill>
                <a:latin typeface="Arial"/>
                <a:cs typeface="Arial"/>
                <a:sym typeface="Arial"/>
                <a:rtl val="0"/>
              </a:rPr>
              <a:t>96.0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B1DF54-1793-CE34-9C01-BB2757AA0FF2}"/>
              </a:ext>
            </a:extLst>
          </p:cNvPr>
          <p:cNvSpPr txBox="1"/>
          <p:nvPr/>
        </p:nvSpPr>
        <p:spPr>
          <a:xfrm>
            <a:off x="4563791" y="2463745"/>
            <a:ext cx="366700" cy="210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30485E"/>
                </a:solidFill>
                <a:latin typeface="Arial"/>
                <a:cs typeface="Arial"/>
                <a:sym typeface="Arial"/>
                <a:rtl val="0"/>
              </a:rPr>
              <a:t>-2.0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7532B9E-4A90-26A4-F5E8-FAB64FD12858}"/>
              </a:ext>
            </a:extLst>
          </p:cNvPr>
          <p:cNvSpPr/>
          <p:nvPr/>
        </p:nvSpPr>
        <p:spPr>
          <a:xfrm>
            <a:off x="609584" y="2682240"/>
            <a:ext cx="4404249" cy="228600"/>
          </a:xfrm>
          <a:custGeom>
            <a:avLst/>
            <a:gdLst>
              <a:gd name="csX0" fmla="*/ 4373771 w 4404249"/>
              <a:gd name="csY0" fmla="*/ 0 h 228600"/>
              <a:gd name="csX1" fmla="*/ 4404250 w 4404249"/>
              <a:gd name="csY1" fmla="*/ 30480 h 228600"/>
              <a:gd name="csX2" fmla="*/ 4404250 w 4404249"/>
              <a:gd name="csY2" fmla="*/ 198120 h 228600"/>
              <a:gd name="csX3" fmla="*/ 4373771 w 4404249"/>
              <a:gd name="csY3" fmla="*/ 228600 h 228600"/>
              <a:gd name="csX4" fmla="*/ 30479 w 4404249"/>
              <a:gd name="csY4" fmla="*/ 228600 h 228600"/>
              <a:gd name="csX5" fmla="*/ 0 w 4404249"/>
              <a:gd name="csY5" fmla="*/ 198120 h 228600"/>
              <a:gd name="csX6" fmla="*/ 0 w 4404249"/>
              <a:gd name="csY6" fmla="*/ 30480 h 228600"/>
              <a:gd name="csX7" fmla="*/ 30479 w 4404249"/>
              <a:gd name="csY7" fmla="*/ 0 h 228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404249" h="228600">
                <a:moveTo>
                  <a:pt x="4373771" y="0"/>
                </a:moveTo>
                <a:cubicBezTo>
                  <a:pt x="4390604" y="0"/>
                  <a:pt x="4404250" y="13646"/>
                  <a:pt x="4404250" y="30480"/>
                </a:cubicBezTo>
                <a:lnTo>
                  <a:pt x="4404250" y="198120"/>
                </a:lnTo>
                <a:cubicBezTo>
                  <a:pt x="4404250" y="214954"/>
                  <a:pt x="4390604" y="228600"/>
                  <a:pt x="4373771" y="228600"/>
                </a:cubicBezTo>
                <a:lnTo>
                  <a:pt x="30479" y="228600"/>
                </a:lnTo>
                <a:cubicBezTo>
                  <a:pt x="13646" y="228600"/>
                  <a:pt x="0" y="214954"/>
                  <a:pt x="0" y="198120"/>
                </a:cubicBezTo>
                <a:lnTo>
                  <a:pt x="0" y="30480"/>
                </a:lnTo>
                <a:cubicBezTo>
                  <a:pt x="0" y="13646"/>
                  <a:pt x="13646" y="0"/>
                  <a:pt x="30479" y="0"/>
                </a:cubicBezTo>
                <a:close/>
              </a:path>
            </a:pathLst>
          </a:custGeom>
          <a:solidFill>
            <a:srgbClr val="F8FBFE"/>
          </a:solidFill>
          <a:ln w="7614" cap="flat">
            <a:solidFill>
              <a:srgbClr val="E2EBF4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B8A342-73D9-DF55-66C8-C27008453625}"/>
              </a:ext>
            </a:extLst>
          </p:cNvPr>
          <p:cNvSpPr txBox="1"/>
          <p:nvPr/>
        </p:nvSpPr>
        <p:spPr>
          <a:xfrm>
            <a:off x="681420" y="2692345"/>
            <a:ext cx="420195" cy="210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30485E"/>
                </a:solidFill>
                <a:latin typeface="Arial"/>
                <a:cs typeface="Arial"/>
                <a:sym typeface="Arial"/>
                <a:rtl val="0"/>
              </a:rPr>
              <a:t>1960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F032AD-3B98-6C25-C5CE-C9CA576847DD}"/>
              </a:ext>
            </a:extLst>
          </p:cNvPr>
          <p:cNvSpPr txBox="1"/>
          <p:nvPr/>
        </p:nvSpPr>
        <p:spPr>
          <a:xfrm>
            <a:off x="1372378" y="2692345"/>
            <a:ext cx="242208" cy="210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30485E"/>
                </a:solidFill>
                <a:latin typeface="Arial"/>
                <a:cs typeface="Arial"/>
                <a:sym typeface="Arial"/>
                <a:rtl val="0"/>
              </a:rPr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A3C752-5752-A337-AC04-11760233AD5A}"/>
              </a:ext>
            </a:extLst>
          </p:cNvPr>
          <p:cNvSpPr txBox="1"/>
          <p:nvPr/>
        </p:nvSpPr>
        <p:spPr>
          <a:xfrm>
            <a:off x="1900195" y="2692345"/>
            <a:ext cx="390504" cy="210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30485E"/>
                </a:solidFill>
                <a:latin typeface="Arial"/>
                <a:cs typeface="Arial"/>
                <a:sym typeface="Arial"/>
                <a:rtl val="0"/>
              </a:rPr>
              <a:t>0.23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802051-C10E-384E-9229-116E425DB089}"/>
              </a:ext>
            </a:extLst>
          </p:cNvPr>
          <p:cNvSpPr txBox="1"/>
          <p:nvPr/>
        </p:nvSpPr>
        <p:spPr>
          <a:xfrm>
            <a:off x="2728231" y="2692345"/>
            <a:ext cx="426029" cy="210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30485E"/>
                </a:solidFill>
                <a:latin typeface="Arial"/>
                <a:cs typeface="Arial"/>
                <a:sym typeface="Arial"/>
                <a:rtl val="0"/>
              </a:rPr>
              <a:t>-0.27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E50898-23FA-189A-47A4-D6710CF98EC6}"/>
              </a:ext>
            </a:extLst>
          </p:cNvPr>
          <p:cNvSpPr txBox="1"/>
          <p:nvPr/>
        </p:nvSpPr>
        <p:spPr>
          <a:xfrm>
            <a:off x="3767863" y="2692345"/>
            <a:ext cx="449833" cy="210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30485E"/>
                </a:solidFill>
                <a:latin typeface="Arial"/>
                <a:cs typeface="Arial"/>
                <a:sym typeface="Arial"/>
                <a:rtl val="0"/>
              </a:rPr>
              <a:t>319.0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1EB9B2-FC3E-BE06-F1A5-0BCE3659439A}"/>
              </a:ext>
            </a:extLst>
          </p:cNvPr>
          <p:cNvSpPr txBox="1"/>
          <p:nvPr/>
        </p:nvSpPr>
        <p:spPr>
          <a:xfrm>
            <a:off x="4563791" y="2692345"/>
            <a:ext cx="366700" cy="210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30485E"/>
                </a:solidFill>
                <a:latin typeface="Arial"/>
                <a:cs typeface="Arial"/>
                <a:sym typeface="Arial"/>
                <a:rtl val="0"/>
              </a:rPr>
              <a:t>-3.3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9116D900-B799-BD4D-5A42-44C8B67C3D07}"/>
              </a:ext>
            </a:extLst>
          </p:cNvPr>
          <p:cNvSpPr/>
          <p:nvPr/>
        </p:nvSpPr>
        <p:spPr>
          <a:xfrm>
            <a:off x="609584" y="2910840"/>
            <a:ext cx="4404249" cy="228600"/>
          </a:xfrm>
          <a:custGeom>
            <a:avLst/>
            <a:gdLst>
              <a:gd name="csX0" fmla="*/ 4373771 w 4404249"/>
              <a:gd name="csY0" fmla="*/ 0 h 228600"/>
              <a:gd name="csX1" fmla="*/ 4404250 w 4404249"/>
              <a:gd name="csY1" fmla="*/ 30480 h 228600"/>
              <a:gd name="csX2" fmla="*/ 4404250 w 4404249"/>
              <a:gd name="csY2" fmla="*/ 198120 h 228600"/>
              <a:gd name="csX3" fmla="*/ 4373771 w 4404249"/>
              <a:gd name="csY3" fmla="*/ 228600 h 228600"/>
              <a:gd name="csX4" fmla="*/ 30479 w 4404249"/>
              <a:gd name="csY4" fmla="*/ 228600 h 228600"/>
              <a:gd name="csX5" fmla="*/ 0 w 4404249"/>
              <a:gd name="csY5" fmla="*/ 198120 h 228600"/>
              <a:gd name="csX6" fmla="*/ 0 w 4404249"/>
              <a:gd name="csY6" fmla="*/ 30480 h 228600"/>
              <a:gd name="csX7" fmla="*/ 30479 w 4404249"/>
              <a:gd name="csY7" fmla="*/ 0 h 228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404249" h="228600">
                <a:moveTo>
                  <a:pt x="4373771" y="0"/>
                </a:moveTo>
                <a:cubicBezTo>
                  <a:pt x="4390604" y="0"/>
                  <a:pt x="4404250" y="13646"/>
                  <a:pt x="4404250" y="30480"/>
                </a:cubicBezTo>
                <a:lnTo>
                  <a:pt x="4404250" y="198120"/>
                </a:lnTo>
                <a:cubicBezTo>
                  <a:pt x="4404250" y="214954"/>
                  <a:pt x="4390604" y="228600"/>
                  <a:pt x="4373771" y="228600"/>
                </a:cubicBezTo>
                <a:lnTo>
                  <a:pt x="30479" y="228600"/>
                </a:lnTo>
                <a:cubicBezTo>
                  <a:pt x="13646" y="228600"/>
                  <a:pt x="0" y="214954"/>
                  <a:pt x="0" y="198120"/>
                </a:cubicBezTo>
                <a:lnTo>
                  <a:pt x="0" y="30480"/>
                </a:lnTo>
                <a:cubicBezTo>
                  <a:pt x="0" y="13646"/>
                  <a:pt x="13646" y="0"/>
                  <a:pt x="30479" y="0"/>
                </a:cubicBezTo>
                <a:close/>
              </a:path>
            </a:pathLst>
          </a:custGeom>
          <a:solidFill>
            <a:srgbClr val="FFFFFF"/>
          </a:solidFill>
          <a:ln w="7614" cap="flat">
            <a:solidFill>
              <a:srgbClr val="E2EBF4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7850D0C-5FD4-79BE-3B83-B04BB15FF3A3}"/>
              </a:ext>
            </a:extLst>
          </p:cNvPr>
          <p:cNvSpPr txBox="1"/>
          <p:nvPr/>
        </p:nvSpPr>
        <p:spPr>
          <a:xfrm>
            <a:off x="681420" y="2920945"/>
            <a:ext cx="420195" cy="210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30485E"/>
                </a:solidFill>
                <a:latin typeface="Arial"/>
                <a:cs typeface="Arial"/>
                <a:sym typeface="Arial"/>
                <a:rtl val="0"/>
              </a:rPr>
              <a:t>1960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45F1F1C-E625-C4C3-2955-05B0CE3F39A7}"/>
              </a:ext>
            </a:extLst>
          </p:cNvPr>
          <p:cNvSpPr txBox="1"/>
          <p:nvPr/>
        </p:nvSpPr>
        <p:spPr>
          <a:xfrm>
            <a:off x="1372378" y="2920945"/>
            <a:ext cx="242208" cy="210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30485E"/>
                </a:solidFill>
                <a:latin typeface="Arial"/>
                <a:cs typeface="Arial"/>
                <a:sym typeface="Arial"/>
                <a:rtl val="0"/>
              </a:rPr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45306C-D264-F22D-2F3B-A6ED4BFD267A}"/>
              </a:ext>
            </a:extLst>
          </p:cNvPr>
          <p:cNvSpPr txBox="1"/>
          <p:nvPr/>
        </p:nvSpPr>
        <p:spPr>
          <a:xfrm>
            <a:off x="1900195" y="2920945"/>
            <a:ext cx="390504" cy="210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30485E"/>
                </a:solidFill>
                <a:latin typeface="Arial"/>
                <a:cs typeface="Arial"/>
                <a:sym typeface="Arial"/>
                <a:rtl val="0"/>
              </a:rPr>
              <a:t>0.10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B1A0AA-98A2-E70A-2514-8332B713E24C}"/>
              </a:ext>
            </a:extLst>
          </p:cNvPr>
          <p:cNvSpPr txBox="1"/>
          <p:nvPr/>
        </p:nvSpPr>
        <p:spPr>
          <a:xfrm>
            <a:off x="2745993" y="2920945"/>
            <a:ext cx="390504" cy="210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30485E"/>
                </a:solidFill>
                <a:latin typeface="Arial"/>
                <a:cs typeface="Arial"/>
                <a:sym typeface="Arial"/>
                <a:rtl val="0"/>
              </a:rPr>
              <a:t>0.20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D3BE0E-2666-E452-E179-2AAC24A27B04}"/>
              </a:ext>
            </a:extLst>
          </p:cNvPr>
          <p:cNvSpPr txBox="1"/>
          <p:nvPr/>
        </p:nvSpPr>
        <p:spPr>
          <a:xfrm>
            <a:off x="3767863" y="2920945"/>
            <a:ext cx="449833" cy="210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30485E"/>
                </a:solidFill>
                <a:latin typeface="Arial"/>
                <a:cs typeface="Arial"/>
                <a:sym typeface="Arial"/>
                <a:rtl val="0"/>
              </a:rPr>
              <a:t>213.0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CF852DE-1F4A-C37C-0705-DEED4BDB7480}"/>
              </a:ext>
            </a:extLst>
          </p:cNvPr>
          <p:cNvSpPr txBox="1"/>
          <p:nvPr/>
        </p:nvSpPr>
        <p:spPr>
          <a:xfrm>
            <a:off x="4563791" y="2920945"/>
            <a:ext cx="366700" cy="210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30485E"/>
                </a:solidFill>
                <a:latin typeface="Arial"/>
                <a:cs typeface="Arial"/>
                <a:sym typeface="Arial"/>
                <a:rtl val="0"/>
              </a:rPr>
              <a:t>-0.8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88C433D-4FE8-441C-F816-7D92C61BECA3}"/>
              </a:ext>
            </a:extLst>
          </p:cNvPr>
          <p:cNvSpPr txBox="1"/>
          <p:nvPr/>
        </p:nvSpPr>
        <p:spPr>
          <a:xfrm>
            <a:off x="518144" y="3079119"/>
            <a:ext cx="2474530" cy="278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50" b="1" spc="0" baseline="0">
                <a:ln/>
                <a:solidFill>
                  <a:srgbClr val="173A5E"/>
                </a:solidFill>
                <a:latin typeface="Arial"/>
                <a:cs typeface="Arial"/>
                <a:sym typeface="Arial"/>
                <a:rtl val="0"/>
              </a:rPr>
              <a:t>Predictor families in the CSV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AB9CF9CD-3008-EF2B-2D87-8D771727E193}"/>
              </a:ext>
            </a:extLst>
          </p:cNvPr>
          <p:cNvSpPr/>
          <p:nvPr/>
        </p:nvSpPr>
        <p:spPr>
          <a:xfrm>
            <a:off x="609584" y="3474720"/>
            <a:ext cx="929616" cy="243840"/>
          </a:xfrm>
          <a:custGeom>
            <a:avLst/>
            <a:gdLst>
              <a:gd name="csX0" fmla="*/ 792460 w 929616"/>
              <a:gd name="csY0" fmla="*/ 0 h 243840"/>
              <a:gd name="csX1" fmla="*/ 929617 w 929616"/>
              <a:gd name="csY1" fmla="*/ 137160 h 243840"/>
              <a:gd name="csX2" fmla="*/ 929617 w 929616"/>
              <a:gd name="csY2" fmla="*/ 106680 h 243840"/>
              <a:gd name="csX3" fmla="*/ 792460 w 929616"/>
              <a:gd name="csY3" fmla="*/ 243840 h 243840"/>
              <a:gd name="csX4" fmla="*/ 137157 w 929616"/>
              <a:gd name="csY4" fmla="*/ 243840 h 243840"/>
              <a:gd name="csX5" fmla="*/ 0 w 929616"/>
              <a:gd name="csY5" fmla="*/ 106680 h 243840"/>
              <a:gd name="csX6" fmla="*/ 0 w 929616"/>
              <a:gd name="csY6" fmla="*/ 137160 h 243840"/>
              <a:gd name="csX7" fmla="*/ 137157 w 929616"/>
              <a:gd name="csY7" fmla="*/ 0 h 2438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29616" h="243840">
                <a:moveTo>
                  <a:pt x="792460" y="0"/>
                </a:moveTo>
                <a:cubicBezTo>
                  <a:pt x="868210" y="0"/>
                  <a:pt x="929617" y="61409"/>
                  <a:pt x="929617" y="137160"/>
                </a:cubicBezTo>
                <a:lnTo>
                  <a:pt x="929617" y="106680"/>
                </a:lnTo>
                <a:cubicBezTo>
                  <a:pt x="929617" y="182431"/>
                  <a:pt x="868210" y="243840"/>
                  <a:pt x="792460" y="243840"/>
                </a:cubicBezTo>
                <a:lnTo>
                  <a:pt x="137157" y="243840"/>
                </a:lnTo>
                <a:cubicBezTo>
                  <a:pt x="61407" y="243840"/>
                  <a:pt x="0" y="182431"/>
                  <a:pt x="0" y="106680"/>
                </a:cubicBezTo>
                <a:lnTo>
                  <a:pt x="0" y="137160"/>
                </a:lnTo>
                <a:cubicBezTo>
                  <a:pt x="0" y="61409"/>
                  <a:pt x="61407" y="0"/>
                  <a:pt x="137157" y="0"/>
                </a:cubicBezTo>
                <a:close/>
              </a:path>
            </a:pathLst>
          </a:custGeom>
          <a:solidFill>
            <a:srgbClr val="2E77BB"/>
          </a:solidFill>
          <a:ln w="7614" cap="flat">
            <a:solidFill>
              <a:srgbClr val="2E77B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87D8E05-8721-20AE-5CDF-1F3503EB5315}"/>
              </a:ext>
            </a:extLst>
          </p:cNvPr>
          <p:cNvSpPr txBox="1"/>
          <p:nvPr/>
        </p:nvSpPr>
        <p:spPr>
          <a:xfrm>
            <a:off x="822959" y="3458451"/>
            <a:ext cx="502867" cy="2446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350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AMO</a:t>
            </a: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BCAC60FD-6B75-6E70-E33D-2D41D24581DF}"/>
              </a:ext>
            </a:extLst>
          </p:cNvPr>
          <p:cNvSpPr/>
          <p:nvPr/>
        </p:nvSpPr>
        <p:spPr>
          <a:xfrm>
            <a:off x="1638259" y="3474720"/>
            <a:ext cx="1257268" cy="243840"/>
          </a:xfrm>
          <a:custGeom>
            <a:avLst/>
            <a:gdLst>
              <a:gd name="csX0" fmla="*/ 1120112 w 1257268"/>
              <a:gd name="csY0" fmla="*/ 0 h 243840"/>
              <a:gd name="csX1" fmla="*/ 1257269 w 1257268"/>
              <a:gd name="csY1" fmla="*/ 137160 h 243840"/>
              <a:gd name="csX2" fmla="*/ 1257269 w 1257268"/>
              <a:gd name="csY2" fmla="*/ 106680 h 243840"/>
              <a:gd name="csX3" fmla="*/ 1120112 w 1257268"/>
              <a:gd name="csY3" fmla="*/ 243840 h 243840"/>
              <a:gd name="csX4" fmla="*/ 137157 w 1257268"/>
              <a:gd name="csY4" fmla="*/ 243840 h 243840"/>
              <a:gd name="csX5" fmla="*/ 0 w 1257268"/>
              <a:gd name="csY5" fmla="*/ 106680 h 243840"/>
              <a:gd name="csX6" fmla="*/ 0 w 1257268"/>
              <a:gd name="csY6" fmla="*/ 137160 h 243840"/>
              <a:gd name="csX7" fmla="*/ 137157 w 1257268"/>
              <a:gd name="csY7" fmla="*/ 0 h 2438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57268" h="243840">
                <a:moveTo>
                  <a:pt x="1120112" y="0"/>
                </a:moveTo>
                <a:cubicBezTo>
                  <a:pt x="1195862" y="0"/>
                  <a:pt x="1257269" y="61409"/>
                  <a:pt x="1257269" y="137160"/>
                </a:cubicBezTo>
                <a:lnTo>
                  <a:pt x="1257269" y="106680"/>
                </a:lnTo>
                <a:cubicBezTo>
                  <a:pt x="1257269" y="182431"/>
                  <a:pt x="1195862" y="243840"/>
                  <a:pt x="1120112" y="243840"/>
                </a:cubicBezTo>
                <a:lnTo>
                  <a:pt x="137157" y="243840"/>
                </a:lnTo>
                <a:cubicBezTo>
                  <a:pt x="61407" y="243840"/>
                  <a:pt x="0" y="182431"/>
                  <a:pt x="0" y="106680"/>
                </a:cubicBezTo>
                <a:lnTo>
                  <a:pt x="0" y="137160"/>
                </a:lnTo>
                <a:cubicBezTo>
                  <a:pt x="0" y="61409"/>
                  <a:pt x="61407" y="0"/>
                  <a:pt x="137157" y="0"/>
                </a:cubicBezTo>
                <a:close/>
              </a:path>
            </a:pathLst>
          </a:custGeom>
          <a:solidFill>
            <a:srgbClr val="2E77BB"/>
          </a:solidFill>
          <a:ln w="7614" cap="flat">
            <a:solidFill>
              <a:srgbClr val="2E77B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34C07E-5457-844B-75EA-CE6E6B66C30D}"/>
              </a:ext>
            </a:extLst>
          </p:cNvPr>
          <p:cNvSpPr txBox="1"/>
          <p:nvPr/>
        </p:nvSpPr>
        <p:spPr>
          <a:xfrm>
            <a:off x="1695304" y="3458451"/>
            <a:ext cx="1143176" cy="2446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350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ENSO Niño 3.4</a:t>
            </a: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C284DF0-634A-D873-558B-75A318074DE0}"/>
              </a:ext>
            </a:extLst>
          </p:cNvPr>
          <p:cNvSpPr/>
          <p:nvPr/>
        </p:nvSpPr>
        <p:spPr>
          <a:xfrm>
            <a:off x="2986965" y="3474720"/>
            <a:ext cx="670543" cy="243840"/>
          </a:xfrm>
          <a:custGeom>
            <a:avLst/>
            <a:gdLst>
              <a:gd name="csX0" fmla="*/ 533387 w 670543"/>
              <a:gd name="csY0" fmla="*/ 0 h 243840"/>
              <a:gd name="csX1" fmla="*/ 670543 w 670543"/>
              <a:gd name="csY1" fmla="*/ 137160 h 243840"/>
              <a:gd name="csX2" fmla="*/ 670543 w 670543"/>
              <a:gd name="csY2" fmla="*/ 106680 h 243840"/>
              <a:gd name="csX3" fmla="*/ 533387 w 670543"/>
              <a:gd name="csY3" fmla="*/ 243840 h 243840"/>
              <a:gd name="csX4" fmla="*/ 137157 w 670543"/>
              <a:gd name="csY4" fmla="*/ 243840 h 243840"/>
              <a:gd name="csX5" fmla="*/ 0 w 670543"/>
              <a:gd name="csY5" fmla="*/ 106680 h 243840"/>
              <a:gd name="csX6" fmla="*/ 0 w 670543"/>
              <a:gd name="csY6" fmla="*/ 137160 h 243840"/>
              <a:gd name="csX7" fmla="*/ 137157 w 670543"/>
              <a:gd name="csY7" fmla="*/ 0 h 2438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70543" h="243840">
                <a:moveTo>
                  <a:pt x="533387" y="0"/>
                </a:moveTo>
                <a:cubicBezTo>
                  <a:pt x="609136" y="0"/>
                  <a:pt x="670543" y="61409"/>
                  <a:pt x="670543" y="137160"/>
                </a:cubicBezTo>
                <a:lnTo>
                  <a:pt x="670543" y="106680"/>
                </a:lnTo>
                <a:cubicBezTo>
                  <a:pt x="670543" y="182431"/>
                  <a:pt x="609136" y="243840"/>
                  <a:pt x="533387" y="243840"/>
                </a:cubicBezTo>
                <a:lnTo>
                  <a:pt x="137157" y="243840"/>
                </a:lnTo>
                <a:cubicBezTo>
                  <a:pt x="61407" y="243840"/>
                  <a:pt x="0" y="182431"/>
                  <a:pt x="0" y="106680"/>
                </a:cubicBezTo>
                <a:lnTo>
                  <a:pt x="0" y="137160"/>
                </a:lnTo>
                <a:cubicBezTo>
                  <a:pt x="0" y="61409"/>
                  <a:pt x="61407" y="0"/>
                  <a:pt x="137157" y="0"/>
                </a:cubicBezTo>
                <a:close/>
              </a:path>
            </a:pathLst>
          </a:custGeom>
          <a:solidFill>
            <a:srgbClr val="2E77BB"/>
          </a:solidFill>
          <a:ln w="7614" cap="flat">
            <a:solidFill>
              <a:srgbClr val="2E77B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DCD472-5559-B376-05DD-ADCA7FBCE653}"/>
              </a:ext>
            </a:extLst>
          </p:cNvPr>
          <p:cNvSpPr txBox="1"/>
          <p:nvPr/>
        </p:nvSpPr>
        <p:spPr>
          <a:xfrm>
            <a:off x="3078404" y="3458451"/>
            <a:ext cx="487664" cy="2446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350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NAO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E714678-80F0-5E83-5F36-A873E9AF6E85}"/>
              </a:ext>
            </a:extLst>
          </p:cNvPr>
          <p:cNvSpPr txBox="1"/>
          <p:nvPr/>
        </p:nvSpPr>
        <p:spPr>
          <a:xfrm>
            <a:off x="1577264" y="3662728"/>
            <a:ext cx="1730806" cy="236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75" spc="0" baseline="0" dirty="0">
                <a:ln/>
                <a:solidFill>
                  <a:srgbClr val="597087"/>
                </a:solidFill>
                <a:latin typeface="Arial"/>
                <a:cs typeface="Arial"/>
                <a:sym typeface="Arial"/>
                <a:rtl val="0"/>
              </a:rPr>
              <a:t>Large-scale climate modes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CC8231A1-071D-1A17-3AB4-5F9183F30DEA}"/>
              </a:ext>
            </a:extLst>
          </p:cNvPr>
          <p:cNvSpPr/>
          <p:nvPr/>
        </p:nvSpPr>
        <p:spPr>
          <a:xfrm>
            <a:off x="609584" y="4160520"/>
            <a:ext cx="685782" cy="243840"/>
          </a:xfrm>
          <a:custGeom>
            <a:avLst/>
            <a:gdLst>
              <a:gd name="csX0" fmla="*/ 548626 w 685782"/>
              <a:gd name="csY0" fmla="*/ 0 h 243840"/>
              <a:gd name="csX1" fmla="*/ 685783 w 685782"/>
              <a:gd name="csY1" fmla="*/ 137160 h 243840"/>
              <a:gd name="csX2" fmla="*/ 685783 w 685782"/>
              <a:gd name="csY2" fmla="*/ 106680 h 243840"/>
              <a:gd name="csX3" fmla="*/ 548626 w 685782"/>
              <a:gd name="csY3" fmla="*/ 243840 h 243840"/>
              <a:gd name="csX4" fmla="*/ 137157 w 685782"/>
              <a:gd name="csY4" fmla="*/ 243840 h 243840"/>
              <a:gd name="csX5" fmla="*/ 0 w 685782"/>
              <a:gd name="csY5" fmla="*/ 106680 h 243840"/>
              <a:gd name="csX6" fmla="*/ 0 w 685782"/>
              <a:gd name="csY6" fmla="*/ 137160 h 243840"/>
              <a:gd name="csX7" fmla="*/ 137157 w 685782"/>
              <a:gd name="csY7" fmla="*/ 0 h 2438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85782" h="243840">
                <a:moveTo>
                  <a:pt x="548626" y="0"/>
                </a:moveTo>
                <a:cubicBezTo>
                  <a:pt x="624376" y="0"/>
                  <a:pt x="685783" y="61409"/>
                  <a:pt x="685783" y="137160"/>
                </a:cubicBezTo>
                <a:lnTo>
                  <a:pt x="685783" y="106680"/>
                </a:lnTo>
                <a:cubicBezTo>
                  <a:pt x="685783" y="182431"/>
                  <a:pt x="624376" y="243840"/>
                  <a:pt x="548626" y="243840"/>
                </a:cubicBezTo>
                <a:lnTo>
                  <a:pt x="137157" y="243840"/>
                </a:lnTo>
                <a:cubicBezTo>
                  <a:pt x="61407" y="243840"/>
                  <a:pt x="0" y="182431"/>
                  <a:pt x="0" y="106680"/>
                </a:cubicBezTo>
                <a:lnTo>
                  <a:pt x="0" y="137160"/>
                </a:lnTo>
                <a:cubicBezTo>
                  <a:pt x="0" y="61409"/>
                  <a:pt x="61407" y="0"/>
                  <a:pt x="137157" y="0"/>
                </a:cubicBezTo>
                <a:close/>
              </a:path>
            </a:pathLst>
          </a:custGeom>
          <a:solidFill>
            <a:srgbClr val="3FA77C"/>
          </a:solidFill>
          <a:ln w="7614" cap="flat">
            <a:solidFill>
              <a:srgbClr val="3FA77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7DE6170-CE69-A68A-57B7-EB3FEB8C3FA6}"/>
              </a:ext>
            </a:extLst>
          </p:cNvPr>
          <p:cNvSpPr txBox="1"/>
          <p:nvPr/>
        </p:nvSpPr>
        <p:spPr>
          <a:xfrm>
            <a:off x="712461" y="4144251"/>
            <a:ext cx="480030" cy="2446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350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UKR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0B165C01-91A7-1F16-6CDF-273A5542A44D}"/>
              </a:ext>
            </a:extLst>
          </p:cNvPr>
          <p:cNvSpPr/>
          <p:nvPr/>
        </p:nvSpPr>
        <p:spPr>
          <a:xfrm>
            <a:off x="1386805" y="4160520"/>
            <a:ext cx="685782" cy="243840"/>
          </a:xfrm>
          <a:custGeom>
            <a:avLst/>
            <a:gdLst>
              <a:gd name="csX0" fmla="*/ 548626 w 685782"/>
              <a:gd name="csY0" fmla="*/ 0 h 243840"/>
              <a:gd name="csX1" fmla="*/ 685783 w 685782"/>
              <a:gd name="csY1" fmla="*/ 137160 h 243840"/>
              <a:gd name="csX2" fmla="*/ 685783 w 685782"/>
              <a:gd name="csY2" fmla="*/ 106680 h 243840"/>
              <a:gd name="csX3" fmla="*/ 548626 w 685782"/>
              <a:gd name="csY3" fmla="*/ 243840 h 243840"/>
              <a:gd name="csX4" fmla="*/ 137157 w 685782"/>
              <a:gd name="csY4" fmla="*/ 243840 h 243840"/>
              <a:gd name="csX5" fmla="*/ 0 w 685782"/>
              <a:gd name="csY5" fmla="*/ 106680 h 243840"/>
              <a:gd name="csX6" fmla="*/ 0 w 685782"/>
              <a:gd name="csY6" fmla="*/ 137160 h 243840"/>
              <a:gd name="csX7" fmla="*/ 137157 w 685782"/>
              <a:gd name="csY7" fmla="*/ 0 h 2438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85782" h="243840">
                <a:moveTo>
                  <a:pt x="548626" y="0"/>
                </a:moveTo>
                <a:cubicBezTo>
                  <a:pt x="624376" y="0"/>
                  <a:pt x="685783" y="61409"/>
                  <a:pt x="685783" y="137160"/>
                </a:cubicBezTo>
                <a:lnTo>
                  <a:pt x="685783" y="106680"/>
                </a:lnTo>
                <a:cubicBezTo>
                  <a:pt x="685783" y="182431"/>
                  <a:pt x="624376" y="243840"/>
                  <a:pt x="548626" y="243840"/>
                </a:cubicBezTo>
                <a:lnTo>
                  <a:pt x="137157" y="243840"/>
                </a:lnTo>
                <a:cubicBezTo>
                  <a:pt x="61407" y="243840"/>
                  <a:pt x="0" y="182431"/>
                  <a:pt x="0" y="106680"/>
                </a:cubicBezTo>
                <a:lnTo>
                  <a:pt x="0" y="137160"/>
                </a:lnTo>
                <a:cubicBezTo>
                  <a:pt x="0" y="61409"/>
                  <a:pt x="61407" y="0"/>
                  <a:pt x="137157" y="0"/>
                </a:cubicBezTo>
                <a:close/>
              </a:path>
            </a:pathLst>
          </a:custGeom>
          <a:solidFill>
            <a:srgbClr val="3FA77C"/>
          </a:solidFill>
          <a:ln w="7614" cap="flat">
            <a:solidFill>
              <a:srgbClr val="3FA77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202A23A-B803-F2FF-BF36-D35BE343D3CA}"/>
              </a:ext>
            </a:extLst>
          </p:cNvPr>
          <p:cNvSpPr txBox="1"/>
          <p:nvPr/>
        </p:nvSpPr>
        <p:spPr>
          <a:xfrm>
            <a:off x="1497316" y="4144251"/>
            <a:ext cx="464760" cy="2446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350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LKR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3DDF77D0-BB2F-1599-9F6C-8BA2B264023C}"/>
              </a:ext>
            </a:extLst>
          </p:cNvPr>
          <p:cNvSpPr/>
          <p:nvPr/>
        </p:nvSpPr>
        <p:spPr>
          <a:xfrm>
            <a:off x="2164025" y="4160520"/>
            <a:ext cx="685782" cy="243840"/>
          </a:xfrm>
          <a:custGeom>
            <a:avLst/>
            <a:gdLst>
              <a:gd name="csX0" fmla="*/ 548626 w 685782"/>
              <a:gd name="csY0" fmla="*/ 0 h 243840"/>
              <a:gd name="csX1" fmla="*/ 685783 w 685782"/>
              <a:gd name="csY1" fmla="*/ 137160 h 243840"/>
              <a:gd name="csX2" fmla="*/ 685783 w 685782"/>
              <a:gd name="csY2" fmla="*/ 106680 h 243840"/>
              <a:gd name="csX3" fmla="*/ 548626 w 685782"/>
              <a:gd name="csY3" fmla="*/ 243840 h 243840"/>
              <a:gd name="csX4" fmla="*/ 137157 w 685782"/>
              <a:gd name="csY4" fmla="*/ 243840 h 243840"/>
              <a:gd name="csX5" fmla="*/ 0 w 685782"/>
              <a:gd name="csY5" fmla="*/ 106680 h 243840"/>
              <a:gd name="csX6" fmla="*/ 0 w 685782"/>
              <a:gd name="csY6" fmla="*/ 137160 h 243840"/>
              <a:gd name="csX7" fmla="*/ 137157 w 685782"/>
              <a:gd name="csY7" fmla="*/ 0 h 2438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85782" h="243840">
                <a:moveTo>
                  <a:pt x="548626" y="0"/>
                </a:moveTo>
                <a:cubicBezTo>
                  <a:pt x="624376" y="0"/>
                  <a:pt x="685783" y="61409"/>
                  <a:pt x="685783" y="137160"/>
                </a:cubicBezTo>
                <a:lnTo>
                  <a:pt x="685783" y="106680"/>
                </a:lnTo>
                <a:cubicBezTo>
                  <a:pt x="685783" y="182431"/>
                  <a:pt x="624376" y="243840"/>
                  <a:pt x="548626" y="243840"/>
                </a:cubicBezTo>
                <a:lnTo>
                  <a:pt x="137157" y="243840"/>
                </a:lnTo>
                <a:cubicBezTo>
                  <a:pt x="61407" y="243840"/>
                  <a:pt x="0" y="182431"/>
                  <a:pt x="0" y="106680"/>
                </a:cubicBezTo>
                <a:lnTo>
                  <a:pt x="0" y="137160"/>
                </a:lnTo>
                <a:cubicBezTo>
                  <a:pt x="0" y="61409"/>
                  <a:pt x="61407" y="0"/>
                  <a:pt x="137157" y="0"/>
                </a:cubicBezTo>
                <a:close/>
              </a:path>
            </a:pathLst>
          </a:custGeom>
          <a:solidFill>
            <a:srgbClr val="3FA77C"/>
          </a:solidFill>
          <a:ln w="7614" cap="flat">
            <a:solidFill>
              <a:srgbClr val="3FA77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22E940-0F27-DB88-1631-F11341C34EED}"/>
              </a:ext>
            </a:extLst>
          </p:cNvPr>
          <p:cNvSpPr txBox="1"/>
          <p:nvPr/>
        </p:nvSpPr>
        <p:spPr>
          <a:xfrm>
            <a:off x="2270719" y="4144251"/>
            <a:ext cx="472395" cy="2446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350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LOK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B762F96-8757-F812-6657-82A3A7E3D46D}"/>
              </a:ext>
            </a:extLst>
          </p:cNvPr>
          <p:cNvSpPr txBox="1"/>
          <p:nvPr/>
        </p:nvSpPr>
        <p:spPr>
          <a:xfrm>
            <a:off x="533384" y="4454730"/>
            <a:ext cx="2746038" cy="236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75" spc="0" baseline="0">
                <a:ln/>
                <a:solidFill>
                  <a:srgbClr val="597087"/>
                </a:solidFill>
                <a:latin typeface="Arial"/>
                <a:cs typeface="Arial"/>
                <a:sym typeface="Arial"/>
                <a:rtl val="0"/>
              </a:rPr>
              <a:t>Regional or lake-state indicators from the file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FBF8075-9603-9734-DB2F-413A1486C20A}"/>
              </a:ext>
            </a:extLst>
          </p:cNvPr>
          <p:cNvSpPr txBox="1"/>
          <p:nvPr/>
        </p:nvSpPr>
        <p:spPr>
          <a:xfrm>
            <a:off x="519575" y="5285276"/>
            <a:ext cx="3277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spc="0" baseline="0" dirty="0">
                <a:ln/>
                <a:solidFill>
                  <a:srgbClr val="8A4B08"/>
                </a:solidFill>
                <a:latin typeface="Arial"/>
                <a:cs typeface="Arial"/>
                <a:sym typeface="Arial"/>
                <a:rtl val="0"/>
              </a:rPr>
              <a:t>After filtering to Year ≥ 1960: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0E5F044-0DCD-D52D-D221-662D2DAC4267}"/>
              </a:ext>
            </a:extLst>
          </p:cNvPr>
          <p:cNvSpPr txBox="1"/>
          <p:nvPr/>
        </p:nvSpPr>
        <p:spPr>
          <a:xfrm>
            <a:off x="533384" y="4935208"/>
            <a:ext cx="2911478" cy="244673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US" sz="2025" b="1" spc="0" baseline="81333">
                <a:ln/>
                <a:solidFill>
                  <a:srgbClr val="8A4B08"/>
                </a:solidFill>
                <a:latin typeface="Arial"/>
                <a:cs typeface="Arial"/>
                <a:sym typeface="Arial"/>
                <a:rtl val="0"/>
              </a:rPr>
              <a:t>668 monthly rows and 9 retained columns</a:t>
            </a: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20DC978E-2344-4CDD-0B34-78AE2ECDB8BC}"/>
              </a:ext>
            </a:extLst>
          </p:cNvPr>
          <p:cNvSpPr/>
          <p:nvPr/>
        </p:nvSpPr>
        <p:spPr>
          <a:xfrm>
            <a:off x="3962300" y="1280160"/>
            <a:ext cx="4267093" cy="3886200"/>
          </a:xfrm>
          <a:custGeom>
            <a:avLst/>
            <a:gdLst>
              <a:gd name="csX0" fmla="*/ 4068978 w 4267093"/>
              <a:gd name="csY0" fmla="*/ 0 h 3886200"/>
              <a:gd name="csX1" fmla="*/ 4267093 w 4267093"/>
              <a:gd name="csY1" fmla="*/ 198120 h 3886200"/>
              <a:gd name="csX2" fmla="*/ 4267093 w 4267093"/>
              <a:gd name="csY2" fmla="*/ 3688080 h 3886200"/>
              <a:gd name="csX3" fmla="*/ 4068978 w 4267093"/>
              <a:gd name="csY3" fmla="*/ 3886200 h 3886200"/>
              <a:gd name="csX4" fmla="*/ 198115 w 4267093"/>
              <a:gd name="csY4" fmla="*/ 3886200 h 3886200"/>
              <a:gd name="csX5" fmla="*/ 0 w 4267093"/>
              <a:gd name="csY5" fmla="*/ 3688080 h 3886200"/>
              <a:gd name="csX6" fmla="*/ 0 w 4267093"/>
              <a:gd name="csY6" fmla="*/ 198120 h 3886200"/>
              <a:gd name="csX7" fmla="*/ 198115 w 4267093"/>
              <a:gd name="csY7" fmla="*/ 0 h 3886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267093" h="3886200">
                <a:moveTo>
                  <a:pt x="4068978" y="0"/>
                </a:moveTo>
                <a:cubicBezTo>
                  <a:pt x="4178394" y="0"/>
                  <a:pt x="4267093" y="88701"/>
                  <a:pt x="4267093" y="198120"/>
                </a:cubicBezTo>
                <a:lnTo>
                  <a:pt x="4267093" y="3688080"/>
                </a:lnTo>
                <a:cubicBezTo>
                  <a:pt x="4267093" y="3797499"/>
                  <a:pt x="4178394" y="3886200"/>
                  <a:pt x="4068978" y="3886200"/>
                </a:cubicBezTo>
                <a:lnTo>
                  <a:pt x="198115" y="3886200"/>
                </a:lnTo>
                <a:cubicBezTo>
                  <a:pt x="88699" y="3886200"/>
                  <a:pt x="0" y="3797499"/>
                  <a:pt x="0" y="3688080"/>
                </a:cubicBezTo>
                <a:lnTo>
                  <a:pt x="0" y="198120"/>
                </a:lnTo>
                <a:cubicBezTo>
                  <a:pt x="0" y="88701"/>
                  <a:pt x="88699" y="0"/>
                  <a:pt x="198115" y="0"/>
                </a:cubicBezTo>
                <a:close/>
              </a:path>
            </a:pathLst>
          </a:custGeom>
          <a:solidFill>
            <a:srgbClr val="FFFFFF"/>
          </a:solidFill>
          <a:ln w="7614" cap="flat">
            <a:solidFill>
              <a:schemeClr val="tx1"/>
            </a:solidFill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0055AC6-6E05-47DB-0462-4A8D7CDCD985}"/>
              </a:ext>
            </a:extLst>
          </p:cNvPr>
          <p:cNvSpPr txBox="1"/>
          <p:nvPr/>
        </p:nvSpPr>
        <p:spPr>
          <a:xfrm>
            <a:off x="4099455" y="1861949"/>
            <a:ext cx="3062985" cy="23616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US" sz="1913" spc="0" baseline="81333" dirty="0">
                <a:ln/>
                <a:solidFill>
                  <a:srgbClr val="5A6B7D"/>
                </a:solidFill>
                <a:latin typeface="Arial"/>
                <a:cs typeface="Arial"/>
                <a:sym typeface="Arial"/>
                <a:rtl val="0"/>
              </a:rPr>
              <a:t>It predicts one seasonal flow value per water year.</a:t>
            </a: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E6029BF0-7366-5A6E-3A18-31CD2B12D01A}"/>
              </a:ext>
            </a:extLst>
          </p:cNvPr>
          <p:cNvSpPr/>
          <p:nvPr/>
        </p:nvSpPr>
        <p:spPr>
          <a:xfrm>
            <a:off x="4305192" y="2324100"/>
            <a:ext cx="274313" cy="457200"/>
          </a:xfrm>
          <a:custGeom>
            <a:avLst/>
            <a:gdLst>
              <a:gd name="csX0" fmla="*/ 198115 w 274313"/>
              <a:gd name="csY0" fmla="*/ 0 h 457200"/>
              <a:gd name="csX1" fmla="*/ 274313 w 274313"/>
              <a:gd name="csY1" fmla="*/ 76200 h 457200"/>
              <a:gd name="csX2" fmla="*/ 274313 w 274313"/>
              <a:gd name="csY2" fmla="*/ 381000 h 457200"/>
              <a:gd name="csX3" fmla="*/ 198115 w 274313"/>
              <a:gd name="csY3" fmla="*/ 457200 h 457200"/>
              <a:gd name="csX4" fmla="*/ 76198 w 274313"/>
              <a:gd name="csY4" fmla="*/ 457200 h 457200"/>
              <a:gd name="csX5" fmla="*/ 0 w 274313"/>
              <a:gd name="csY5" fmla="*/ 381000 h 457200"/>
              <a:gd name="csX6" fmla="*/ 0 w 274313"/>
              <a:gd name="csY6" fmla="*/ 76200 h 457200"/>
              <a:gd name="csX7" fmla="*/ 76198 w 274313"/>
              <a:gd name="csY7" fmla="*/ 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4313" h="457200">
                <a:moveTo>
                  <a:pt x="198115" y="0"/>
                </a:moveTo>
                <a:cubicBezTo>
                  <a:pt x="240198" y="0"/>
                  <a:pt x="274313" y="34116"/>
                  <a:pt x="274313" y="76200"/>
                </a:cubicBezTo>
                <a:lnTo>
                  <a:pt x="274313" y="381000"/>
                </a:lnTo>
                <a:cubicBezTo>
                  <a:pt x="274313" y="423084"/>
                  <a:pt x="240198" y="457200"/>
                  <a:pt x="198115" y="457200"/>
                </a:cubicBezTo>
                <a:lnTo>
                  <a:pt x="76198" y="457200"/>
                </a:lnTo>
                <a:cubicBezTo>
                  <a:pt x="34115" y="457200"/>
                  <a:pt x="0" y="423084"/>
                  <a:pt x="0" y="381000"/>
                </a:cubicBezTo>
                <a:lnTo>
                  <a:pt x="0" y="76200"/>
                </a:lnTo>
                <a:cubicBezTo>
                  <a:pt x="0" y="34116"/>
                  <a:pt x="34115" y="0"/>
                  <a:pt x="76198" y="0"/>
                </a:cubicBezTo>
                <a:close/>
              </a:path>
            </a:pathLst>
          </a:custGeom>
          <a:solidFill>
            <a:srgbClr val="2E77BB"/>
          </a:solidFill>
          <a:ln w="7614" cap="flat">
            <a:solidFill>
              <a:srgbClr val="2E77B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B831D2E-9085-BB97-7C74-A5DA56CDF405}"/>
              </a:ext>
            </a:extLst>
          </p:cNvPr>
          <p:cNvSpPr txBox="1"/>
          <p:nvPr/>
        </p:nvSpPr>
        <p:spPr>
          <a:xfrm>
            <a:off x="4252433" y="2441607"/>
            <a:ext cx="379830" cy="2191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Jan</a:t>
            </a:r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9843357C-A172-4A24-B4DE-B27837F3EEEE}"/>
              </a:ext>
            </a:extLst>
          </p:cNvPr>
          <p:cNvSpPr/>
          <p:nvPr/>
        </p:nvSpPr>
        <p:spPr>
          <a:xfrm>
            <a:off x="4640463" y="2324100"/>
            <a:ext cx="274313" cy="457200"/>
          </a:xfrm>
          <a:custGeom>
            <a:avLst/>
            <a:gdLst>
              <a:gd name="csX0" fmla="*/ 198115 w 274313"/>
              <a:gd name="csY0" fmla="*/ 0 h 457200"/>
              <a:gd name="csX1" fmla="*/ 274313 w 274313"/>
              <a:gd name="csY1" fmla="*/ 76200 h 457200"/>
              <a:gd name="csX2" fmla="*/ 274313 w 274313"/>
              <a:gd name="csY2" fmla="*/ 381000 h 457200"/>
              <a:gd name="csX3" fmla="*/ 198115 w 274313"/>
              <a:gd name="csY3" fmla="*/ 457200 h 457200"/>
              <a:gd name="csX4" fmla="*/ 76198 w 274313"/>
              <a:gd name="csY4" fmla="*/ 457200 h 457200"/>
              <a:gd name="csX5" fmla="*/ 0 w 274313"/>
              <a:gd name="csY5" fmla="*/ 381000 h 457200"/>
              <a:gd name="csX6" fmla="*/ 0 w 274313"/>
              <a:gd name="csY6" fmla="*/ 76200 h 457200"/>
              <a:gd name="csX7" fmla="*/ 76198 w 274313"/>
              <a:gd name="csY7" fmla="*/ 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4313" h="457200">
                <a:moveTo>
                  <a:pt x="198115" y="0"/>
                </a:moveTo>
                <a:cubicBezTo>
                  <a:pt x="240198" y="0"/>
                  <a:pt x="274313" y="34116"/>
                  <a:pt x="274313" y="76200"/>
                </a:cubicBezTo>
                <a:lnTo>
                  <a:pt x="274313" y="381000"/>
                </a:lnTo>
                <a:cubicBezTo>
                  <a:pt x="274313" y="423084"/>
                  <a:pt x="240198" y="457200"/>
                  <a:pt x="198115" y="457200"/>
                </a:cubicBezTo>
                <a:lnTo>
                  <a:pt x="76198" y="457200"/>
                </a:lnTo>
                <a:cubicBezTo>
                  <a:pt x="34115" y="457200"/>
                  <a:pt x="0" y="423084"/>
                  <a:pt x="0" y="381000"/>
                </a:cubicBezTo>
                <a:lnTo>
                  <a:pt x="0" y="76200"/>
                </a:lnTo>
                <a:cubicBezTo>
                  <a:pt x="0" y="34116"/>
                  <a:pt x="34115" y="0"/>
                  <a:pt x="76198" y="0"/>
                </a:cubicBezTo>
                <a:close/>
              </a:path>
            </a:pathLst>
          </a:custGeom>
          <a:solidFill>
            <a:srgbClr val="2E77BB"/>
          </a:solidFill>
          <a:ln w="7614" cap="flat">
            <a:solidFill>
              <a:srgbClr val="2E77B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2EF687D-53BF-9891-79B1-A9DD1C7497BD}"/>
              </a:ext>
            </a:extLst>
          </p:cNvPr>
          <p:cNvSpPr txBox="1"/>
          <p:nvPr/>
        </p:nvSpPr>
        <p:spPr>
          <a:xfrm>
            <a:off x="4584579" y="2441607"/>
            <a:ext cx="386081" cy="2191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Feb</a:t>
            </a:r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8072EA92-CDC0-43B7-6850-62D26A47EDED}"/>
              </a:ext>
            </a:extLst>
          </p:cNvPr>
          <p:cNvSpPr/>
          <p:nvPr/>
        </p:nvSpPr>
        <p:spPr>
          <a:xfrm>
            <a:off x="4975735" y="2324100"/>
            <a:ext cx="274313" cy="457200"/>
          </a:xfrm>
          <a:custGeom>
            <a:avLst/>
            <a:gdLst>
              <a:gd name="csX0" fmla="*/ 198115 w 274313"/>
              <a:gd name="csY0" fmla="*/ 0 h 457200"/>
              <a:gd name="csX1" fmla="*/ 274313 w 274313"/>
              <a:gd name="csY1" fmla="*/ 76200 h 457200"/>
              <a:gd name="csX2" fmla="*/ 274313 w 274313"/>
              <a:gd name="csY2" fmla="*/ 381000 h 457200"/>
              <a:gd name="csX3" fmla="*/ 198115 w 274313"/>
              <a:gd name="csY3" fmla="*/ 457200 h 457200"/>
              <a:gd name="csX4" fmla="*/ 76198 w 274313"/>
              <a:gd name="csY4" fmla="*/ 457200 h 457200"/>
              <a:gd name="csX5" fmla="*/ 0 w 274313"/>
              <a:gd name="csY5" fmla="*/ 381000 h 457200"/>
              <a:gd name="csX6" fmla="*/ 0 w 274313"/>
              <a:gd name="csY6" fmla="*/ 76200 h 457200"/>
              <a:gd name="csX7" fmla="*/ 76198 w 274313"/>
              <a:gd name="csY7" fmla="*/ 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4313" h="457200">
                <a:moveTo>
                  <a:pt x="198115" y="0"/>
                </a:moveTo>
                <a:cubicBezTo>
                  <a:pt x="240198" y="0"/>
                  <a:pt x="274313" y="34116"/>
                  <a:pt x="274313" y="76200"/>
                </a:cubicBezTo>
                <a:lnTo>
                  <a:pt x="274313" y="381000"/>
                </a:lnTo>
                <a:cubicBezTo>
                  <a:pt x="274313" y="423084"/>
                  <a:pt x="240198" y="457200"/>
                  <a:pt x="198115" y="457200"/>
                </a:cubicBezTo>
                <a:lnTo>
                  <a:pt x="76198" y="457200"/>
                </a:lnTo>
                <a:cubicBezTo>
                  <a:pt x="34115" y="457200"/>
                  <a:pt x="0" y="423084"/>
                  <a:pt x="0" y="381000"/>
                </a:cubicBezTo>
                <a:lnTo>
                  <a:pt x="0" y="76200"/>
                </a:lnTo>
                <a:cubicBezTo>
                  <a:pt x="0" y="34116"/>
                  <a:pt x="34115" y="0"/>
                  <a:pt x="76198" y="0"/>
                </a:cubicBezTo>
                <a:close/>
              </a:path>
            </a:pathLst>
          </a:custGeom>
          <a:solidFill>
            <a:srgbClr val="2E77BB"/>
          </a:solidFill>
          <a:ln w="7614" cap="flat">
            <a:solidFill>
              <a:srgbClr val="2E77B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118870F-93D4-706B-CA46-5FBDA50C080D}"/>
              </a:ext>
            </a:extLst>
          </p:cNvPr>
          <p:cNvSpPr txBox="1"/>
          <p:nvPr/>
        </p:nvSpPr>
        <p:spPr>
          <a:xfrm>
            <a:off x="4919823" y="2441607"/>
            <a:ext cx="386136" cy="2191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Mar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69C92A1D-AE49-3384-8F52-0266D355D42D}"/>
              </a:ext>
            </a:extLst>
          </p:cNvPr>
          <p:cNvSpPr/>
          <p:nvPr/>
        </p:nvSpPr>
        <p:spPr>
          <a:xfrm>
            <a:off x="5311007" y="2324100"/>
            <a:ext cx="274313" cy="457200"/>
          </a:xfrm>
          <a:custGeom>
            <a:avLst/>
            <a:gdLst>
              <a:gd name="csX0" fmla="*/ 198115 w 274313"/>
              <a:gd name="csY0" fmla="*/ 0 h 457200"/>
              <a:gd name="csX1" fmla="*/ 274313 w 274313"/>
              <a:gd name="csY1" fmla="*/ 76200 h 457200"/>
              <a:gd name="csX2" fmla="*/ 274313 w 274313"/>
              <a:gd name="csY2" fmla="*/ 381000 h 457200"/>
              <a:gd name="csX3" fmla="*/ 198115 w 274313"/>
              <a:gd name="csY3" fmla="*/ 457200 h 457200"/>
              <a:gd name="csX4" fmla="*/ 76198 w 274313"/>
              <a:gd name="csY4" fmla="*/ 457200 h 457200"/>
              <a:gd name="csX5" fmla="*/ 0 w 274313"/>
              <a:gd name="csY5" fmla="*/ 381000 h 457200"/>
              <a:gd name="csX6" fmla="*/ 0 w 274313"/>
              <a:gd name="csY6" fmla="*/ 76200 h 457200"/>
              <a:gd name="csX7" fmla="*/ 76198 w 274313"/>
              <a:gd name="csY7" fmla="*/ 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4313" h="457200">
                <a:moveTo>
                  <a:pt x="198115" y="0"/>
                </a:moveTo>
                <a:cubicBezTo>
                  <a:pt x="240198" y="0"/>
                  <a:pt x="274313" y="34116"/>
                  <a:pt x="274313" y="76200"/>
                </a:cubicBezTo>
                <a:lnTo>
                  <a:pt x="274313" y="381000"/>
                </a:lnTo>
                <a:cubicBezTo>
                  <a:pt x="274313" y="423084"/>
                  <a:pt x="240198" y="457200"/>
                  <a:pt x="198115" y="457200"/>
                </a:cubicBezTo>
                <a:lnTo>
                  <a:pt x="76198" y="457200"/>
                </a:lnTo>
                <a:cubicBezTo>
                  <a:pt x="34115" y="457200"/>
                  <a:pt x="0" y="423084"/>
                  <a:pt x="0" y="381000"/>
                </a:cubicBezTo>
                <a:lnTo>
                  <a:pt x="0" y="76200"/>
                </a:lnTo>
                <a:cubicBezTo>
                  <a:pt x="0" y="34116"/>
                  <a:pt x="34115" y="0"/>
                  <a:pt x="76198" y="0"/>
                </a:cubicBezTo>
                <a:close/>
              </a:path>
            </a:pathLst>
          </a:custGeom>
          <a:solidFill>
            <a:srgbClr val="2E77BB"/>
          </a:solidFill>
          <a:ln w="7614" cap="flat">
            <a:solidFill>
              <a:srgbClr val="2E77B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EE02F6F-EFAB-AB1D-DE61-CC2FC8F40525}"/>
              </a:ext>
            </a:extLst>
          </p:cNvPr>
          <p:cNvSpPr txBox="1"/>
          <p:nvPr/>
        </p:nvSpPr>
        <p:spPr>
          <a:xfrm>
            <a:off x="5258304" y="2441607"/>
            <a:ext cx="379718" cy="2191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Apr</a:t>
            </a: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9851995A-C681-16B6-268D-877F16C47433}"/>
              </a:ext>
            </a:extLst>
          </p:cNvPr>
          <p:cNvSpPr/>
          <p:nvPr/>
        </p:nvSpPr>
        <p:spPr>
          <a:xfrm>
            <a:off x="5646278" y="2324100"/>
            <a:ext cx="274313" cy="457200"/>
          </a:xfrm>
          <a:custGeom>
            <a:avLst/>
            <a:gdLst>
              <a:gd name="csX0" fmla="*/ 198115 w 274313"/>
              <a:gd name="csY0" fmla="*/ 0 h 457200"/>
              <a:gd name="csX1" fmla="*/ 274313 w 274313"/>
              <a:gd name="csY1" fmla="*/ 76200 h 457200"/>
              <a:gd name="csX2" fmla="*/ 274313 w 274313"/>
              <a:gd name="csY2" fmla="*/ 381000 h 457200"/>
              <a:gd name="csX3" fmla="*/ 198115 w 274313"/>
              <a:gd name="csY3" fmla="*/ 457200 h 457200"/>
              <a:gd name="csX4" fmla="*/ 76198 w 274313"/>
              <a:gd name="csY4" fmla="*/ 457200 h 457200"/>
              <a:gd name="csX5" fmla="*/ 0 w 274313"/>
              <a:gd name="csY5" fmla="*/ 381000 h 457200"/>
              <a:gd name="csX6" fmla="*/ 0 w 274313"/>
              <a:gd name="csY6" fmla="*/ 76200 h 457200"/>
              <a:gd name="csX7" fmla="*/ 76198 w 274313"/>
              <a:gd name="csY7" fmla="*/ 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4313" h="457200">
                <a:moveTo>
                  <a:pt x="198115" y="0"/>
                </a:moveTo>
                <a:cubicBezTo>
                  <a:pt x="240198" y="0"/>
                  <a:pt x="274313" y="34116"/>
                  <a:pt x="274313" y="76200"/>
                </a:cubicBezTo>
                <a:lnTo>
                  <a:pt x="274313" y="381000"/>
                </a:lnTo>
                <a:cubicBezTo>
                  <a:pt x="274313" y="423084"/>
                  <a:pt x="240198" y="457200"/>
                  <a:pt x="198115" y="457200"/>
                </a:cubicBezTo>
                <a:lnTo>
                  <a:pt x="76198" y="457200"/>
                </a:lnTo>
                <a:cubicBezTo>
                  <a:pt x="34115" y="457200"/>
                  <a:pt x="0" y="423084"/>
                  <a:pt x="0" y="381000"/>
                </a:cubicBezTo>
                <a:lnTo>
                  <a:pt x="0" y="76200"/>
                </a:lnTo>
                <a:cubicBezTo>
                  <a:pt x="0" y="34116"/>
                  <a:pt x="34115" y="0"/>
                  <a:pt x="76198" y="0"/>
                </a:cubicBezTo>
                <a:close/>
              </a:path>
            </a:pathLst>
          </a:custGeom>
          <a:solidFill>
            <a:srgbClr val="EEF3F8"/>
          </a:solidFill>
          <a:ln w="7614" cap="flat">
            <a:solidFill>
              <a:srgbClr val="EEF3F8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CC6D0B0-3664-839A-90F3-C106305B1605}"/>
              </a:ext>
            </a:extLst>
          </p:cNvPr>
          <p:cNvSpPr txBox="1"/>
          <p:nvPr/>
        </p:nvSpPr>
        <p:spPr>
          <a:xfrm>
            <a:off x="5580823" y="2441607"/>
            <a:ext cx="405223" cy="2191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b="1" spc="0" baseline="0">
                <a:ln/>
                <a:solidFill>
                  <a:srgbClr val="5C6F82"/>
                </a:solidFill>
                <a:latin typeface="Arial"/>
                <a:cs typeface="Arial"/>
                <a:sym typeface="Arial"/>
                <a:rtl val="0"/>
              </a:rPr>
              <a:t>May</a:t>
            </a: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B7AC88D2-49F5-962E-4170-CF9360A23BD7}"/>
              </a:ext>
            </a:extLst>
          </p:cNvPr>
          <p:cNvSpPr/>
          <p:nvPr/>
        </p:nvSpPr>
        <p:spPr>
          <a:xfrm>
            <a:off x="5981550" y="2324100"/>
            <a:ext cx="274313" cy="457200"/>
          </a:xfrm>
          <a:custGeom>
            <a:avLst/>
            <a:gdLst>
              <a:gd name="csX0" fmla="*/ 198115 w 274313"/>
              <a:gd name="csY0" fmla="*/ 0 h 457200"/>
              <a:gd name="csX1" fmla="*/ 274313 w 274313"/>
              <a:gd name="csY1" fmla="*/ 76200 h 457200"/>
              <a:gd name="csX2" fmla="*/ 274313 w 274313"/>
              <a:gd name="csY2" fmla="*/ 381000 h 457200"/>
              <a:gd name="csX3" fmla="*/ 198115 w 274313"/>
              <a:gd name="csY3" fmla="*/ 457200 h 457200"/>
              <a:gd name="csX4" fmla="*/ 76198 w 274313"/>
              <a:gd name="csY4" fmla="*/ 457200 h 457200"/>
              <a:gd name="csX5" fmla="*/ 0 w 274313"/>
              <a:gd name="csY5" fmla="*/ 381000 h 457200"/>
              <a:gd name="csX6" fmla="*/ 0 w 274313"/>
              <a:gd name="csY6" fmla="*/ 76200 h 457200"/>
              <a:gd name="csX7" fmla="*/ 76198 w 274313"/>
              <a:gd name="csY7" fmla="*/ 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4313" h="457200">
                <a:moveTo>
                  <a:pt x="198115" y="0"/>
                </a:moveTo>
                <a:cubicBezTo>
                  <a:pt x="240198" y="0"/>
                  <a:pt x="274313" y="34116"/>
                  <a:pt x="274313" y="76200"/>
                </a:cubicBezTo>
                <a:lnTo>
                  <a:pt x="274313" y="381000"/>
                </a:lnTo>
                <a:cubicBezTo>
                  <a:pt x="274313" y="423084"/>
                  <a:pt x="240198" y="457200"/>
                  <a:pt x="198115" y="457200"/>
                </a:cubicBezTo>
                <a:lnTo>
                  <a:pt x="76198" y="457200"/>
                </a:lnTo>
                <a:cubicBezTo>
                  <a:pt x="34115" y="457200"/>
                  <a:pt x="0" y="423084"/>
                  <a:pt x="0" y="381000"/>
                </a:cubicBezTo>
                <a:lnTo>
                  <a:pt x="0" y="76200"/>
                </a:lnTo>
                <a:cubicBezTo>
                  <a:pt x="0" y="34116"/>
                  <a:pt x="34115" y="0"/>
                  <a:pt x="76198" y="0"/>
                </a:cubicBezTo>
                <a:close/>
              </a:path>
            </a:pathLst>
          </a:custGeom>
          <a:solidFill>
            <a:srgbClr val="EEF3F8"/>
          </a:solidFill>
          <a:ln w="7614" cap="flat">
            <a:solidFill>
              <a:srgbClr val="EEF3F8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35DE2E5-02B5-142F-2E4A-5B61B53EDAE9}"/>
              </a:ext>
            </a:extLst>
          </p:cNvPr>
          <p:cNvSpPr txBox="1"/>
          <p:nvPr/>
        </p:nvSpPr>
        <p:spPr>
          <a:xfrm>
            <a:off x="5925666" y="2441607"/>
            <a:ext cx="386081" cy="2191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b="1" spc="0" baseline="0">
                <a:ln/>
                <a:solidFill>
                  <a:srgbClr val="5C6F82"/>
                </a:solidFill>
                <a:latin typeface="Arial"/>
                <a:cs typeface="Arial"/>
                <a:sym typeface="Arial"/>
                <a:rtl val="0"/>
              </a:rPr>
              <a:t>Jun</a:t>
            </a: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CC6EC036-6419-04C7-4332-9147687248D5}"/>
              </a:ext>
            </a:extLst>
          </p:cNvPr>
          <p:cNvSpPr/>
          <p:nvPr/>
        </p:nvSpPr>
        <p:spPr>
          <a:xfrm>
            <a:off x="6316821" y="2324100"/>
            <a:ext cx="274313" cy="457200"/>
          </a:xfrm>
          <a:custGeom>
            <a:avLst/>
            <a:gdLst>
              <a:gd name="csX0" fmla="*/ 198115 w 274313"/>
              <a:gd name="csY0" fmla="*/ 0 h 457200"/>
              <a:gd name="csX1" fmla="*/ 274313 w 274313"/>
              <a:gd name="csY1" fmla="*/ 76200 h 457200"/>
              <a:gd name="csX2" fmla="*/ 274313 w 274313"/>
              <a:gd name="csY2" fmla="*/ 381000 h 457200"/>
              <a:gd name="csX3" fmla="*/ 198115 w 274313"/>
              <a:gd name="csY3" fmla="*/ 457200 h 457200"/>
              <a:gd name="csX4" fmla="*/ 76198 w 274313"/>
              <a:gd name="csY4" fmla="*/ 457200 h 457200"/>
              <a:gd name="csX5" fmla="*/ 0 w 274313"/>
              <a:gd name="csY5" fmla="*/ 381000 h 457200"/>
              <a:gd name="csX6" fmla="*/ 0 w 274313"/>
              <a:gd name="csY6" fmla="*/ 76200 h 457200"/>
              <a:gd name="csX7" fmla="*/ 76198 w 274313"/>
              <a:gd name="csY7" fmla="*/ 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4313" h="457200">
                <a:moveTo>
                  <a:pt x="198115" y="0"/>
                </a:moveTo>
                <a:cubicBezTo>
                  <a:pt x="240198" y="0"/>
                  <a:pt x="274313" y="34116"/>
                  <a:pt x="274313" y="76200"/>
                </a:cubicBezTo>
                <a:lnTo>
                  <a:pt x="274313" y="381000"/>
                </a:lnTo>
                <a:cubicBezTo>
                  <a:pt x="274313" y="423084"/>
                  <a:pt x="240198" y="457200"/>
                  <a:pt x="198115" y="457200"/>
                </a:cubicBezTo>
                <a:lnTo>
                  <a:pt x="76198" y="457200"/>
                </a:lnTo>
                <a:cubicBezTo>
                  <a:pt x="34115" y="457200"/>
                  <a:pt x="0" y="423084"/>
                  <a:pt x="0" y="381000"/>
                </a:cubicBezTo>
                <a:lnTo>
                  <a:pt x="0" y="76200"/>
                </a:lnTo>
                <a:cubicBezTo>
                  <a:pt x="0" y="34116"/>
                  <a:pt x="34115" y="0"/>
                  <a:pt x="76198" y="0"/>
                </a:cubicBezTo>
                <a:close/>
              </a:path>
            </a:pathLst>
          </a:custGeom>
          <a:solidFill>
            <a:srgbClr val="EEF3F8"/>
          </a:solidFill>
          <a:ln w="7614" cap="flat">
            <a:solidFill>
              <a:srgbClr val="EEF3F8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5884E85-F87E-37C2-A7C6-76925E77ECA9}"/>
              </a:ext>
            </a:extLst>
          </p:cNvPr>
          <p:cNvSpPr txBox="1"/>
          <p:nvPr/>
        </p:nvSpPr>
        <p:spPr>
          <a:xfrm>
            <a:off x="6279968" y="2441607"/>
            <a:ext cx="348019" cy="2191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b="1" spc="0" baseline="0">
                <a:ln/>
                <a:solidFill>
                  <a:srgbClr val="5C6F82"/>
                </a:solidFill>
                <a:latin typeface="Arial"/>
                <a:cs typeface="Arial"/>
                <a:sym typeface="Arial"/>
                <a:rtl val="0"/>
              </a:rPr>
              <a:t>Jul</a:t>
            </a:r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A110857A-D31D-FC50-3AB4-F3DAED38663C}"/>
              </a:ext>
            </a:extLst>
          </p:cNvPr>
          <p:cNvSpPr/>
          <p:nvPr/>
        </p:nvSpPr>
        <p:spPr>
          <a:xfrm>
            <a:off x="6652093" y="2324100"/>
            <a:ext cx="274313" cy="457200"/>
          </a:xfrm>
          <a:custGeom>
            <a:avLst/>
            <a:gdLst>
              <a:gd name="csX0" fmla="*/ 198115 w 274313"/>
              <a:gd name="csY0" fmla="*/ 0 h 457200"/>
              <a:gd name="csX1" fmla="*/ 274313 w 274313"/>
              <a:gd name="csY1" fmla="*/ 76200 h 457200"/>
              <a:gd name="csX2" fmla="*/ 274313 w 274313"/>
              <a:gd name="csY2" fmla="*/ 381000 h 457200"/>
              <a:gd name="csX3" fmla="*/ 198115 w 274313"/>
              <a:gd name="csY3" fmla="*/ 457200 h 457200"/>
              <a:gd name="csX4" fmla="*/ 76198 w 274313"/>
              <a:gd name="csY4" fmla="*/ 457200 h 457200"/>
              <a:gd name="csX5" fmla="*/ 0 w 274313"/>
              <a:gd name="csY5" fmla="*/ 381000 h 457200"/>
              <a:gd name="csX6" fmla="*/ 0 w 274313"/>
              <a:gd name="csY6" fmla="*/ 76200 h 457200"/>
              <a:gd name="csX7" fmla="*/ 76198 w 274313"/>
              <a:gd name="csY7" fmla="*/ 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4313" h="457200">
                <a:moveTo>
                  <a:pt x="198115" y="0"/>
                </a:moveTo>
                <a:cubicBezTo>
                  <a:pt x="240198" y="0"/>
                  <a:pt x="274313" y="34116"/>
                  <a:pt x="274313" y="76200"/>
                </a:cubicBezTo>
                <a:lnTo>
                  <a:pt x="274313" y="381000"/>
                </a:lnTo>
                <a:cubicBezTo>
                  <a:pt x="274313" y="423084"/>
                  <a:pt x="240198" y="457200"/>
                  <a:pt x="198115" y="457200"/>
                </a:cubicBezTo>
                <a:lnTo>
                  <a:pt x="76198" y="457200"/>
                </a:lnTo>
                <a:cubicBezTo>
                  <a:pt x="34115" y="457200"/>
                  <a:pt x="0" y="423084"/>
                  <a:pt x="0" y="381000"/>
                </a:cubicBezTo>
                <a:lnTo>
                  <a:pt x="0" y="76200"/>
                </a:lnTo>
                <a:cubicBezTo>
                  <a:pt x="0" y="34116"/>
                  <a:pt x="34115" y="0"/>
                  <a:pt x="76198" y="0"/>
                </a:cubicBezTo>
                <a:close/>
              </a:path>
            </a:pathLst>
          </a:custGeom>
          <a:solidFill>
            <a:srgbClr val="EEF3F8"/>
          </a:solidFill>
          <a:ln w="7614" cap="flat">
            <a:solidFill>
              <a:srgbClr val="EEF3F8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24C7571-122C-F68B-E436-B966BDB3B3BF}"/>
              </a:ext>
            </a:extLst>
          </p:cNvPr>
          <p:cNvSpPr txBox="1"/>
          <p:nvPr/>
        </p:nvSpPr>
        <p:spPr>
          <a:xfrm>
            <a:off x="6586722" y="2441607"/>
            <a:ext cx="405056" cy="2191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b="1" spc="0" baseline="0">
                <a:ln/>
                <a:solidFill>
                  <a:srgbClr val="5C6F82"/>
                </a:solidFill>
                <a:latin typeface="Arial"/>
                <a:cs typeface="Arial"/>
                <a:sym typeface="Arial"/>
                <a:rtl val="0"/>
              </a:rPr>
              <a:t>Aug</a:t>
            </a:r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58A56C68-1C89-0A47-E83D-13263DFEDD7A}"/>
              </a:ext>
            </a:extLst>
          </p:cNvPr>
          <p:cNvSpPr/>
          <p:nvPr/>
        </p:nvSpPr>
        <p:spPr>
          <a:xfrm>
            <a:off x="6987365" y="2324100"/>
            <a:ext cx="274313" cy="457200"/>
          </a:xfrm>
          <a:custGeom>
            <a:avLst/>
            <a:gdLst>
              <a:gd name="csX0" fmla="*/ 198115 w 274313"/>
              <a:gd name="csY0" fmla="*/ 0 h 457200"/>
              <a:gd name="csX1" fmla="*/ 274313 w 274313"/>
              <a:gd name="csY1" fmla="*/ 76200 h 457200"/>
              <a:gd name="csX2" fmla="*/ 274313 w 274313"/>
              <a:gd name="csY2" fmla="*/ 381000 h 457200"/>
              <a:gd name="csX3" fmla="*/ 198115 w 274313"/>
              <a:gd name="csY3" fmla="*/ 457200 h 457200"/>
              <a:gd name="csX4" fmla="*/ 76198 w 274313"/>
              <a:gd name="csY4" fmla="*/ 457200 h 457200"/>
              <a:gd name="csX5" fmla="*/ 0 w 274313"/>
              <a:gd name="csY5" fmla="*/ 381000 h 457200"/>
              <a:gd name="csX6" fmla="*/ 0 w 274313"/>
              <a:gd name="csY6" fmla="*/ 76200 h 457200"/>
              <a:gd name="csX7" fmla="*/ 76198 w 274313"/>
              <a:gd name="csY7" fmla="*/ 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4313" h="457200">
                <a:moveTo>
                  <a:pt x="198115" y="0"/>
                </a:moveTo>
                <a:cubicBezTo>
                  <a:pt x="240198" y="0"/>
                  <a:pt x="274313" y="34116"/>
                  <a:pt x="274313" y="76200"/>
                </a:cubicBezTo>
                <a:lnTo>
                  <a:pt x="274313" y="381000"/>
                </a:lnTo>
                <a:cubicBezTo>
                  <a:pt x="274313" y="423084"/>
                  <a:pt x="240198" y="457200"/>
                  <a:pt x="198115" y="457200"/>
                </a:cubicBezTo>
                <a:lnTo>
                  <a:pt x="76198" y="457200"/>
                </a:lnTo>
                <a:cubicBezTo>
                  <a:pt x="34115" y="457200"/>
                  <a:pt x="0" y="423084"/>
                  <a:pt x="0" y="381000"/>
                </a:cubicBezTo>
                <a:lnTo>
                  <a:pt x="0" y="76200"/>
                </a:lnTo>
                <a:cubicBezTo>
                  <a:pt x="0" y="34116"/>
                  <a:pt x="34115" y="0"/>
                  <a:pt x="76198" y="0"/>
                </a:cubicBezTo>
                <a:close/>
              </a:path>
            </a:pathLst>
          </a:custGeom>
          <a:solidFill>
            <a:srgbClr val="EEF3F8"/>
          </a:solidFill>
          <a:ln w="7614" cap="flat">
            <a:solidFill>
              <a:srgbClr val="EEF3F8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EFC680A-B984-A808-C061-FAF5279F1949}"/>
              </a:ext>
            </a:extLst>
          </p:cNvPr>
          <p:cNvSpPr txBox="1"/>
          <p:nvPr/>
        </p:nvSpPr>
        <p:spPr>
          <a:xfrm>
            <a:off x="6928272" y="2441607"/>
            <a:ext cx="392499" cy="2191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b="1" spc="0" baseline="0">
                <a:ln/>
                <a:solidFill>
                  <a:srgbClr val="5C6F82"/>
                </a:solidFill>
                <a:latin typeface="Arial"/>
                <a:cs typeface="Arial"/>
                <a:sym typeface="Arial"/>
                <a:rtl val="0"/>
              </a:rPr>
              <a:t>Sep</a:t>
            </a:r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E43F06EC-8097-34FA-E316-47971420FCDC}"/>
              </a:ext>
            </a:extLst>
          </p:cNvPr>
          <p:cNvSpPr/>
          <p:nvPr/>
        </p:nvSpPr>
        <p:spPr>
          <a:xfrm>
            <a:off x="7322636" y="2324100"/>
            <a:ext cx="274313" cy="457200"/>
          </a:xfrm>
          <a:custGeom>
            <a:avLst/>
            <a:gdLst>
              <a:gd name="csX0" fmla="*/ 198115 w 274313"/>
              <a:gd name="csY0" fmla="*/ 0 h 457200"/>
              <a:gd name="csX1" fmla="*/ 274313 w 274313"/>
              <a:gd name="csY1" fmla="*/ 76200 h 457200"/>
              <a:gd name="csX2" fmla="*/ 274313 w 274313"/>
              <a:gd name="csY2" fmla="*/ 381000 h 457200"/>
              <a:gd name="csX3" fmla="*/ 198115 w 274313"/>
              <a:gd name="csY3" fmla="*/ 457200 h 457200"/>
              <a:gd name="csX4" fmla="*/ 76198 w 274313"/>
              <a:gd name="csY4" fmla="*/ 457200 h 457200"/>
              <a:gd name="csX5" fmla="*/ 0 w 274313"/>
              <a:gd name="csY5" fmla="*/ 381000 h 457200"/>
              <a:gd name="csX6" fmla="*/ 0 w 274313"/>
              <a:gd name="csY6" fmla="*/ 76200 h 457200"/>
              <a:gd name="csX7" fmla="*/ 76198 w 274313"/>
              <a:gd name="csY7" fmla="*/ 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4313" h="457200">
                <a:moveTo>
                  <a:pt x="198115" y="0"/>
                </a:moveTo>
                <a:cubicBezTo>
                  <a:pt x="240198" y="0"/>
                  <a:pt x="274313" y="34116"/>
                  <a:pt x="274313" y="76200"/>
                </a:cubicBezTo>
                <a:lnTo>
                  <a:pt x="274313" y="381000"/>
                </a:lnTo>
                <a:cubicBezTo>
                  <a:pt x="274313" y="423084"/>
                  <a:pt x="240198" y="457200"/>
                  <a:pt x="198115" y="457200"/>
                </a:cubicBezTo>
                <a:lnTo>
                  <a:pt x="76198" y="457200"/>
                </a:lnTo>
                <a:cubicBezTo>
                  <a:pt x="34115" y="457200"/>
                  <a:pt x="0" y="423084"/>
                  <a:pt x="0" y="381000"/>
                </a:cubicBezTo>
                <a:lnTo>
                  <a:pt x="0" y="76200"/>
                </a:lnTo>
                <a:cubicBezTo>
                  <a:pt x="0" y="34116"/>
                  <a:pt x="34115" y="0"/>
                  <a:pt x="76198" y="0"/>
                </a:cubicBezTo>
                <a:close/>
              </a:path>
            </a:pathLst>
          </a:custGeom>
          <a:solidFill>
            <a:srgbClr val="D8DEE8"/>
          </a:solidFill>
          <a:ln w="7614" cap="flat">
            <a:solidFill>
              <a:srgbClr val="D8DEE8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7734CC9-7705-0740-C090-64509C2FA61D}"/>
              </a:ext>
            </a:extLst>
          </p:cNvPr>
          <p:cNvSpPr txBox="1"/>
          <p:nvPr/>
        </p:nvSpPr>
        <p:spPr>
          <a:xfrm>
            <a:off x="7273087" y="2441607"/>
            <a:ext cx="373412" cy="2191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b="1" spc="0" baseline="0">
                <a:ln/>
                <a:solidFill>
                  <a:srgbClr val="5C6F82"/>
                </a:solidFill>
                <a:latin typeface="Arial"/>
                <a:cs typeface="Arial"/>
                <a:sym typeface="Arial"/>
                <a:rtl val="0"/>
              </a:rPr>
              <a:t>Oct</a:t>
            </a: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5B8DE765-1355-C10A-AE82-BF7BF923E9AC}"/>
              </a:ext>
            </a:extLst>
          </p:cNvPr>
          <p:cNvSpPr/>
          <p:nvPr/>
        </p:nvSpPr>
        <p:spPr>
          <a:xfrm>
            <a:off x="7657908" y="2324100"/>
            <a:ext cx="274313" cy="457200"/>
          </a:xfrm>
          <a:custGeom>
            <a:avLst/>
            <a:gdLst>
              <a:gd name="csX0" fmla="*/ 198115 w 274313"/>
              <a:gd name="csY0" fmla="*/ 0 h 457200"/>
              <a:gd name="csX1" fmla="*/ 274313 w 274313"/>
              <a:gd name="csY1" fmla="*/ 76200 h 457200"/>
              <a:gd name="csX2" fmla="*/ 274313 w 274313"/>
              <a:gd name="csY2" fmla="*/ 381000 h 457200"/>
              <a:gd name="csX3" fmla="*/ 198115 w 274313"/>
              <a:gd name="csY3" fmla="*/ 457200 h 457200"/>
              <a:gd name="csX4" fmla="*/ 76198 w 274313"/>
              <a:gd name="csY4" fmla="*/ 457200 h 457200"/>
              <a:gd name="csX5" fmla="*/ 0 w 274313"/>
              <a:gd name="csY5" fmla="*/ 381000 h 457200"/>
              <a:gd name="csX6" fmla="*/ 0 w 274313"/>
              <a:gd name="csY6" fmla="*/ 76200 h 457200"/>
              <a:gd name="csX7" fmla="*/ 76198 w 274313"/>
              <a:gd name="csY7" fmla="*/ 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4313" h="457200">
                <a:moveTo>
                  <a:pt x="198115" y="0"/>
                </a:moveTo>
                <a:cubicBezTo>
                  <a:pt x="240198" y="0"/>
                  <a:pt x="274313" y="34116"/>
                  <a:pt x="274313" y="76200"/>
                </a:cubicBezTo>
                <a:lnTo>
                  <a:pt x="274313" y="381000"/>
                </a:lnTo>
                <a:cubicBezTo>
                  <a:pt x="274313" y="423084"/>
                  <a:pt x="240198" y="457200"/>
                  <a:pt x="198115" y="457200"/>
                </a:cubicBezTo>
                <a:lnTo>
                  <a:pt x="76198" y="457200"/>
                </a:lnTo>
                <a:cubicBezTo>
                  <a:pt x="34115" y="457200"/>
                  <a:pt x="0" y="423084"/>
                  <a:pt x="0" y="381000"/>
                </a:cubicBezTo>
                <a:lnTo>
                  <a:pt x="0" y="76200"/>
                </a:lnTo>
                <a:cubicBezTo>
                  <a:pt x="0" y="34116"/>
                  <a:pt x="34115" y="0"/>
                  <a:pt x="76198" y="0"/>
                </a:cubicBezTo>
                <a:close/>
              </a:path>
            </a:pathLst>
          </a:custGeom>
          <a:solidFill>
            <a:srgbClr val="2E77BB"/>
          </a:solidFill>
          <a:ln w="7614" cap="flat">
            <a:solidFill>
              <a:srgbClr val="2E77B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A2D33B7-D9F6-13FF-31FE-51F9DA9131AF}"/>
              </a:ext>
            </a:extLst>
          </p:cNvPr>
          <p:cNvSpPr txBox="1"/>
          <p:nvPr/>
        </p:nvSpPr>
        <p:spPr>
          <a:xfrm>
            <a:off x="7595662" y="2441607"/>
            <a:ext cx="398805" cy="2191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Nov</a:t>
            </a:r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24E0BCA4-8AE4-8CFE-C073-BE78EC678271}"/>
              </a:ext>
            </a:extLst>
          </p:cNvPr>
          <p:cNvSpPr/>
          <p:nvPr/>
        </p:nvSpPr>
        <p:spPr>
          <a:xfrm>
            <a:off x="7993180" y="2324100"/>
            <a:ext cx="274313" cy="457200"/>
          </a:xfrm>
          <a:custGeom>
            <a:avLst/>
            <a:gdLst>
              <a:gd name="csX0" fmla="*/ 198115 w 274313"/>
              <a:gd name="csY0" fmla="*/ 0 h 457200"/>
              <a:gd name="csX1" fmla="*/ 274313 w 274313"/>
              <a:gd name="csY1" fmla="*/ 76200 h 457200"/>
              <a:gd name="csX2" fmla="*/ 274313 w 274313"/>
              <a:gd name="csY2" fmla="*/ 381000 h 457200"/>
              <a:gd name="csX3" fmla="*/ 198115 w 274313"/>
              <a:gd name="csY3" fmla="*/ 457200 h 457200"/>
              <a:gd name="csX4" fmla="*/ 76198 w 274313"/>
              <a:gd name="csY4" fmla="*/ 457200 h 457200"/>
              <a:gd name="csX5" fmla="*/ 0 w 274313"/>
              <a:gd name="csY5" fmla="*/ 381000 h 457200"/>
              <a:gd name="csX6" fmla="*/ 0 w 274313"/>
              <a:gd name="csY6" fmla="*/ 76200 h 457200"/>
              <a:gd name="csX7" fmla="*/ 76198 w 274313"/>
              <a:gd name="csY7" fmla="*/ 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4313" h="457200">
                <a:moveTo>
                  <a:pt x="198115" y="0"/>
                </a:moveTo>
                <a:cubicBezTo>
                  <a:pt x="240198" y="0"/>
                  <a:pt x="274313" y="34116"/>
                  <a:pt x="274313" y="76200"/>
                </a:cubicBezTo>
                <a:lnTo>
                  <a:pt x="274313" y="381000"/>
                </a:lnTo>
                <a:cubicBezTo>
                  <a:pt x="274313" y="423084"/>
                  <a:pt x="240198" y="457200"/>
                  <a:pt x="198115" y="457200"/>
                </a:cubicBezTo>
                <a:lnTo>
                  <a:pt x="76198" y="457200"/>
                </a:lnTo>
                <a:cubicBezTo>
                  <a:pt x="34115" y="457200"/>
                  <a:pt x="0" y="423084"/>
                  <a:pt x="0" y="381000"/>
                </a:cubicBezTo>
                <a:lnTo>
                  <a:pt x="0" y="76200"/>
                </a:lnTo>
                <a:cubicBezTo>
                  <a:pt x="0" y="34116"/>
                  <a:pt x="34115" y="0"/>
                  <a:pt x="76198" y="0"/>
                </a:cubicBezTo>
                <a:close/>
              </a:path>
            </a:pathLst>
          </a:custGeom>
          <a:solidFill>
            <a:srgbClr val="2E77BB"/>
          </a:solidFill>
          <a:ln w="7614" cap="flat">
            <a:solidFill>
              <a:srgbClr val="2E77B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796233B-E7F6-7DAC-DFA7-A102A4D7A937}"/>
              </a:ext>
            </a:extLst>
          </p:cNvPr>
          <p:cNvSpPr txBox="1"/>
          <p:nvPr/>
        </p:nvSpPr>
        <p:spPr>
          <a:xfrm>
            <a:off x="7934059" y="2441607"/>
            <a:ext cx="392554" cy="2191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Dec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4FF9B88-EE91-6A9A-AA15-C21629667449}"/>
              </a:ext>
            </a:extLst>
          </p:cNvPr>
          <p:cNvSpPr txBox="1"/>
          <p:nvPr/>
        </p:nvSpPr>
        <p:spPr>
          <a:xfrm>
            <a:off x="4398642" y="3174638"/>
            <a:ext cx="298678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50" b="1" spc="0" baseline="0" dirty="0">
                <a:ln/>
                <a:solidFill>
                  <a:srgbClr val="173A5E"/>
                </a:solidFill>
                <a:latin typeface="Arial"/>
                <a:cs typeface="Arial"/>
                <a:sym typeface="Arial"/>
                <a:rtl val="0"/>
              </a:rPr>
              <a:t>Selected predictor season = November through April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37CB105-FF61-4A1B-502B-F6E08B645A1C}"/>
              </a:ext>
            </a:extLst>
          </p:cNvPr>
          <p:cNvSpPr txBox="1"/>
          <p:nvPr/>
        </p:nvSpPr>
        <p:spPr>
          <a:xfrm>
            <a:off x="4398642" y="4009540"/>
            <a:ext cx="3197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spc="0" baseline="0" dirty="0">
                <a:ln/>
                <a:solidFill>
                  <a:srgbClr val="2E77BB"/>
                </a:solidFill>
                <a:latin typeface="Arial"/>
                <a:cs typeface="Arial"/>
                <a:sym typeface="Arial"/>
                <a:rtl val="0"/>
              </a:rPr>
              <a:t>Result: one seasonal record per year</a:t>
            </a:r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5A84C839-D631-E457-91A3-EF6276CB7D9D}"/>
              </a:ext>
            </a:extLst>
          </p:cNvPr>
          <p:cNvSpPr/>
          <p:nvPr/>
        </p:nvSpPr>
        <p:spPr>
          <a:xfrm>
            <a:off x="8395906" y="1225669"/>
            <a:ext cx="3276518" cy="5143500"/>
          </a:xfrm>
          <a:custGeom>
            <a:avLst/>
            <a:gdLst>
              <a:gd name="csX0" fmla="*/ 3078403 w 3276518"/>
              <a:gd name="csY0" fmla="*/ 0 h 5143500"/>
              <a:gd name="csX1" fmla="*/ 3276518 w 3276518"/>
              <a:gd name="csY1" fmla="*/ 198120 h 5143500"/>
              <a:gd name="csX2" fmla="*/ 3276518 w 3276518"/>
              <a:gd name="csY2" fmla="*/ 4945380 h 5143500"/>
              <a:gd name="csX3" fmla="*/ 3078403 w 3276518"/>
              <a:gd name="csY3" fmla="*/ 5143500 h 5143500"/>
              <a:gd name="csX4" fmla="*/ 198115 w 3276518"/>
              <a:gd name="csY4" fmla="*/ 5143500 h 5143500"/>
              <a:gd name="csX5" fmla="*/ 0 w 3276518"/>
              <a:gd name="csY5" fmla="*/ 4945380 h 5143500"/>
              <a:gd name="csX6" fmla="*/ 0 w 3276518"/>
              <a:gd name="csY6" fmla="*/ 198120 h 5143500"/>
              <a:gd name="csX7" fmla="*/ 198115 w 3276518"/>
              <a:gd name="csY7" fmla="*/ 0 h 5143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6518" h="5143500">
                <a:moveTo>
                  <a:pt x="3078403" y="0"/>
                </a:moveTo>
                <a:cubicBezTo>
                  <a:pt x="3187819" y="0"/>
                  <a:pt x="3276518" y="88701"/>
                  <a:pt x="3276518" y="198120"/>
                </a:cubicBezTo>
                <a:lnTo>
                  <a:pt x="3276518" y="4945380"/>
                </a:lnTo>
                <a:cubicBezTo>
                  <a:pt x="3276518" y="5054799"/>
                  <a:pt x="3187819" y="5143500"/>
                  <a:pt x="3078403" y="5143500"/>
                </a:cubicBezTo>
                <a:lnTo>
                  <a:pt x="198115" y="5143500"/>
                </a:lnTo>
                <a:cubicBezTo>
                  <a:pt x="88699" y="5143500"/>
                  <a:pt x="0" y="5054799"/>
                  <a:pt x="0" y="4945380"/>
                </a:cubicBezTo>
                <a:lnTo>
                  <a:pt x="0" y="198120"/>
                </a:lnTo>
                <a:cubicBezTo>
                  <a:pt x="0" y="88701"/>
                  <a:pt x="88699" y="0"/>
                  <a:pt x="198115" y="0"/>
                </a:cubicBezTo>
                <a:close/>
              </a:path>
            </a:pathLst>
          </a:custGeom>
          <a:solidFill>
            <a:srgbClr val="FFFFFF"/>
          </a:solidFill>
          <a:ln w="7614" cap="flat">
            <a:solidFill>
              <a:schemeClr val="tx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3CAE78B-FCE2-4412-760B-83273D6B3492}"/>
              </a:ext>
            </a:extLst>
          </p:cNvPr>
          <p:cNvSpPr txBox="1"/>
          <p:nvPr/>
        </p:nvSpPr>
        <p:spPr>
          <a:xfrm>
            <a:off x="8693815" y="1225669"/>
            <a:ext cx="2115364" cy="3298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b="1" spc="0" baseline="0" dirty="0">
                <a:ln/>
                <a:solidFill>
                  <a:srgbClr val="173A5E"/>
                </a:solidFill>
                <a:latin typeface="Arial"/>
                <a:cs typeface="Arial"/>
                <a:sym typeface="Arial"/>
                <a:rtl val="0"/>
              </a:rPr>
              <a:t>3. Prediction target</a:t>
            </a: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CFC1B6CA-5364-8AF0-DA69-A0BBE1840EF2}"/>
              </a:ext>
            </a:extLst>
          </p:cNvPr>
          <p:cNvSpPr/>
          <p:nvPr/>
        </p:nvSpPr>
        <p:spPr>
          <a:xfrm>
            <a:off x="8657099" y="1986499"/>
            <a:ext cx="2819329" cy="1295400"/>
          </a:xfrm>
          <a:custGeom>
            <a:avLst/>
            <a:gdLst>
              <a:gd name="csX0" fmla="*/ 2636454 w 2819329"/>
              <a:gd name="csY0" fmla="*/ 0 h 1295400"/>
              <a:gd name="csX1" fmla="*/ 2819330 w 2819329"/>
              <a:gd name="csY1" fmla="*/ 182880 h 1295400"/>
              <a:gd name="csX2" fmla="*/ 2819330 w 2819329"/>
              <a:gd name="csY2" fmla="*/ 1112520 h 1295400"/>
              <a:gd name="csX3" fmla="*/ 2636454 w 2819329"/>
              <a:gd name="csY3" fmla="*/ 1295400 h 1295400"/>
              <a:gd name="csX4" fmla="*/ 182875 w 2819329"/>
              <a:gd name="csY4" fmla="*/ 1295400 h 1295400"/>
              <a:gd name="csX5" fmla="*/ 0 w 2819329"/>
              <a:gd name="csY5" fmla="*/ 1112520 h 1295400"/>
              <a:gd name="csX6" fmla="*/ 0 w 2819329"/>
              <a:gd name="csY6" fmla="*/ 182880 h 1295400"/>
              <a:gd name="csX7" fmla="*/ 182875 w 2819329"/>
              <a:gd name="csY7" fmla="*/ 0 h 1295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819329" h="1295400">
                <a:moveTo>
                  <a:pt x="2636454" y="0"/>
                </a:moveTo>
                <a:cubicBezTo>
                  <a:pt x="2737454" y="0"/>
                  <a:pt x="2819330" y="81878"/>
                  <a:pt x="2819330" y="182880"/>
                </a:cubicBezTo>
                <a:lnTo>
                  <a:pt x="2819330" y="1112520"/>
                </a:lnTo>
                <a:cubicBezTo>
                  <a:pt x="2819330" y="1213522"/>
                  <a:pt x="2737454" y="1295400"/>
                  <a:pt x="2636454" y="1295400"/>
                </a:cubicBezTo>
                <a:lnTo>
                  <a:pt x="182875" y="1295400"/>
                </a:lnTo>
                <a:cubicBezTo>
                  <a:pt x="81876" y="1295400"/>
                  <a:pt x="0" y="1213522"/>
                  <a:pt x="0" y="1112520"/>
                </a:cubicBezTo>
                <a:lnTo>
                  <a:pt x="0" y="182880"/>
                </a:lnTo>
                <a:cubicBezTo>
                  <a:pt x="0" y="81878"/>
                  <a:pt x="81876" y="0"/>
                  <a:pt x="182875" y="0"/>
                </a:cubicBezTo>
                <a:close/>
              </a:path>
            </a:pathLst>
          </a:custGeom>
          <a:solidFill>
            <a:srgbClr val="F8FBFE"/>
          </a:solidFill>
          <a:ln w="7614" cap="flat">
            <a:solidFill>
              <a:srgbClr val="C9DAE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92F7FC89-FBDA-D567-3359-A74AEB81B851}"/>
              </a:ext>
            </a:extLst>
          </p:cNvPr>
          <p:cNvSpPr/>
          <p:nvPr/>
        </p:nvSpPr>
        <p:spPr>
          <a:xfrm>
            <a:off x="8815304" y="2098109"/>
            <a:ext cx="2366072" cy="1183790"/>
          </a:xfrm>
          <a:custGeom>
            <a:avLst/>
            <a:gdLst>
              <a:gd name="csX0" fmla="*/ 52471 w 2366072"/>
              <a:gd name="csY0" fmla="*/ 416953 h 841511"/>
              <a:gd name="csX1" fmla="*/ 1081145 w 2366072"/>
              <a:gd name="csY1" fmla="*/ 51193 h 841511"/>
              <a:gd name="csX2" fmla="*/ 2071721 w 2366072"/>
              <a:gd name="csY2" fmla="*/ 157873 h 841511"/>
              <a:gd name="csX3" fmla="*/ 2262216 w 2366072"/>
              <a:gd name="csY3" fmla="*/ 683653 h 841511"/>
              <a:gd name="csX4" fmla="*/ 1142104 w 2366072"/>
              <a:gd name="csY4" fmla="*/ 797953 h 841511"/>
              <a:gd name="csX5" fmla="*/ 151528 w 2366072"/>
              <a:gd name="csY5" fmla="*/ 706513 h 841511"/>
              <a:gd name="csX6" fmla="*/ 52471 w 2366072"/>
              <a:gd name="csY6" fmla="*/ 416953 h 8415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366072" h="841511">
                <a:moveTo>
                  <a:pt x="52471" y="416953"/>
                </a:moveTo>
                <a:cubicBezTo>
                  <a:pt x="242966" y="35953"/>
                  <a:pt x="738254" y="-78347"/>
                  <a:pt x="1081145" y="51193"/>
                </a:cubicBezTo>
                <a:cubicBezTo>
                  <a:pt x="1462136" y="188353"/>
                  <a:pt x="1766928" y="35953"/>
                  <a:pt x="2071721" y="157873"/>
                </a:cubicBezTo>
                <a:cubicBezTo>
                  <a:pt x="2376513" y="264553"/>
                  <a:pt x="2452711" y="531253"/>
                  <a:pt x="2262216" y="683653"/>
                </a:cubicBezTo>
                <a:cubicBezTo>
                  <a:pt x="2033621" y="858913"/>
                  <a:pt x="1500235" y="874153"/>
                  <a:pt x="1142104" y="797953"/>
                </a:cubicBezTo>
                <a:cubicBezTo>
                  <a:pt x="814452" y="721753"/>
                  <a:pt x="395362" y="836053"/>
                  <a:pt x="151528" y="706513"/>
                </a:cubicBezTo>
                <a:cubicBezTo>
                  <a:pt x="-868" y="615073"/>
                  <a:pt x="-46587" y="508393"/>
                  <a:pt x="52471" y="416953"/>
                </a:cubicBezTo>
                <a:close/>
              </a:path>
            </a:pathLst>
          </a:custGeom>
          <a:gradFill>
            <a:gsLst>
              <a:gs pos="0">
                <a:srgbClr val="87C8F2"/>
              </a:gs>
              <a:gs pos="50000">
                <a:srgbClr val="69B3E4"/>
              </a:gs>
              <a:gs pos="100000">
                <a:srgbClr val="4C9FD6"/>
              </a:gs>
            </a:gsLst>
            <a:lin ang="2700000" scaled="1"/>
          </a:gradFill>
          <a:ln w="22842" cap="flat">
            <a:solidFill>
              <a:srgbClr val="2E77B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96C16DB-8371-1D53-8335-7F342C0F1E65}"/>
              </a:ext>
            </a:extLst>
          </p:cNvPr>
          <p:cNvSpPr txBox="1"/>
          <p:nvPr/>
        </p:nvSpPr>
        <p:spPr>
          <a:xfrm>
            <a:off x="8922794" y="2275752"/>
            <a:ext cx="1867728" cy="312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950" b="1" spc="0" baseline="0" dirty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Lake Okeechobee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60D490B-ACB7-D95F-490C-81E03C249D26}"/>
              </a:ext>
            </a:extLst>
          </p:cNvPr>
          <p:cNvSpPr txBox="1"/>
          <p:nvPr/>
        </p:nvSpPr>
        <p:spPr>
          <a:xfrm>
            <a:off x="8922794" y="2588529"/>
            <a:ext cx="1733109" cy="2616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500" spc="0" baseline="0" dirty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seasonal flow outcome</a:t>
            </a:r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EC1A3B09-3E3D-F224-2CE3-79B4617D7639}"/>
              </a:ext>
            </a:extLst>
          </p:cNvPr>
          <p:cNvSpPr/>
          <p:nvPr/>
        </p:nvSpPr>
        <p:spPr>
          <a:xfrm>
            <a:off x="8877077" y="3848100"/>
            <a:ext cx="2514537" cy="1371600"/>
          </a:xfrm>
          <a:custGeom>
            <a:avLst/>
            <a:gdLst>
              <a:gd name="csX0" fmla="*/ 2362141 w 2514537"/>
              <a:gd name="csY0" fmla="*/ 0 h 1371600"/>
              <a:gd name="csX1" fmla="*/ 2514537 w 2514537"/>
              <a:gd name="csY1" fmla="*/ 152400 h 1371600"/>
              <a:gd name="csX2" fmla="*/ 2514537 w 2514537"/>
              <a:gd name="csY2" fmla="*/ 1219200 h 1371600"/>
              <a:gd name="csX3" fmla="*/ 2362141 w 2514537"/>
              <a:gd name="csY3" fmla="*/ 1371600 h 1371600"/>
              <a:gd name="csX4" fmla="*/ 152396 w 2514537"/>
              <a:gd name="csY4" fmla="*/ 1371600 h 1371600"/>
              <a:gd name="csX5" fmla="*/ 0 w 2514537"/>
              <a:gd name="csY5" fmla="*/ 1219200 h 1371600"/>
              <a:gd name="csX6" fmla="*/ 0 w 2514537"/>
              <a:gd name="csY6" fmla="*/ 152400 h 1371600"/>
              <a:gd name="csX7" fmla="*/ 152396 w 2514537"/>
              <a:gd name="csY7" fmla="*/ 0 h 1371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514537" h="1371600">
                <a:moveTo>
                  <a:pt x="2362141" y="0"/>
                </a:moveTo>
                <a:cubicBezTo>
                  <a:pt x="2446307" y="0"/>
                  <a:pt x="2514537" y="68232"/>
                  <a:pt x="2514537" y="152400"/>
                </a:cubicBezTo>
                <a:lnTo>
                  <a:pt x="2514537" y="1219200"/>
                </a:lnTo>
                <a:cubicBezTo>
                  <a:pt x="2514537" y="1303368"/>
                  <a:pt x="2446307" y="1371600"/>
                  <a:pt x="2362141" y="1371600"/>
                </a:cubicBezTo>
                <a:lnTo>
                  <a:pt x="152396" y="1371600"/>
                </a:lnTo>
                <a:cubicBezTo>
                  <a:pt x="68230" y="1371600"/>
                  <a:pt x="0" y="1303368"/>
                  <a:pt x="0" y="1219200"/>
                </a:cubicBezTo>
                <a:lnTo>
                  <a:pt x="0" y="152400"/>
                </a:lnTo>
                <a:cubicBezTo>
                  <a:pt x="0" y="68232"/>
                  <a:pt x="68230" y="0"/>
                  <a:pt x="152396" y="0"/>
                </a:cubicBezTo>
                <a:close/>
              </a:path>
            </a:pathLst>
          </a:custGeom>
          <a:solidFill>
            <a:srgbClr val="FFFFFF"/>
          </a:solidFill>
          <a:ln w="7614" cap="flat">
            <a:solidFill>
              <a:srgbClr val="C9DAE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FC192A3-531D-82B4-6C5C-78656A401230}"/>
              </a:ext>
            </a:extLst>
          </p:cNvPr>
          <p:cNvSpPr txBox="1"/>
          <p:nvPr/>
        </p:nvSpPr>
        <p:spPr>
          <a:xfrm>
            <a:off x="9205035" y="3250105"/>
            <a:ext cx="189414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50" b="1" spc="0" baseline="0" dirty="0">
                <a:ln/>
                <a:solidFill>
                  <a:srgbClr val="214B75"/>
                </a:solidFill>
                <a:latin typeface="Arial"/>
                <a:cs typeface="Arial"/>
                <a:sym typeface="Arial"/>
                <a:rtl val="0"/>
              </a:rPr>
              <a:t>One target value per water year</a:t>
            </a:r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35BFD824-2673-82CB-C6E5-DC9FCA92633C}"/>
              </a:ext>
            </a:extLst>
          </p:cNvPr>
          <p:cNvSpPr/>
          <p:nvPr/>
        </p:nvSpPr>
        <p:spPr>
          <a:xfrm>
            <a:off x="9143771" y="4953000"/>
            <a:ext cx="1904952" cy="7620"/>
          </a:xfrm>
          <a:custGeom>
            <a:avLst/>
            <a:gdLst>
              <a:gd name="csX0" fmla="*/ 0 w 1904952"/>
              <a:gd name="csY0" fmla="*/ 0 h 7620"/>
              <a:gd name="csX1" fmla="*/ 1904952 w 1904952"/>
              <a:gd name="csY1" fmla="*/ 0 h 762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4952" h="7620">
                <a:moveTo>
                  <a:pt x="0" y="0"/>
                </a:moveTo>
                <a:lnTo>
                  <a:pt x="1904952" y="0"/>
                </a:lnTo>
              </a:path>
            </a:pathLst>
          </a:custGeom>
          <a:ln w="22842" cap="rnd">
            <a:solidFill>
              <a:srgbClr val="6E7B8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F8D71383-9E44-4457-A0AF-1459684E5AA3}"/>
              </a:ext>
            </a:extLst>
          </p:cNvPr>
          <p:cNvSpPr/>
          <p:nvPr/>
        </p:nvSpPr>
        <p:spPr>
          <a:xfrm>
            <a:off x="9143771" y="4305300"/>
            <a:ext cx="7619" cy="647700"/>
          </a:xfrm>
          <a:custGeom>
            <a:avLst/>
            <a:gdLst>
              <a:gd name="csX0" fmla="*/ 0 w 7619"/>
              <a:gd name="csY0" fmla="*/ 647700 h 647700"/>
              <a:gd name="csX1" fmla="*/ 0 w 7619"/>
              <a:gd name="csY1" fmla="*/ 0 h 647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619" h="647700">
                <a:moveTo>
                  <a:pt x="0" y="647700"/>
                </a:moveTo>
                <a:lnTo>
                  <a:pt x="0" y="0"/>
                </a:lnTo>
              </a:path>
            </a:pathLst>
          </a:custGeom>
          <a:ln w="22842" cap="rnd">
            <a:solidFill>
              <a:srgbClr val="6E7B8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EB518208-2DC5-8399-EA42-7F90087A627A}"/>
              </a:ext>
            </a:extLst>
          </p:cNvPr>
          <p:cNvSpPr/>
          <p:nvPr/>
        </p:nvSpPr>
        <p:spPr>
          <a:xfrm>
            <a:off x="9143771" y="4152900"/>
            <a:ext cx="1790655" cy="685800"/>
          </a:xfrm>
          <a:custGeom>
            <a:avLst/>
            <a:gdLst>
              <a:gd name="csX0" fmla="*/ 0 w 1790655"/>
              <a:gd name="csY0" fmla="*/ 685800 h 685800"/>
              <a:gd name="csX1" fmla="*/ 266693 w 1790655"/>
              <a:gd name="csY1" fmla="*/ 457200 h 685800"/>
              <a:gd name="csX2" fmla="*/ 571486 w 1790655"/>
              <a:gd name="csY2" fmla="*/ 152400 h 685800"/>
              <a:gd name="csX3" fmla="*/ 876278 w 1790655"/>
              <a:gd name="csY3" fmla="*/ 327660 h 685800"/>
              <a:gd name="csX4" fmla="*/ 1181071 w 1790655"/>
              <a:gd name="csY4" fmla="*/ 0 h 685800"/>
              <a:gd name="csX5" fmla="*/ 1485863 w 1790655"/>
              <a:gd name="csY5" fmla="*/ 381000 h 685800"/>
              <a:gd name="csX6" fmla="*/ 1790655 w 1790655"/>
              <a:gd name="csY6" fmla="*/ 228600 h 685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790655" h="685800">
                <a:moveTo>
                  <a:pt x="0" y="685800"/>
                </a:moveTo>
                <a:lnTo>
                  <a:pt x="266693" y="457200"/>
                </a:lnTo>
                <a:lnTo>
                  <a:pt x="571486" y="152400"/>
                </a:lnTo>
                <a:lnTo>
                  <a:pt x="876278" y="327660"/>
                </a:lnTo>
                <a:lnTo>
                  <a:pt x="1181071" y="0"/>
                </a:lnTo>
                <a:lnTo>
                  <a:pt x="1485863" y="381000"/>
                </a:lnTo>
                <a:lnTo>
                  <a:pt x="1790655" y="228600"/>
                </a:lnTo>
              </a:path>
            </a:pathLst>
          </a:custGeom>
          <a:noFill/>
          <a:ln w="45684" cap="rnd">
            <a:solidFill>
              <a:srgbClr val="F08A24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B19DF88-E514-A82B-5F72-7FC3D1C1F1A8}"/>
              </a:ext>
            </a:extLst>
          </p:cNvPr>
          <p:cNvSpPr txBox="1"/>
          <p:nvPr/>
        </p:nvSpPr>
        <p:spPr>
          <a:xfrm>
            <a:off x="10443642" y="4960747"/>
            <a:ext cx="737734" cy="2191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b="1" spc="0" baseline="0" dirty="0" err="1">
                <a:ln/>
                <a:solidFill>
                  <a:srgbClr val="6E7B8B"/>
                </a:solidFill>
                <a:latin typeface="Arial"/>
                <a:cs typeface="Arial"/>
                <a:sym typeface="Arial"/>
                <a:rtl val="0"/>
              </a:rPr>
              <a:t>WaterYear</a:t>
            </a:r>
            <a:endParaRPr lang="en-US" sz="1125" b="1" spc="0" baseline="0" dirty="0">
              <a:ln/>
              <a:solidFill>
                <a:srgbClr val="6E7B8B"/>
              </a:solidFill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284017A-7C7A-16E4-4FE6-8F2042551363}"/>
              </a:ext>
            </a:extLst>
          </p:cNvPr>
          <p:cNvSpPr txBox="1"/>
          <p:nvPr/>
        </p:nvSpPr>
        <p:spPr>
          <a:xfrm>
            <a:off x="8877077" y="4015177"/>
            <a:ext cx="443173" cy="2191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b="1" spc="0" baseline="0" dirty="0">
                <a:ln/>
                <a:solidFill>
                  <a:srgbClr val="6E7B8B"/>
                </a:solidFill>
                <a:latin typeface="Arial"/>
                <a:cs typeface="Arial"/>
                <a:sym typeface="Arial"/>
                <a:rtl val="0"/>
              </a:rPr>
              <a:t>Flow</a:t>
            </a:r>
          </a:p>
        </p:txBody>
      </p: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49250CF4-3894-7A8C-D350-B052ED680089}"/>
              </a:ext>
            </a:extLst>
          </p:cNvPr>
          <p:cNvSpPr/>
          <p:nvPr/>
        </p:nvSpPr>
        <p:spPr>
          <a:xfrm>
            <a:off x="8715839" y="5255738"/>
            <a:ext cx="2819329" cy="777240"/>
          </a:xfrm>
          <a:custGeom>
            <a:avLst/>
            <a:gdLst>
              <a:gd name="csX0" fmla="*/ 2666933 w 2819329"/>
              <a:gd name="csY0" fmla="*/ 0 h 777240"/>
              <a:gd name="csX1" fmla="*/ 2819330 w 2819329"/>
              <a:gd name="csY1" fmla="*/ 152400 h 777240"/>
              <a:gd name="csX2" fmla="*/ 2819330 w 2819329"/>
              <a:gd name="csY2" fmla="*/ 624840 h 777240"/>
              <a:gd name="csX3" fmla="*/ 2666933 w 2819329"/>
              <a:gd name="csY3" fmla="*/ 777240 h 777240"/>
              <a:gd name="csX4" fmla="*/ 152396 w 2819329"/>
              <a:gd name="csY4" fmla="*/ 777240 h 777240"/>
              <a:gd name="csX5" fmla="*/ 0 w 2819329"/>
              <a:gd name="csY5" fmla="*/ 624840 h 777240"/>
              <a:gd name="csX6" fmla="*/ 0 w 2819329"/>
              <a:gd name="csY6" fmla="*/ 152400 h 777240"/>
              <a:gd name="csX7" fmla="*/ 152396 w 2819329"/>
              <a:gd name="csY7" fmla="*/ 0 h 7772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819329" h="777240">
                <a:moveTo>
                  <a:pt x="2666933" y="0"/>
                </a:moveTo>
                <a:cubicBezTo>
                  <a:pt x="2751099" y="0"/>
                  <a:pt x="2819330" y="68232"/>
                  <a:pt x="2819330" y="152400"/>
                </a:cubicBezTo>
                <a:lnTo>
                  <a:pt x="2819330" y="624840"/>
                </a:lnTo>
                <a:cubicBezTo>
                  <a:pt x="2819330" y="709008"/>
                  <a:pt x="2751099" y="777240"/>
                  <a:pt x="2666933" y="777240"/>
                </a:cubicBezTo>
                <a:lnTo>
                  <a:pt x="152396" y="777240"/>
                </a:lnTo>
                <a:cubicBezTo>
                  <a:pt x="68230" y="777240"/>
                  <a:pt x="0" y="709008"/>
                  <a:pt x="0" y="624840"/>
                </a:cubicBezTo>
                <a:lnTo>
                  <a:pt x="0" y="152400"/>
                </a:lnTo>
                <a:cubicBezTo>
                  <a:pt x="0" y="68232"/>
                  <a:pt x="68230" y="0"/>
                  <a:pt x="152396" y="0"/>
                </a:cubicBezTo>
                <a:close/>
              </a:path>
            </a:pathLst>
          </a:custGeom>
          <a:solidFill>
            <a:srgbClr val="F7FBFF"/>
          </a:solidFill>
          <a:ln w="7614" cap="flat">
            <a:solidFill>
              <a:srgbClr val="BFD6EA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52E5FDC-BB91-22DE-5505-F490D028822B}"/>
              </a:ext>
            </a:extLst>
          </p:cNvPr>
          <p:cNvSpPr txBox="1"/>
          <p:nvPr/>
        </p:nvSpPr>
        <p:spPr>
          <a:xfrm>
            <a:off x="9060958" y="5415768"/>
            <a:ext cx="2119182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725" b="1" spc="0" baseline="0" dirty="0">
                <a:ln/>
                <a:solidFill>
                  <a:srgbClr val="C15B0E"/>
                </a:solidFill>
                <a:latin typeface="Arial"/>
                <a:cs typeface="Arial"/>
                <a:sym typeface="Arial"/>
                <a:rtl val="0"/>
              </a:rPr>
              <a:t>55 samples • 44 train • 11 test</a:t>
            </a:r>
          </a:p>
        </p:txBody>
      </p:sp>
      <p:sp>
        <p:nvSpPr>
          <p:cNvPr id="120" name="Freeform: Shape 119">
            <a:extLst>
              <a:ext uri="{FF2B5EF4-FFF2-40B4-BE49-F238E27FC236}">
                <a16:creationId xmlns:a16="http://schemas.microsoft.com/office/drawing/2014/main" id="{1250AE88-77E2-15C8-0BCD-F1967FAD3EAB}"/>
              </a:ext>
            </a:extLst>
          </p:cNvPr>
          <p:cNvSpPr/>
          <p:nvPr/>
        </p:nvSpPr>
        <p:spPr>
          <a:xfrm>
            <a:off x="362243" y="5887461"/>
            <a:ext cx="2971725" cy="365760"/>
          </a:xfrm>
          <a:custGeom>
            <a:avLst/>
            <a:gdLst>
              <a:gd name="csX0" fmla="*/ 2865048 w 2971725"/>
              <a:gd name="csY0" fmla="*/ 0 h 365760"/>
              <a:gd name="csX1" fmla="*/ 2971726 w 2971725"/>
              <a:gd name="csY1" fmla="*/ 106680 h 365760"/>
              <a:gd name="csX2" fmla="*/ 2971726 w 2971725"/>
              <a:gd name="csY2" fmla="*/ 259080 h 365760"/>
              <a:gd name="csX3" fmla="*/ 2865048 w 2971725"/>
              <a:gd name="csY3" fmla="*/ 365760 h 365760"/>
              <a:gd name="csX4" fmla="*/ 106677 w 2971725"/>
              <a:gd name="csY4" fmla="*/ 365760 h 365760"/>
              <a:gd name="csX5" fmla="*/ 0 w 2971725"/>
              <a:gd name="csY5" fmla="*/ 259080 h 365760"/>
              <a:gd name="csX6" fmla="*/ 0 w 2971725"/>
              <a:gd name="csY6" fmla="*/ 106680 h 365760"/>
              <a:gd name="csX7" fmla="*/ 106677 w 2971725"/>
              <a:gd name="csY7" fmla="*/ 0 h 365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971725" h="365760">
                <a:moveTo>
                  <a:pt x="2865048" y="0"/>
                </a:moveTo>
                <a:cubicBezTo>
                  <a:pt x="2923965" y="0"/>
                  <a:pt x="2971726" y="47762"/>
                  <a:pt x="2971726" y="106680"/>
                </a:cubicBezTo>
                <a:lnTo>
                  <a:pt x="2971726" y="259080"/>
                </a:lnTo>
                <a:cubicBezTo>
                  <a:pt x="2971726" y="317998"/>
                  <a:pt x="2923965" y="365760"/>
                  <a:pt x="2865048" y="365760"/>
                </a:cubicBezTo>
                <a:lnTo>
                  <a:pt x="106677" y="365760"/>
                </a:lnTo>
                <a:cubicBezTo>
                  <a:pt x="47761" y="365760"/>
                  <a:pt x="0" y="317998"/>
                  <a:pt x="0" y="259080"/>
                </a:cubicBezTo>
                <a:lnTo>
                  <a:pt x="0" y="106680"/>
                </a:lnTo>
                <a:cubicBezTo>
                  <a:pt x="0" y="47762"/>
                  <a:pt x="47761" y="0"/>
                  <a:pt x="106677" y="0"/>
                </a:cubicBezTo>
                <a:close/>
              </a:path>
            </a:pathLst>
          </a:custGeom>
          <a:solidFill>
            <a:srgbClr val="FFFFFF"/>
          </a:solidFill>
          <a:ln w="7614" cap="flat">
            <a:solidFill>
              <a:srgbClr val="DCE6F0"/>
            </a:solidFill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6390848-D6FF-F4BF-5B7B-80A88E0B72C5}"/>
              </a:ext>
            </a:extLst>
          </p:cNvPr>
          <p:cNvSpPr txBox="1"/>
          <p:nvPr/>
        </p:nvSpPr>
        <p:spPr>
          <a:xfrm>
            <a:off x="626279" y="5956517"/>
            <a:ext cx="3070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spc="0" baseline="0" dirty="0">
                <a:ln/>
                <a:solidFill>
                  <a:srgbClr val="35516D"/>
                </a:solidFill>
                <a:latin typeface="Arial"/>
                <a:cs typeface="Arial"/>
                <a:sym typeface="Arial"/>
                <a:rtl val="0"/>
              </a:rPr>
              <a:t>Nonlinear teleconnections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289DA04-7756-2765-5E90-21A8E855232D}"/>
              </a:ext>
            </a:extLst>
          </p:cNvPr>
          <p:cNvSpPr txBox="1"/>
          <p:nvPr/>
        </p:nvSpPr>
        <p:spPr>
          <a:xfrm>
            <a:off x="3992779" y="1288018"/>
            <a:ext cx="4239797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100" b="1" spc="0" baseline="0" dirty="0">
                <a:ln/>
                <a:solidFill>
                  <a:srgbClr val="173A5E"/>
                </a:solidFill>
                <a:latin typeface="Arial"/>
                <a:cs typeface="Arial"/>
                <a:sym typeface="Arial"/>
                <a:rtl val="0"/>
              </a:rPr>
              <a:t>2. Reframe the problem by water year</a:t>
            </a:r>
          </a:p>
        </p:txBody>
      </p:sp>
    </p:spTree>
    <p:extLst>
      <p:ext uri="{BB962C8B-B14F-4D97-AF65-F5344CB8AC3E}">
        <p14:creationId xmlns:p14="http://schemas.microsoft.com/office/powerpoint/2010/main" val="2778663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3891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23B4B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Preparation and Problem Setup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544068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0916" y="12435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123B4B"/>
                </a:solidFill>
                <a:latin typeface="Aptos"/>
              </a:rPr>
              <a:t>Process Flow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1618488"/>
            <a:ext cx="489204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Reads the CSV and keeps a small, interpretable set of columns for teaching.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Defines WaterYear so October–December count toward the following year.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Keeps only November–April months, then averages values by </a:t>
            </a:r>
            <a:r>
              <a:rPr kumimoji="0" 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WaterYear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Builds a predictor matrix X and target vector y = </a:t>
            </a:r>
            <a:r>
              <a:rPr kumimoji="0" 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LakeO_flow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Fills missing predictor values with column means and uses a random 80/20 train/test split.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515721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C5A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Predictors used:  AMO   |   ENSO_NINO.34   |   NAO   |   UKR   |   LKR   |   LOK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5527963"/>
            <a:ext cx="4176222" cy="483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Target: seasonal Lake Okeechobee flow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126480" y="1234440"/>
            <a:ext cx="5641848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55080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23B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Key sample counts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355080" y="1938528"/>
            <a:ext cx="1143000" cy="1051560"/>
          </a:xfrm>
          <a:prstGeom prst="roundRect">
            <a:avLst>
              <a:gd name="adj" fmla="val 6957"/>
            </a:avLst>
          </a:prstGeom>
          <a:solidFill>
            <a:srgbClr val="EAF5EF"/>
          </a:solidFill>
          <a:ln w="12700">
            <a:solidFill>
              <a:srgbClr val="D7E3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355080" y="208483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23B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56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19088" y="2468880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seasonal aggregates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699248" y="1938527"/>
            <a:ext cx="1170432" cy="1168769"/>
          </a:xfrm>
          <a:prstGeom prst="roundRect">
            <a:avLst>
              <a:gd name="adj" fmla="val 6957"/>
            </a:avLst>
          </a:prstGeom>
          <a:solidFill>
            <a:srgbClr val="EAF5EF"/>
          </a:solidFill>
          <a:ln w="12700">
            <a:solidFill>
              <a:srgbClr val="D7E3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99248" y="208483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23B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55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26680" y="2567755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rows with target available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043416" y="1938528"/>
            <a:ext cx="1143000" cy="1051560"/>
          </a:xfrm>
          <a:prstGeom prst="roundRect">
            <a:avLst>
              <a:gd name="adj" fmla="val 6957"/>
            </a:avLst>
          </a:prstGeom>
          <a:solidFill>
            <a:srgbClr val="E7F2F8"/>
          </a:solidFill>
          <a:ln w="12700">
            <a:solidFill>
              <a:srgbClr val="D7E3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043416" y="208483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23B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44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098280" y="2554132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training samples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0387584" y="1938528"/>
            <a:ext cx="1143000" cy="1051560"/>
          </a:xfrm>
          <a:prstGeom prst="roundRect">
            <a:avLst>
              <a:gd name="adj" fmla="val 6957"/>
            </a:avLst>
          </a:prstGeom>
          <a:solidFill>
            <a:srgbClr val="E7F2F8"/>
          </a:solidFill>
          <a:ln w="12700">
            <a:solidFill>
              <a:srgbClr val="D7E3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387584" y="208483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23B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451592" y="2542679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testing samples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26480" y="3611880"/>
            <a:ext cx="564184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27648" y="3621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23B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Prediction objective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55080" y="4242816"/>
            <a:ext cx="5074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Use a small set of climate and lake-condition indicators to estimate seasonal flow, then compare model skill and interpretability.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364224" y="5056632"/>
            <a:ext cx="1920240" cy="713232"/>
          </a:xfrm>
          <a:prstGeom prst="roundRect">
            <a:avLst>
              <a:gd name="adj" fmla="val 10256"/>
            </a:avLst>
          </a:prstGeom>
          <a:solidFill>
            <a:srgbClr val="FFF3E7"/>
          </a:solidFill>
          <a:ln w="12700">
            <a:solidFill>
              <a:srgbClr val="F2D5B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46520" y="5202936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E88B2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Regression track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E88B2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continuous flow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522208" y="5259463"/>
            <a:ext cx="384048" cy="310896"/>
          </a:xfrm>
          <a:prstGeom prst="chevron">
            <a:avLst/>
          </a:prstGeom>
          <a:solidFill>
            <a:srgbClr val="A8C6D1"/>
          </a:solidFill>
          <a:ln w="12700">
            <a:solidFill>
              <a:srgbClr val="A8C6D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052560" y="5038991"/>
            <a:ext cx="2270760" cy="713232"/>
          </a:xfrm>
          <a:prstGeom prst="roundRect">
            <a:avLst>
              <a:gd name="adj" fmla="val 10256"/>
            </a:avLst>
          </a:prstGeom>
          <a:solidFill>
            <a:srgbClr val="EAF5EF"/>
          </a:solidFill>
          <a:ln w="12700">
            <a:solidFill>
              <a:srgbClr val="CBE6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125712" y="5185295"/>
            <a:ext cx="2197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3F8A6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Classification track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3F8A6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low / medium / high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512064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Notebook Flow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75720" y="643737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122529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The notebook moves from seasonal data preparation into baseline and tree-based modeling, then finishes with tuning and interpretation.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514600" y="2322576"/>
            <a:ext cx="292608" cy="0"/>
          </a:xfrm>
          <a:prstGeom prst="line">
            <a:avLst/>
          </a:prstGeom>
          <a:noFill/>
          <a:ln w="31750">
            <a:solidFill>
              <a:srgbClr val="93C5FD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663440" y="2322576"/>
            <a:ext cx="292608" cy="0"/>
          </a:xfrm>
          <a:prstGeom prst="line">
            <a:avLst/>
          </a:prstGeom>
          <a:noFill/>
          <a:ln w="31750">
            <a:solidFill>
              <a:srgbClr val="93C5FD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812280" y="2322576"/>
            <a:ext cx="292608" cy="0"/>
          </a:xfrm>
          <a:prstGeom prst="line">
            <a:avLst/>
          </a:prstGeom>
          <a:noFill/>
          <a:ln w="31750">
            <a:solidFill>
              <a:srgbClr val="93C5FD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961120" y="2322576"/>
            <a:ext cx="292608" cy="0"/>
          </a:xfrm>
          <a:prstGeom prst="line">
            <a:avLst/>
          </a:prstGeom>
          <a:noFill/>
          <a:ln w="31750">
            <a:solidFill>
              <a:srgbClr val="93C5FD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1890908"/>
            <a:ext cx="1874520" cy="9235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Load and filter data
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Monthly climate + flow inputs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788920" y="1965960"/>
            <a:ext cx="187452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Build water year
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Average Nov–Apr season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1874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Create model table
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6 predictors, 55 samples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086600" y="1965960"/>
            <a:ext cx="187452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Split training / test
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44 train, 11 test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235440" y="1965960"/>
            <a:ext cx="1874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Fit and compare models
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Metrics, plots, tuning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32461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Models and analyses included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94360" y="3931921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Linear regression baseline
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 for low / medium / high flow classes
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Random Forest with uncertainty bounds
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XGBoost with uncertainty bounds
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Grid-search tuning for Random Forest and XGBoost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26680" y="3611880"/>
            <a:ext cx="1188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668
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Filtered monthly rows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052560" y="3611880"/>
            <a:ext cx="1188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56
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Seasonal aggregates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378440" y="3611880"/>
            <a:ext cx="1188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55
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Final model rows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72668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Predictor set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726680" y="508406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AMO • ENSO_NINO.34 • NAO • UKR • LKR • LOK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726680" y="56509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Target variable: LakeO_flow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Diagnostics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Observed vs predicted diagnostics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75720" y="643737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The notebook uses the same diagnostic plot across models, making the improvement from baseline to tree methods easy to see.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893257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Linear regression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8" name="Image 0" descr="/mnt/data/notebook_assets/cell15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186" y="2340112"/>
            <a:ext cx="3737742" cy="247420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91437" y="53721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Baseline model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R² 0.160  |  RMSE 73.9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709160" y="1850577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11" name="Image 1" descr="/mnt/data/notebook_assets/cell21_out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897" y="2240905"/>
            <a:ext cx="3887612" cy="25734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0480" y="53721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Stronger non-linear fit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R² 0.663  |  RMSE 46.8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732520" y="185128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XGBoost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14" name="Image 2" descr="/mnt/data/notebook_assets/cell29_out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0218" y="2253032"/>
            <a:ext cx="3953596" cy="25734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24928" y="5375517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Best test performance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R² 0.698  |  RMSE 44.3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5257800" y="651052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Closer clustering around the 1:1 line indicates better predictive fit.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3891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23B4B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Inputs Matter Most?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9768" y="8412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B6F7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Feature-importance plots help students connect machine-learning output back to hydrologic reasoning.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553212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8" y="14813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23B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Random Forest feature importance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6" name="Image 0" descr="/mnt/data/lok_nb_assets/cell21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14355"/>
            <a:ext cx="5029200" cy="312987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45352" y="1234440"/>
            <a:ext cx="553212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92240" y="14813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23B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XGBoost feature importance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9" name="Image 1" descr="/mnt/data/lok_nb_assets/cell29_im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914355"/>
            <a:ext cx="5029200" cy="312987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0080" y="5742432"/>
            <a:ext cx="11064240" cy="457200"/>
          </a:xfrm>
          <a:prstGeom prst="roundRect">
            <a:avLst>
              <a:gd name="adj" fmla="val 24000"/>
            </a:avLst>
          </a:prstGeom>
          <a:solidFill>
            <a:srgbClr val="F4FAFC"/>
          </a:solidFill>
          <a:ln w="12700">
            <a:solidFill>
              <a:srgbClr val="D7E3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7"/>
          <p:cNvSpPr/>
          <p:nvPr/>
        </p:nvSpPr>
        <p:spPr>
          <a:xfrm>
            <a:off x="868680" y="5879592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20" b="1" i="0" u="none" strike="noStrike" kern="1200" cap="none" spc="0" normalizeH="0" baseline="0" noProof="0" dirty="0">
                <a:ln>
                  <a:noFill/>
                </a:ln>
                <a:solidFill>
                  <a:srgbClr val="123B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Interpretation: in this notebook, local lake-condition predictors (especially LOK, with UKR/LKR secondary) dominate the large-scale climate indices.</a:t>
            </a:r>
            <a:endParaRPr kumimoji="0" lang="en-US" sz="14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3891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23B4B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Comparison and Main Teaching Takeaways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3840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8" y="14813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23B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RMSE comparison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6" name="Image 0" descr="/mnt/data/lok_nb_assets/cell36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68" y="1783080"/>
            <a:ext cx="3253203" cy="1645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462272" y="1234440"/>
            <a:ext cx="3840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4709160" y="14813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23B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R² comparison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9" name="Image 1" descr="/mnt/data/lok_nb_assets/cell36_im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6136" y="1783080"/>
            <a:ext cx="3261003" cy="16459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278645" y="960120"/>
            <a:ext cx="3913355" cy="2944368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7"/>
          <p:cNvSpPr/>
          <p:nvPr/>
        </p:nvSpPr>
        <p:spPr>
          <a:xfrm>
            <a:off x="9138042" y="685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23B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Best test-set scores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8"/>
          <p:cNvSpPr/>
          <p:nvPr/>
        </p:nvSpPr>
        <p:spPr>
          <a:xfrm>
            <a:off x="8482722" y="1954899"/>
            <a:ext cx="350520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 Mono" pitchFamily="34" charset="0"/>
                <a:ea typeface="Aptos Mono" pitchFamily="34" charset="-122"/>
                <a:cs typeface="Aptos Mono" pitchFamily="34" charset="-120"/>
              </a:rPr>
              <a:t>XGBoost        R² = 0.698   RMSE = 44.3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 Mono" pitchFamily="34" charset="0"/>
                <a:ea typeface="Aptos Mono" pitchFamily="34" charset="-122"/>
                <a:cs typeface="Aptos Mono" pitchFamily="34" charset="-120"/>
              </a:rPr>
              <a:t>RF tuned       R² = 0.677   RMSE = 45.8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 Mono" pitchFamily="34" charset="0"/>
                <a:ea typeface="Aptos Mono" pitchFamily="34" charset="-122"/>
                <a:cs typeface="Aptos Mono" pitchFamily="34" charset="-120"/>
              </a:rPr>
              <a:t>Random Forest  R² = 0.663   RMSE = 46.8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 Mono" pitchFamily="34" charset="0"/>
                <a:ea typeface="Aptos Mono" pitchFamily="34" charset="-122"/>
                <a:cs typeface="Aptos Mono" pitchFamily="34" charset="-120"/>
              </a:rPr>
              <a:t>XGB tuned      R² = 0.585   RMSE = 51.9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Linear         R² = 0.160   RMSE = 73.9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35216" y="6356460"/>
            <a:ext cx="70771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5B6F7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Logistic regression accuracy = 0.545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5B6F7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(not directly comparable to regression metrics)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11480" y="3794760"/>
            <a:ext cx="6996084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58368" y="4521939"/>
            <a:ext cx="1595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23B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Observed and predicted seasonal flows on the test set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16" name="Image 2" descr="/mnt/data/lok_nb_assets/cell36_img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7538" y="3778042"/>
            <a:ext cx="4389120" cy="238295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612380" y="4270248"/>
            <a:ext cx="4375542" cy="2622411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7691429" y="400613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23B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Takeaways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7696046" y="4346909"/>
            <a:ext cx="4084474" cy="242334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Small datasets can still support meaningful model comparison in class.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Better skill does not guarantee better calibrated uncertainty.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Tuning should be judged by both cross-validation and held-out performance.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Use plots and feature importance to reconnect model output to engineering judgment.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Regression results at a glance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75720" y="643737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6" name="Image 0" descr="/mnt/data/notebook_assets/cell36_ou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395" y="1325880"/>
            <a:ext cx="3885771" cy="1965960"/>
          </a:xfrm>
          <a:prstGeom prst="rect">
            <a:avLst/>
          </a:prstGeom>
        </p:spPr>
      </p:pic>
      <p:pic>
        <p:nvPicPr>
          <p:cNvPr id="7" name="Image 1" descr="/mnt/data/notebook_assets/cell36_out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736" y="3493008"/>
            <a:ext cx="3895087" cy="1965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37960" y="13533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Performance ranking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6537960" y="17373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6"/>
          <p:cNvSpPr/>
          <p:nvPr/>
        </p:nvSpPr>
        <p:spPr>
          <a:xfrm>
            <a:off x="9281160" y="17373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R²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0012680" y="1737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RMSE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537960" y="1975104"/>
            <a:ext cx="2560320" cy="310896"/>
          </a:xfrm>
          <a:prstGeom prst="rect">
            <a:avLst/>
          </a:prstGeom>
          <a:solidFill>
            <a:srgbClr val="DBEAFE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XGBoost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9281160" y="1975104"/>
            <a:ext cx="548640" cy="310896"/>
          </a:xfrm>
          <a:prstGeom prst="rect">
            <a:avLst/>
          </a:prstGeom>
          <a:solidFill>
            <a:srgbClr val="DBEAFE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0.698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0012680" y="1975104"/>
            <a:ext cx="822960" cy="310896"/>
          </a:xfrm>
          <a:prstGeom prst="rect">
            <a:avLst/>
          </a:prstGeom>
          <a:solidFill>
            <a:srgbClr val="DBEAFE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44.3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537960" y="2478024"/>
            <a:ext cx="2560320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Random Forest (tuned)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9281160" y="2478024"/>
            <a:ext cx="548640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0.677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0012680" y="2478024"/>
            <a:ext cx="822960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45.8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6537960" y="2980944"/>
            <a:ext cx="256032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9281160" y="2980944"/>
            <a:ext cx="54864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0.663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10012680" y="2980944"/>
            <a:ext cx="82296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46.8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6537960" y="3483864"/>
            <a:ext cx="2560320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XGBoost (tuned)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9281160" y="3483864"/>
            <a:ext cx="548640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0.585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10012680" y="3483864"/>
            <a:ext cx="822960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51.9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6537960" y="3986784"/>
            <a:ext cx="256032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Linear Regression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9281160" y="3986784"/>
            <a:ext cx="54864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0.160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10012680" y="3986784"/>
            <a:ext cx="82296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73.9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6537960" y="4709160"/>
            <a:ext cx="4754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Key takeaways
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• XGBoost delivered the best test-set fit.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• Tuning improved Random Forest slightly.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• Tuning hurt XGBoost on this split.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• Linear regression remained a useful but much weaker baseline.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3891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23B4B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Hyperparameter Tuning and Practical Uncertainty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79" y="1234440"/>
            <a:ext cx="4161720" cy="5440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5920" y="13350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23B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Grid search setup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18470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2E7E8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Random Forest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2084831"/>
            <a:ext cx="3570406" cy="2000551"/>
          </a:xfrm>
          <a:prstGeom prst="rect">
            <a:avLst/>
          </a:prstGeom>
          <a:solidFill>
            <a:srgbClr val="F4FAFC"/>
          </a:solidFill>
          <a:ln/>
        </p:spPr>
        <p:txBody>
          <a:bodyPr wrap="square" lIns="1016" tIns="1016" rIns="1016" bIns="101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 Mono" pitchFamily="34" charset="0"/>
                <a:ea typeface="Aptos Mono" pitchFamily="34" charset="-122"/>
                <a:cs typeface="Aptos Mono" pitchFamily="34" charset="-120"/>
              </a:rPr>
              <a:t>n_estimators = [100, 300]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max_depth = [None, 5, 10]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 Mono" pitchFamily="34" charset="0"/>
                <a:ea typeface="Aptos Mono" pitchFamily="34" charset="-122"/>
                <a:cs typeface="Aptos Mono" pitchFamily="34" charset="-120"/>
              </a:rPr>
              <a:t>min_samples_split = [2, 5]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 Mono" pitchFamily="34" charset="0"/>
                <a:ea typeface="Aptos Mono" pitchFamily="34" charset="-122"/>
                <a:cs typeface="Aptos Mono" pitchFamily="34" charset="-120"/>
              </a:rPr>
              <a:t>min_samples_leaf = [1, 2]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418663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8A68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XGBoost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1241" y="4432853"/>
            <a:ext cx="4013565" cy="1922226"/>
          </a:xfrm>
          <a:prstGeom prst="rect">
            <a:avLst/>
          </a:prstGeom>
          <a:solidFill>
            <a:srgbClr val="F8F5FC"/>
          </a:solidFill>
          <a:ln/>
        </p:spPr>
        <p:txBody>
          <a:bodyPr wrap="square" lIns="1016" tIns="1016" rIns="1016" bIns="101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 Mono" pitchFamily="34" charset="0"/>
                <a:ea typeface="Aptos Mono" pitchFamily="34" charset="-122"/>
                <a:cs typeface="Aptos Mono" pitchFamily="34" charset="-120"/>
              </a:rPr>
              <a:t>n_estimators = [100, 200]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 Mono" pitchFamily="34" charset="0"/>
                <a:ea typeface="Aptos Mono" pitchFamily="34" charset="-122"/>
                <a:cs typeface="Aptos Mono" pitchFamily="34" charset="-120"/>
              </a:rPr>
              <a:t>learning_rate = [0.05, 0.10]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max_depth = [3, 4, 5]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subsample = [0.8, 0.9]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colsample_bytree = [0.8, 0.9]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43952" y="1261313"/>
            <a:ext cx="3375336" cy="5073446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07280" y="140947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23B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How uncertainty is approximated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59127" y="1847823"/>
            <a:ext cx="3222387" cy="425741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Random Forest: use the spread across individual trees to form a 90% interval.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XGBoost: refit a small bootstrap ensemble and use the spread of those predictions.</a:t>
            </a:r>
            <a:endParaRPr lang="en-US" dirty="0">
              <a:solidFill>
                <a:srgbClr val="24343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Goal: teach the idea of prediction intervals, not claim full probabilistic calibration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24343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138160" y="1234440"/>
            <a:ext cx="361188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357616" y="14630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1" i="0" u="none" strike="noStrike" kern="1200" cap="none" spc="0" normalizeH="0" baseline="0" noProof="0" dirty="0">
                <a:ln>
                  <a:noFill/>
                </a:ln>
                <a:solidFill>
                  <a:srgbClr val="123B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Random Forest interval example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25" name="Image 0" descr="/mnt/data/lok_nb_assets/cell23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847823"/>
            <a:ext cx="3337560" cy="1653594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8138160" y="3977640"/>
            <a:ext cx="361188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8357616" y="42062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1" i="0" u="none" strike="noStrike" kern="1200" cap="none" spc="0" normalizeH="0" baseline="0" noProof="0" dirty="0">
                <a:ln>
                  <a:noFill/>
                </a:ln>
                <a:solidFill>
                  <a:srgbClr val="123B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XGBoost interval example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28" name="Image 1" descr="/mnt/data/lok_nb_assets/cell31_im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591023"/>
            <a:ext cx="3337560" cy="16535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1D1BEE7492B748AAA939E15478942A" ma:contentTypeVersion="3" ma:contentTypeDescription="Create a new document." ma:contentTypeScope="" ma:versionID="a3ae003b3bc9c2f933d329e11d0c3319">
  <xsd:schema xmlns:xsd="http://www.w3.org/2001/XMLSchema" xmlns:xs="http://www.w3.org/2001/XMLSchema" xmlns:p="http://schemas.microsoft.com/office/2006/metadata/properties" xmlns:ns2="f5820155-a73e-4bed-81ca-61e3abc3ae5c" targetNamespace="http://schemas.microsoft.com/office/2006/metadata/properties" ma:root="true" ma:fieldsID="7eb7418994d847370236082d77edc9a3" ns2:_="">
    <xsd:import namespace="f5820155-a73e-4bed-81ca-61e3abc3ae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820155-a73e-4bed-81ca-61e3abc3ae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0A0B597-B7F9-4AD2-9CE2-5BBFA216F955}"/>
</file>

<file path=customXml/itemProps2.xml><?xml version="1.0" encoding="utf-8"?>
<ds:datastoreItem xmlns:ds="http://schemas.openxmlformats.org/officeDocument/2006/customXml" ds:itemID="{8C52807E-AC6A-4D25-879B-84F8084EFD17}"/>
</file>

<file path=customXml/itemProps3.xml><?xml version="1.0" encoding="utf-8"?>
<ds:datastoreItem xmlns:ds="http://schemas.openxmlformats.org/officeDocument/2006/customXml" ds:itemID="{113BBA25-BA97-458C-926E-EA7E928A7284}"/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1641</Words>
  <Application>Microsoft Office PowerPoint</Application>
  <PresentationFormat>Widescreen</PresentationFormat>
  <Paragraphs>273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Aptos</vt:lpstr>
      <vt:lpstr>Aptos Display</vt:lpstr>
      <vt:lpstr>Aptos Mono</vt:lpstr>
      <vt:lpstr>Aptos Narrow</vt:lpstr>
      <vt:lpstr>Arial</vt:lpstr>
      <vt:lpstr>system-ui</vt:lpstr>
      <vt:lpstr>Office Theme</vt:lpstr>
      <vt:lpstr>1_Office Theme</vt:lpstr>
      <vt:lpstr>2_Office Theme</vt:lpstr>
      <vt:lpstr>1_Custom Design</vt:lpstr>
      <vt:lpstr>Custom Design</vt:lpstr>
      <vt:lpstr>3_Office Theme</vt:lpstr>
      <vt:lpstr>PowerPoint Presentation</vt:lpstr>
      <vt:lpstr>Dataset</vt:lpstr>
      <vt:lpstr>PowerPoint Presentation</vt:lpstr>
      <vt:lpstr>Other Topics Covered in the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Lake Okeechobee Notebook Process Flow</dc:title>
  <dc:subject>Process flow of attached notebook</dc:subject>
  <dc:creator>OpenAI</dc:creator>
  <cp:lastModifiedBy>Jayantha Obeysekera</cp:lastModifiedBy>
  <cp:revision>4</cp:revision>
  <dcterms:created xsi:type="dcterms:W3CDTF">2026-03-27T11:19:11Z</dcterms:created>
  <dcterms:modified xsi:type="dcterms:W3CDTF">2026-04-21T14:34:26Z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0x0101005E1D1BEE7492B748AAA939E15478942A</vt:lpwstr>
  </property>
</Properties>
</file>