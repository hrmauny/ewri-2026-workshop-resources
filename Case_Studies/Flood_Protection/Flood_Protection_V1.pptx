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3" r:id="rId3"/>
  </p:sldMasterIdLst>
  <p:notesMasterIdLst>
    <p:notesMasterId r:id="rId25"/>
  </p:notesMasterIdLst>
  <p:sldIdLst>
    <p:sldId id="256" r:id="rId4"/>
    <p:sldId id="257" r:id="rId5"/>
    <p:sldId id="265" r:id="rId6"/>
    <p:sldId id="266" r:id="rId7"/>
    <p:sldId id="267" r:id="rId8"/>
    <p:sldId id="268" r:id="rId9"/>
    <p:sldId id="270" r:id="rId10"/>
    <p:sldId id="271" r:id="rId11"/>
    <p:sldId id="282" r:id="rId12"/>
    <p:sldId id="276" r:id="rId13"/>
    <p:sldId id="258" r:id="rId14"/>
    <p:sldId id="259" r:id="rId15"/>
    <p:sldId id="277" r:id="rId16"/>
    <p:sldId id="262" r:id="rId17"/>
    <p:sldId id="263" r:id="rId18"/>
    <p:sldId id="264" r:id="rId19"/>
    <p:sldId id="275" r:id="rId20"/>
    <p:sldId id="278" r:id="rId21"/>
    <p:sldId id="279" r:id="rId22"/>
    <p:sldId id="280" r:id="rId23"/>
    <p:sldId id="281"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1987" y="4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33" Type="http://schemas.openxmlformats.org/officeDocument/2006/relationships/customXml" Target="../customXml/item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customXml" Target="../customXml/item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customXml" Target="../customXml/item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 Id="rId30" Type="http://schemas.microsoft.com/office/2016/11/relationships/changesInfo" Target="changesInfos/changesInfo1.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ntha Obeysekera" userId="746567d5-bca1-4cfe-9ff2-830dff7f142b" providerId="ADAL" clId="{0449B1CE-3603-4936-8D6C-FA466DF3740F}"/>
    <pc:docChg chg="undo custSel modSld">
      <pc:chgData name="Jayantha Obeysekera" userId="746567d5-bca1-4cfe-9ff2-830dff7f142b" providerId="ADAL" clId="{0449B1CE-3603-4936-8D6C-FA466DF3740F}" dt="2026-04-23T12:08:55.669" v="304" actId="1076"/>
      <pc:docMkLst>
        <pc:docMk/>
      </pc:docMkLst>
      <pc:sldChg chg="delSp modSp mod chgLayout">
        <pc:chgData name="Jayantha Obeysekera" userId="746567d5-bca1-4cfe-9ff2-830dff7f142b" providerId="ADAL" clId="{0449B1CE-3603-4936-8D6C-FA466DF3740F}" dt="2026-04-23T11:39:51.391" v="7" actId="14100"/>
        <pc:sldMkLst>
          <pc:docMk/>
          <pc:sldMk cId="0" sldId="256"/>
        </pc:sldMkLst>
        <pc:spChg chg="mod">
          <ac:chgData name="Jayantha Obeysekera" userId="746567d5-bca1-4cfe-9ff2-830dff7f142b" providerId="ADAL" clId="{0449B1CE-3603-4936-8D6C-FA466DF3740F}" dt="2026-04-23T11:22:52.860" v="4" actId="14100"/>
          <ac:spMkLst>
            <pc:docMk/>
            <pc:sldMk cId="0" sldId="256"/>
            <ac:spMk id="2" creationId="{00000000-0000-0000-0000-000000000000}"/>
          </ac:spMkLst>
        </pc:spChg>
        <pc:spChg chg="mod">
          <ac:chgData name="Jayantha Obeysekera" userId="746567d5-bca1-4cfe-9ff2-830dff7f142b" providerId="ADAL" clId="{0449B1CE-3603-4936-8D6C-FA466DF3740F}" dt="2026-04-23T11:22:59.602" v="5" actId="14100"/>
          <ac:spMkLst>
            <pc:docMk/>
            <pc:sldMk cId="0" sldId="256"/>
            <ac:spMk id="4" creationId="{00000000-0000-0000-0000-000000000000}"/>
          </ac:spMkLst>
        </pc:spChg>
        <pc:spChg chg="mod">
          <ac:chgData name="Jayantha Obeysekera" userId="746567d5-bca1-4cfe-9ff2-830dff7f142b" providerId="ADAL" clId="{0449B1CE-3603-4936-8D6C-FA466DF3740F}" dt="2026-04-23T11:23:11.826" v="6" actId="14100"/>
          <ac:spMkLst>
            <pc:docMk/>
            <pc:sldMk cId="0" sldId="256"/>
            <ac:spMk id="5" creationId="{00000000-0000-0000-0000-000000000000}"/>
          </ac:spMkLst>
        </pc:spChg>
        <pc:spChg chg="mod">
          <ac:chgData name="Jayantha Obeysekera" userId="746567d5-bca1-4cfe-9ff2-830dff7f142b" providerId="ADAL" clId="{0449B1CE-3603-4936-8D6C-FA466DF3740F}" dt="2026-04-23T11:39:51.391" v="7" actId="14100"/>
          <ac:spMkLst>
            <pc:docMk/>
            <pc:sldMk cId="0" sldId="256"/>
            <ac:spMk id="8" creationId="{00000000-0000-0000-0000-000000000000}"/>
          </ac:spMkLst>
        </pc:spChg>
        <pc:picChg chg="del">
          <ac:chgData name="Jayantha Obeysekera" userId="746567d5-bca1-4cfe-9ff2-830dff7f142b" providerId="ADAL" clId="{0449B1CE-3603-4936-8D6C-FA466DF3740F}" dt="2026-04-23T11:22:34.404" v="2" actId="478"/>
          <ac:picMkLst>
            <pc:docMk/>
            <pc:sldMk cId="0" sldId="256"/>
            <ac:picMk id="3" creationId="{00000000-0000-0000-0000-000000000000}"/>
          </ac:picMkLst>
        </pc:picChg>
      </pc:sldChg>
      <pc:sldChg chg="modSp mod">
        <pc:chgData name="Jayantha Obeysekera" userId="746567d5-bca1-4cfe-9ff2-830dff7f142b" providerId="ADAL" clId="{0449B1CE-3603-4936-8D6C-FA466DF3740F}" dt="2026-04-23T11:42:52.738" v="47" actId="207"/>
        <pc:sldMkLst>
          <pc:docMk/>
          <pc:sldMk cId="0" sldId="257"/>
        </pc:sldMkLst>
        <pc:spChg chg="mod ord">
          <ac:chgData name="Jayantha Obeysekera" userId="746567d5-bca1-4cfe-9ff2-830dff7f142b" providerId="ADAL" clId="{0449B1CE-3603-4936-8D6C-FA466DF3740F}" dt="2026-04-23T11:41:24.767" v="35" actId="207"/>
          <ac:spMkLst>
            <pc:docMk/>
            <pc:sldMk cId="0" sldId="257"/>
            <ac:spMk id="4" creationId="{00000000-0000-0000-0000-000000000000}"/>
          </ac:spMkLst>
        </pc:spChg>
        <pc:spChg chg="mod">
          <ac:chgData name="Jayantha Obeysekera" userId="746567d5-bca1-4cfe-9ff2-830dff7f142b" providerId="ADAL" clId="{0449B1CE-3603-4936-8D6C-FA466DF3740F}" dt="2026-04-23T11:41:43.563" v="38" actId="14100"/>
          <ac:spMkLst>
            <pc:docMk/>
            <pc:sldMk cId="0" sldId="257"/>
            <ac:spMk id="7" creationId="{00000000-0000-0000-0000-000000000000}"/>
          </ac:spMkLst>
        </pc:spChg>
        <pc:spChg chg="mod">
          <ac:chgData name="Jayantha Obeysekera" userId="746567d5-bca1-4cfe-9ff2-830dff7f142b" providerId="ADAL" clId="{0449B1CE-3603-4936-8D6C-FA466DF3740F}" dt="2026-04-23T11:41:37.255" v="37" actId="14100"/>
          <ac:spMkLst>
            <pc:docMk/>
            <pc:sldMk cId="0" sldId="257"/>
            <ac:spMk id="8" creationId="{00000000-0000-0000-0000-000000000000}"/>
          </ac:spMkLst>
        </pc:spChg>
        <pc:spChg chg="mod">
          <ac:chgData name="Jayantha Obeysekera" userId="746567d5-bca1-4cfe-9ff2-830dff7f142b" providerId="ADAL" clId="{0449B1CE-3603-4936-8D6C-FA466DF3740F}" dt="2026-04-23T11:42:52.738" v="47" actId="207"/>
          <ac:spMkLst>
            <pc:docMk/>
            <pc:sldMk cId="0" sldId="257"/>
            <ac:spMk id="9" creationId="{00000000-0000-0000-0000-000000000000}"/>
          </ac:spMkLst>
        </pc:spChg>
        <pc:spChg chg="mod">
          <ac:chgData name="Jayantha Obeysekera" userId="746567d5-bca1-4cfe-9ff2-830dff7f142b" providerId="ADAL" clId="{0449B1CE-3603-4936-8D6C-FA466DF3740F}" dt="2026-04-23T11:42:13.294" v="45" actId="207"/>
          <ac:spMkLst>
            <pc:docMk/>
            <pc:sldMk cId="0" sldId="257"/>
            <ac:spMk id="10" creationId="{00000000-0000-0000-0000-000000000000}"/>
          </ac:spMkLst>
        </pc:spChg>
        <pc:picChg chg="mod ord">
          <ac:chgData name="Jayantha Obeysekera" userId="746567d5-bca1-4cfe-9ff2-830dff7f142b" providerId="ADAL" clId="{0449B1CE-3603-4936-8D6C-FA466DF3740F}" dt="2026-04-23T11:40:38.517" v="28" actId="167"/>
          <ac:picMkLst>
            <pc:docMk/>
            <pc:sldMk cId="0" sldId="257"/>
            <ac:picMk id="5" creationId="{00000000-0000-0000-0000-000000000000}"/>
          </ac:picMkLst>
        </pc:picChg>
      </pc:sldChg>
      <pc:sldChg chg="modSp mod">
        <pc:chgData name="Jayantha Obeysekera" userId="746567d5-bca1-4cfe-9ff2-830dff7f142b" providerId="ADAL" clId="{0449B1CE-3603-4936-8D6C-FA466DF3740F}" dt="2026-04-23T11:48:47.285" v="83" actId="207"/>
        <pc:sldMkLst>
          <pc:docMk/>
          <pc:sldMk cId="0" sldId="258"/>
        </pc:sldMkLst>
        <pc:spChg chg="mod">
          <ac:chgData name="Jayantha Obeysekera" userId="746567d5-bca1-4cfe-9ff2-830dff7f142b" providerId="ADAL" clId="{0449B1CE-3603-4936-8D6C-FA466DF3740F}" dt="2026-04-23T11:47:29.034" v="73" actId="1076"/>
          <ac:spMkLst>
            <pc:docMk/>
            <pc:sldMk cId="0" sldId="258"/>
            <ac:spMk id="3" creationId="{00000000-0000-0000-0000-000000000000}"/>
          </ac:spMkLst>
        </pc:spChg>
        <pc:spChg chg="mod">
          <ac:chgData name="Jayantha Obeysekera" userId="746567d5-bca1-4cfe-9ff2-830dff7f142b" providerId="ADAL" clId="{0449B1CE-3603-4936-8D6C-FA466DF3740F}" dt="2026-04-23T11:48:18.413" v="78" actId="1076"/>
          <ac:spMkLst>
            <pc:docMk/>
            <pc:sldMk cId="0" sldId="258"/>
            <ac:spMk id="7" creationId="{00000000-0000-0000-0000-000000000000}"/>
          </ac:spMkLst>
        </pc:spChg>
        <pc:spChg chg="mod">
          <ac:chgData name="Jayantha Obeysekera" userId="746567d5-bca1-4cfe-9ff2-830dff7f142b" providerId="ADAL" clId="{0449B1CE-3603-4936-8D6C-FA466DF3740F}" dt="2026-04-23T11:48:30.782" v="81" actId="14100"/>
          <ac:spMkLst>
            <pc:docMk/>
            <pc:sldMk cId="0" sldId="258"/>
            <ac:spMk id="8" creationId="{00000000-0000-0000-0000-000000000000}"/>
          </ac:spMkLst>
        </pc:spChg>
        <pc:spChg chg="mod">
          <ac:chgData name="Jayantha Obeysekera" userId="746567d5-bca1-4cfe-9ff2-830dff7f142b" providerId="ADAL" clId="{0449B1CE-3603-4936-8D6C-FA466DF3740F}" dt="2026-04-23T11:48:23.145" v="79" actId="1076"/>
          <ac:spMkLst>
            <pc:docMk/>
            <pc:sldMk cId="0" sldId="258"/>
            <ac:spMk id="9" creationId="{00000000-0000-0000-0000-000000000000}"/>
          </ac:spMkLst>
        </pc:spChg>
        <pc:spChg chg="mod">
          <ac:chgData name="Jayantha Obeysekera" userId="746567d5-bca1-4cfe-9ff2-830dff7f142b" providerId="ADAL" clId="{0449B1CE-3603-4936-8D6C-FA466DF3740F}" dt="2026-04-23T11:48:47.285" v="83" actId="207"/>
          <ac:spMkLst>
            <pc:docMk/>
            <pc:sldMk cId="0" sldId="258"/>
            <ac:spMk id="11" creationId="{00000000-0000-0000-0000-000000000000}"/>
          </ac:spMkLst>
        </pc:spChg>
        <pc:picChg chg="mod">
          <ac:chgData name="Jayantha Obeysekera" userId="746567d5-bca1-4cfe-9ff2-830dff7f142b" providerId="ADAL" clId="{0449B1CE-3603-4936-8D6C-FA466DF3740F}" dt="2026-04-23T11:47:26.166" v="72" actId="1076"/>
          <ac:picMkLst>
            <pc:docMk/>
            <pc:sldMk cId="0" sldId="258"/>
            <ac:picMk id="4" creationId="{00000000-0000-0000-0000-000000000000}"/>
          </ac:picMkLst>
        </pc:picChg>
      </pc:sldChg>
      <pc:sldChg chg="modSp mod">
        <pc:chgData name="Jayantha Obeysekera" userId="746567d5-bca1-4cfe-9ff2-830dff7f142b" providerId="ADAL" clId="{0449B1CE-3603-4936-8D6C-FA466DF3740F}" dt="2026-04-23T11:51:05.474" v="102" actId="27636"/>
        <pc:sldMkLst>
          <pc:docMk/>
          <pc:sldMk cId="0" sldId="259"/>
        </pc:sldMkLst>
        <pc:spChg chg="mod">
          <ac:chgData name="Jayantha Obeysekera" userId="746567d5-bca1-4cfe-9ff2-830dff7f142b" providerId="ADAL" clId="{0449B1CE-3603-4936-8D6C-FA466DF3740F}" dt="2026-04-23T11:50:14.622" v="96" actId="1076"/>
          <ac:spMkLst>
            <pc:docMk/>
            <pc:sldMk cId="0" sldId="259"/>
            <ac:spMk id="4" creationId="{00000000-0000-0000-0000-000000000000}"/>
          </ac:spMkLst>
        </pc:spChg>
        <pc:spChg chg="mod">
          <ac:chgData name="Jayantha Obeysekera" userId="746567d5-bca1-4cfe-9ff2-830dff7f142b" providerId="ADAL" clId="{0449B1CE-3603-4936-8D6C-FA466DF3740F}" dt="2026-04-23T11:50:14.622" v="96" actId="1076"/>
          <ac:spMkLst>
            <pc:docMk/>
            <pc:sldMk cId="0" sldId="259"/>
            <ac:spMk id="5" creationId="{00000000-0000-0000-0000-000000000000}"/>
          </ac:spMkLst>
        </pc:spChg>
        <pc:spChg chg="mod">
          <ac:chgData name="Jayantha Obeysekera" userId="746567d5-bca1-4cfe-9ff2-830dff7f142b" providerId="ADAL" clId="{0449B1CE-3603-4936-8D6C-FA466DF3740F}" dt="2026-04-23T11:50:35.133" v="99" actId="207"/>
          <ac:spMkLst>
            <pc:docMk/>
            <pc:sldMk cId="0" sldId="259"/>
            <ac:spMk id="6" creationId="{00000000-0000-0000-0000-000000000000}"/>
          </ac:spMkLst>
        </pc:spChg>
        <pc:spChg chg="mod">
          <ac:chgData name="Jayantha Obeysekera" userId="746567d5-bca1-4cfe-9ff2-830dff7f142b" providerId="ADAL" clId="{0449B1CE-3603-4936-8D6C-FA466DF3740F}" dt="2026-04-23T11:50:29.987" v="98" actId="207"/>
          <ac:spMkLst>
            <pc:docMk/>
            <pc:sldMk cId="0" sldId="259"/>
            <ac:spMk id="7" creationId="{00000000-0000-0000-0000-000000000000}"/>
          </ac:spMkLst>
        </pc:spChg>
        <pc:spChg chg="mod">
          <ac:chgData name="Jayantha Obeysekera" userId="746567d5-bca1-4cfe-9ff2-830dff7f142b" providerId="ADAL" clId="{0449B1CE-3603-4936-8D6C-FA466DF3740F}" dt="2026-04-23T11:51:05.474" v="102" actId="27636"/>
          <ac:spMkLst>
            <pc:docMk/>
            <pc:sldMk cId="0" sldId="259"/>
            <ac:spMk id="10" creationId="{00000000-0000-0000-0000-000000000000}"/>
          </ac:spMkLst>
        </pc:spChg>
      </pc:sldChg>
      <pc:sldChg chg="modSp mod">
        <pc:chgData name="Jayantha Obeysekera" userId="746567d5-bca1-4cfe-9ff2-830dff7f142b" providerId="ADAL" clId="{0449B1CE-3603-4936-8D6C-FA466DF3740F}" dt="2026-04-23T11:56:21.009" v="163" actId="1076"/>
        <pc:sldMkLst>
          <pc:docMk/>
          <pc:sldMk cId="0" sldId="262"/>
        </pc:sldMkLst>
        <pc:spChg chg="mod">
          <ac:chgData name="Jayantha Obeysekera" userId="746567d5-bca1-4cfe-9ff2-830dff7f142b" providerId="ADAL" clId="{0449B1CE-3603-4936-8D6C-FA466DF3740F}" dt="2026-04-23T11:56:21.009" v="163" actId="1076"/>
          <ac:spMkLst>
            <pc:docMk/>
            <pc:sldMk cId="0" sldId="262"/>
            <ac:spMk id="4" creationId="{00000000-0000-0000-0000-000000000000}"/>
          </ac:spMkLst>
        </pc:spChg>
      </pc:sldChg>
      <pc:sldChg chg="modSp mod">
        <pc:chgData name="Jayantha Obeysekera" userId="746567d5-bca1-4cfe-9ff2-830dff7f142b" providerId="ADAL" clId="{0449B1CE-3603-4936-8D6C-FA466DF3740F}" dt="2026-04-23T11:57:45.478" v="176" actId="207"/>
        <pc:sldMkLst>
          <pc:docMk/>
          <pc:sldMk cId="0" sldId="264"/>
        </pc:sldMkLst>
        <pc:spChg chg="mod">
          <ac:chgData name="Jayantha Obeysekera" userId="746567d5-bca1-4cfe-9ff2-830dff7f142b" providerId="ADAL" clId="{0449B1CE-3603-4936-8D6C-FA466DF3740F}" dt="2026-04-23T11:57:45.478" v="176" actId="207"/>
          <ac:spMkLst>
            <pc:docMk/>
            <pc:sldMk cId="0" sldId="264"/>
            <ac:spMk id="7" creationId="{00000000-0000-0000-0000-000000000000}"/>
          </ac:spMkLst>
        </pc:spChg>
        <pc:spChg chg="mod">
          <ac:chgData name="Jayantha Obeysekera" userId="746567d5-bca1-4cfe-9ff2-830dff7f142b" providerId="ADAL" clId="{0449B1CE-3603-4936-8D6C-FA466DF3740F}" dt="2026-04-23T11:57:41.381" v="175" actId="207"/>
          <ac:spMkLst>
            <pc:docMk/>
            <pc:sldMk cId="0" sldId="264"/>
            <ac:spMk id="8" creationId="{00000000-0000-0000-0000-000000000000}"/>
          </ac:spMkLst>
        </pc:spChg>
      </pc:sldChg>
      <pc:sldChg chg="modSp mod">
        <pc:chgData name="Jayantha Obeysekera" userId="746567d5-bca1-4cfe-9ff2-830dff7f142b" providerId="ADAL" clId="{0449B1CE-3603-4936-8D6C-FA466DF3740F}" dt="2026-04-23T11:44:27.856" v="50" actId="20577"/>
        <pc:sldMkLst>
          <pc:docMk/>
          <pc:sldMk cId="0" sldId="265"/>
        </pc:sldMkLst>
        <pc:spChg chg="mod">
          <ac:chgData name="Jayantha Obeysekera" userId="746567d5-bca1-4cfe-9ff2-830dff7f142b" providerId="ADAL" clId="{0449B1CE-3603-4936-8D6C-FA466DF3740F}" dt="2026-04-23T11:44:27.856" v="50" actId="20577"/>
          <ac:spMkLst>
            <pc:docMk/>
            <pc:sldMk cId="0" sldId="265"/>
            <ac:spMk id="36" creationId="{ADC62AE2-446B-AE8A-5530-67F69C24B7CB}"/>
          </ac:spMkLst>
        </pc:spChg>
      </pc:sldChg>
      <pc:sldChg chg="delSp mod">
        <pc:chgData name="Jayantha Obeysekera" userId="746567d5-bca1-4cfe-9ff2-830dff7f142b" providerId="ADAL" clId="{0449B1CE-3603-4936-8D6C-FA466DF3740F}" dt="2026-04-23T11:43:58.486" v="48" actId="478"/>
        <pc:sldMkLst>
          <pc:docMk/>
          <pc:sldMk cId="0" sldId="266"/>
        </pc:sldMkLst>
        <pc:spChg chg="del">
          <ac:chgData name="Jayantha Obeysekera" userId="746567d5-bca1-4cfe-9ff2-830dff7f142b" providerId="ADAL" clId="{0449B1CE-3603-4936-8D6C-FA466DF3740F}" dt="2026-04-23T11:43:58.486" v="48" actId="478"/>
          <ac:spMkLst>
            <pc:docMk/>
            <pc:sldMk cId="0" sldId="266"/>
            <ac:spMk id="3" creationId="{00000000-0000-0000-0000-000000000000}"/>
          </ac:spMkLst>
        </pc:spChg>
      </pc:sldChg>
      <pc:sldChg chg="modSp mod">
        <pc:chgData name="Jayantha Obeysekera" userId="746567d5-bca1-4cfe-9ff2-830dff7f142b" providerId="ADAL" clId="{0449B1CE-3603-4936-8D6C-FA466DF3740F}" dt="2026-04-23T11:45:06.887" v="53" actId="255"/>
        <pc:sldMkLst>
          <pc:docMk/>
          <pc:sldMk cId="0" sldId="267"/>
        </pc:sldMkLst>
        <pc:spChg chg="mod">
          <ac:chgData name="Jayantha Obeysekera" userId="746567d5-bca1-4cfe-9ff2-830dff7f142b" providerId="ADAL" clId="{0449B1CE-3603-4936-8D6C-FA466DF3740F}" dt="2026-04-23T11:45:06.887" v="53" actId="255"/>
          <ac:spMkLst>
            <pc:docMk/>
            <pc:sldMk cId="0" sldId="267"/>
            <ac:spMk id="2" creationId="{00000000-0000-0000-0000-000000000000}"/>
          </ac:spMkLst>
        </pc:spChg>
      </pc:sldChg>
      <pc:sldChg chg="modSp mod">
        <pc:chgData name="Jayantha Obeysekera" userId="746567d5-bca1-4cfe-9ff2-830dff7f142b" providerId="ADAL" clId="{0449B1CE-3603-4936-8D6C-FA466DF3740F}" dt="2026-04-23T11:45:32.950" v="56" actId="255"/>
        <pc:sldMkLst>
          <pc:docMk/>
          <pc:sldMk cId="0" sldId="270"/>
        </pc:sldMkLst>
        <pc:spChg chg="mod">
          <ac:chgData name="Jayantha Obeysekera" userId="746567d5-bca1-4cfe-9ff2-830dff7f142b" providerId="ADAL" clId="{0449B1CE-3603-4936-8D6C-FA466DF3740F}" dt="2026-04-23T11:45:32.950" v="56" actId="255"/>
          <ac:spMkLst>
            <pc:docMk/>
            <pc:sldMk cId="0" sldId="270"/>
            <ac:spMk id="2" creationId="{00000000-0000-0000-0000-000000000000}"/>
          </ac:spMkLst>
        </pc:spChg>
      </pc:sldChg>
      <pc:sldChg chg="modSp mod">
        <pc:chgData name="Jayantha Obeysekera" userId="746567d5-bca1-4cfe-9ff2-830dff7f142b" providerId="ADAL" clId="{0449B1CE-3603-4936-8D6C-FA466DF3740F}" dt="2026-04-23T12:01:55.195" v="242" actId="14100"/>
        <pc:sldMkLst>
          <pc:docMk/>
          <pc:sldMk cId="0" sldId="275"/>
        </pc:sldMkLst>
        <pc:spChg chg="mod">
          <ac:chgData name="Jayantha Obeysekera" userId="746567d5-bca1-4cfe-9ff2-830dff7f142b" providerId="ADAL" clId="{0449B1CE-3603-4936-8D6C-FA466DF3740F}" dt="2026-04-23T11:58:38.504" v="201" actId="20577"/>
          <ac:spMkLst>
            <pc:docMk/>
            <pc:sldMk cId="0" sldId="275"/>
            <ac:spMk id="2" creationId="{00000000-0000-0000-0000-000000000000}"/>
          </ac:spMkLst>
        </pc:spChg>
        <pc:spChg chg="mod">
          <ac:chgData name="Jayantha Obeysekera" userId="746567d5-bca1-4cfe-9ff2-830dff7f142b" providerId="ADAL" clId="{0449B1CE-3603-4936-8D6C-FA466DF3740F}" dt="2026-04-23T12:00:36.246" v="227" actId="255"/>
          <ac:spMkLst>
            <pc:docMk/>
            <pc:sldMk cId="0" sldId="275"/>
            <ac:spMk id="3" creationId="{00000000-0000-0000-0000-000000000000}"/>
          </ac:spMkLst>
        </pc:spChg>
        <pc:spChg chg="mod">
          <ac:chgData name="Jayantha Obeysekera" userId="746567d5-bca1-4cfe-9ff2-830dff7f142b" providerId="ADAL" clId="{0449B1CE-3603-4936-8D6C-FA466DF3740F}" dt="2026-04-23T12:00:01.946" v="219" actId="14100"/>
          <ac:spMkLst>
            <pc:docMk/>
            <pc:sldMk cId="0" sldId="275"/>
            <ac:spMk id="4" creationId="{00000000-0000-0000-0000-000000000000}"/>
          </ac:spMkLst>
        </pc:spChg>
        <pc:spChg chg="mod">
          <ac:chgData name="Jayantha Obeysekera" userId="746567d5-bca1-4cfe-9ff2-830dff7f142b" providerId="ADAL" clId="{0449B1CE-3603-4936-8D6C-FA466DF3740F}" dt="2026-04-23T12:00:06.513" v="220" actId="1076"/>
          <ac:spMkLst>
            <pc:docMk/>
            <pc:sldMk cId="0" sldId="275"/>
            <ac:spMk id="5" creationId="{00000000-0000-0000-0000-000000000000}"/>
          </ac:spMkLst>
        </pc:spChg>
        <pc:spChg chg="mod">
          <ac:chgData name="Jayantha Obeysekera" userId="746567d5-bca1-4cfe-9ff2-830dff7f142b" providerId="ADAL" clId="{0449B1CE-3603-4936-8D6C-FA466DF3740F}" dt="2026-04-23T12:00:25.053" v="226" actId="1076"/>
          <ac:spMkLst>
            <pc:docMk/>
            <pc:sldMk cId="0" sldId="275"/>
            <ac:spMk id="6" creationId="{00000000-0000-0000-0000-000000000000}"/>
          </ac:spMkLst>
        </pc:spChg>
        <pc:spChg chg="mod">
          <ac:chgData name="Jayantha Obeysekera" userId="746567d5-bca1-4cfe-9ff2-830dff7f142b" providerId="ADAL" clId="{0449B1CE-3603-4936-8D6C-FA466DF3740F}" dt="2026-04-23T11:59:35.006" v="212" actId="14100"/>
          <ac:spMkLst>
            <pc:docMk/>
            <pc:sldMk cId="0" sldId="275"/>
            <ac:spMk id="7" creationId="{00000000-0000-0000-0000-000000000000}"/>
          </ac:spMkLst>
        </pc:spChg>
        <pc:spChg chg="mod">
          <ac:chgData name="Jayantha Obeysekera" userId="746567d5-bca1-4cfe-9ff2-830dff7f142b" providerId="ADAL" clId="{0449B1CE-3603-4936-8D6C-FA466DF3740F}" dt="2026-04-23T11:59:56.350" v="218" actId="14100"/>
          <ac:spMkLst>
            <pc:docMk/>
            <pc:sldMk cId="0" sldId="275"/>
            <ac:spMk id="8" creationId="{00000000-0000-0000-0000-000000000000}"/>
          </ac:spMkLst>
        </pc:spChg>
        <pc:spChg chg="mod">
          <ac:chgData name="Jayantha Obeysekera" userId="746567d5-bca1-4cfe-9ff2-830dff7f142b" providerId="ADAL" clId="{0449B1CE-3603-4936-8D6C-FA466DF3740F}" dt="2026-04-23T11:59:45.528" v="215" actId="1076"/>
          <ac:spMkLst>
            <pc:docMk/>
            <pc:sldMk cId="0" sldId="275"/>
            <ac:spMk id="9" creationId="{00000000-0000-0000-0000-000000000000}"/>
          </ac:spMkLst>
        </pc:spChg>
        <pc:spChg chg="mod">
          <ac:chgData name="Jayantha Obeysekera" userId="746567d5-bca1-4cfe-9ff2-830dff7f142b" providerId="ADAL" clId="{0449B1CE-3603-4936-8D6C-FA466DF3740F}" dt="2026-04-23T11:59:07.601" v="207" actId="14100"/>
          <ac:spMkLst>
            <pc:docMk/>
            <pc:sldMk cId="0" sldId="275"/>
            <ac:spMk id="10" creationId="{00000000-0000-0000-0000-000000000000}"/>
          </ac:spMkLst>
        </pc:spChg>
        <pc:spChg chg="mod">
          <ac:chgData name="Jayantha Obeysekera" userId="746567d5-bca1-4cfe-9ff2-830dff7f142b" providerId="ADAL" clId="{0449B1CE-3603-4936-8D6C-FA466DF3740F}" dt="2026-04-23T11:59:18.594" v="209" actId="255"/>
          <ac:spMkLst>
            <pc:docMk/>
            <pc:sldMk cId="0" sldId="275"/>
            <ac:spMk id="11" creationId="{00000000-0000-0000-0000-000000000000}"/>
          </ac:spMkLst>
        </pc:spChg>
        <pc:spChg chg="mod">
          <ac:chgData name="Jayantha Obeysekera" userId="746567d5-bca1-4cfe-9ff2-830dff7f142b" providerId="ADAL" clId="{0449B1CE-3603-4936-8D6C-FA466DF3740F}" dt="2026-04-23T11:59:04.132" v="206" actId="255"/>
          <ac:spMkLst>
            <pc:docMk/>
            <pc:sldMk cId="0" sldId="275"/>
            <ac:spMk id="12" creationId="{00000000-0000-0000-0000-000000000000}"/>
          </ac:spMkLst>
        </pc:spChg>
        <pc:spChg chg="mod">
          <ac:chgData name="Jayantha Obeysekera" userId="746567d5-bca1-4cfe-9ff2-830dff7f142b" providerId="ADAL" clId="{0449B1CE-3603-4936-8D6C-FA466DF3740F}" dt="2026-04-23T12:01:55.195" v="242" actId="14100"/>
          <ac:spMkLst>
            <pc:docMk/>
            <pc:sldMk cId="0" sldId="275"/>
            <ac:spMk id="14" creationId="{00000000-0000-0000-0000-000000000000}"/>
          </ac:spMkLst>
        </pc:spChg>
        <pc:spChg chg="mod">
          <ac:chgData name="Jayantha Obeysekera" userId="746567d5-bca1-4cfe-9ff2-830dff7f142b" providerId="ADAL" clId="{0449B1CE-3603-4936-8D6C-FA466DF3740F}" dt="2026-04-23T12:00:54.694" v="230" actId="14100"/>
          <ac:spMkLst>
            <pc:docMk/>
            <pc:sldMk cId="0" sldId="275"/>
            <ac:spMk id="15" creationId="{00000000-0000-0000-0000-000000000000}"/>
          </ac:spMkLst>
        </pc:spChg>
        <pc:spChg chg="mod">
          <ac:chgData name="Jayantha Obeysekera" userId="746567d5-bca1-4cfe-9ff2-830dff7f142b" providerId="ADAL" clId="{0449B1CE-3603-4936-8D6C-FA466DF3740F}" dt="2026-04-23T12:00:54.694" v="230" actId="14100"/>
          <ac:spMkLst>
            <pc:docMk/>
            <pc:sldMk cId="0" sldId="275"/>
            <ac:spMk id="16" creationId="{00000000-0000-0000-0000-000000000000}"/>
          </ac:spMkLst>
        </pc:spChg>
        <pc:spChg chg="mod">
          <ac:chgData name="Jayantha Obeysekera" userId="746567d5-bca1-4cfe-9ff2-830dff7f142b" providerId="ADAL" clId="{0449B1CE-3603-4936-8D6C-FA466DF3740F}" dt="2026-04-23T12:01:49.969" v="241" actId="14100"/>
          <ac:spMkLst>
            <pc:docMk/>
            <pc:sldMk cId="0" sldId="275"/>
            <ac:spMk id="19" creationId="{00000000-0000-0000-0000-000000000000}"/>
          </ac:spMkLst>
        </pc:spChg>
        <pc:spChg chg="mod">
          <ac:chgData name="Jayantha Obeysekera" userId="746567d5-bca1-4cfe-9ff2-830dff7f142b" providerId="ADAL" clId="{0449B1CE-3603-4936-8D6C-FA466DF3740F}" dt="2026-04-23T12:01:05.990" v="232" actId="1076"/>
          <ac:spMkLst>
            <pc:docMk/>
            <pc:sldMk cId="0" sldId="275"/>
            <ac:spMk id="20" creationId="{00000000-0000-0000-0000-000000000000}"/>
          </ac:spMkLst>
        </pc:spChg>
        <pc:spChg chg="mod">
          <ac:chgData name="Jayantha Obeysekera" userId="746567d5-bca1-4cfe-9ff2-830dff7f142b" providerId="ADAL" clId="{0449B1CE-3603-4936-8D6C-FA466DF3740F}" dt="2026-04-23T12:01:17.710" v="234" actId="1076"/>
          <ac:spMkLst>
            <pc:docMk/>
            <pc:sldMk cId="0" sldId="275"/>
            <ac:spMk id="21" creationId="{00000000-0000-0000-0000-000000000000}"/>
          </ac:spMkLst>
        </pc:spChg>
        <pc:spChg chg="mod">
          <ac:chgData name="Jayantha Obeysekera" userId="746567d5-bca1-4cfe-9ff2-830dff7f142b" providerId="ADAL" clId="{0449B1CE-3603-4936-8D6C-FA466DF3740F}" dt="2026-04-23T12:01:21.994" v="235" actId="14100"/>
          <ac:spMkLst>
            <pc:docMk/>
            <pc:sldMk cId="0" sldId="275"/>
            <ac:spMk id="22" creationId="{00000000-0000-0000-0000-000000000000}"/>
          </ac:spMkLst>
        </pc:spChg>
        <pc:spChg chg="mod">
          <ac:chgData name="Jayantha Obeysekera" userId="746567d5-bca1-4cfe-9ff2-830dff7f142b" providerId="ADAL" clId="{0449B1CE-3603-4936-8D6C-FA466DF3740F}" dt="2026-04-23T12:01:28.340" v="236" actId="14100"/>
          <ac:spMkLst>
            <pc:docMk/>
            <pc:sldMk cId="0" sldId="275"/>
            <ac:spMk id="23" creationId="{00000000-0000-0000-0000-000000000000}"/>
          </ac:spMkLst>
        </pc:spChg>
        <pc:spChg chg="mod">
          <ac:chgData name="Jayantha Obeysekera" userId="746567d5-bca1-4cfe-9ff2-830dff7f142b" providerId="ADAL" clId="{0449B1CE-3603-4936-8D6C-FA466DF3740F}" dt="2026-04-23T12:01:32.028" v="237" actId="14100"/>
          <ac:spMkLst>
            <pc:docMk/>
            <pc:sldMk cId="0" sldId="275"/>
            <ac:spMk id="24" creationId="{00000000-0000-0000-0000-000000000000}"/>
          </ac:spMkLst>
        </pc:spChg>
        <pc:spChg chg="mod">
          <ac:chgData name="Jayantha Obeysekera" userId="746567d5-bca1-4cfe-9ff2-830dff7f142b" providerId="ADAL" clId="{0449B1CE-3603-4936-8D6C-FA466DF3740F}" dt="2026-04-23T12:01:44.898" v="240" actId="14100"/>
          <ac:spMkLst>
            <pc:docMk/>
            <pc:sldMk cId="0" sldId="275"/>
            <ac:spMk id="25" creationId="{00000000-0000-0000-0000-000000000000}"/>
          </ac:spMkLst>
        </pc:spChg>
        <pc:spChg chg="mod">
          <ac:chgData name="Jayantha Obeysekera" userId="746567d5-bca1-4cfe-9ff2-830dff7f142b" providerId="ADAL" clId="{0449B1CE-3603-4936-8D6C-FA466DF3740F}" dt="2026-04-23T12:01:37.669" v="238" actId="1076"/>
          <ac:spMkLst>
            <pc:docMk/>
            <pc:sldMk cId="0" sldId="275"/>
            <ac:spMk id="26" creationId="{00000000-0000-0000-0000-000000000000}"/>
          </ac:spMkLst>
        </pc:spChg>
      </pc:sldChg>
      <pc:sldChg chg="modSp mod">
        <pc:chgData name="Jayantha Obeysekera" userId="746567d5-bca1-4cfe-9ff2-830dff7f142b" providerId="ADAL" clId="{0449B1CE-3603-4936-8D6C-FA466DF3740F}" dt="2026-04-23T11:47:04.202" v="68" actId="255"/>
        <pc:sldMkLst>
          <pc:docMk/>
          <pc:sldMk cId="0" sldId="276"/>
        </pc:sldMkLst>
        <pc:spChg chg="mod">
          <ac:chgData name="Jayantha Obeysekera" userId="746567d5-bca1-4cfe-9ff2-830dff7f142b" providerId="ADAL" clId="{0449B1CE-3603-4936-8D6C-FA466DF3740F}" dt="2026-04-23T11:46:05.322" v="57" actId="255"/>
          <ac:spMkLst>
            <pc:docMk/>
            <pc:sldMk cId="0" sldId="276"/>
            <ac:spMk id="2" creationId="{00000000-0000-0000-0000-000000000000}"/>
          </ac:spMkLst>
        </pc:spChg>
        <pc:spChg chg="mod">
          <ac:chgData name="Jayantha Obeysekera" userId="746567d5-bca1-4cfe-9ff2-830dff7f142b" providerId="ADAL" clId="{0449B1CE-3603-4936-8D6C-FA466DF3740F}" dt="2026-04-23T11:46:22.978" v="61" actId="207"/>
          <ac:spMkLst>
            <pc:docMk/>
            <pc:sldMk cId="0" sldId="276"/>
            <ac:spMk id="3" creationId="{00000000-0000-0000-0000-000000000000}"/>
          </ac:spMkLst>
        </pc:spChg>
        <pc:spChg chg="mod">
          <ac:chgData name="Jayantha Obeysekera" userId="746567d5-bca1-4cfe-9ff2-830dff7f142b" providerId="ADAL" clId="{0449B1CE-3603-4936-8D6C-FA466DF3740F}" dt="2026-04-23T11:47:04.202" v="68" actId="255"/>
          <ac:spMkLst>
            <pc:docMk/>
            <pc:sldMk cId="0" sldId="276"/>
            <ac:spMk id="6" creationId="{00000000-0000-0000-0000-000000000000}"/>
          </ac:spMkLst>
        </pc:spChg>
        <pc:spChg chg="mod">
          <ac:chgData name="Jayantha Obeysekera" userId="746567d5-bca1-4cfe-9ff2-830dff7f142b" providerId="ADAL" clId="{0449B1CE-3603-4936-8D6C-FA466DF3740F}" dt="2026-04-23T11:46:32.451" v="62" actId="255"/>
          <ac:spMkLst>
            <pc:docMk/>
            <pc:sldMk cId="0" sldId="276"/>
            <ac:spMk id="7" creationId="{00000000-0000-0000-0000-000000000000}"/>
          </ac:spMkLst>
        </pc:spChg>
        <pc:spChg chg="mod">
          <ac:chgData name="Jayantha Obeysekera" userId="746567d5-bca1-4cfe-9ff2-830dff7f142b" providerId="ADAL" clId="{0449B1CE-3603-4936-8D6C-FA466DF3740F}" dt="2026-04-23T11:46:48.441" v="65" actId="1076"/>
          <ac:spMkLst>
            <pc:docMk/>
            <pc:sldMk cId="0" sldId="276"/>
            <ac:spMk id="8" creationId="{00000000-0000-0000-0000-000000000000}"/>
          </ac:spMkLst>
        </pc:spChg>
        <pc:spChg chg="mod">
          <ac:chgData name="Jayantha Obeysekera" userId="746567d5-bca1-4cfe-9ff2-830dff7f142b" providerId="ADAL" clId="{0449B1CE-3603-4936-8D6C-FA466DF3740F}" dt="2026-04-23T11:46:32.451" v="62" actId="255"/>
          <ac:spMkLst>
            <pc:docMk/>
            <pc:sldMk cId="0" sldId="276"/>
            <ac:spMk id="10" creationId="{00000000-0000-0000-0000-000000000000}"/>
          </ac:spMkLst>
        </pc:spChg>
        <pc:spChg chg="mod">
          <ac:chgData name="Jayantha Obeysekera" userId="746567d5-bca1-4cfe-9ff2-830dff7f142b" providerId="ADAL" clId="{0449B1CE-3603-4936-8D6C-FA466DF3740F}" dt="2026-04-23T11:46:43.902" v="64" actId="1076"/>
          <ac:spMkLst>
            <pc:docMk/>
            <pc:sldMk cId="0" sldId="276"/>
            <ac:spMk id="11" creationId="{00000000-0000-0000-0000-000000000000}"/>
          </ac:spMkLst>
        </pc:spChg>
        <pc:spChg chg="mod">
          <ac:chgData name="Jayantha Obeysekera" userId="746567d5-bca1-4cfe-9ff2-830dff7f142b" providerId="ADAL" clId="{0449B1CE-3603-4936-8D6C-FA466DF3740F}" dt="2026-04-23T11:46:32.451" v="62" actId="255"/>
          <ac:spMkLst>
            <pc:docMk/>
            <pc:sldMk cId="0" sldId="276"/>
            <ac:spMk id="12" creationId="{00000000-0000-0000-0000-000000000000}"/>
          </ac:spMkLst>
        </pc:spChg>
        <pc:spChg chg="mod">
          <ac:chgData name="Jayantha Obeysekera" userId="746567d5-bca1-4cfe-9ff2-830dff7f142b" providerId="ADAL" clId="{0449B1CE-3603-4936-8D6C-FA466DF3740F}" dt="2026-04-23T11:46:32.451" v="62" actId="255"/>
          <ac:spMkLst>
            <pc:docMk/>
            <pc:sldMk cId="0" sldId="276"/>
            <ac:spMk id="14" creationId="{00000000-0000-0000-0000-000000000000}"/>
          </ac:spMkLst>
        </pc:spChg>
        <pc:spChg chg="mod">
          <ac:chgData name="Jayantha Obeysekera" userId="746567d5-bca1-4cfe-9ff2-830dff7f142b" providerId="ADAL" clId="{0449B1CE-3603-4936-8D6C-FA466DF3740F}" dt="2026-04-23T11:46:32.451" v="62" actId="255"/>
          <ac:spMkLst>
            <pc:docMk/>
            <pc:sldMk cId="0" sldId="276"/>
            <ac:spMk id="16" creationId="{00000000-0000-0000-0000-000000000000}"/>
          </ac:spMkLst>
        </pc:spChg>
        <pc:spChg chg="mod">
          <ac:chgData name="Jayantha Obeysekera" userId="746567d5-bca1-4cfe-9ff2-830dff7f142b" providerId="ADAL" clId="{0449B1CE-3603-4936-8D6C-FA466DF3740F}" dt="2026-04-23T11:46:32.451" v="62" actId="255"/>
          <ac:spMkLst>
            <pc:docMk/>
            <pc:sldMk cId="0" sldId="276"/>
            <ac:spMk id="18" creationId="{00000000-0000-0000-0000-000000000000}"/>
          </ac:spMkLst>
        </pc:spChg>
        <pc:spChg chg="mod">
          <ac:chgData name="Jayantha Obeysekera" userId="746567d5-bca1-4cfe-9ff2-830dff7f142b" providerId="ADAL" clId="{0449B1CE-3603-4936-8D6C-FA466DF3740F}" dt="2026-04-23T11:46:32.451" v="62" actId="255"/>
          <ac:spMkLst>
            <pc:docMk/>
            <pc:sldMk cId="0" sldId="276"/>
            <ac:spMk id="19" creationId="{00000000-0000-0000-0000-000000000000}"/>
          </ac:spMkLst>
        </pc:spChg>
        <pc:spChg chg="mod">
          <ac:chgData name="Jayantha Obeysekera" userId="746567d5-bca1-4cfe-9ff2-830dff7f142b" providerId="ADAL" clId="{0449B1CE-3603-4936-8D6C-FA466DF3740F}" dt="2026-04-23T11:46:32.451" v="62" actId="255"/>
          <ac:spMkLst>
            <pc:docMk/>
            <pc:sldMk cId="0" sldId="276"/>
            <ac:spMk id="20" creationId="{00000000-0000-0000-0000-000000000000}"/>
          </ac:spMkLst>
        </pc:spChg>
        <pc:spChg chg="mod">
          <ac:chgData name="Jayantha Obeysekera" userId="746567d5-bca1-4cfe-9ff2-830dff7f142b" providerId="ADAL" clId="{0449B1CE-3603-4936-8D6C-FA466DF3740F}" dt="2026-04-23T11:46:54.021" v="66" actId="14100"/>
          <ac:spMkLst>
            <pc:docMk/>
            <pc:sldMk cId="0" sldId="276"/>
            <ac:spMk id="21" creationId="{00000000-0000-0000-0000-000000000000}"/>
          </ac:spMkLst>
        </pc:spChg>
        <pc:picChg chg="mod">
          <ac:chgData name="Jayantha Obeysekera" userId="746567d5-bca1-4cfe-9ff2-830dff7f142b" providerId="ADAL" clId="{0449B1CE-3603-4936-8D6C-FA466DF3740F}" dt="2026-04-23T11:46:38.728" v="63" actId="1076"/>
          <ac:picMkLst>
            <pc:docMk/>
            <pc:sldMk cId="0" sldId="276"/>
            <ac:picMk id="5" creationId="{00000000-0000-0000-0000-000000000000}"/>
          </ac:picMkLst>
        </pc:picChg>
      </pc:sldChg>
      <pc:sldChg chg="modSp mod">
        <pc:chgData name="Jayantha Obeysekera" userId="746567d5-bca1-4cfe-9ff2-830dff7f142b" providerId="ADAL" clId="{0449B1CE-3603-4936-8D6C-FA466DF3740F}" dt="2026-04-23T11:56:01.833" v="161" actId="14100"/>
        <pc:sldMkLst>
          <pc:docMk/>
          <pc:sldMk cId="0" sldId="277"/>
        </pc:sldMkLst>
        <pc:spChg chg="mod">
          <ac:chgData name="Jayantha Obeysekera" userId="746567d5-bca1-4cfe-9ff2-830dff7f142b" providerId="ADAL" clId="{0449B1CE-3603-4936-8D6C-FA466DF3740F}" dt="2026-04-23T11:51:29.281" v="103" actId="255"/>
          <ac:spMkLst>
            <pc:docMk/>
            <pc:sldMk cId="0" sldId="277"/>
            <ac:spMk id="2" creationId="{00000000-0000-0000-0000-000000000000}"/>
          </ac:spMkLst>
        </pc:spChg>
        <pc:spChg chg="mod">
          <ac:chgData name="Jayantha Obeysekera" userId="746567d5-bca1-4cfe-9ff2-830dff7f142b" providerId="ADAL" clId="{0449B1CE-3603-4936-8D6C-FA466DF3740F}" dt="2026-04-23T11:51:39.279" v="106" actId="14100"/>
          <ac:spMkLst>
            <pc:docMk/>
            <pc:sldMk cId="0" sldId="277"/>
            <ac:spMk id="3" creationId="{00000000-0000-0000-0000-000000000000}"/>
          </ac:spMkLst>
        </pc:spChg>
        <pc:spChg chg="mod">
          <ac:chgData name="Jayantha Obeysekera" userId="746567d5-bca1-4cfe-9ff2-830dff7f142b" providerId="ADAL" clId="{0449B1CE-3603-4936-8D6C-FA466DF3740F}" dt="2026-04-23T11:54:37.625" v="148" actId="1076"/>
          <ac:spMkLst>
            <pc:docMk/>
            <pc:sldMk cId="0" sldId="277"/>
            <ac:spMk id="4" creationId="{00000000-0000-0000-0000-000000000000}"/>
          </ac:spMkLst>
        </pc:spChg>
        <pc:spChg chg="mod">
          <ac:chgData name="Jayantha Obeysekera" userId="746567d5-bca1-4cfe-9ff2-830dff7f142b" providerId="ADAL" clId="{0449B1CE-3603-4936-8D6C-FA466DF3740F}" dt="2026-04-23T11:52:14.365" v="112" actId="14100"/>
          <ac:spMkLst>
            <pc:docMk/>
            <pc:sldMk cId="0" sldId="277"/>
            <ac:spMk id="5" creationId="{00000000-0000-0000-0000-000000000000}"/>
          </ac:spMkLst>
        </pc:spChg>
        <pc:spChg chg="mod">
          <ac:chgData name="Jayantha Obeysekera" userId="746567d5-bca1-4cfe-9ff2-830dff7f142b" providerId="ADAL" clId="{0449B1CE-3603-4936-8D6C-FA466DF3740F}" dt="2026-04-23T11:52:20.230" v="113" actId="1076"/>
          <ac:spMkLst>
            <pc:docMk/>
            <pc:sldMk cId="0" sldId="277"/>
            <ac:spMk id="6" creationId="{00000000-0000-0000-0000-000000000000}"/>
          </ac:spMkLst>
        </pc:spChg>
        <pc:spChg chg="mod">
          <ac:chgData name="Jayantha Obeysekera" userId="746567d5-bca1-4cfe-9ff2-830dff7f142b" providerId="ADAL" clId="{0449B1CE-3603-4936-8D6C-FA466DF3740F}" dt="2026-04-23T11:53:11.432" v="120" actId="14100"/>
          <ac:spMkLst>
            <pc:docMk/>
            <pc:sldMk cId="0" sldId="277"/>
            <ac:spMk id="7" creationId="{00000000-0000-0000-0000-000000000000}"/>
          </ac:spMkLst>
        </pc:spChg>
        <pc:spChg chg="mod">
          <ac:chgData name="Jayantha Obeysekera" userId="746567d5-bca1-4cfe-9ff2-830dff7f142b" providerId="ADAL" clId="{0449B1CE-3603-4936-8D6C-FA466DF3740F}" dt="2026-04-23T11:52:53.760" v="118" actId="207"/>
          <ac:spMkLst>
            <pc:docMk/>
            <pc:sldMk cId="0" sldId="277"/>
            <ac:spMk id="9" creationId="{00000000-0000-0000-0000-000000000000}"/>
          </ac:spMkLst>
        </pc:spChg>
        <pc:spChg chg="mod">
          <ac:chgData name="Jayantha Obeysekera" userId="746567d5-bca1-4cfe-9ff2-830dff7f142b" providerId="ADAL" clId="{0449B1CE-3603-4936-8D6C-FA466DF3740F}" dt="2026-04-23T11:52:31.022" v="116" actId="14100"/>
          <ac:spMkLst>
            <pc:docMk/>
            <pc:sldMk cId="0" sldId="277"/>
            <ac:spMk id="10" creationId="{00000000-0000-0000-0000-000000000000}"/>
          </ac:spMkLst>
        </pc:spChg>
        <pc:spChg chg="mod">
          <ac:chgData name="Jayantha Obeysekera" userId="746567d5-bca1-4cfe-9ff2-830dff7f142b" providerId="ADAL" clId="{0449B1CE-3603-4936-8D6C-FA466DF3740F}" dt="2026-04-23T11:52:37.284" v="117" actId="1076"/>
          <ac:spMkLst>
            <pc:docMk/>
            <pc:sldMk cId="0" sldId="277"/>
            <ac:spMk id="11" creationId="{00000000-0000-0000-0000-000000000000}"/>
          </ac:spMkLst>
        </pc:spChg>
        <pc:spChg chg="mod">
          <ac:chgData name="Jayantha Obeysekera" userId="746567d5-bca1-4cfe-9ff2-830dff7f142b" providerId="ADAL" clId="{0449B1CE-3603-4936-8D6C-FA466DF3740F}" dt="2026-04-23T11:53:03.445" v="119" actId="207"/>
          <ac:spMkLst>
            <pc:docMk/>
            <pc:sldMk cId="0" sldId="277"/>
            <ac:spMk id="14" creationId="{00000000-0000-0000-0000-000000000000}"/>
          </ac:spMkLst>
        </pc:spChg>
        <pc:spChg chg="mod">
          <ac:chgData name="Jayantha Obeysekera" userId="746567d5-bca1-4cfe-9ff2-830dff7f142b" providerId="ADAL" clId="{0449B1CE-3603-4936-8D6C-FA466DF3740F}" dt="2026-04-23T11:54:18.264" v="143" actId="1076"/>
          <ac:spMkLst>
            <pc:docMk/>
            <pc:sldMk cId="0" sldId="277"/>
            <ac:spMk id="15" creationId="{00000000-0000-0000-0000-000000000000}"/>
          </ac:spMkLst>
        </pc:spChg>
        <pc:spChg chg="mod">
          <ac:chgData name="Jayantha Obeysekera" userId="746567d5-bca1-4cfe-9ff2-830dff7f142b" providerId="ADAL" clId="{0449B1CE-3603-4936-8D6C-FA466DF3740F}" dt="2026-04-23T11:54:13.300" v="142" actId="1076"/>
          <ac:spMkLst>
            <pc:docMk/>
            <pc:sldMk cId="0" sldId="277"/>
            <ac:spMk id="16" creationId="{00000000-0000-0000-0000-000000000000}"/>
          </ac:spMkLst>
        </pc:spChg>
        <pc:spChg chg="mod">
          <ac:chgData name="Jayantha Obeysekera" userId="746567d5-bca1-4cfe-9ff2-830dff7f142b" providerId="ADAL" clId="{0449B1CE-3603-4936-8D6C-FA466DF3740F}" dt="2026-04-23T11:54:46.502" v="149" actId="1076"/>
          <ac:spMkLst>
            <pc:docMk/>
            <pc:sldMk cId="0" sldId="277"/>
            <ac:spMk id="17" creationId="{00000000-0000-0000-0000-000000000000}"/>
          </ac:spMkLst>
        </pc:spChg>
        <pc:spChg chg="mod">
          <ac:chgData name="Jayantha Obeysekera" userId="746567d5-bca1-4cfe-9ff2-830dff7f142b" providerId="ADAL" clId="{0449B1CE-3603-4936-8D6C-FA466DF3740F}" dt="2026-04-23T11:54:46.502" v="149" actId="1076"/>
          <ac:spMkLst>
            <pc:docMk/>
            <pc:sldMk cId="0" sldId="277"/>
            <ac:spMk id="18" creationId="{00000000-0000-0000-0000-000000000000}"/>
          </ac:spMkLst>
        </pc:spChg>
        <pc:spChg chg="mod">
          <ac:chgData name="Jayantha Obeysekera" userId="746567d5-bca1-4cfe-9ff2-830dff7f142b" providerId="ADAL" clId="{0449B1CE-3603-4936-8D6C-FA466DF3740F}" dt="2026-04-23T11:53:55.374" v="139" actId="207"/>
          <ac:spMkLst>
            <pc:docMk/>
            <pc:sldMk cId="0" sldId="277"/>
            <ac:spMk id="19" creationId="{00000000-0000-0000-0000-000000000000}"/>
          </ac:spMkLst>
        </pc:spChg>
        <pc:spChg chg="mod">
          <ac:chgData name="Jayantha Obeysekera" userId="746567d5-bca1-4cfe-9ff2-830dff7f142b" providerId="ADAL" clId="{0449B1CE-3603-4936-8D6C-FA466DF3740F}" dt="2026-04-23T11:54:21.805" v="144" actId="1076"/>
          <ac:spMkLst>
            <pc:docMk/>
            <pc:sldMk cId="0" sldId="277"/>
            <ac:spMk id="20" creationId="{00000000-0000-0000-0000-000000000000}"/>
          </ac:spMkLst>
        </pc:spChg>
        <pc:spChg chg="mod">
          <ac:chgData name="Jayantha Obeysekera" userId="746567d5-bca1-4cfe-9ff2-830dff7f142b" providerId="ADAL" clId="{0449B1CE-3603-4936-8D6C-FA466DF3740F}" dt="2026-04-23T11:54:28.136" v="145" actId="1076"/>
          <ac:spMkLst>
            <pc:docMk/>
            <pc:sldMk cId="0" sldId="277"/>
            <ac:spMk id="21" creationId="{00000000-0000-0000-0000-000000000000}"/>
          </ac:spMkLst>
        </pc:spChg>
        <pc:spChg chg="mod">
          <ac:chgData name="Jayantha Obeysekera" userId="746567d5-bca1-4cfe-9ff2-830dff7f142b" providerId="ADAL" clId="{0449B1CE-3603-4936-8D6C-FA466DF3740F}" dt="2026-04-23T11:54:33.580" v="146" actId="1076"/>
          <ac:spMkLst>
            <pc:docMk/>
            <pc:sldMk cId="0" sldId="277"/>
            <ac:spMk id="22" creationId="{00000000-0000-0000-0000-000000000000}"/>
          </ac:spMkLst>
        </pc:spChg>
        <pc:spChg chg="mod">
          <ac:chgData name="Jayantha Obeysekera" userId="746567d5-bca1-4cfe-9ff2-830dff7f142b" providerId="ADAL" clId="{0449B1CE-3603-4936-8D6C-FA466DF3740F}" dt="2026-04-23T11:54:33.580" v="146" actId="1076"/>
          <ac:spMkLst>
            <pc:docMk/>
            <pc:sldMk cId="0" sldId="277"/>
            <ac:spMk id="23" creationId="{00000000-0000-0000-0000-000000000000}"/>
          </ac:spMkLst>
        </pc:spChg>
        <pc:spChg chg="mod">
          <ac:chgData name="Jayantha Obeysekera" userId="746567d5-bca1-4cfe-9ff2-830dff7f142b" providerId="ADAL" clId="{0449B1CE-3603-4936-8D6C-FA466DF3740F}" dt="2026-04-23T11:55:14.492" v="153" actId="14100"/>
          <ac:spMkLst>
            <pc:docMk/>
            <pc:sldMk cId="0" sldId="277"/>
            <ac:spMk id="24" creationId="{00000000-0000-0000-0000-000000000000}"/>
          </ac:spMkLst>
        </pc:spChg>
        <pc:spChg chg="mod">
          <ac:chgData name="Jayantha Obeysekera" userId="746567d5-bca1-4cfe-9ff2-830dff7f142b" providerId="ADAL" clId="{0449B1CE-3603-4936-8D6C-FA466DF3740F}" dt="2026-04-23T11:55:11.087" v="152" actId="1076"/>
          <ac:spMkLst>
            <pc:docMk/>
            <pc:sldMk cId="0" sldId="277"/>
            <ac:spMk id="25" creationId="{00000000-0000-0000-0000-000000000000}"/>
          </ac:spMkLst>
        </pc:spChg>
        <pc:spChg chg="mod">
          <ac:chgData name="Jayantha Obeysekera" userId="746567d5-bca1-4cfe-9ff2-830dff7f142b" providerId="ADAL" clId="{0449B1CE-3603-4936-8D6C-FA466DF3740F}" dt="2026-04-23T11:55:19.616" v="154" actId="1076"/>
          <ac:spMkLst>
            <pc:docMk/>
            <pc:sldMk cId="0" sldId="277"/>
            <ac:spMk id="26" creationId="{00000000-0000-0000-0000-000000000000}"/>
          </ac:spMkLst>
        </pc:spChg>
        <pc:spChg chg="mod">
          <ac:chgData name="Jayantha Obeysekera" userId="746567d5-bca1-4cfe-9ff2-830dff7f142b" providerId="ADAL" clId="{0449B1CE-3603-4936-8D6C-FA466DF3740F}" dt="2026-04-23T11:55:27.070" v="155" actId="14100"/>
          <ac:spMkLst>
            <pc:docMk/>
            <pc:sldMk cId="0" sldId="277"/>
            <ac:spMk id="27" creationId="{00000000-0000-0000-0000-000000000000}"/>
          </ac:spMkLst>
        </pc:spChg>
        <pc:spChg chg="mod">
          <ac:chgData name="Jayantha Obeysekera" userId="746567d5-bca1-4cfe-9ff2-830dff7f142b" providerId="ADAL" clId="{0449B1CE-3603-4936-8D6C-FA466DF3740F}" dt="2026-04-23T11:54:55.125" v="150" actId="255"/>
          <ac:spMkLst>
            <pc:docMk/>
            <pc:sldMk cId="0" sldId="277"/>
            <ac:spMk id="28" creationId="{00000000-0000-0000-0000-000000000000}"/>
          </ac:spMkLst>
        </pc:spChg>
        <pc:spChg chg="mod">
          <ac:chgData name="Jayantha Obeysekera" userId="746567d5-bca1-4cfe-9ff2-830dff7f142b" providerId="ADAL" clId="{0449B1CE-3603-4936-8D6C-FA466DF3740F}" dt="2026-04-23T11:55:42.752" v="157" actId="14100"/>
          <ac:spMkLst>
            <pc:docMk/>
            <pc:sldMk cId="0" sldId="277"/>
            <ac:spMk id="29" creationId="{00000000-0000-0000-0000-000000000000}"/>
          </ac:spMkLst>
        </pc:spChg>
        <pc:spChg chg="mod">
          <ac:chgData name="Jayantha Obeysekera" userId="746567d5-bca1-4cfe-9ff2-830dff7f142b" providerId="ADAL" clId="{0449B1CE-3603-4936-8D6C-FA466DF3740F}" dt="2026-04-23T11:56:01.833" v="161" actId="14100"/>
          <ac:spMkLst>
            <pc:docMk/>
            <pc:sldMk cId="0" sldId="277"/>
            <ac:spMk id="30" creationId="{00000000-0000-0000-0000-000000000000}"/>
          </ac:spMkLst>
        </pc:spChg>
        <pc:spChg chg="mod">
          <ac:chgData name="Jayantha Obeysekera" userId="746567d5-bca1-4cfe-9ff2-830dff7f142b" providerId="ADAL" clId="{0449B1CE-3603-4936-8D6C-FA466DF3740F}" dt="2026-04-23T11:55:53.357" v="159" actId="1076"/>
          <ac:spMkLst>
            <pc:docMk/>
            <pc:sldMk cId="0" sldId="277"/>
            <ac:spMk id="31" creationId="{00000000-0000-0000-0000-000000000000}"/>
          </ac:spMkLst>
        </pc:spChg>
        <pc:spChg chg="mod">
          <ac:chgData name="Jayantha Obeysekera" userId="746567d5-bca1-4cfe-9ff2-830dff7f142b" providerId="ADAL" clId="{0449B1CE-3603-4936-8D6C-FA466DF3740F}" dt="2026-04-23T11:55:47.829" v="158" actId="1076"/>
          <ac:spMkLst>
            <pc:docMk/>
            <pc:sldMk cId="0" sldId="277"/>
            <ac:spMk id="32" creationId="{00000000-0000-0000-0000-000000000000}"/>
          </ac:spMkLst>
        </pc:spChg>
      </pc:sldChg>
      <pc:sldChg chg="delSp modSp mod">
        <pc:chgData name="Jayantha Obeysekera" userId="746567d5-bca1-4cfe-9ff2-830dff7f142b" providerId="ADAL" clId="{0449B1CE-3603-4936-8D6C-FA466DF3740F}" dt="2026-04-23T12:07:17.061" v="288" actId="255"/>
        <pc:sldMkLst>
          <pc:docMk/>
          <pc:sldMk cId="0" sldId="279"/>
        </pc:sldMkLst>
        <pc:spChg chg="mod">
          <ac:chgData name="Jayantha Obeysekera" userId="746567d5-bca1-4cfe-9ff2-830dff7f142b" providerId="ADAL" clId="{0449B1CE-3603-4936-8D6C-FA466DF3740F}" dt="2026-04-23T12:02:38.702" v="244" actId="255"/>
          <ac:spMkLst>
            <pc:docMk/>
            <pc:sldMk cId="0" sldId="279"/>
            <ac:spMk id="3" creationId="{00000000-0000-0000-0000-000000000000}"/>
          </ac:spMkLst>
        </pc:spChg>
        <pc:spChg chg="mod">
          <ac:chgData name="Jayantha Obeysekera" userId="746567d5-bca1-4cfe-9ff2-830dff7f142b" providerId="ADAL" clId="{0449B1CE-3603-4936-8D6C-FA466DF3740F}" dt="2026-04-23T12:02:43.736" v="245" actId="1076"/>
          <ac:spMkLst>
            <pc:docMk/>
            <pc:sldMk cId="0" sldId="279"/>
            <ac:spMk id="6" creationId="{00000000-0000-0000-0000-000000000000}"/>
          </ac:spMkLst>
        </pc:spChg>
        <pc:spChg chg="mod">
          <ac:chgData name="Jayantha Obeysekera" userId="746567d5-bca1-4cfe-9ff2-830dff7f142b" providerId="ADAL" clId="{0449B1CE-3603-4936-8D6C-FA466DF3740F}" dt="2026-04-23T12:06:59.211" v="284" actId="1076"/>
          <ac:spMkLst>
            <pc:docMk/>
            <pc:sldMk cId="0" sldId="279"/>
            <ac:spMk id="8" creationId="{00000000-0000-0000-0000-000000000000}"/>
          </ac:spMkLst>
        </pc:spChg>
        <pc:spChg chg="mod">
          <ac:chgData name="Jayantha Obeysekera" userId="746567d5-bca1-4cfe-9ff2-830dff7f142b" providerId="ADAL" clId="{0449B1CE-3603-4936-8D6C-FA466DF3740F}" dt="2026-04-23T12:06:16.090" v="273" actId="14100"/>
          <ac:spMkLst>
            <pc:docMk/>
            <pc:sldMk cId="0" sldId="279"/>
            <ac:spMk id="9" creationId="{00000000-0000-0000-0000-000000000000}"/>
          </ac:spMkLst>
        </pc:spChg>
        <pc:spChg chg="mod">
          <ac:chgData name="Jayantha Obeysekera" userId="746567d5-bca1-4cfe-9ff2-830dff7f142b" providerId="ADAL" clId="{0449B1CE-3603-4936-8D6C-FA466DF3740F}" dt="2026-04-23T12:06:44.515" v="281" actId="255"/>
          <ac:spMkLst>
            <pc:docMk/>
            <pc:sldMk cId="0" sldId="279"/>
            <ac:spMk id="10" creationId="{00000000-0000-0000-0000-000000000000}"/>
          </ac:spMkLst>
        </pc:spChg>
        <pc:spChg chg="mod">
          <ac:chgData name="Jayantha Obeysekera" userId="746567d5-bca1-4cfe-9ff2-830dff7f142b" providerId="ADAL" clId="{0449B1CE-3603-4936-8D6C-FA466DF3740F}" dt="2026-04-23T12:06:30.288" v="277" actId="1076"/>
          <ac:spMkLst>
            <pc:docMk/>
            <pc:sldMk cId="0" sldId="279"/>
            <ac:spMk id="11" creationId="{00000000-0000-0000-0000-000000000000}"/>
          </ac:spMkLst>
        </pc:spChg>
        <pc:spChg chg="mod">
          <ac:chgData name="Jayantha Obeysekera" userId="746567d5-bca1-4cfe-9ff2-830dff7f142b" providerId="ADAL" clId="{0449B1CE-3603-4936-8D6C-FA466DF3740F}" dt="2026-04-23T12:03:48.701" v="253" actId="1076"/>
          <ac:spMkLst>
            <pc:docMk/>
            <pc:sldMk cId="0" sldId="279"/>
            <ac:spMk id="12" creationId="{00000000-0000-0000-0000-000000000000}"/>
          </ac:spMkLst>
        </pc:spChg>
        <pc:spChg chg="mod">
          <ac:chgData name="Jayantha Obeysekera" userId="746567d5-bca1-4cfe-9ff2-830dff7f142b" providerId="ADAL" clId="{0449B1CE-3603-4936-8D6C-FA466DF3740F}" dt="2026-04-23T12:04:48.491" v="261" actId="14100"/>
          <ac:spMkLst>
            <pc:docMk/>
            <pc:sldMk cId="0" sldId="279"/>
            <ac:spMk id="13" creationId="{00000000-0000-0000-0000-000000000000}"/>
          </ac:spMkLst>
        </pc:spChg>
        <pc:spChg chg="mod">
          <ac:chgData name="Jayantha Obeysekera" userId="746567d5-bca1-4cfe-9ff2-830dff7f142b" providerId="ADAL" clId="{0449B1CE-3603-4936-8D6C-FA466DF3740F}" dt="2026-04-23T12:03:01.497" v="247" actId="255"/>
          <ac:spMkLst>
            <pc:docMk/>
            <pc:sldMk cId="0" sldId="279"/>
            <ac:spMk id="14" creationId="{00000000-0000-0000-0000-000000000000}"/>
          </ac:spMkLst>
        </pc:spChg>
        <pc:spChg chg="mod">
          <ac:chgData name="Jayantha Obeysekera" userId="746567d5-bca1-4cfe-9ff2-830dff7f142b" providerId="ADAL" clId="{0449B1CE-3603-4936-8D6C-FA466DF3740F}" dt="2026-04-23T12:04:59.741" v="263" actId="14100"/>
          <ac:spMkLst>
            <pc:docMk/>
            <pc:sldMk cId="0" sldId="279"/>
            <ac:spMk id="15" creationId="{00000000-0000-0000-0000-000000000000}"/>
          </ac:spMkLst>
        </pc:spChg>
        <pc:spChg chg="mod">
          <ac:chgData name="Jayantha Obeysekera" userId="746567d5-bca1-4cfe-9ff2-830dff7f142b" providerId="ADAL" clId="{0449B1CE-3603-4936-8D6C-FA466DF3740F}" dt="2026-04-23T12:03:16.717" v="250" actId="255"/>
          <ac:spMkLst>
            <pc:docMk/>
            <pc:sldMk cId="0" sldId="279"/>
            <ac:spMk id="18" creationId="{00000000-0000-0000-0000-000000000000}"/>
          </ac:spMkLst>
        </pc:spChg>
        <pc:spChg chg="mod">
          <ac:chgData name="Jayantha Obeysekera" userId="746567d5-bca1-4cfe-9ff2-830dff7f142b" providerId="ADAL" clId="{0449B1CE-3603-4936-8D6C-FA466DF3740F}" dt="2026-04-23T12:03:16.717" v="250" actId="255"/>
          <ac:spMkLst>
            <pc:docMk/>
            <pc:sldMk cId="0" sldId="279"/>
            <ac:spMk id="20" creationId="{00000000-0000-0000-0000-000000000000}"/>
          </ac:spMkLst>
        </pc:spChg>
        <pc:spChg chg="mod">
          <ac:chgData name="Jayantha Obeysekera" userId="746567d5-bca1-4cfe-9ff2-830dff7f142b" providerId="ADAL" clId="{0449B1CE-3603-4936-8D6C-FA466DF3740F}" dt="2026-04-23T12:03:58.206" v="254" actId="255"/>
          <ac:spMkLst>
            <pc:docMk/>
            <pc:sldMk cId="0" sldId="279"/>
            <ac:spMk id="21" creationId="{00000000-0000-0000-0000-000000000000}"/>
          </ac:spMkLst>
        </pc:spChg>
        <pc:spChg chg="mod">
          <ac:chgData name="Jayantha Obeysekera" userId="746567d5-bca1-4cfe-9ff2-830dff7f142b" providerId="ADAL" clId="{0449B1CE-3603-4936-8D6C-FA466DF3740F}" dt="2026-04-23T12:04:53.433" v="262" actId="14100"/>
          <ac:spMkLst>
            <pc:docMk/>
            <pc:sldMk cId="0" sldId="279"/>
            <ac:spMk id="24" creationId="{00000000-0000-0000-0000-000000000000}"/>
          </ac:spMkLst>
        </pc:spChg>
        <pc:spChg chg="mod">
          <ac:chgData name="Jayantha Obeysekera" userId="746567d5-bca1-4cfe-9ff2-830dff7f142b" providerId="ADAL" clId="{0449B1CE-3603-4936-8D6C-FA466DF3740F}" dt="2026-04-23T12:03:58.206" v="254" actId="255"/>
          <ac:spMkLst>
            <pc:docMk/>
            <pc:sldMk cId="0" sldId="279"/>
            <ac:spMk id="25" creationId="{00000000-0000-0000-0000-000000000000}"/>
          </ac:spMkLst>
        </pc:spChg>
        <pc:spChg chg="mod">
          <ac:chgData name="Jayantha Obeysekera" userId="746567d5-bca1-4cfe-9ff2-830dff7f142b" providerId="ADAL" clId="{0449B1CE-3603-4936-8D6C-FA466DF3740F}" dt="2026-04-23T12:03:58.206" v="254" actId="255"/>
          <ac:spMkLst>
            <pc:docMk/>
            <pc:sldMk cId="0" sldId="279"/>
            <ac:spMk id="29" creationId="{00000000-0000-0000-0000-000000000000}"/>
          </ac:spMkLst>
        </pc:spChg>
        <pc:spChg chg="mod">
          <ac:chgData name="Jayantha Obeysekera" userId="746567d5-bca1-4cfe-9ff2-830dff7f142b" providerId="ADAL" clId="{0449B1CE-3603-4936-8D6C-FA466DF3740F}" dt="2026-04-23T12:03:58.206" v="254" actId="255"/>
          <ac:spMkLst>
            <pc:docMk/>
            <pc:sldMk cId="0" sldId="279"/>
            <ac:spMk id="30" creationId="{00000000-0000-0000-0000-000000000000}"/>
          </ac:spMkLst>
        </pc:spChg>
        <pc:spChg chg="mod">
          <ac:chgData name="Jayantha Obeysekera" userId="746567d5-bca1-4cfe-9ff2-830dff7f142b" providerId="ADAL" clId="{0449B1CE-3603-4936-8D6C-FA466DF3740F}" dt="2026-04-23T12:03:58.206" v="254" actId="255"/>
          <ac:spMkLst>
            <pc:docMk/>
            <pc:sldMk cId="0" sldId="279"/>
            <ac:spMk id="33" creationId="{00000000-0000-0000-0000-000000000000}"/>
          </ac:spMkLst>
        </pc:spChg>
        <pc:spChg chg="del mod">
          <ac:chgData name="Jayantha Obeysekera" userId="746567d5-bca1-4cfe-9ff2-830dff7f142b" providerId="ADAL" clId="{0449B1CE-3603-4936-8D6C-FA466DF3740F}" dt="2026-04-23T12:05:47.935" v="270" actId="478"/>
          <ac:spMkLst>
            <pc:docMk/>
            <pc:sldMk cId="0" sldId="279"/>
            <ac:spMk id="34" creationId="{00000000-0000-0000-0000-000000000000}"/>
          </ac:spMkLst>
        </pc:spChg>
        <pc:spChg chg="mod">
          <ac:chgData name="Jayantha Obeysekera" userId="746567d5-bca1-4cfe-9ff2-830dff7f142b" providerId="ADAL" clId="{0449B1CE-3603-4936-8D6C-FA466DF3740F}" dt="2026-04-23T12:05:59.621" v="271" actId="1076"/>
          <ac:spMkLst>
            <pc:docMk/>
            <pc:sldMk cId="0" sldId="279"/>
            <ac:spMk id="35" creationId="{00000000-0000-0000-0000-000000000000}"/>
          </ac:spMkLst>
        </pc:spChg>
        <pc:spChg chg="mod">
          <ac:chgData name="Jayantha Obeysekera" userId="746567d5-bca1-4cfe-9ff2-830dff7f142b" providerId="ADAL" clId="{0449B1CE-3603-4936-8D6C-FA466DF3740F}" dt="2026-04-23T12:03:58.206" v="254" actId="255"/>
          <ac:spMkLst>
            <pc:docMk/>
            <pc:sldMk cId="0" sldId="279"/>
            <ac:spMk id="40" creationId="{00000000-0000-0000-0000-000000000000}"/>
          </ac:spMkLst>
        </pc:spChg>
        <pc:spChg chg="del mod">
          <ac:chgData name="Jayantha Obeysekera" userId="746567d5-bca1-4cfe-9ff2-830dff7f142b" providerId="ADAL" clId="{0449B1CE-3603-4936-8D6C-FA466DF3740F}" dt="2026-04-23T12:05:44.197" v="269" actId="478"/>
          <ac:spMkLst>
            <pc:docMk/>
            <pc:sldMk cId="0" sldId="279"/>
            <ac:spMk id="44" creationId="{00000000-0000-0000-0000-000000000000}"/>
          </ac:spMkLst>
        </pc:spChg>
        <pc:spChg chg="mod">
          <ac:chgData name="Jayantha Obeysekera" userId="746567d5-bca1-4cfe-9ff2-830dff7f142b" providerId="ADAL" clId="{0449B1CE-3603-4936-8D6C-FA466DF3740F}" dt="2026-04-23T12:06:05.290" v="272" actId="1076"/>
          <ac:spMkLst>
            <pc:docMk/>
            <pc:sldMk cId="0" sldId="279"/>
            <ac:spMk id="45" creationId="{00000000-0000-0000-0000-000000000000}"/>
          </ac:spMkLst>
        </pc:spChg>
        <pc:spChg chg="mod">
          <ac:chgData name="Jayantha Obeysekera" userId="746567d5-bca1-4cfe-9ff2-830dff7f142b" providerId="ADAL" clId="{0449B1CE-3603-4936-8D6C-FA466DF3740F}" dt="2026-04-23T12:03:58.206" v="254" actId="255"/>
          <ac:spMkLst>
            <pc:docMk/>
            <pc:sldMk cId="0" sldId="279"/>
            <ac:spMk id="47" creationId="{00000000-0000-0000-0000-000000000000}"/>
          </ac:spMkLst>
        </pc:spChg>
        <pc:spChg chg="mod">
          <ac:chgData name="Jayantha Obeysekera" userId="746567d5-bca1-4cfe-9ff2-830dff7f142b" providerId="ADAL" clId="{0449B1CE-3603-4936-8D6C-FA466DF3740F}" dt="2026-04-23T12:03:58.206" v="254" actId="255"/>
          <ac:spMkLst>
            <pc:docMk/>
            <pc:sldMk cId="0" sldId="279"/>
            <ac:spMk id="52" creationId="{00000000-0000-0000-0000-000000000000}"/>
          </ac:spMkLst>
        </pc:spChg>
        <pc:spChg chg="mod">
          <ac:chgData name="Jayantha Obeysekera" userId="746567d5-bca1-4cfe-9ff2-830dff7f142b" providerId="ADAL" clId="{0449B1CE-3603-4936-8D6C-FA466DF3740F}" dt="2026-04-23T12:07:17.061" v="288" actId="255"/>
          <ac:spMkLst>
            <pc:docMk/>
            <pc:sldMk cId="0" sldId="279"/>
            <ac:spMk id="54" creationId="{00000000-0000-0000-0000-000000000000}"/>
          </ac:spMkLst>
        </pc:spChg>
      </pc:sldChg>
      <pc:sldChg chg="modSp mod">
        <pc:chgData name="Jayantha Obeysekera" userId="746567d5-bca1-4cfe-9ff2-830dff7f142b" providerId="ADAL" clId="{0449B1CE-3603-4936-8D6C-FA466DF3740F}" dt="2026-04-23T12:08:55.669" v="304" actId="1076"/>
        <pc:sldMkLst>
          <pc:docMk/>
          <pc:sldMk cId="0" sldId="281"/>
        </pc:sldMkLst>
        <pc:spChg chg="mod">
          <ac:chgData name="Jayantha Obeysekera" userId="746567d5-bca1-4cfe-9ff2-830dff7f142b" providerId="ADAL" clId="{0449B1CE-3603-4936-8D6C-FA466DF3740F}" dt="2026-04-23T12:07:30.924" v="289" actId="255"/>
          <ac:spMkLst>
            <pc:docMk/>
            <pc:sldMk cId="0" sldId="281"/>
            <ac:spMk id="3" creationId="{00000000-0000-0000-0000-000000000000}"/>
          </ac:spMkLst>
        </pc:spChg>
        <pc:spChg chg="mod">
          <ac:chgData name="Jayantha Obeysekera" userId="746567d5-bca1-4cfe-9ff2-830dff7f142b" providerId="ADAL" clId="{0449B1CE-3603-4936-8D6C-FA466DF3740F}" dt="2026-04-23T12:07:46.100" v="291" actId="1076"/>
          <ac:spMkLst>
            <pc:docMk/>
            <pc:sldMk cId="0" sldId="281"/>
            <ac:spMk id="6" creationId="{00000000-0000-0000-0000-000000000000}"/>
          </ac:spMkLst>
        </pc:spChg>
        <pc:spChg chg="mod">
          <ac:chgData name="Jayantha Obeysekera" userId="746567d5-bca1-4cfe-9ff2-830dff7f142b" providerId="ADAL" clId="{0449B1CE-3603-4936-8D6C-FA466DF3740F}" dt="2026-04-23T12:08:00.528" v="293" actId="1076"/>
          <ac:spMkLst>
            <pc:docMk/>
            <pc:sldMk cId="0" sldId="281"/>
            <ac:spMk id="7" creationId="{00000000-0000-0000-0000-000000000000}"/>
          </ac:spMkLst>
        </pc:spChg>
        <pc:spChg chg="mod">
          <ac:chgData name="Jayantha Obeysekera" userId="746567d5-bca1-4cfe-9ff2-830dff7f142b" providerId="ADAL" clId="{0449B1CE-3603-4936-8D6C-FA466DF3740F}" dt="2026-04-23T12:08:09.768" v="296" actId="14100"/>
          <ac:spMkLst>
            <pc:docMk/>
            <pc:sldMk cId="0" sldId="281"/>
            <ac:spMk id="8" creationId="{00000000-0000-0000-0000-000000000000}"/>
          </ac:spMkLst>
        </pc:spChg>
        <pc:spChg chg="mod">
          <ac:chgData name="Jayantha Obeysekera" userId="746567d5-bca1-4cfe-9ff2-830dff7f142b" providerId="ADAL" clId="{0449B1CE-3603-4936-8D6C-FA466DF3740F}" dt="2026-04-23T12:08:16.848" v="298" actId="14100"/>
          <ac:spMkLst>
            <pc:docMk/>
            <pc:sldMk cId="0" sldId="281"/>
            <ac:spMk id="9" creationId="{00000000-0000-0000-0000-000000000000}"/>
          </ac:spMkLst>
        </pc:spChg>
        <pc:spChg chg="mod">
          <ac:chgData name="Jayantha Obeysekera" userId="746567d5-bca1-4cfe-9ff2-830dff7f142b" providerId="ADAL" clId="{0449B1CE-3603-4936-8D6C-FA466DF3740F}" dt="2026-04-23T12:08:14.217" v="297" actId="1076"/>
          <ac:spMkLst>
            <pc:docMk/>
            <pc:sldMk cId="0" sldId="281"/>
            <ac:spMk id="10" creationId="{00000000-0000-0000-0000-000000000000}"/>
          </ac:spMkLst>
        </pc:spChg>
        <pc:spChg chg="mod">
          <ac:chgData name="Jayantha Obeysekera" userId="746567d5-bca1-4cfe-9ff2-830dff7f142b" providerId="ADAL" clId="{0449B1CE-3603-4936-8D6C-FA466DF3740F}" dt="2026-04-23T12:08:29.794" v="301" actId="1076"/>
          <ac:spMkLst>
            <pc:docMk/>
            <pc:sldMk cId="0" sldId="281"/>
            <ac:spMk id="11" creationId="{00000000-0000-0000-0000-000000000000}"/>
          </ac:spMkLst>
        </pc:spChg>
        <pc:spChg chg="mod">
          <ac:chgData name="Jayantha Obeysekera" userId="746567d5-bca1-4cfe-9ff2-830dff7f142b" providerId="ADAL" clId="{0449B1CE-3603-4936-8D6C-FA466DF3740F}" dt="2026-04-23T12:08:49.976" v="303" actId="14100"/>
          <ac:spMkLst>
            <pc:docMk/>
            <pc:sldMk cId="0" sldId="281"/>
            <ac:spMk id="12" creationId="{00000000-0000-0000-0000-000000000000}"/>
          </ac:spMkLst>
        </pc:spChg>
        <pc:spChg chg="mod">
          <ac:chgData name="Jayantha Obeysekera" userId="746567d5-bca1-4cfe-9ff2-830dff7f142b" providerId="ADAL" clId="{0449B1CE-3603-4936-8D6C-FA466DF3740F}" dt="2026-04-23T12:08:55.669" v="304" actId="1076"/>
          <ac:spMkLst>
            <pc:docMk/>
            <pc:sldMk cId="0" sldId="281"/>
            <ac:spMk id="1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136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paper Paper.pdf, p. 1: title, abstract, and overall claim that DL models outperform HEC-RAS and deliver &gt;500× speedup.
- Uploaded paper Paper.pdf, p. 3 (Figure 1): study-area map used as the right-side asset.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paper Paper.pdf, pp. 3-4: study reach, station locations, hydraulic structures, and data features.
- Uploaded paper Paper.pdf, p. 3 (Figure 1): map asset.
- Uploaded paper Paper.pdf, p. 4: 11-year hourly data record and feature list.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Derived from uploaded notebook /mnt/data/lstm_workshop_compare_single_vs_multistep.ipynb, especially markdown cells 0, 16, 21, 27, and 29.</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Derived from notebook cells 3, 5, 6, 7, 9, and 11.</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Workflow synthesized from notebook sections 1 through 9 and code cells 3, 5-7, 9, 11, 13, 15, 18-20, 23-28.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Derived from notebook markdown cell 12 and code cells 13, 17, and 22.</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Figure and metrics derived from notebook cells 19 and 20.</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Figure and metrics derived from notebook cells 24 and 25.</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paper: pp. 3-5 (study area, Figure 1, Table 1, data acquisition, preprocessing, train/test split).
- Map image cropped from Figure 1 on p. 3 of the uploaded paper.
[/Sources]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paper Paper.pdf, pp. 5-6: HEC-RAS boundary conditions, 2-year simulation setup, and DL formulation.
- Uploaded paper Paper.pdf, p. 6 (Figure 2): DL framework schematic used on this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paper Paper.pdf, pp. 6-8: descriptions of MLP, RNN, LSTM, CNN, and RCNN.
- Uploaded paper Paper.pdf, p. 8 (Figure 3): RCNN architecture asset.
- Uploaded paper Paper.pdf, p. 9: definition of MAE, RMSE, NSE, and KGE.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paper: pp. 5-8 (HEC-RAS benchmark, DL workflow in Figure 2, w = 72 h, k = 24 h, descriptions of MLP/RNN/LSTM/CNN/RCNN).
[/Sources]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paper Paper.pdf, pp. 13-14 and Figure 6 on p. 13: observed vs predicted water stage at S1 for April 1, 2019.
- The MAE values quoted on this slide are read from Figure 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paper Paper.pdf, p. 14 and Figure 7: observed vs predicted water stage at S1 during Tropical Storm Isaias (2020).
- Uploaded paper Paper.pdf, p. 14: statement that all DL models still outperform HEC-RAS under this extreme storm event.
- The MAE values quoted on this slide are read from Figure 7.</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paper Paper.pdf, p. 15 and Table 7: training and test runtimes for HEC-RAS and all DL models.
- Uploaded paper Paper.pdf, pp. 1-2 and p. 15: &gt;500× speedup claim and discussion of real-time operations.
- Speedup chart on this slide is derived directly from Table 7.</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paper: pp. 1-2 (abstract, introduction, motivation, why conventional physics-based models are time-consuming).
[/Sources]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paper: pp. 6-8 (descriptions of MLP, RNN, LSTM, CNN, and RCNN), p. 10 (performance summary by forecast lead time).
[/Sources]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paper: p. 10, Table 2 (entire 24 h MAE values across models).
- Uploaded paper: p. 12, Table 5 (24-hour MAE by location).
- Bar chart recreated from Table 2 values in the uploaded paper.
[/Sources]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paper: p. 10, Table 2 and accompanying discussion.
- Uploaded paper: pp. 10-11, Table 3 (robustness to noisy future covariates).
- Uploaded paper: p. 14 (Tropical Storm Isaias discussion).
- Line chart recreated from Table 2 MAE values in the uploaded paper.
[/Sources]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paper: p. 15, Table 7 and discussion/conclusions (training time, test time, and 500x+ speedup statement).
- Speedup chart recreated from Table 7 test-time values in the uploaded paper.
[/Sources]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8079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793630"/>
          </a:xfrm>
          <a:prstGeom prst="rect">
            <a:avLst/>
          </a:prstGeom>
          <a:solidFill>
            <a:srgbClr val="0B5E8E"/>
          </a:solidFill>
          <a:ln w="12700">
            <a:solidFill>
              <a:srgbClr val="0B5E8E"/>
            </a:solidFill>
            <a:prstDash val="solid"/>
          </a:ln>
        </p:spPr>
        <p:txBody>
          <a:bodyPr/>
          <a:lstStyle/>
          <a:p>
            <a:endParaRPr lang="en-US"/>
          </a:p>
        </p:txBody>
      </p:sp>
    </p:spTree>
    <p:extLst>
      <p:ext uri="{BB962C8B-B14F-4D97-AF65-F5344CB8AC3E}">
        <p14:creationId xmlns:p14="http://schemas.microsoft.com/office/powerpoint/2010/main" val="752631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8671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ASTER">
    <p:bg>
      <p:bgPr>
        <a:solidFill>
          <a:srgbClr val="F7FBFD"/>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C4A6E"/>
          </a:solidFill>
          <a:ln w="12700">
            <a:solidFill>
              <a:srgbClr val="0C4A6E">
                <a:alpha val="0"/>
              </a:srgbClr>
            </a:solidFill>
            <a:prstDash val="solid"/>
          </a:ln>
        </p:spPr>
        <p:txBody>
          <a:bodyPr/>
          <a:lstStyle/>
          <a:p>
            <a:endParaRPr lang="en-US"/>
          </a:p>
        </p:txBody>
      </p:sp>
      <p:sp>
        <p:nvSpPr>
          <p:cNvPr id="3" name="Shape 1"/>
          <p:cNvSpPr/>
          <p:nvPr/>
        </p:nvSpPr>
        <p:spPr>
          <a:xfrm>
            <a:off x="0" y="6510528"/>
            <a:ext cx="12191695" cy="347472"/>
          </a:xfrm>
          <a:prstGeom prst="rect">
            <a:avLst/>
          </a:prstGeom>
          <a:solidFill>
            <a:srgbClr val="EDF5F8"/>
          </a:solidFill>
          <a:ln w="12700">
            <a:solidFill>
              <a:srgbClr val="EDF5F8">
                <a:alpha val="0"/>
              </a:srgbClr>
            </a:solidFill>
            <a:prstDash val="solid"/>
          </a:ln>
        </p:spPr>
        <p:txBody>
          <a:bodyPr/>
          <a:lstStyle/>
          <a:p>
            <a:endParaRPr lang="en-US"/>
          </a:p>
        </p:txBody>
      </p:sp>
      <p:sp>
        <p:nvSpPr>
          <p:cNvPr id="25" name="Slide Number Placeholder 0"/>
          <p:cNvSpPr>
            <a:spLocks noGrp="1"/>
          </p:cNvSpPr>
          <p:nvPr>
            <p:ph type="sldNum" sz="quarter" idx="4294967295"/>
          </p:nvPr>
        </p:nvSpPr>
        <p:spPr>
          <a:xfrm>
            <a:off x="11567160" y="6556248"/>
            <a:ext cx="256032" cy="109728"/>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7280"/>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51288267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2755077"/>
      </p:ext>
    </p:extLst>
  </p:cSld>
  <p:clrMap bg1="lt1" tx1="dk1" bg2="lt2" tx2="dk2" accent1="accent1" accent2="accent2" accent3="accent3" accent4="accent4" accent5="accent5" accent6="accent6" hlink="hlink" folHlink="folHlink"/>
  <p:sldLayoutIdLst>
    <p:sldLayoutId id="2147483651" r:id="rId1"/>
    <p:sldLayoutId id="214748365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556248"/>
            <a:ext cx="256032" cy="109728"/>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7280"/>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05602419"/>
      </p:ext>
    </p:extLst>
  </p:cSld>
  <p:clrMap bg1="lt1" tx1="dk1" bg2="lt2" tx2="dk2" accent1="accent1" accent2="accent2" accent3="accent3" accent4="accent4" accent5="accent5" accent6="accent6" hlink="hlink" folHlink="folHlink"/>
  <p:sldLayoutIdLst>
    <p:sldLayoutId id="2147483654" r:id="rId1"/>
    <p:sldLayoutId id="2147483655"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BFD"/>
        </a:solidFill>
        <a:effectLst/>
      </p:bgPr>
    </p:bg>
    <p:spTree>
      <p:nvGrpSpPr>
        <p:cNvPr id="1" name=""/>
        <p:cNvGrpSpPr/>
        <p:nvPr/>
      </p:nvGrpSpPr>
      <p:grpSpPr>
        <a:xfrm>
          <a:off x="0" y="0"/>
          <a:ext cx="0" cy="0"/>
          <a:chOff x="0" y="0"/>
          <a:chExt cx="0" cy="0"/>
        </a:xfrm>
      </p:grpSpPr>
      <p:sp>
        <p:nvSpPr>
          <p:cNvPr id="2" name="Shape 0"/>
          <p:cNvSpPr/>
          <p:nvPr/>
        </p:nvSpPr>
        <p:spPr>
          <a:xfrm>
            <a:off x="0" y="-20527"/>
            <a:ext cx="12192000" cy="6858000"/>
          </a:xfrm>
          <a:prstGeom prst="rect">
            <a:avLst/>
          </a:prstGeom>
          <a:solidFill>
            <a:srgbClr val="0B3C5D"/>
          </a:solidFill>
          <a:ln w="12700">
            <a:solidFill>
              <a:srgbClr val="0B3C5D">
                <a:alpha val="0"/>
              </a:srgbClr>
            </a:solidFill>
            <a:prstDash val="solid"/>
          </a:ln>
        </p:spPr>
        <p:txBody>
          <a:bodyPr/>
          <a:lstStyle/>
          <a:p>
            <a:endParaRPr lang="en-US"/>
          </a:p>
        </p:txBody>
      </p:sp>
      <p:sp>
        <p:nvSpPr>
          <p:cNvPr id="4" name="Text 1"/>
          <p:cNvSpPr/>
          <p:nvPr/>
        </p:nvSpPr>
        <p:spPr>
          <a:xfrm>
            <a:off x="658368" y="1143000"/>
            <a:ext cx="11014228" cy="1143000"/>
          </a:xfrm>
          <a:prstGeom prst="rect">
            <a:avLst/>
          </a:prstGeom>
          <a:noFill/>
          <a:ln/>
        </p:spPr>
        <p:txBody>
          <a:bodyPr wrap="square" lIns="0" tIns="0" rIns="0" bIns="0" rtlCol="0" anchor="ctr"/>
          <a:lstStyle/>
          <a:p>
            <a:pPr marL="0" indent="0">
              <a:buNone/>
            </a:pPr>
            <a:r>
              <a:rPr lang="en-US" sz="3600" b="1" dirty="0">
                <a:solidFill>
                  <a:srgbClr val="FFFFFF"/>
                </a:solidFill>
                <a:latin typeface="Aptos Display" pitchFamily="34" charset="0"/>
                <a:ea typeface="Aptos Display" pitchFamily="34" charset="-122"/>
                <a:cs typeface="Aptos Display" pitchFamily="34" charset="-120"/>
              </a:rPr>
              <a:t>Flood Protection: Deep Learning for</a:t>
            </a:r>
            <a:endParaRPr lang="en-US" sz="3600" dirty="0"/>
          </a:p>
          <a:p>
            <a:pPr marL="0" indent="0">
              <a:buNone/>
            </a:pPr>
            <a:r>
              <a:rPr lang="en-US" sz="3600" b="1" dirty="0">
                <a:solidFill>
                  <a:srgbClr val="FFFFFF"/>
                </a:solidFill>
                <a:latin typeface="Aptos Display" pitchFamily="34" charset="0"/>
                <a:ea typeface="Aptos Display" pitchFamily="34" charset="-122"/>
                <a:cs typeface="Aptos Display" pitchFamily="34" charset="-120"/>
              </a:rPr>
              <a:t>Water Stage Prediction</a:t>
            </a:r>
            <a:endParaRPr lang="en-US" sz="3600" dirty="0"/>
          </a:p>
        </p:txBody>
      </p:sp>
      <p:sp>
        <p:nvSpPr>
          <p:cNvPr id="5" name="Shape 2"/>
          <p:cNvSpPr/>
          <p:nvPr/>
        </p:nvSpPr>
        <p:spPr>
          <a:xfrm flipV="1">
            <a:off x="676655" y="2416629"/>
            <a:ext cx="10772006" cy="125403"/>
          </a:xfrm>
          <a:prstGeom prst="line">
            <a:avLst/>
          </a:prstGeom>
          <a:noFill/>
          <a:ln w="31750">
            <a:solidFill>
              <a:srgbClr val="73C2BE"/>
            </a:solidFill>
            <a:prstDash val="solid"/>
          </a:ln>
        </p:spPr>
        <p:txBody>
          <a:bodyPr/>
          <a:lstStyle/>
          <a:p>
            <a:endParaRPr lang="en-US"/>
          </a:p>
        </p:txBody>
      </p:sp>
      <p:sp>
        <p:nvSpPr>
          <p:cNvPr id="8" name="Text 5"/>
          <p:cNvSpPr/>
          <p:nvPr/>
        </p:nvSpPr>
        <p:spPr>
          <a:xfrm>
            <a:off x="676656" y="5234473"/>
            <a:ext cx="9988234" cy="892007"/>
          </a:xfrm>
          <a:prstGeom prst="rect">
            <a:avLst/>
          </a:prstGeom>
          <a:noFill/>
          <a:ln/>
        </p:spPr>
        <p:txBody>
          <a:bodyPr wrap="square" lIns="0" tIns="0" rIns="0" bIns="0" rtlCol="0" anchor="ctr"/>
          <a:lstStyle/>
          <a:p>
            <a:pPr marL="0" indent="0">
              <a:buNone/>
            </a:pPr>
            <a:r>
              <a:rPr lang="en-US" sz="1850" dirty="0">
                <a:solidFill>
                  <a:srgbClr val="EAF4F8"/>
                </a:solidFill>
                <a:latin typeface="Aptos" pitchFamily="34" charset="0"/>
                <a:ea typeface="Aptos" pitchFamily="34" charset="-122"/>
                <a:cs typeface="Aptos" pitchFamily="34" charset="-120"/>
              </a:rPr>
              <a:t>Surrogate DL models vs. a 1D–2D HEC-RAS benchmark</a:t>
            </a:r>
            <a:endParaRPr lang="en-US" sz="1850" dirty="0"/>
          </a:p>
        </p:txBody>
      </p:sp>
      <p:sp>
        <p:nvSpPr>
          <p:cNvPr id="10" name="Text 6"/>
          <p:cNvSpPr/>
          <p:nvPr/>
        </p:nvSpPr>
        <p:spPr>
          <a:xfrm>
            <a:off x="11750040" y="6473952"/>
            <a:ext cx="201168" cy="164592"/>
          </a:xfrm>
          <a:prstGeom prst="rect">
            <a:avLst/>
          </a:prstGeom>
          <a:noFill/>
          <a:ln/>
        </p:spPr>
        <p:txBody>
          <a:bodyPr wrap="square" lIns="0" tIns="0" rIns="0" bIns="0" rtlCol="0" anchor="ctr"/>
          <a:lstStyle/>
          <a:p>
            <a:pPr marL="0" indent="0" algn="r">
              <a:buNone/>
            </a:pPr>
            <a:r>
              <a:rPr lang="en-US" sz="1000" dirty="0">
                <a:solidFill>
                  <a:srgbClr val="566573"/>
                </a:solidFill>
                <a:latin typeface="Aptos" pitchFamily="34" charset="0"/>
                <a:ea typeface="Aptos" pitchFamily="34" charset="-122"/>
                <a:cs typeface="Aptos"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BFD"/>
        </a:solidFill>
        <a:effectLst/>
      </p:bgPr>
    </p:bg>
    <p:spTree>
      <p:nvGrpSpPr>
        <p:cNvPr id="1" name=""/>
        <p:cNvGrpSpPr/>
        <p:nvPr/>
      </p:nvGrpSpPr>
      <p:grpSpPr>
        <a:xfrm>
          <a:off x="0" y="0"/>
          <a:ext cx="0" cy="0"/>
          <a:chOff x="0" y="0"/>
          <a:chExt cx="0" cy="0"/>
        </a:xfrm>
      </p:grpSpPr>
      <p:pic>
        <p:nvPicPr>
          <p:cNvPr id="5" name="Image 0" descr="/mnt/data/water_stage_assets/fig1_study_area.png"/>
          <p:cNvPicPr>
            <a:picLocks noChangeAspect="1"/>
          </p:cNvPicPr>
          <p:nvPr/>
        </p:nvPicPr>
        <p:blipFill>
          <a:blip r:embed="rId3"/>
          <a:srcRect l="19377" r="19377"/>
          <a:stretch/>
        </p:blipFill>
        <p:spPr>
          <a:xfrm>
            <a:off x="530352" y="971131"/>
            <a:ext cx="6537960" cy="5074920"/>
          </a:xfrm>
          <a:prstGeom prst="rect">
            <a:avLst/>
          </a:prstGeom>
        </p:spPr>
      </p:pic>
      <p:sp>
        <p:nvSpPr>
          <p:cNvPr id="2" name="Text 0"/>
          <p:cNvSpPr/>
          <p:nvPr/>
        </p:nvSpPr>
        <p:spPr>
          <a:xfrm>
            <a:off x="502920" y="310896"/>
            <a:ext cx="10881360" cy="384048"/>
          </a:xfrm>
          <a:prstGeom prst="rect">
            <a:avLst/>
          </a:prstGeom>
          <a:noFill/>
          <a:ln/>
        </p:spPr>
        <p:txBody>
          <a:bodyPr wrap="square" lIns="0" tIns="0" rIns="0" bIns="0" rtlCol="0" anchor="ctr"/>
          <a:lstStyle/>
          <a:p>
            <a:pPr marL="0" indent="0">
              <a:buNone/>
            </a:pPr>
            <a:r>
              <a:rPr lang="en-US" sz="2800" b="1" dirty="0">
                <a:solidFill>
                  <a:srgbClr val="0B3C5D"/>
                </a:solidFill>
                <a:latin typeface="Aptos Display" pitchFamily="34" charset="0"/>
                <a:ea typeface="Aptos Display" pitchFamily="34" charset="-122"/>
                <a:cs typeface="Aptos Display" pitchFamily="34" charset="-120"/>
              </a:rPr>
              <a:t>Study area and dataset</a:t>
            </a:r>
            <a:endParaRPr lang="en-US" sz="2800" dirty="0"/>
          </a:p>
        </p:txBody>
      </p:sp>
      <p:sp>
        <p:nvSpPr>
          <p:cNvPr id="3" name="Shape 1"/>
          <p:cNvSpPr/>
          <p:nvPr/>
        </p:nvSpPr>
        <p:spPr>
          <a:xfrm>
            <a:off x="502920" y="896112"/>
            <a:ext cx="11109960" cy="0"/>
          </a:xfrm>
          <a:prstGeom prst="line">
            <a:avLst/>
          </a:prstGeom>
          <a:noFill/>
          <a:ln w="31750">
            <a:solidFill>
              <a:srgbClr val="2F97C1"/>
            </a:solidFill>
            <a:prstDash val="solid"/>
          </a:ln>
        </p:spPr>
        <p:txBody>
          <a:bodyPr/>
          <a:lstStyle/>
          <a:p>
            <a:endParaRPr lang="en-US"/>
          </a:p>
        </p:txBody>
      </p:sp>
      <p:sp>
        <p:nvSpPr>
          <p:cNvPr id="6" name="Shape 3"/>
          <p:cNvSpPr/>
          <p:nvPr/>
        </p:nvSpPr>
        <p:spPr>
          <a:xfrm>
            <a:off x="7315200" y="1280160"/>
            <a:ext cx="4343400" cy="2011680"/>
          </a:xfrm>
          <a:prstGeom prst="roundRect">
            <a:avLst>
              <a:gd name="adj" fmla="val 3636"/>
            </a:avLst>
          </a:prstGeom>
          <a:solidFill>
            <a:srgbClr val="EAF4F8"/>
          </a:solidFill>
          <a:ln w="12700">
            <a:solidFill>
              <a:srgbClr val="EAF4F8">
                <a:alpha val="0"/>
              </a:srgbClr>
            </a:solidFill>
            <a:prstDash val="solid"/>
          </a:ln>
        </p:spPr>
        <p:txBody>
          <a:bodyPr/>
          <a:lstStyle/>
          <a:p>
            <a:endParaRPr lang="en-US"/>
          </a:p>
        </p:txBody>
      </p:sp>
      <p:sp>
        <p:nvSpPr>
          <p:cNvPr id="7" name="Shape 4"/>
          <p:cNvSpPr/>
          <p:nvPr/>
        </p:nvSpPr>
        <p:spPr>
          <a:xfrm>
            <a:off x="7296912" y="2920482"/>
            <a:ext cx="4315968" cy="3036230"/>
          </a:xfrm>
          <a:prstGeom prst="roundRect">
            <a:avLst>
              <a:gd name="adj" fmla="val 2712"/>
            </a:avLst>
          </a:prstGeom>
          <a:solidFill>
            <a:srgbClr val="F6F1E8"/>
          </a:solidFill>
          <a:ln w="12700">
            <a:solidFill>
              <a:srgbClr val="F6F1E8">
                <a:alpha val="0"/>
              </a:srgbClr>
            </a:solidFill>
            <a:prstDash val="solid"/>
          </a:ln>
        </p:spPr>
        <p:txBody>
          <a:bodyPr/>
          <a:lstStyle/>
          <a:p>
            <a:endParaRPr lang="en-US"/>
          </a:p>
        </p:txBody>
      </p:sp>
      <p:sp>
        <p:nvSpPr>
          <p:cNvPr id="8" name="Text 5"/>
          <p:cNvSpPr/>
          <p:nvPr/>
        </p:nvSpPr>
        <p:spPr>
          <a:xfrm>
            <a:off x="7655207" y="1509554"/>
            <a:ext cx="3729073" cy="1617693"/>
          </a:xfrm>
          <a:prstGeom prst="rect">
            <a:avLst/>
          </a:prstGeom>
          <a:noFill/>
          <a:ln/>
        </p:spPr>
        <p:txBody>
          <a:bodyPr wrap="square" lIns="254" tIns="254" rIns="254" bIns="254" rtlCol="0" anchor="t">
            <a:normAutofit/>
          </a:bodyPr>
          <a:lstStyle/>
          <a:p>
            <a:pPr marL="0" indent="0">
              <a:buNone/>
            </a:pPr>
            <a:r>
              <a:rPr lang="en-US" sz="2200" b="1" dirty="0">
                <a:solidFill>
                  <a:srgbClr val="0B3C5D"/>
                </a:solidFill>
                <a:latin typeface="Aptos" pitchFamily="34" charset="0"/>
                <a:ea typeface="Aptos" pitchFamily="34" charset="-122"/>
                <a:cs typeface="Aptos" pitchFamily="34" charset="-120"/>
              </a:rPr>
              <a:t>11 years of hourly records</a:t>
            </a:r>
            <a:endParaRPr lang="en-US" sz="2200" dirty="0"/>
          </a:p>
          <a:p>
            <a:pPr marL="0" indent="0">
              <a:buNone/>
            </a:pPr>
            <a:r>
              <a:rPr lang="en-US" sz="2200" b="1" dirty="0">
                <a:solidFill>
                  <a:srgbClr val="0B3C5D"/>
                </a:solidFill>
                <a:latin typeface="Aptos" pitchFamily="34" charset="0"/>
                <a:ea typeface="Aptos" pitchFamily="34" charset="-122"/>
                <a:cs typeface="Aptos" pitchFamily="34" charset="-120"/>
              </a:rPr>
              <a:t>5 gauged stations</a:t>
            </a:r>
            <a:endParaRPr lang="en-US" sz="2200" dirty="0"/>
          </a:p>
          <a:p>
            <a:pPr marL="0" indent="0">
              <a:buNone/>
            </a:pPr>
            <a:r>
              <a:rPr lang="en-US" sz="2200" b="1" dirty="0">
                <a:solidFill>
                  <a:srgbClr val="0B3C5D"/>
                </a:solidFill>
                <a:latin typeface="Aptos" pitchFamily="34" charset="0"/>
                <a:ea typeface="Aptos" pitchFamily="34" charset="-122"/>
                <a:cs typeface="Aptos" pitchFamily="34" charset="-120"/>
              </a:rPr>
              <a:t>4 target stages</a:t>
            </a:r>
            <a:endParaRPr lang="en-US" sz="2200" dirty="0"/>
          </a:p>
          <a:p>
            <a:pPr marL="0" indent="0">
              <a:buNone/>
            </a:pPr>
            <a:r>
              <a:rPr lang="en-US" sz="2200" b="1" dirty="0">
                <a:solidFill>
                  <a:srgbClr val="0B3C5D"/>
                </a:solidFill>
                <a:latin typeface="Aptos" pitchFamily="34" charset="0"/>
                <a:ea typeface="Aptos" pitchFamily="34" charset="-122"/>
                <a:cs typeface="Aptos" pitchFamily="34" charset="-120"/>
              </a:rPr>
              <a:t>1D–2D HEC-RAS benchmark</a:t>
            </a:r>
            <a:endParaRPr lang="en-US" sz="2200" dirty="0"/>
          </a:p>
        </p:txBody>
      </p:sp>
      <p:sp>
        <p:nvSpPr>
          <p:cNvPr id="9" name="Text 6"/>
          <p:cNvSpPr/>
          <p:nvPr/>
        </p:nvSpPr>
        <p:spPr>
          <a:xfrm>
            <a:off x="7609486" y="3127246"/>
            <a:ext cx="3793081" cy="2829465"/>
          </a:xfrm>
          <a:prstGeom prst="rect">
            <a:avLst/>
          </a:prstGeom>
          <a:noFill/>
          <a:ln/>
        </p:spPr>
        <p:txBody>
          <a:bodyPr wrap="square" lIns="254" tIns="254" rIns="254" bIns="254" rtlCol="0" anchor="t">
            <a:normAutofit fontScale="92500"/>
          </a:bodyPr>
          <a:lstStyle/>
          <a:p>
            <a:pPr marL="0" indent="0">
              <a:buNone/>
            </a:pPr>
            <a:r>
              <a:rPr lang="en-US" sz="1900" dirty="0">
                <a:latin typeface="Aptos" pitchFamily="34" charset="0"/>
                <a:ea typeface="Aptos" pitchFamily="34" charset="-122"/>
                <a:cs typeface="Aptos" pitchFamily="34" charset="-120"/>
              </a:rPr>
              <a:t>• Lower 5.6 miles of the Miami River plus tributaries C4 and C6.</a:t>
            </a:r>
            <a:endParaRPr lang="en-US" sz="1900" dirty="0"/>
          </a:p>
          <a:p>
            <a:pPr marL="0" indent="0">
              <a:buNone/>
            </a:pPr>
            <a:r>
              <a:rPr lang="en-US" sz="1900" dirty="0">
                <a:latin typeface="Aptos" pitchFamily="34" charset="0"/>
                <a:ea typeface="Aptos" pitchFamily="34" charset="-122"/>
                <a:cs typeface="Aptos" pitchFamily="34" charset="-120"/>
              </a:rPr>
              <a:t>• Downstream water levels are strongly affected by Biscayne Bay tides.</a:t>
            </a:r>
            <a:endParaRPr lang="en-US" sz="1900" dirty="0"/>
          </a:p>
          <a:p>
            <a:pPr marL="0" indent="0">
              <a:buNone/>
            </a:pPr>
            <a:r>
              <a:rPr lang="en-US" sz="1900" dirty="0">
                <a:latin typeface="Aptos" pitchFamily="34" charset="0"/>
                <a:ea typeface="Aptos" pitchFamily="34" charset="-122"/>
                <a:cs typeface="Aptos" pitchFamily="34" charset="-120"/>
              </a:rPr>
              <a:t>• Hydraulic structures at S25A, S25B, and S26 include gates and/or pumps.</a:t>
            </a:r>
            <a:endParaRPr lang="en-US" sz="1900" dirty="0"/>
          </a:p>
          <a:p>
            <a:pPr marL="0" indent="0">
              <a:buNone/>
            </a:pPr>
            <a:r>
              <a:rPr lang="en-US" sz="1900" dirty="0">
                <a:latin typeface="Aptos" pitchFamily="34" charset="0"/>
                <a:ea typeface="Aptos" pitchFamily="34" charset="-122"/>
                <a:cs typeface="Aptos" pitchFamily="34" charset="-120"/>
              </a:rPr>
              <a:t>• Inputs include rainfall, tide at S4, gate flow, pump flow, and recent water stages.</a:t>
            </a:r>
            <a:endParaRPr lang="en-US" sz="1900" dirty="0"/>
          </a:p>
        </p:txBody>
      </p:sp>
      <p:sp>
        <p:nvSpPr>
          <p:cNvPr id="10" name="Text 7"/>
          <p:cNvSpPr/>
          <p:nvPr/>
        </p:nvSpPr>
        <p:spPr>
          <a:xfrm>
            <a:off x="658368" y="6382512"/>
            <a:ext cx="7151354" cy="475488"/>
          </a:xfrm>
          <a:prstGeom prst="rect">
            <a:avLst/>
          </a:prstGeom>
          <a:noFill/>
          <a:ln/>
        </p:spPr>
        <p:txBody>
          <a:bodyPr wrap="square" lIns="254" tIns="254" rIns="254" bIns="254" rtlCol="0" anchor="t">
            <a:normAutofit/>
          </a:bodyPr>
          <a:lstStyle/>
          <a:p>
            <a:pPr marL="0" indent="0">
              <a:buNone/>
            </a:pPr>
            <a:r>
              <a:rPr lang="en-US" dirty="0">
                <a:latin typeface="Aptos" pitchFamily="34" charset="0"/>
                <a:ea typeface="Aptos" pitchFamily="34" charset="-122"/>
                <a:cs typeface="Aptos" pitchFamily="34" charset="-120"/>
              </a:rPr>
              <a:t>Targets: water stage at S1 and tailwater stage at S25A, S25B, and S26.</a:t>
            </a:r>
            <a:endParaRPr lang="en-US" dirty="0"/>
          </a:p>
        </p:txBody>
      </p:sp>
      <p:sp>
        <p:nvSpPr>
          <p:cNvPr id="12" name="Text 8"/>
          <p:cNvSpPr/>
          <p:nvPr/>
        </p:nvSpPr>
        <p:spPr>
          <a:xfrm>
            <a:off x="11750040" y="6473952"/>
            <a:ext cx="201168" cy="164592"/>
          </a:xfrm>
          <a:prstGeom prst="rect">
            <a:avLst/>
          </a:prstGeom>
          <a:noFill/>
          <a:ln/>
        </p:spPr>
        <p:txBody>
          <a:bodyPr wrap="square" lIns="0" tIns="0" rIns="0" bIns="0" rtlCol="0" anchor="ctr"/>
          <a:lstStyle/>
          <a:p>
            <a:pPr marL="0" indent="0" algn="r">
              <a:buNone/>
            </a:pPr>
            <a:r>
              <a:rPr lang="en-US" sz="1000" dirty="0">
                <a:solidFill>
                  <a:srgbClr val="566573"/>
                </a:solidFill>
                <a:latin typeface="Aptos" pitchFamily="34" charset="0"/>
                <a:ea typeface="Aptos" pitchFamily="34" charset="-122"/>
                <a:cs typeface="Aptos" pitchFamily="34" charset="-120"/>
              </a:rPr>
              <a:t>2</a:t>
            </a:r>
            <a:endParaRPr lang="en-US" sz="1000" dirty="0"/>
          </a:p>
        </p:txBody>
      </p:sp>
      <p:sp>
        <p:nvSpPr>
          <p:cNvPr id="4" name="Text 2"/>
          <p:cNvSpPr/>
          <p:nvPr/>
        </p:nvSpPr>
        <p:spPr>
          <a:xfrm>
            <a:off x="502920" y="923170"/>
            <a:ext cx="6029068" cy="544657"/>
          </a:xfrm>
          <a:prstGeom prst="rect">
            <a:avLst/>
          </a:prstGeom>
          <a:solidFill>
            <a:schemeClr val="bg1"/>
          </a:solidFill>
          <a:ln/>
        </p:spPr>
        <p:txBody>
          <a:bodyPr wrap="square" lIns="0" tIns="0" rIns="0" bIns="0" rtlCol="0" anchor="ctr"/>
          <a:lstStyle/>
          <a:p>
            <a:pPr marL="0" indent="0">
              <a:buNone/>
            </a:pPr>
            <a:r>
              <a:rPr lang="en-US" sz="2000" dirty="0">
                <a:latin typeface="Aptos" pitchFamily="34" charset="0"/>
                <a:ea typeface="Aptos" pitchFamily="34" charset="-122"/>
                <a:cs typeface="Aptos" pitchFamily="34" charset="-120"/>
              </a:rPr>
              <a:t>A demanding water-resources forecasting problem</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051560"/>
            <a:ext cx="5202936" cy="1399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63247"/>
                </a:solidFill>
                <a:effectLst/>
                <a:uLnTx/>
                <a:uFillTx/>
                <a:latin typeface="Arial"/>
                <a:ea typeface="+mn-ea"/>
                <a:cs typeface="+mn-cs"/>
              </a:rPr>
              <a:t>LSTM Forecasting: Single-Step vs Multi-Step</a:t>
            </a:r>
            <a:endParaRPr kumimoji="0" lang="en-US" sz="28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Shape 2"/>
          <p:cNvSpPr/>
          <p:nvPr/>
        </p:nvSpPr>
        <p:spPr>
          <a:xfrm>
            <a:off x="548640" y="2743200"/>
            <a:ext cx="5212080" cy="2148840"/>
          </a:xfrm>
          <a:prstGeom prst="roundRect">
            <a:avLst>
              <a:gd name="adj" fmla="val 2128"/>
            </a:avLst>
          </a:prstGeom>
          <a:solidFill>
            <a:srgbClr val="EAF3F8"/>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 name="Text 3"/>
          <p:cNvSpPr/>
          <p:nvPr/>
        </p:nvSpPr>
        <p:spPr>
          <a:xfrm>
            <a:off x="685800" y="3096883"/>
            <a:ext cx="49377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163247"/>
                </a:solidFill>
                <a:latin typeface="Arial"/>
              </a:rPr>
              <a:t>Goals</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4"/>
          <p:cNvSpPr/>
          <p:nvPr/>
        </p:nvSpPr>
        <p:spPr>
          <a:xfrm>
            <a:off x="685800" y="3154680"/>
            <a:ext cx="4937760" cy="164592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 turn hourly data into LSTM samples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 compare 1-step and 24-step forecasts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 connect model choice to operations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Shape 5"/>
          <p:cNvSpPr/>
          <p:nvPr/>
        </p:nvSpPr>
        <p:spPr>
          <a:xfrm>
            <a:off x="6492240" y="960120"/>
            <a:ext cx="5074920" cy="4663440"/>
          </a:xfrm>
          <a:prstGeom prst="roundRect">
            <a:avLst>
              <a:gd name="adj" fmla="val 980"/>
            </a:avLst>
          </a:prstGeom>
          <a:solidFill>
            <a:srgbClr val="FFFFFF"/>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8" name="Text 6"/>
          <p:cNvSpPr/>
          <p:nvPr/>
        </p:nvSpPr>
        <p:spPr>
          <a:xfrm>
            <a:off x="6720840" y="1143000"/>
            <a:ext cx="1828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3247"/>
                </a:solidFill>
                <a:effectLst/>
                <a:uLnTx/>
                <a:uFillTx/>
                <a:latin typeface="Arial"/>
                <a:ea typeface="+mn-ea"/>
                <a:cs typeface="+mn-cs"/>
              </a:rPr>
              <a:t>Forecasting idea</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Text 7"/>
          <p:cNvSpPr/>
          <p:nvPr/>
        </p:nvSpPr>
        <p:spPr>
          <a:xfrm>
            <a:off x="6739128" y="1627632"/>
            <a:ext cx="36576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C6E7C"/>
                </a:solidFill>
                <a:effectLst/>
                <a:uLnTx/>
                <a:uFillTx/>
                <a:latin typeface="Arial"/>
                <a:ea typeface="+mn-ea"/>
                <a:cs typeface="+mn-cs"/>
              </a:rPr>
              <a:t>Recent 24 hours -&gt; future forecast</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Shape 8"/>
          <p:cNvSpPr/>
          <p:nvPr/>
        </p:nvSpPr>
        <p:spPr>
          <a:xfrm>
            <a:off x="6812280" y="1965960"/>
            <a:ext cx="384048" cy="384048"/>
          </a:xfrm>
          <a:prstGeom prst="roundRect">
            <a:avLst>
              <a:gd name="adj" fmla="val 4762"/>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1" name="Shape 9"/>
          <p:cNvSpPr/>
          <p:nvPr/>
        </p:nvSpPr>
        <p:spPr>
          <a:xfrm>
            <a:off x="7269480" y="1965960"/>
            <a:ext cx="384048" cy="384048"/>
          </a:xfrm>
          <a:prstGeom prst="roundRect">
            <a:avLst>
              <a:gd name="adj" fmla="val 4762"/>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2" name="Shape 10"/>
          <p:cNvSpPr/>
          <p:nvPr/>
        </p:nvSpPr>
        <p:spPr>
          <a:xfrm>
            <a:off x="7726680" y="1965960"/>
            <a:ext cx="384048" cy="384048"/>
          </a:xfrm>
          <a:prstGeom prst="roundRect">
            <a:avLst>
              <a:gd name="adj" fmla="val 4762"/>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3" name="Shape 11"/>
          <p:cNvSpPr/>
          <p:nvPr/>
        </p:nvSpPr>
        <p:spPr>
          <a:xfrm>
            <a:off x="8183880" y="1965960"/>
            <a:ext cx="384048" cy="384048"/>
          </a:xfrm>
          <a:prstGeom prst="roundRect">
            <a:avLst>
              <a:gd name="adj" fmla="val 4762"/>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4" name="Shape 12"/>
          <p:cNvSpPr/>
          <p:nvPr/>
        </p:nvSpPr>
        <p:spPr>
          <a:xfrm>
            <a:off x="8641080" y="1965960"/>
            <a:ext cx="384048" cy="384048"/>
          </a:xfrm>
          <a:prstGeom prst="roundRect">
            <a:avLst>
              <a:gd name="adj" fmla="val 4762"/>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5" name="Shape 13"/>
          <p:cNvSpPr/>
          <p:nvPr/>
        </p:nvSpPr>
        <p:spPr>
          <a:xfrm>
            <a:off x="9098280" y="1965960"/>
            <a:ext cx="384048" cy="384048"/>
          </a:xfrm>
          <a:prstGeom prst="roundRect">
            <a:avLst>
              <a:gd name="adj" fmla="val 4762"/>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6" name="Text 14"/>
          <p:cNvSpPr/>
          <p:nvPr/>
        </p:nvSpPr>
        <p:spPr>
          <a:xfrm>
            <a:off x="6812280" y="2432304"/>
            <a:ext cx="164592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B5E8E"/>
                </a:solidFill>
                <a:effectLst/>
                <a:uLnTx/>
                <a:uFillTx/>
                <a:latin typeface="Arial"/>
                <a:ea typeface="+mn-ea"/>
                <a:cs typeface="+mn-cs"/>
              </a:rPr>
              <a:t>Input window</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Shape 15"/>
          <p:cNvSpPr/>
          <p:nvPr/>
        </p:nvSpPr>
        <p:spPr>
          <a:xfrm>
            <a:off x="9555480" y="2039112"/>
            <a:ext cx="292608" cy="182880"/>
          </a:xfrm>
          <a:prstGeom prst="chevron">
            <a:avLst/>
          </a:prstGeom>
          <a:solidFill>
            <a:srgbClr val="D97904"/>
          </a:solidFill>
          <a:ln w="12700">
            <a:solidFill>
              <a:srgbClr val="D9790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8" name="Shape 16"/>
          <p:cNvSpPr/>
          <p:nvPr/>
        </p:nvSpPr>
        <p:spPr>
          <a:xfrm>
            <a:off x="10012680" y="1901952"/>
            <a:ext cx="566928" cy="475488"/>
          </a:xfrm>
          <a:prstGeom prst="roundRect">
            <a:avLst>
              <a:gd name="adj" fmla="val 3846"/>
            </a:avLst>
          </a:prstGeom>
          <a:solidFill>
            <a:srgbClr val="D97904"/>
          </a:solidFill>
          <a:ln w="12700">
            <a:solidFill>
              <a:srgbClr val="D9790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9" name="Text 17"/>
          <p:cNvSpPr/>
          <p:nvPr/>
        </p:nvSpPr>
        <p:spPr>
          <a:xfrm>
            <a:off x="10012680" y="2048256"/>
            <a:ext cx="566928" cy="12801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1 hr</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 18"/>
          <p:cNvSpPr/>
          <p:nvPr/>
        </p:nvSpPr>
        <p:spPr>
          <a:xfrm>
            <a:off x="9646920" y="2450592"/>
            <a:ext cx="1234440"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D97904"/>
                </a:solidFill>
                <a:effectLst/>
                <a:uLnTx/>
                <a:uFillTx/>
                <a:latin typeface="Arial"/>
                <a:ea typeface="+mn-ea"/>
                <a:cs typeface="+mn-cs"/>
              </a:rPr>
              <a:t>Single-step</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Shape 19"/>
          <p:cNvSpPr/>
          <p:nvPr/>
        </p:nvSpPr>
        <p:spPr>
          <a:xfrm>
            <a:off x="6812280" y="3520440"/>
            <a:ext cx="384048" cy="384048"/>
          </a:xfrm>
          <a:prstGeom prst="roundRect">
            <a:avLst>
              <a:gd name="adj" fmla="val 4762"/>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2" name="Shape 20"/>
          <p:cNvSpPr/>
          <p:nvPr/>
        </p:nvSpPr>
        <p:spPr>
          <a:xfrm>
            <a:off x="7269480" y="3520440"/>
            <a:ext cx="384048" cy="384048"/>
          </a:xfrm>
          <a:prstGeom prst="roundRect">
            <a:avLst>
              <a:gd name="adj" fmla="val 4762"/>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3" name="Shape 21"/>
          <p:cNvSpPr/>
          <p:nvPr/>
        </p:nvSpPr>
        <p:spPr>
          <a:xfrm>
            <a:off x="7726680" y="3520440"/>
            <a:ext cx="384048" cy="384048"/>
          </a:xfrm>
          <a:prstGeom prst="roundRect">
            <a:avLst>
              <a:gd name="adj" fmla="val 4762"/>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4" name="Shape 22"/>
          <p:cNvSpPr/>
          <p:nvPr/>
        </p:nvSpPr>
        <p:spPr>
          <a:xfrm>
            <a:off x="8183880" y="3520440"/>
            <a:ext cx="384048" cy="384048"/>
          </a:xfrm>
          <a:prstGeom prst="roundRect">
            <a:avLst>
              <a:gd name="adj" fmla="val 4762"/>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5" name="Shape 23"/>
          <p:cNvSpPr/>
          <p:nvPr/>
        </p:nvSpPr>
        <p:spPr>
          <a:xfrm>
            <a:off x="8641080" y="3520440"/>
            <a:ext cx="384048" cy="384048"/>
          </a:xfrm>
          <a:prstGeom prst="roundRect">
            <a:avLst>
              <a:gd name="adj" fmla="val 4762"/>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6" name="Shape 24"/>
          <p:cNvSpPr/>
          <p:nvPr/>
        </p:nvSpPr>
        <p:spPr>
          <a:xfrm>
            <a:off x="9098280" y="3520440"/>
            <a:ext cx="384048" cy="384048"/>
          </a:xfrm>
          <a:prstGeom prst="roundRect">
            <a:avLst>
              <a:gd name="adj" fmla="val 4762"/>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7" name="Text 25"/>
          <p:cNvSpPr/>
          <p:nvPr/>
        </p:nvSpPr>
        <p:spPr>
          <a:xfrm>
            <a:off x="6812280" y="3986784"/>
            <a:ext cx="164592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98F8A"/>
                </a:solidFill>
                <a:effectLst/>
                <a:uLnTx/>
                <a:uFillTx/>
                <a:latin typeface="Arial"/>
                <a:ea typeface="+mn-ea"/>
                <a:cs typeface="+mn-cs"/>
              </a:rPr>
              <a:t>Input window</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8" name="Shape 26"/>
          <p:cNvSpPr/>
          <p:nvPr/>
        </p:nvSpPr>
        <p:spPr>
          <a:xfrm>
            <a:off x="9555480" y="3593592"/>
            <a:ext cx="292608" cy="182880"/>
          </a:xfrm>
          <a:prstGeom prst="chevron">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9" name="Shape 27"/>
          <p:cNvSpPr/>
          <p:nvPr/>
        </p:nvSpPr>
        <p:spPr>
          <a:xfrm>
            <a:off x="10012680" y="3456432"/>
            <a:ext cx="210312" cy="475488"/>
          </a:xfrm>
          <a:prstGeom prst="roundRect">
            <a:avLst>
              <a:gd name="adj" fmla="val 8696"/>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0" name="Shape 28"/>
          <p:cNvSpPr/>
          <p:nvPr/>
        </p:nvSpPr>
        <p:spPr>
          <a:xfrm>
            <a:off x="10268712" y="3456432"/>
            <a:ext cx="210312" cy="475488"/>
          </a:xfrm>
          <a:prstGeom prst="roundRect">
            <a:avLst>
              <a:gd name="adj" fmla="val 8696"/>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1" name="Shape 29"/>
          <p:cNvSpPr/>
          <p:nvPr/>
        </p:nvSpPr>
        <p:spPr>
          <a:xfrm>
            <a:off x="10524744" y="3456432"/>
            <a:ext cx="210312" cy="475488"/>
          </a:xfrm>
          <a:prstGeom prst="roundRect">
            <a:avLst>
              <a:gd name="adj" fmla="val 8696"/>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2" name="Shape 30"/>
          <p:cNvSpPr/>
          <p:nvPr/>
        </p:nvSpPr>
        <p:spPr>
          <a:xfrm>
            <a:off x="10780776" y="3456432"/>
            <a:ext cx="210312" cy="475488"/>
          </a:xfrm>
          <a:prstGeom prst="roundRect">
            <a:avLst>
              <a:gd name="adj" fmla="val 8696"/>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3" name="Shape 31"/>
          <p:cNvSpPr/>
          <p:nvPr/>
        </p:nvSpPr>
        <p:spPr>
          <a:xfrm>
            <a:off x="11036808" y="3456432"/>
            <a:ext cx="210312" cy="475488"/>
          </a:xfrm>
          <a:prstGeom prst="roundRect">
            <a:avLst>
              <a:gd name="adj" fmla="val 8696"/>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4" name="Shape 32"/>
          <p:cNvSpPr/>
          <p:nvPr/>
        </p:nvSpPr>
        <p:spPr>
          <a:xfrm>
            <a:off x="11292840" y="3456432"/>
            <a:ext cx="210312" cy="475488"/>
          </a:xfrm>
          <a:prstGeom prst="roundRect">
            <a:avLst>
              <a:gd name="adj" fmla="val 8696"/>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5" name="Text 33"/>
          <p:cNvSpPr/>
          <p:nvPr/>
        </p:nvSpPr>
        <p:spPr>
          <a:xfrm>
            <a:off x="9829800" y="4005072"/>
            <a:ext cx="1508760"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C8D40"/>
                </a:solidFill>
                <a:effectLst/>
                <a:uLnTx/>
                <a:uFillTx/>
                <a:latin typeface="Arial"/>
                <a:ea typeface="+mn-ea"/>
                <a:cs typeface="+mn-cs"/>
              </a:rPr>
              <a:t>24-step path</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6" name="TextBox 35">
            <a:extLst>
              <a:ext uri="{FF2B5EF4-FFF2-40B4-BE49-F238E27FC236}">
                <a16:creationId xmlns:a16="http://schemas.microsoft.com/office/drawing/2014/main" id="{ADC62AE2-446B-AE8A-5530-67F69C24B7CB}"/>
              </a:ext>
            </a:extLst>
          </p:cNvPr>
          <p:cNvSpPr txBox="1"/>
          <p:nvPr/>
        </p:nvSpPr>
        <p:spPr>
          <a:xfrm>
            <a:off x="453750" y="154929"/>
            <a:ext cx="7344530" cy="584775"/>
          </a:xfrm>
          <a:prstGeom prst="rect">
            <a:avLst/>
          </a:prstGeom>
          <a:noFill/>
        </p:spPr>
        <p:txBody>
          <a:bodyPr wrap="square" rtlCol="0">
            <a:spAutoFit/>
          </a:bodyPr>
          <a:lstStyle/>
          <a:p>
            <a:r>
              <a:rPr lang="en-US" sz="3200" b="1" dirty="0">
                <a:solidFill>
                  <a:schemeClr val="bg1"/>
                </a:solidFill>
              </a:rPr>
              <a:t>Notebook Example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9768" y="178308"/>
            <a:ext cx="69494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latin typeface="Arial"/>
                <a:ea typeface="+mn-ea"/>
                <a:cs typeface="+mn-cs"/>
              </a:rPr>
              <a:t>Dataset and notebook setup</a:t>
            </a:r>
            <a:endParaRPr kumimoji="0" lang="en-US" sz="2400" b="0" i="0" u="none" strike="noStrike" kern="1200" cap="none" spc="0" normalizeH="0" baseline="0" noProof="0" dirty="0">
              <a:ln>
                <a:noFill/>
              </a:ln>
              <a:solidFill>
                <a:schemeClr val="bg1"/>
              </a:solidFill>
              <a:effectLst/>
              <a:uLnTx/>
              <a:uFillTx/>
              <a:latin typeface="Arial"/>
              <a:ea typeface="+mn-ea"/>
              <a:cs typeface="+mn-cs"/>
            </a:endParaRPr>
          </a:p>
        </p:txBody>
      </p:sp>
      <p:sp>
        <p:nvSpPr>
          <p:cNvPr id="4" name="Shape 2"/>
          <p:cNvSpPr/>
          <p:nvPr/>
        </p:nvSpPr>
        <p:spPr>
          <a:xfrm>
            <a:off x="594360" y="1417320"/>
            <a:ext cx="2468880" cy="868680"/>
          </a:xfrm>
          <a:prstGeom prst="roundRect">
            <a:avLst>
              <a:gd name="adj" fmla="val 5263"/>
            </a:avLst>
          </a:prstGeom>
          <a:solidFill>
            <a:srgbClr val="EAF3F8"/>
          </a:solidFill>
          <a:ln w="12700">
            <a:solidFill>
              <a:srgbClr val="EAF3F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 name="Text 3"/>
          <p:cNvSpPr/>
          <p:nvPr/>
        </p:nvSpPr>
        <p:spPr>
          <a:xfrm>
            <a:off x="667512" y="1499616"/>
            <a:ext cx="2322576"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5C6E7C"/>
                </a:solidFill>
                <a:effectLst/>
                <a:uLnTx/>
                <a:uFillTx/>
                <a:latin typeface="Arial"/>
                <a:ea typeface="+mn-ea"/>
                <a:cs typeface="+mn-cs"/>
              </a:rPr>
              <a:t>Hourly rows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4"/>
          <p:cNvSpPr/>
          <p:nvPr/>
        </p:nvSpPr>
        <p:spPr>
          <a:xfrm>
            <a:off x="640080" y="1801368"/>
            <a:ext cx="23774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247"/>
                </a:solidFill>
                <a:effectLst/>
                <a:uLnTx/>
                <a:uFillTx/>
                <a:latin typeface="Arial"/>
                <a:ea typeface="+mn-ea"/>
                <a:cs typeface="+mn-cs"/>
              </a:rPr>
              <a:t>96,432</a:t>
            </a: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Shape 5"/>
          <p:cNvSpPr/>
          <p:nvPr/>
        </p:nvSpPr>
        <p:spPr>
          <a:xfrm>
            <a:off x="3200400" y="1417320"/>
            <a:ext cx="2468880" cy="868680"/>
          </a:xfrm>
          <a:prstGeom prst="roundRect">
            <a:avLst>
              <a:gd name="adj" fmla="val 5263"/>
            </a:avLst>
          </a:prstGeom>
          <a:solidFill>
            <a:srgbClr val="EAF7F6"/>
          </a:solidFill>
          <a:ln w="12700">
            <a:solidFill>
              <a:srgbClr val="EAF7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8" name="Text 6"/>
          <p:cNvSpPr/>
          <p:nvPr/>
        </p:nvSpPr>
        <p:spPr>
          <a:xfrm>
            <a:off x="3273552" y="1499616"/>
            <a:ext cx="2322576"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5C6E7C"/>
                </a:solidFill>
                <a:effectLst/>
                <a:uLnTx/>
                <a:uFillTx/>
                <a:latin typeface="Arial"/>
                <a:ea typeface="+mn-ea"/>
                <a:cs typeface="+mn-cs"/>
              </a:rPr>
              <a:t>Numeric inputs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Text 7"/>
          <p:cNvSpPr/>
          <p:nvPr/>
        </p:nvSpPr>
        <p:spPr>
          <a:xfrm>
            <a:off x="3246120" y="1801368"/>
            <a:ext cx="23774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247"/>
                </a:solidFill>
                <a:effectLst/>
                <a:uLnTx/>
                <a:uFillTx/>
                <a:latin typeface="Arial"/>
                <a:ea typeface="+mn-ea"/>
                <a:cs typeface="+mn-cs"/>
              </a:rPr>
              <a:t>19</a:t>
            </a: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Shape 8"/>
          <p:cNvSpPr/>
          <p:nvPr/>
        </p:nvSpPr>
        <p:spPr>
          <a:xfrm>
            <a:off x="5806440" y="1417320"/>
            <a:ext cx="2468880" cy="868680"/>
          </a:xfrm>
          <a:prstGeom prst="roundRect">
            <a:avLst>
              <a:gd name="adj" fmla="val 5263"/>
            </a:avLst>
          </a:prstGeom>
          <a:solidFill>
            <a:srgbClr val="FCEEDB"/>
          </a:solidFill>
          <a:ln w="12700">
            <a:solidFill>
              <a:srgbClr val="FCEE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1" name="Text 9"/>
          <p:cNvSpPr/>
          <p:nvPr/>
        </p:nvSpPr>
        <p:spPr>
          <a:xfrm>
            <a:off x="5879592" y="1499616"/>
            <a:ext cx="2322576"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5C6E7C"/>
                </a:solidFill>
                <a:effectLst/>
                <a:uLnTx/>
                <a:uFillTx/>
                <a:latin typeface="Arial"/>
                <a:ea typeface="+mn-ea"/>
                <a:cs typeface="+mn-cs"/>
              </a:rPr>
              <a:t>Target</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10"/>
          <p:cNvSpPr/>
          <p:nvPr/>
        </p:nvSpPr>
        <p:spPr>
          <a:xfrm>
            <a:off x="5852160" y="1801368"/>
            <a:ext cx="23774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247"/>
                </a:solidFill>
                <a:effectLst/>
                <a:uLnTx/>
                <a:uFillTx/>
                <a:latin typeface="Arial"/>
                <a:ea typeface="+mn-ea"/>
                <a:cs typeface="+mn-cs"/>
              </a:rPr>
              <a:t>WS_S1</a:t>
            </a: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11"/>
          <p:cNvSpPr/>
          <p:nvPr/>
        </p:nvSpPr>
        <p:spPr>
          <a:xfrm>
            <a:off x="8412480" y="1417320"/>
            <a:ext cx="2743200" cy="868680"/>
          </a:xfrm>
          <a:prstGeom prst="roundRect">
            <a:avLst>
              <a:gd name="adj" fmla="val 5263"/>
            </a:avLst>
          </a:prstGeom>
          <a:solidFill>
            <a:srgbClr val="EEF6EE"/>
          </a:solidFill>
          <a:ln w="12700">
            <a:solidFill>
              <a:srgbClr val="EEF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4" name="Text 12"/>
          <p:cNvSpPr/>
          <p:nvPr/>
        </p:nvSpPr>
        <p:spPr>
          <a:xfrm>
            <a:off x="8485632" y="1499616"/>
            <a:ext cx="2596896"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5C6E7C"/>
                </a:solidFill>
                <a:effectLst/>
                <a:uLnTx/>
                <a:uFillTx/>
                <a:latin typeface="Arial"/>
                <a:ea typeface="+mn-ea"/>
                <a:cs typeface="+mn-cs"/>
              </a:rPr>
              <a:t>Train / test</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Text 13"/>
          <p:cNvSpPr/>
          <p:nvPr/>
        </p:nvSpPr>
        <p:spPr>
          <a:xfrm>
            <a:off x="8458200" y="1801368"/>
            <a:ext cx="265176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247"/>
                </a:solidFill>
                <a:effectLst/>
                <a:uLnTx/>
                <a:uFillTx/>
                <a:latin typeface="Arial"/>
                <a:ea typeface="+mn-ea"/>
                <a:cs typeface="+mn-cs"/>
              </a:rPr>
              <a:t>80% / 20%</a:t>
            </a: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Shape 14"/>
          <p:cNvSpPr/>
          <p:nvPr/>
        </p:nvSpPr>
        <p:spPr>
          <a:xfrm>
            <a:off x="685800" y="2743200"/>
            <a:ext cx="5303520" cy="2331720"/>
          </a:xfrm>
          <a:prstGeom prst="roundRect">
            <a:avLst>
              <a:gd name="adj" fmla="val 1961"/>
            </a:avLst>
          </a:prstGeom>
          <a:solidFill>
            <a:srgbClr val="FFFFFF"/>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7" name="Text 15"/>
          <p:cNvSpPr/>
          <p:nvPr/>
        </p:nvSpPr>
        <p:spPr>
          <a:xfrm>
            <a:off x="822960" y="2852928"/>
            <a:ext cx="50292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3247"/>
                </a:solidFill>
                <a:effectLst/>
                <a:uLnTx/>
                <a:uFillTx/>
                <a:latin typeface="Arial"/>
                <a:ea typeface="+mn-ea"/>
                <a:cs typeface="+mn-cs"/>
              </a:rPr>
              <a:t>Preprocessing</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Text 16"/>
          <p:cNvSpPr/>
          <p:nvPr/>
        </p:nvSpPr>
        <p:spPr>
          <a:xfrm>
            <a:off x="822960" y="3154680"/>
            <a:ext cx="5029200" cy="182880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Datetime detected</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Numeric columns only</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Missing values filled</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Time order preserved</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9" name="Shape 17"/>
          <p:cNvSpPr/>
          <p:nvPr/>
        </p:nvSpPr>
        <p:spPr>
          <a:xfrm>
            <a:off x="6263640" y="2743200"/>
            <a:ext cx="5074920" cy="2331720"/>
          </a:xfrm>
          <a:prstGeom prst="roundRect">
            <a:avLst>
              <a:gd name="adj" fmla="val 1961"/>
            </a:avLst>
          </a:prstGeom>
          <a:solidFill>
            <a:srgbClr val="FFFFFF"/>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0" name="Text 18"/>
          <p:cNvSpPr/>
          <p:nvPr/>
        </p:nvSpPr>
        <p:spPr>
          <a:xfrm>
            <a:off x="6400800" y="2852928"/>
            <a:ext cx="48006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3247"/>
                </a:solidFill>
                <a:effectLst/>
                <a:uLnTx/>
                <a:uFillTx/>
                <a:latin typeface="Arial"/>
                <a:ea typeface="+mn-ea"/>
                <a:cs typeface="+mn-cs"/>
              </a:rPr>
              <a:t>Arrays after setup</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Text 19"/>
          <p:cNvSpPr/>
          <p:nvPr/>
        </p:nvSpPr>
        <p:spPr>
          <a:xfrm>
            <a:off x="6400800" y="3154680"/>
            <a:ext cx="4800600" cy="182880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Train rows: 77,145</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Test rows: 19,287</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X_train: (77,145, 19)</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y_train: (77,145, 1)</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2748" y="241103"/>
            <a:ext cx="69494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Arial"/>
                <a:ea typeface="+mn-ea"/>
                <a:cs typeface="+mn-cs"/>
              </a:rPr>
              <a:t>End-to-end workflow</a:t>
            </a:r>
            <a:endParaRPr kumimoji="0" lang="en-US" sz="2800" b="0" i="0" u="none" strike="noStrike" kern="1200" cap="none" spc="0" normalizeH="0" baseline="0" noProof="0" dirty="0">
              <a:ln>
                <a:noFill/>
              </a:ln>
              <a:solidFill>
                <a:schemeClr val="bg1"/>
              </a:solidFill>
              <a:effectLst/>
              <a:uLnTx/>
              <a:uFillTx/>
              <a:latin typeface="Arial"/>
              <a:ea typeface="+mn-ea"/>
              <a:cs typeface="+mn-cs"/>
            </a:endParaRPr>
          </a:p>
        </p:txBody>
      </p:sp>
      <p:sp>
        <p:nvSpPr>
          <p:cNvPr id="3" name="Shape 1"/>
          <p:cNvSpPr/>
          <p:nvPr/>
        </p:nvSpPr>
        <p:spPr>
          <a:xfrm>
            <a:off x="411480" y="2103120"/>
            <a:ext cx="1508760" cy="685800"/>
          </a:xfrm>
          <a:prstGeom prst="roundRect">
            <a:avLst>
              <a:gd name="adj" fmla="val 6667"/>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 name="Text 2"/>
          <p:cNvSpPr/>
          <p:nvPr/>
        </p:nvSpPr>
        <p:spPr>
          <a:xfrm>
            <a:off x="466344" y="2240280"/>
            <a:ext cx="256032"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1</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Text 3"/>
          <p:cNvSpPr/>
          <p:nvPr/>
        </p:nvSpPr>
        <p:spPr>
          <a:xfrm>
            <a:off x="777240" y="2176272"/>
            <a:ext cx="1069848" cy="5394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Load CSV</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Shape 4"/>
          <p:cNvSpPr/>
          <p:nvPr/>
        </p:nvSpPr>
        <p:spPr>
          <a:xfrm>
            <a:off x="1938528" y="2322576"/>
            <a:ext cx="128016" cy="164592"/>
          </a:xfrm>
          <a:prstGeom prst="chevron">
            <a:avLst/>
          </a:prstGeom>
          <a:solidFill>
            <a:srgbClr val="A8BAC8"/>
          </a:solidFill>
          <a:ln w="12700">
            <a:solidFill>
              <a:srgbClr val="A8BAC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7" name="Shape 5"/>
          <p:cNvSpPr/>
          <p:nvPr/>
        </p:nvSpPr>
        <p:spPr>
          <a:xfrm>
            <a:off x="2084832" y="2103120"/>
            <a:ext cx="1508760" cy="685800"/>
          </a:xfrm>
          <a:prstGeom prst="roundRect">
            <a:avLst>
              <a:gd name="adj" fmla="val 6667"/>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8" name="Text 6"/>
          <p:cNvSpPr/>
          <p:nvPr/>
        </p:nvSpPr>
        <p:spPr>
          <a:xfrm>
            <a:off x="2139696" y="2240280"/>
            <a:ext cx="256032"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2</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Text 7"/>
          <p:cNvSpPr/>
          <p:nvPr/>
        </p:nvSpPr>
        <p:spPr>
          <a:xfrm>
            <a:off x="2450592" y="2176272"/>
            <a:ext cx="1069848" cy="5394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Clean data</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Shape 8"/>
          <p:cNvSpPr/>
          <p:nvPr/>
        </p:nvSpPr>
        <p:spPr>
          <a:xfrm>
            <a:off x="3611880" y="2322576"/>
            <a:ext cx="128016" cy="164592"/>
          </a:xfrm>
          <a:prstGeom prst="chevron">
            <a:avLst/>
          </a:prstGeom>
          <a:solidFill>
            <a:srgbClr val="A8BAC8"/>
          </a:solidFill>
          <a:ln w="12700">
            <a:solidFill>
              <a:srgbClr val="A8BAC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1" name="Shape 9"/>
          <p:cNvSpPr/>
          <p:nvPr/>
        </p:nvSpPr>
        <p:spPr>
          <a:xfrm>
            <a:off x="3758184" y="2103120"/>
            <a:ext cx="1508760" cy="685800"/>
          </a:xfrm>
          <a:prstGeom prst="roundRect">
            <a:avLst>
              <a:gd name="adj" fmla="val 6667"/>
            </a:avLst>
          </a:prstGeom>
          <a:solidFill>
            <a:srgbClr val="0B5E8E"/>
          </a:solidFill>
          <a:ln w="12700">
            <a:solidFill>
              <a:srgbClr val="0B5E8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2" name="Text 10"/>
          <p:cNvSpPr/>
          <p:nvPr/>
        </p:nvSpPr>
        <p:spPr>
          <a:xfrm>
            <a:off x="3813048" y="2240280"/>
            <a:ext cx="256032"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3</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Text 11"/>
          <p:cNvSpPr/>
          <p:nvPr/>
        </p:nvSpPr>
        <p:spPr>
          <a:xfrm>
            <a:off x="4123944" y="2176272"/>
            <a:ext cx="1069848" cy="5394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Split time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Shape 12"/>
          <p:cNvSpPr/>
          <p:nvPr/>
        </p:nvSpPr>
        <p:spPr>
          <a:xfrm>
            <a:off x="5285232" y="2322576"/>
            <a:ext cx="128016" cy="164592"/>
          </a:xfrm>
          <a:prstGeom prst="chevron">
            <a:avLst/>
          </a:prstGeom>
          <a:solidFill>
            <a:srgbClr val="A8BAC8"/>
          </a:solidFill>
          <a:ln w="12700">
            <a:solidFill>
              <a:srgbClr val="A8BAC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5" name="Shape 13"/>
          <p:cNvSpPr/>
          <p:nvPr/>
        </p:nvSpPr>
        <p:spPr>
          <a:xfrm>
            <a:off x="5431536" y="2103120"/>
            <a:ext cx="1508760" cy="685800"/>
          </a:xfrm>
          <a:prstGeom prst="roundRect">
            <a:avLst>
              <a:gd name="adj" fmla="val 6667"/>
            </a:avLst>
          </a:prstGeom>
          <a:solidFill>
            <a:srgbClr val="D97904"/>
          </a:solidFill>
          <a:ln w="12700">
            <a:solidFill>
              <a:srgbClr val="D9790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6" name="Text 14"/>
          <p:cNvSpPr/>
          <p:nvPr/>
        </p:nvSpPr>
        <p:spPr>
          <a:xfrm>
            <a:off x="5486400" y="2240280"/>
            <a:ext cx="256032"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4</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Text 15"/>
          <p:cNvSpPr/>
          <p:nvPr/>
        </p:nvSpPr>
        <p:spPr>
          <a:xfrm>
            <a:off x="5797296" y="2176272"/>
            <a:ext cx="1069848" cy="5394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Scale X and y</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Shape 16"/>
          <p:cNvSpPr/>
          <p:nvPr/>
        </p:nvSpPr>
        <p:spPr>
          <a:xfrm>
            <a:off x="6958584" y="2322576"/>
            <a:ext cx="128016" cy="164592"/>
          </a:xfrm>
          <a:prstGeom prst="chevron">
            <a:avLst/>
          </a:prstGeom>
          <a:solidFill>
            <a:srgbClr val="A8BAC8"/>
          </a:solidFill>
          <a:ln w="12700">
            <a:solidFill>
              <a:srgbClr val="A8BAC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9" name="Shape 17"/>
          <p:cNvSpPr/>
          <p:nvPr/>
        </p:nvSpPr>
        <p:spPr>
          <a:xfrm>
            <a:off x="7104888" y="2103120"/>
            <a:ext cx="1508760" cy="685800"/>
          </a:xfrm>
          <a:prstGeom prst="roundRect">
            <a:avLst>
              <a:gd name="adj" fmla="val 6667"/>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0" name="Text 18"/>
          <p:cNvSpPr/>
          <p:nvPr/>
        </p:nvSpPr>
        <p:spPr>
          <a:xfrm>
            <a:off x="7159752" y="2240280"/>
            <a:ext cx="256032"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5</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Text 19"/>
          <p:cNvSpPr/>
          <p:nvPr/>
        </p:nvSpPr>
        <p:spPr>
          <a:xfrm>
            <a:off x="7410091" y="2161435"/>
            <a:ext cx="1344168" cy="5394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Make sequences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2" name="Shape 20"/>
          <p:cNvSpPr/>
          <p:nvPr/>
        </p:nvSpPr>
        <p:spPr>
          <a:xfrm>
            <a:off x="8631936" y="2322576"/>
            <a:ext cx="128016" cy="164592"/>
          </a:xfrm>
          <a:prstGeom prst="chevron">
            <a:avLst/>
          </a:prstGeom>
          <a:solidFill>
            <a:srgbClr val="A8BAC8"/>
          </a:solidFill>
          <a:ln w="12700">
            <a:solidFill>
              <a:srgbClr val="A8BAC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3" name="Shape 21"/>
          <p:cNvSpPr/>
          <p:nvPr/>
        </p:nvSpPr>
        <p:spPr>
          <a:xfrm>
            <a:off x="8778240" y="2103120"/>
            <a:ext cx="1508760" cy="685800"/>
          </a:xfrm>
          <a:prstGeom prst="roundRect">
            <a:avLst>
              <a:gd name="adj" fmla="val 6667"/>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4" name="Text 22"/>
          <p:cNvSpPr/>
          <p:nvPr/>
        </p:nvSpPr>
        <p:spPr>
          <a:xfrm>
            <a:off x="8833104" y="2240280"/>
            <a:ext cx="256032"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6</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5" name="Text 23"/>
          <p:cNvSpPr/>
          <p:nvPr/>
        </p:nvSpPr>
        <p:spPr>
          <a:xfrm>
            <a:off x="9144000" y="2176272"/>
            <a:ext cx="1069848" cy="5394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Fit LSTM</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6" name="Shape 24"/>
          <p:cNvSpPr/>
          <p:nvPr/>
        </p:nvSpPr>
        <p:spPr>
          <a:xfrm>
            <a:off x="10305288" y="2322576"/>
            <a:ext cx="128016" cy="164592"/>
          </a:xfrm>
          <a:prstGeom prst="chevron">
            <a:avLst/>
          </a:prstGeom>
          <a:solidFill>
            <a:srgbClr val="A8BAC8"/>
          </a:solidFill>
          <a:ln w="12700">
            <a:solidFill>
              <a:srgbClr val="A8BAC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7" name="Shape 25"/>
          <p:cNvSpPr/>
          <p:nvPr/>
        </p:nvSpPr>
        <p:spPr>
          <a:xfrm>
            <a:off x="10451592" y="2103120"/>
            <a:ext cx="1508760" cy="685800"/>
          </a:xfrm>
          <a:prstGeom prst="roundRect">
            <a:avLst>
              <a:gd name="adj" fmla="val 6667"/>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8" name="Text 26"/>
          <p:cNvSpPr/>
          <p:nvPr/>
        </p:nvSpPr>
        <p:spPr>
          <a:xfrm>
            <a:off x="10506456" y="2240280"/>
            <a:ext cx="256032"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7</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9" name="Text 27"/>
          <p:cNvSpPr/>
          <p:nvPr/>
        </p:nvSpPr>
        <p:spPr>
          <a:xfrm>
            <a:off x="10817352" y="2176272"/>
            <a:ext cx="1069848" cy="5394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Evaluate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0" name="Shape 28"/>
          <p:cNvSpPr/>
          <p:nvPr/>
        </p:nvSpPr>
        <p:spPr>
          <a:xfrm>
            <a:off x="731520" y="3749040"/>
            <a:ext cx="3474720" cy="1417320"/>
          </a:xfrm>
          <a:prstGeom prst="roundRect">
            <a:avLst>
              <a:gd name="adj" fmla="val 3226"/>
            </a:avLst>
          </a:prstGeom>
          <a:solidFill>
            <a:srgbClr val="EAF3F8"/>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1" name="Text 29"/>
          <p:cNvSpPr/>
          <p:nvPr/>
        </p:nvSpPr>
        <p:spPr>
          <a:xfrm>
            <a:off x="868680" y="3858768"/>
            <a:ext cx="32004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163247"/>
                </a:solidFill>
                <a:latin typeface="Arial"/>
              </a:rPr>
              <a:t>M</a:t>
            </a:r>
            <a:r>
              <a:rPr kumimoji="0" lang="en-US" sz="2000" b="1" i="0" u="none" strike="noStrike" kern="1200" cap="none" spc="0" normalizeH="0" baseline="0" noProof="0" dirty="0" err="1">
                <a:ln>
                  <a:noFill/>
                </a:ln>
                <a:solidFill>
                  <a:srgbClr val="163247"/>
                </a:solidFill>
                <a:effectLst/>
                <a:uLnTx/>
                <a:uFillTx/>
                <a:latin typeface="Arial"/>
                <a:ea typeface="+mn-ea"/>
                <a:cs typeface="+mn-cs"/>
              </a:rPr>
              <a:t>essage</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32" name="Text 30"/>
          <p:cNvSpPr/>
          <p:nvPr/>
        </p:nvSpPr>
        <p:spPr>
          <a:xfrm>
            <a:off x="868680" y="4160520"/>
            <a:ext cx="3200400" cy="91440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Most of the workflow is familiar engineering data preparation.</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3" name="Shape 31"/>
          <p:cNvSpPr/>
          <p:nvPr/>
        </p:nvSpPr>
        <p:spPr>
          <a:xfrm>
            <a:off x="4389120" y="3749040"/>
            <a:ext cx="3474720" cy="1417320"/>
          </a:xfrm>
          <a:prstGeom prst="roundRect">
            <a:avLst>
              <a:gd name="adj" fmla="val 3226"/>
            </a:avLst>
          </a:prstGeom>
          <a:solidFill>
            <a:srgbClr val="EAF7F6"/>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4" name="Text 32"/>
          <p:cNvSpPr/>
          <p:nvPr/>
        </p:nvSpPr>
        <p:spPr>
          <a:xfrm>
            <a:off x="4526280" y="3858768"/>
            <a:ext cx="32004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3247"/>
                </a:solidFill>
                <a:effectLst/>
                <a:uLnTx/>
                <a:uFillTx/>
                <a:latin typeface="Arial"/>
                <a:ea typeface="+mn-ea"/>
                <a:cs typeface="+mn-cs"/>
              </a:rPr>
              <a:t>Key time-series step</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35" name="Text 33"/>
          <p:cNvSpPr/>
          <p:nvPr/>
        </p:nvSpPr>
        <p:spPr>
          <a:xfrm>
            <a:off x="4526280" y="4160520"/>
            <a:ext cx="3200400" cy="91440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Sequence creation converts rows into 3D LSTM inputs.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6" name="Shape 34"/>
          <p:cNvSpPr/>
          <p:nvPr/>
        </p:nvSpPr>
        <p:spPr>
          <a:xfrm>
            <a:off x="8046720" y="3749040"/>
            <a:ext cx="3474720" cy="1417320"/>
          </a:xfrm>
          <a:prstGeom prst="roundRect">
            <a:avLst>
              <a:gd name="adj" fmla="val 3226"/>
            </a:avLst>
          </a:prstGeom>
          <a:solidFill>
            <a:srgbClr val="FCEEDB"/>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7" name="Text 35"/>
          <p:cNvSpPr/>
          <p:nvPr/>
        </p:nvSpPr>
        <p:spPr>
          <a:xfrm>
            <a:off x="8183880" y="3858768"/>
            <a:ext cx="32004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3247"/>
                </a:solidFill>
                <a:effectLst/>
                <a:uLnTx/>
                <a:uFillTx/>
                <a:latin typeface="Arial"/>
                <a:ea typeface="+mn-ea"/>
                <a:cs typeface="+mn-cs"/>
              </a:rPr>
              <a:t>Engineering judgment</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38" name="Text 36"/>
          <p:cNvSpPr/>
          <p:nvPr/>
        </p:nvSpPr>
        <p:spPr>
          <a:xfrm>
            <a:off x="8183880" y="4160520"/>
            <a:ext cx="3200400" cy="91440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Lookback, predictors, and horizon should match the decision problem.</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78308"/>
            <a:ext cx="69494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latin typeface="Arial"/>
                <a:ea typeface="+mn-ea"/>
                <a:cs typeface="+mn-cs"/>
              </a:rPr>
              <a:t>Sequence design: what the LSTM sees</a:t>
            </a:r>
            <a:endParaRPr kumimoji="0" lang="en-US" sz="2400" b="0" i="0" u="none" strike="noStrike" kern="1200" cap="none" spc="0" normalizeH="0" baseline="0" noProof="0" dirty="0">
              <a:ln>
                <a:noFill/>
              </a:ln>
              <a:solidFill>
                <a:schemeClr val="bg1"/>
              </a:solidFill>
              <a:effectLst/>
              <a:uLnTx/>
              <a:uFillTx/>
              <a:latin typeface="Arial"/>
              <a:ea typeface="+mn-ea"/>
              <a:cs typeface="+mn-cs"/>
            </a:endParaRPr>
          </a:p>
        </p:txBody>
      </p:sp>
      <p:sp>
        <p:nvSpPr>
          <p:cNvPr id="3" name="Shape 1"/>
          <p:cNvSpPr/>
          <p:nvPr/>
        </p:nvSpPr>
        <p:spPr>
          <a:xfrm>
            <a:off x="548640" y="1371600"/>
            <a:ext cx="10972800" cy="1828800"/>
          </a:xfrm>
          <a:prstGeom prst="roundRect">
            <a:avLst>
              <a:gd name="adj" fmla="val 2500"/>
            </a:avLst>
          </a:prstGeom>
          <a:solidFill>
            <a:srgbClr val="FFFFFF"/>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 name="Text 2"/>
          <p:cNvSpPr/>
          <p:nvPr/>
        </p:nvSpPr>
        <p:spPr>
          <a:xfrm>
            <a:off x="822960" y="1600200"/>
            <a:ext cx="310896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B5E8E"/>
                </a:solidFill>
                <a:effectLst/>
                <a:uLnTx/>
                <a:uFillTx/>
                <a:latin typeface="Arial"/>
                <a:ea typeface="+mn-ea"/>
                <a:cs typeface="+mn-cs"/>
              </a:rPr>
              <a:t>Single-step: 24 hr -&gt; 1 hr</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Shape 3"/>
          <p:cNvSpPr/>
          <p:nvPr/>
        </p:nvSpPr>
        <p:spPr>
          <a:xfrm>
            <a:off x="868680" y="2103120"/>
            <a:ext cx="320040" cy="320040"/>
          </a:xfrm>
          <a:prstGeom prst="roundRect">
            <a:avLst>
              <a:gd name="adj" fmla="val 5714"/>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6" name="Shape 4"/>
          <p:cNvSpPr/>
          <p:nvPr/>
        </p:nvSpPr>
        <p:spPr>
          <a:xfrm>
            <a:off x="1243584" y="2103120"/>
            <a:ext cx="320040" cy="320040"/>
          </a:xfrm>
          <a:prstGeom prst="roundRect">
            <a:avLst>
              <a:gd name="adj" fmla="val 5714"/>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7" name="Shape 5"/>
          <p:cNvSpPr/>
          <p:nvPr/>
        </p:nvSpPr>
        <p:spPr>
          <a:xfrm>
            <a:off x="1618488" y="2103120"/>
            <a:ext cx="320040" cy="320040"/>
          </a:xfrm>
          <a:prstGeom prst="roundRect">
            <a:avLst>
              <a:gd name="adj" fmla="val 5714"/>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8" name="Shape 6"/>
          <p:cNvSpPr/>
          <p:nvPr/>
        </p:nvSpPr>
        <p:spPr>
          <a:xfrm>
            <a:off x="1993392" y="2103120"/>
            <a:ext cx="320040" cy="320040"/>
          </a:xfrm>
          <a:prstGeom prst="roundRect">
            <a:avLst>
              <a:gd name="adj" fmla="val 5714"/>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9" name="Shape 7"/>
          <p:cNvSpPr/>
          <p:nvPr/>
        </p:nvSpPr>
        <p:spPr>
          <a:xfrm>
            <a:off x="2368296" y="2103120"/>
            <a:ext cx="320040" cy="320040"/>
          </a:xfrm>
          <a:prstGeom prst="roundRect">
            <a:avLst>
              <a:gd name="adj" fmla="val 5714"/>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0" name="Shape 8"/>
          <p:cNvSpPr/>
          <p:nvPr/>
        </p:nvSpPr>
        <p:spPr>
          <a:xfrm>
            <a:off x="2743200" y="2103120"/>
            <a:ext cx="320040" cy="320040"/>
          </a:xfrm>
          <a:prstGeom prst="roundRect">
            <a:avLst>
              <a:gd name="adj" fmla="val 5714"/>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1" name="Shape 9"/>
          <p:cNvSpPr/>
          <p:nvPr/>
        </p:nvSpPr>
        <p:spPr>
          <a:xfrm>
            <a:off x="3118104" y="2103120"/>
            <a:ext cx="320040" cy="320040"/>
          </a:xfrm>
          <a:prstGeom prst="roundRect">
            <a:avLst>
              <a:gd name="adj" fmla="val 5714"/>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2" name="Shape 10"/>
          <p:cNvSpPr/>
          <p:nvPr/>
        </p:nvSpPr>
        <p:spPr>
          <a:xfrm>
            <a:off x="3493008" y="2103120"/>
            <a:ext cx="320040" cy="320040"/>
          </a:xfrm>
          <a:prstGeom prst="roundRect">
            <a:avLst>
              <a:gd name="adj" fmla="val 5714"/>
            </a:avLst>
          </a:prstGeom>
          <a:solidFill>
            <a:srgbClr val="2E86AB"/>
          </a:solidFill>
          <a:ln w="12700">
            <a:solidFill>
              <a:srgbClr val="2E86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3" name="Text 11"/>
          <p:cNvSpPr/>
          <p:nvPr/>
        </p:nvSpPr>
        <p:spPr>
          <a:xfrm>
            <a:off x="868680" y="2523744"/>
            <a:ext cx="201168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B5E8E"/>
                </a:solidFill>
                <a:effectLst/>
                <a:uLnTx/>
                <a:uFillTx/>
                <a:latin typeface="Arial"/>
                <a:ea typeface="+mn-ea"/>
                <a:cs typeface="+mn-cs"/>
              </a:rPr>
              <a:t>24 hourly inputs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Shape 12"/>
          <p:cNvSpPr/>
          <p:nvPr/>
        </p:nvSpPr>
        <p:spPr>
          <a:xfrm>
            <a:off x="4005072" y="2148840"/>
            <a:ext cx="256032" cy="182880"/>
          </a:xfrm>
          <a:prstGeom prst="chevron">
            <a:avLst/>
          </a:prstGeom>
          <a:solidFill>
            <a:srgbClr val="D97904"/>
          </a:solidFill>
          <a:ln w="12700">
            <a:solidFill>
              <a:srgbClr val="D9790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5" name="Shape 13"/>
          <p:cNvSpPr/>
          <p:nvPr/>
        </p:nvSpPr>
        <p:spPr>
          <a:xfrm>
            <a:off x="4526280" y="2011680"/>
            <a:ext cx="658368" cy="475488"/>
          </a:xfrm>
          <a:prstGeom prst="roundRect">
            <a:avLst>
              <a:gd name="adj" fmla="val 3846"/>
            </a:avLst>
          </a:prstGeom>
          <a:solidFill>
            <a:srgbClr val="D97904"/>
          </a:solidFill>
          <a:ln w="12700">
            <a:solidFill>
              <a:srgbClr val="D9790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6" name="Text 14"/>
          <p:cNvSpPr/>
          <p:nvPr/>
        </p:nvSpPr>
        <p:spPr>
          <a:xfrm>
            <a:off x="4526280" y="2157984"/>
            <a:ext cx="658368" cy="12801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t+1</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Shape 15"/>
          <p:cNvSpPr/>
          <p:nvPr/>
        </p:nvSpPr>
        <p:spPr>
          <a:xfrm>
            <a:off x="5577840" y="1783080"/>
            <a:ext cx="5303520" cy="868680"/>
          </a:xfrm>
          <a:prstGeom prst="roundRect">
            <a:avLst>
              <a:gd name="adj" fmla="val 5263"/>
            </a:avLst>
          </a:prstGeom>
          <a:solidFill>
            <a:srgbClr val="EAF3F8"/>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8" name="Text 16"/>
          <p:cNvSpPr/>
          <p:nvPr/>
        </p:nvSpPr>
        <p:spPr>
          <a:xfrm>
            <a:off x="5715000" y="1892808"/>
            <a:ext cx="50292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3247"/>
                </a:solidFill>
                <a:effectLst/>
                <a:uLnTx/>
                <a:uFillTx/>
                <a:latin typeface="Arial"/>
                <a:ea typeface="+mn-ea"/>
                <a:cs typeface="+mn-cs"/>
              </a:rPr>
              <a:t>Notebook tensor shape</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9" name="Text 17"/>
          <p:cNvSpPr/>
          <p:nvPr/>
        </p:nvSpPr>
        <p:spPr>
          <a:xfrm>
            <a:off x="5715000" y="2194560"/>
            <a:ext cx="5029200" cy="36576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X_train_1 = (77,121, 24, 19)    y_train_1 = (77,121, 1)</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Shape 18"/>
          <p:cNvSpPr/>
          <p:nvPr/>
        </p:nvSpPr>
        <p:spPr>
          <a:xfrm>
            <a:off x="548640" y="3657600"/>
            <a:ext cx="10972800" cy="1828800"/>
          </a:xfrm>
          <a:prstGeom prst="roundRect">
            <a:avLst>
              <a:gd name="adj" fmla="val 2500"/>
            </a:avLst>
          </a:prstGeom>
          <a:solidFill>
            <a:srgbClr val="FFFFFF"/>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1" name="Text 19"/>
          <p:cNvSpPr/>
          <p:nvPr/>
        </p:nvSpPr>
        <p:spPr>
          <a:xfrm>
            <a:off x="822960" y="3886200"/>
            <a:ext cx="33832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3C8D40"/>
                </a:solidFill>
                <a:effectLst/>
                <a:uLnTx/>
                <a:uFillTx/>
                <a:latin typeface="Arial"/>
                <a:ea typeface="+mn-ea"/>
                <a:cs typeface="+mn-cs"/>
              </a:rPr>
              <a:t>Multi-step: 24 hr -&gt; 24 hr</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22" name="Shape 20"/>
          <p:cNvSpPr/>
          <p:nvPr/>
        </p:nvSpPr>
        <p:spPr>
          <a:xfrm>
            <a:off x="868680" y="4389120"/>
            <a:ext cx="320040" cy="320040"/>
          </a:xfrm>
          <a:prstGeom prst="roundRect">
            <a:avLst>
              <a:gd name="adj" fmla="val 5714"/>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3" name="Shape 21"/>
          <p:cNvSpPr/>
          <p:nvPr/>
        </p:nvSpPr>
        <p:spPr>
          <a:xfrm>
            <a:off x="1243584" y="4389120"/>
            <a:ext cx="320040" cy="320040"/>
          </a:xfrm>
          <a:prstGeom prst="roundRect">
            <a:avLst>
              <a:gd name="adj" fmla="val 5714"/>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4" name="Shape 22"/>
          <p:cNvSpPr/>
          <p:nvPr/>
        </p:nvSpPr>
        <p:spPr>
          <a:xfrm>
            <a:off x="1618488" y="4389120"/>
            <a:ext cx="320040" cy="320040"/>
          </a:xfrm>
          <a:prstGeom prst="roundRect">
            <a:avLst>
              <a:gd name="adj" fmla="val 5714"/>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5" name="Shape 23"/>
          <p:cNvSpPr/>
          <p:nvPr/>
        </p:nvSpPr>
        <p:spPr>
          <a:xfrm>
            <a:off x="1993392" y="4389120"/>
            <a:ext cx="320040" cy="320040"/>
          </a:xfrm>
          <a:prstGeom prst="roundRect">
            <a:avLst>
              <a:gd name="adj" fmla="val 5714"/>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6" name="Shape 24"/>
          <p:cNvSpPr/>
          <p:nvPr/>
        </p:nvSpPr>
        <p:spPr>
          <a:xfrm>
            <a:off x="2368296" y="4389120"/>
            <a:ext cx="320040" cy="320040"/>
          </a:xfrm>
          <a:prstGeom prst="roundRect">
            <a:avLst>
              <a:gd name="adj" fmla="val 5714"/>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7" name="Shape 25"/>
          <p:cNvSpPr/>
          <p:nvPr/>
        </p:nvSpPr>
        <p:spPr>
          <a:xfrm>
            <a:off x="2743200" y="4389120"/>
            <a:ext cx="320040" cy="320040"/>
          </a:xfrm>
          <a:prstGeom prst="roundRect">
            <a:avLst>
              <a:gd name="adj" fmla="val 5714"/>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8" name="Shape 26"/>
          <p:cNvSpPr/>
          <p:nvPr/>
        </p:nvSpPr>
        <p:spPr>
          <a:xfrm>
            <a:off x="3118104" y="4389120"/>
            <a:ext cx="320040" cy="320040"/>
          </a:xfrm>
          <a:prstGeom prst="roundRect">
            <a:avLst>
              <a:gd name="adj" fmla="val 5714"/>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9" name="Shape 27"/>
          <p:cNvSpPr/>
          <p:nvPr/>
        </p:nvSpPr>
        <p:spPr>
          <a:xfrm>
            <a:off x="3493008" y="4389120"/>
            <a:ext cx="320040" cy="320040"/>
          </a:xfrm>
          <a:prstGeom prst="roundRect">
            <a:avLst>
              <a:gd name="adj" fmla="val 5714"/>
            </a:avLst>
          </a:prstGeom>
          <a:solidFill>
            <a:srgbClr val="198F8A"/>
          </a:solidFill>
          <a:ln w="12700">
            <a:solidFill>
              <a:srgbClr val="198F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0" name="Text 28"/>
          <p:cNvSpPr/>
          <p:nvPr/>
        </p:nvSpPr>
        <p:spPr>
          <a:xfrm>
            <a:off x="868680" y="4809744"/>
            <a:ext cx="201168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98F8A"/>
                </a:solidFill>
                <a:effectLst/>
                <a:uLnTx/>
                <a:uFillTx/>
                <a:latin typeface="Arial"/>
                <a:ea typeface="+mn-ea"/>
                <a:cs typeface="+mn-cs"/>
              </a:rPr>
              <a:t>24 hourly inputs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1" name="Shape 29"/>
          <p:cNvSpPr/>
          <p:nvPr/>
        </p:nvSpPr>
        <p:spPr>
          <a:xfrm>
            <a:off x="4005072" y="4434840"/>
            <a:ext cx="256032" cy="182880"/>
          </a:xfrm>
          <a:prstGeom prst="chevron">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2" name="Shape 30"/>
          <p:cNvSpPr/>
          <p:nvPr/>
        </p:nvSpPr>
        <p:spPr>
          <a:xfrm>
            <a:off x="4526280" y="4297680"/>
            <a:ext cx="210312" cy="475488"/>
          </a:xfrm>
          <a:prstGeom prst="roundRect">
            <a:avLst>
              <a:gd name="adj" fmla="val 8696"/>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3" name="Shape 31"/>
          <p:cNvSpPr/>
          <p:nvPr/>
        </p:nvSpPr>
        <p:spPr>
          <a:xfrm>
            <a:off x="4782312" y="4297680"/>
            <a:ext cx="210312" cy="475488"/>
          </a:xfrm>
          <a:prstGeom prst="roundRect">
            <a:avLst>
              <a:gd name="adj" fmla="val 8696"/>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4" name="Shape 32"/>
          <p:cNvSpPr/>
          <p:nvPr/>
        </p:nvSpPr>
        <p:spPr>
          <a:xfrm>
            <a:off x="5038344" y="4297680"/>
            <a:ext cx="210312" cy="475488"/>
          </a:xfrm>
          <a:prstGeom prst="roundRect">
            <a:avLst>
              <a:gd name="adj" fmla="val 8696"/>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5" name="Shape 33"/>
          <p:cNvSpPr/>
          <p:nvPr/>
        </p:nvSpPr>
        <p:spPr>
          <a:xfrm>
            <a:off x="5294376" y="4297680"/>
            <a:ext cx="210312" cy="475488"/>
          </a:xfrm>
          <a:prstGeom prst="roundRect">
            <a:avLst>
              <a:gd name="adj" fmla="val 8696"/>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6" name="Shape 34"/>
          <p:cNvSpPr/>
          <p:nvPr/>
        </p:nvSpPr>
        <p:spPr>
          <a:xfrm>
            <a:off x="5550408" y="4297680"/>
            <a:ext cx="210312" cy="475488"/>
          </a:xfrm>
          <a:prstGeom prst="roundRect">
            <a:avLst>
              <a:gd name="adj" fmla="val 8696"/>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7" name="Shape 35"/>
          <p:cNvSpPr/>
          <p:nvPr/>
        </p:nvSpPr>
        <p:spPr>
          <a:xfrm>
            <a:off x="5806440" y="4297680"/>
            <a:ext cx="210312" cy="475488"/>
          </a:xfrm>
          <a:prstGeom prst="roundRect">
            <a:avLst>
              <a:gd name="adj" fmla="val 8696"/>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8" name="Shape 36"/>
          <p:cNvSpPr/>
          <p:nvPr/>
        </p:nvSpPr>
        <p:spPr>
          <a:xfrm>
            <a:off x="6062472" y="4297680"/>
            <a:ext cx="210312" cy="475488"/>
          </a:xfrm>
          <a:prstGeom prst="roundRect">
            <a:avLst>
              <a:gd name="adj" fmla="val 8696"/>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9" name="Shape 37"/>
          <p:cNvSpPr/>
          <p:nvPr/>
        </p:nvSpPr>
        <p:spPr>
          <a:xfrm>
            <a:off x="6318504" y="4297680"/>
            <a:ext cx="210312" cy="475488"/>
          </a:xfrm>
          <a:prstGeom prst="roundRect">
            <a:avLst>
              <a:gd name="adj" fmla="val 8696"/>
            </a:avLst>
          </a:prstGeom>
          <a:solidFill>
            <a:srgbClr val="3C8D40"/>
          </a:solidFill>
          <a:ln w="12700">
            <a:solidFill>
              <a:srgbClr val="3C8D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0" name="Text 38"/>
          <p:cNvSpPr/>
          <p:nvPr/>
        </p:nvSpPr>
        <p:spPr>
          <a:xfrm>
            <a:off x="4617720" y="4809744"/>
            <a:ext cx="208483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C8D40"/>
                </a:solidFill>
                <a:effectLst/>
                <a:uLnTx/>
                <a:uFillTx/>
                <a:latin typeface="Arial"/>
                <a:ea typeface="+mn-ea"/>
                <a:cs typeface="+mn-cs"/>
              </a:rPr>
              <a:t>24 forecast hours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1" name="Shape 39"/>
          <p:cNvSpPr/>
          <p:nvPr/>
        </p:nvSpPr>
        <p:spPr>
          <a:xfrm>
            <a:off x="6812280" y="4069080"/>
            <a:ext cx="4069080" cy="868680"/>
          </a:xfrm>
          <a:prstGeom prst="roundRect">
            <a:avLst>
              <a:gd name="adj" fmla="val 5263"/>
            </a:avLst>
          </a:prstGeom>
          <a:solidFill>
            <a:srgbClr val="EAF7F6"/>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2" name="Text 40"/>
          <p:cNvSpPr/>
          <p:nvPr/>
        </p:nvSpPr>
        <p:spPr>
          <a:xfrm>
            <a:off x="6949440" y="4178808"/>
            <a:ext cx="37947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3247"/>
                </a:solidFill>
                <a:effectLst/>
                <a:uLnTx/>
                <a:uFillTx/>
                <a:latin typeface="Arial"/>
                <a:ea typeface="+mn-ea"/>
                <a:cs typeface="+mn-cs"/>
              </a:rPr>
              <a:t>Notebook tensor shape</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43" name="Text 41"/>
          <p:cNvSpPr/>
          <p:nvPr/>
        </p:nvSpPr>
        <p:spPr>
          <a:xfrm>
            <a:off x="6949440" y="4480560"/>
            <a:ext cx="3794760" cy="36576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X_train_24 = (77,098, 24, 19)    y_train_24 = (77,098, 24)</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31772"/>
            <a:ext cx="69494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Arial"/>
                <a:ea typeface="+mn-ea"/>
                <a:cs typeface="+mn-cs"/>
              </a:rPr>
              <a:t>Results: single-step forecast</a:t>
            </a:r>
            <a:endParaRPr kumimoji="0" lang="en-US" sz="2800" b="0" i="0" u="none" strike="noStrike" kern="1200" cap="none" spc="0" normalizeH="0" baseline="0" noProof="0" dirty="0">
              <a:ln>
                <a:noFill/>
              </a:ln>
              <a:solidFill>
                <a:schemeClr val="bg1"/>
              </a:solidFill>
              <a:effectLst/>
              <a:uLnTx/>
              <a:uFillTx/>
              <a:latin typeface="Arial"/>
              <a:ea typeface="+mn-ea"/>
              <a:cs typeface="+mn-cs"/>
            </a:endParaRPr>
          </a:p>
        </p:txBody>
      </p:sp>
      <p:pic>
        <p:nvPicPr>
          <p:cNvPr id="3" name="Image 0" descr="/mnt/data/notebook_assets/cell_20.png"/>
          <p:cNvPicPr>
            <a:picLocks noChangeAspect="1"/>
          </p:cNvPicPr>
          <p:nvPr/>
        </p:nvPicPr>
        <p:blipFill>
          <a:blip r:embed="rId3"/>
          <a:stretch>
            <a:fillRect/>
          </a:stretch>
        </p:blipFill>
        <p:spPr>
          <a:xfrm>
            <a:off x="594360" y="1632146"/>
            <a:ext cx="7406640" cy="4050909"/>
          </a:xfrm>
          <a:prstGeom prst="rect">
            <a:avLst/>
          </a:prstGeom>
        </p:spPr>
      </p:pic>
      <p:sp>
        <p:nvSpPr>
          <p:cNvPr id="4" name="Shape 1"/>
          <p:cNvSpPr/>
          <p:nvPr/>
        </p:nvSpPr>
        <p:spPr>
          <a:xfrm>
            <a:off x="8229600" y="1554480"/>
            <a:ext cx="2926080" cy="1005840"/>
          </a:xfrm>
          <a:prstGeom prst="roundRect">
            <a:avLst>
              <a:gd name="adj" fmla="val 4545"/>
            </a:avLst>
          </a:prstGeom>
          <a:solidFill>
            <a:srgbClr val="EAF3F8"/>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 name="Text 2"/>
          <p:cNvSpPr/>
          <p:nvPr/>
        </p:nvSpPr>
        <p:spPr>
          <a:xfrm>
            <a:off x="8366760" y="1664208"/>
            <a:ext cx="26517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3247"/>
                </a:solidFill>
                <a:effectLst/>
                <a:uLnTx/>
                <a:uFillTx/>
                <a:latin typeface="Arial"/>
                <a:ea typeface="+mn-ea"/>
                <a:cs typeface="+mn-cs"/>
              </a:rPr>
              <a:t>Test error</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8366760" y="1965960"/>
            <a:ext cx="2651760" cy="50292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RMSE = 0.1329</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MAE = 0.1141</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Shape 4"/>
          <p:cNvSpPr/>
          <p:nvPr/>
        </p:nvSpPr>
        <p:spPr>
          <a:xfrm>
            <a:off x="8229600" y="2788920"/>
            <a:ext cx="2926080" cy="1280160"/>
          </a:xfrm>
          <a:prstGeom prst="roundRect">
            <a:avLst>
              <a:gd name="adj" fmla="val 3571"/>
            </a:avLst>
          </a:prstGeom>
          <a:solidFill>
            <a:srgbClr val="FFFFFF"/>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8" name="Text 5"/>
          <p:cNvSpPr/>
          <p:nvPr/>
        </p:nvSpPr>
        <p:spPr>
          <a:xfrm>
            <a:off x="8366760" y="2898648"/>
            <a:ext cx="26517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3247"/>
                </a:solidFill>
                <a:effectLst/>
                <a:uLnTx/>
                <a:uFillTx/>
                <a:latin typeface="Arial"/>
                <a:ea typeface="+mn-ea"/>
                <a:cs typeface="+mn-cs"/>
              </a:rPr>
              <a:t>What to notice</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Text 6"/>
          <p:cNvSpPr/>
          <p:nvPr/>
        </p:nvSpPr>
        <p:spPr>
          <a:xfrm>
            <a:off x="8366760" y="3200400"/>
            <a:ext cx="2651760" cy="77724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The prediction tracks the observed oscillation closely.</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Shape 7"/>
          <p:cNvSpPr/>
          <p:nvPr/>
        </p:nvSpPr>
        <p:spPr>
          <a:xfrm>
            <a:off x="8229600" y="4343400"/>
            <a:ext cx="2926080" cy="1051560"/>
          </a:xfrm>
          <a:prstGeom prst="roundRect">
            <a:avLst>
              <a:gd name="adj" fmla="val 4348"/>
            </a:avLst>
          </a:prstGeom>
          <a:solidFill>
            <a:srgbClr val="FCEEDB"/>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1" name="Text 8"/>
          <p:cNvSpPr/>
          <p:nvPr/>
        </p:nvSpPr>
        <p:spPr>
          <a:xfrm>
            <a:off x="8366760" y="4453128"/>
            <a:ext cx="26517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3247"/>
                </a:solidFill>
                <a:effectLst/>
                <a:uLnTx/>
                <a:uFillTx/>
                <a:latin typeface="Arial"/>
                <a:ea typeface="+mn-ea"/>
                <a:cs typeface="+mn-cs"/>
              </a:rPr>
              <a:t>Meaning</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9"/>
          <p:cNvSpPr/>
          <p:nvPr/>
        </p:nvSpPr>
        <p:spPr>
          <a:xfrm>
            <a:off x="8366760" y="4754880"/>
            <a:ext cx="2651760" cy="54864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Predicting only the next hour is the easier task.</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530352"/>
            <a:ext cx="69494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247"/>
                </a:solidFill>
                <a:effectLst/>
                <a:uLnTx/>
                <a:uFillTx/>
                <a:latin typeface="Arial"/>
                <a:ea typeface="+mn-ea"/>
                <a:cs typeface="+mn-cs"/>
              </a:rPr>
              <a:t>Results: multi-step forecast</a:t>
            </a: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p:txBody>
      </p:sp>
      <p:pic>
        <p:nvPicPr>
          <p:cNvPr id="3" name="Image 0" descr="/mnt/data/notebook_assets/cell_25.png"/>
          <p:cNvPicPr>
            <a:picLocks noChangeAspect="1"/>
          </p:cNvPicPr>
          <p:nvPr/>
        </p:nvPicPr>
        <p:blipFill>
          <a:blip r:embed="rId3"/>
          <a:stretch>
            <a:fillRect/>
          </a:stretch>
        </p:blipFill>
        <p:spPr>
          <a:xfrm>
            <a:off x="594360" y="1626556"/>
            <a:ext cx="7315200" cy="4062088"/>
          </a:xfrm>
          <a:prstGeom prst="rect">
            <a:avLst/>
          </a:prstGeom>
        </p:spPr>
      </p:pic>
      <p:sp>
        <p:nvSpPr>
          <p:cNvPr id="4" name="Shape 1"/>
          <p:cNvSpPr/>
          <p:nvPr/>
        </p:nvSpPr>
        <p:spPr>
          <a:xfrm>
            <a:off x="8229600" y="1554480"/>
            <a:ext cx="2926080" cy="1005840"/>
          </a:xfrm>
          <a:prstGeom prst="roundRect">
            <a:avLst>
              <a:gd name="adj" fmla="val 4545"/>
            </a:avLst>
          </a:prstGeom>
          <a:solidFill>
            <a:srgbClr val="EAF7F6"/>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 name="Text 2"/>
          <p:cNvSpPr/>
          <p:nvPr/>
        </p:nvSpPr>
        <p:spPr>
          <a:xfrm>
            <a:off x="8366760" y="1664208"/>
            <a:ext cx="26517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3247"/>
                </a:solidFill>
                <a:effectLst/>
                <a:uLnTx/>
                <a:uFillTx/>
                <a:latin typeface="Arial"/>
                <a:ea typeface="+mn-ea"/>
                <a:cs typeface="+mn-cs"/>
              </a:rPr>
              <a:t>Test error</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8366760" y="1965960"/>
            <a:ext cx="2651760" cy="50292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RMSE = 0.2793</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MAE = 0.2225</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Shape 4"/>
          <p:cNvSpPr/>
          <p:nvPr/>
        </p:nvSpPr>
        <p:spPr>
          <a:xfrm>
            <a:off x="8229600" y="2788920"/>
            <a:ext cx="2926080" cy="1280160"/>
          </a:xfrm>
          <a:prstGeom prst="roundRect">
            <a:avLst>
              <a:gd name="adj" fmla="val 3571"/>
            </a:avLst>
          </a:prstGeom>
          <a:solidFill>
            <a:srgbClr val="FFFFFF"/>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8" name="Text 5"/>
          <p:cNvSpPr/>
          <p:nvPr/>
        </p:nvSpPr>
        <p:spPr>
          <a:xfrm>
            <a:off x="8366760" y="2898648"/>
            <a:ext cx="26517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3247"/>
                </a:solidFill>
                <a:effectLst/>
                <a:uLnTx/>
                <a:uFillTx/>
                <a:latin typeface="Arial"/>
                <a:ea typeface="+mn-ea"/>
                <a:cs typeface="+mn-cs"/>
              </a:rPr>
              <a:t>Operational value</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Text 6"/>
          <p:cNvSpPr/>
          <p:nvPr/>
        </p:nvSpPr>
        <p:spPr>
          <a:xfrm>
            <a:off x="8366760" y="3200400"/>
            <a:ext cx="2651760" cy="77724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The model gives a full 24-hour path in one shot.</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Shape 7"/>
          <p:cNvSpPr/>
          <p:nvPr/>
        </p:nvSpPr>
        <p:spPr>
          <a:xfrm>
            <a:off x="8229600" y="4343400"/>
            <a:ext cx="2926080" cy="1051560"/>
          </a:xfrm>
          <a:prstGeom prst="roundRect">
            <a:avLst>
              <a:gd name="adj" fmla="val 4348"/>
            </a:avLst>
          </a:prstGeom>
          <a:solidFill>
            <a:srgbClr val="FCEEDB"/>
          </a:solidFill>
          <a:ln w="12700">
            <a:solidFill>
              <a:srgbClr val="D7E2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1" name="Text 8"/>
          <p:cNvSpPr/>
          <p:nvPr/>
        </p:nvSpPr>
        <p:spPr>
          <a:xfrm>
            <a:off x="8366760" y="4453128"/>
            <a:ext cx="26517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3247"/>
                </a:solidFill>
                <a:effectLst/>
                <a:uLnTx/>
                <a:uFillTx/>
                <a:latin typeface="Arial"/>
                <a:ea typeface="+mn-ea"/>
                <a:cs typeface="+mn-cs"/>
              </a:rPr>
              <a:t>Trade-off</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9"/>
          <p:cNvSpPr/>
          <p:nvPr/>
        </p:nvSpPr>
        <p:spPr>
          <a:xfrm>
            <a:off x="8366760" y="4754880"/>
            <a:ext cx="2651760" cy="54864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2D3A"/>
                </a:solidFill>
                <a:effectLst/>
                <a:uLnTx/>
                <a:uFillTx/>
                <a:latin typeface="Arial"/>
                <a:ea typeface="+mn-ea"/>
                <a:cs typeface="+mn-cs"/>
              </a:rPr>
              <a:t>A harder task usually means lower accuracy.</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E0F88A-CABD-04A2-4825-9AAA93B7F226}"/>
              </a:ext>
            </a:extLst>
          </p:cNvPr>
          <p:cNvPicPr>
            <a:picLocks noChangeAspect="1"/>
          </p:cNvPicPr>
          <p:nvPr/>
        </p:nvPicPr>
        <p:blipFill>
          <a:blip r:embed="rId2"/>
          <a:stretch>
            <a:fillRect/>
          </a:stretch>
        </p:blipFill>
        <p:spPr>
          <a:xfrm>
            <a:off x="0" y="1792589"/>
            <a:ext cx="12192000" cy="3272822"/>
          </a:xfrm>
          <a:prstGeom prst="rect">
            <a:avLst/>
          </a:prstGeom>
        </p:spPr>
      </p:pic>
    </p:spTree>
    <p:extLst>
      <p:ext uri="{BB962C8B-B14F-4D97-AF65-F5344CB8AC3E}">
        <p14:creationId xmlns:p14="http://schemas.microsoft.com/office/powerpoint/2010/main" val="2393707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658368"/>
            <a:ext cx="74066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C4A6E"/>
                </a:solidFill>
                <a:effectLst/>
                <a:uLnTx/>
                <a:uFillTx/>
                <a:latin typeface="Aptos Display" pitchFamily="34" charset="0"/>
                <a:ea typeface="Aptos Display" pitchFamily="34" charset="-122"/>
                <a:cs typeface="Aptos Display" pitchFamily="34" charset="-120"/>
              </a:rPr>
              <a:t>Case study and data</a:t>
            </a:r>
            <a:endParaRPr kumimoji="0" lang="en-US" sz="28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1081510"/>
            <a:ext cx="11301984" cy="344953"/>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Aptos"/>
                <a:ea typeface="+mn-ea"/>
                <a:cs typeface="+mn-cs"/>
              </a:rPr>
              <a:t>The study focuses on the lower Miami River and uses hourly operational and environmental data.</a:t>
            </a:r>
          </a:p>
        </p:txBody>
      </p:sp>
      <p:sp>
        <p:nvSpPr>
          <p:cNvPr id="4" name="Shape 2"/>
          <p:cNvSpPr/>
          <p:nvPr/>
        </p:nvSpPr>
        <p:spPr>
          <a:xfrm>
            <a:off x="566928" y="1417320"/>
            <a:ext cx="5074920" cy="4526280"/>
          </a:xfrm>
          <a:prstGeom prst="roundRect">
            <a:avLst>
              <a:gd name="adj" fmla="val 1616"/>
            </a:avLst>
          </a:prstGeom>
          <a:solidFill>
            <a:srgbClr val="FFFF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pic>
        <p:nvPicPr>
          <p:cNvPr id="5" name="Image 0" descr="/mnt/data/assets/map_clean.png"/>
          <p:cNvPicPr>
            <a:picLocks noChangeAspect="1"/>
          </p:cNvPicPr>
          <p:nvPr/>
        </p:nvPicPr>
        <p:blipFill>
          <a:blip r:embed="rId3"/>
          <a:stretch>
            <a:fillRect/>
          </a:stretch>
        </p:blipFill>
        <p:spPr>
          <a:xfrm>
            <a:off x="105995" y="1819656"/>
            <a:ext cx="4709160" cy="2825496"/>
          </a:xfrm>
          <a:prstGeom prst="rect">
            <a:avLst/>
          </a:prstGeom>
        </p:spPr>
      </p:pic>
      <p:sp>
        <p:nvSpPr>
          <p:cNvPr id="6" name="Text 3"/>
          <p:cNvSpPr/>
          <p:nvPr/>
        </p:nvSpPr>
        <p:spPr>
          <a:xfrm>
            <a:off x="822960" y="4795935"/>
            <a:ext cx="4572000" cy="80019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srgbClr val="5B7280"/>
                </a:solidFill>
                <a:effectLst/>
                <a:uLnTx/>
                <a:uFillTx/>
                <a:latin typeface="Aptos"/>
                <a:ea typeface="+mn-ea"/>
                <a:cs typeface="+mn-cs"/>
              </a:rPr>
              <a:t>Figure 1 from the paper: downstream Miami River, structures, and stage stations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4"/>
          <p:cNvSpPr/>
          <p:nvPr/>
        </p:nvSpPr>
        <p:spPr>
          <a:xfrm>
            <a:off x="5943600" y="1481328"/>
            <a:ext cx="2697480" cy="960120"/>
          </a:xfrm>
          <a:prstGeom prst="roundRect">
            <a:avLst>
              <a:gd name="adj" fmla="val 7619"/>
            </a:avLst>
          </a:prstGeom>
          <a:solidFill>
            <a:srgbClr val="EAF6FB"/>
          </a:solidFill>
          <a:ln w="12700">
            <a:solidFill>
              <a:srgbClr val="D7E3EA"/>
            </a:solidFill>
            <a:prstDash val="solid"/>
          </a:ln>
          <a:effectLst>
            <a:outerShdw blurRad="19050" dist="127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8" name="Text 5"/>
          <p:cNvSpPr/>
          <p:nvPr/>
        </p:nvSpPr>
        <p:spPr>
          <a:xfrm>
            <a:off x="5943600" y="1536192"/>
            <a:ext cx="2368296"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C4A6E"/>
                </a:solidFill>
                <a:effectLst/>
                <a:uLnTx/>
                <a:uFillTx/>
                <a:latin typeface="Aptos"/>
                <a:ea typeface="+mn-ea"/>
                <a:cs typeface="+mn-cs"/>
              </a:rPr>
              <a:t>Study area</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6"/>
          <p:cNvSpPr/>
          <p:nvPr/>
        </p:nvSpPr>
        <p:spPr>
          <a:xfrm>
            <a:off x="6108192" y="1865376"/>
            <a:ext cx="2386584" cy="466344"/>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5.6 miles of the lower Miami River, plus tributaries C4 and C6.</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7"/>
          <p:cNvSpPr/>
          <p:nvPr/>
        </p:nvSpPr>
        <p:spPr>
          <a:xfrm>
            <a:off x="8887968" y="1481328"/>
            <a:ext cx="2697480" cy="960120"/>
          </a:xfrm>
          <a:prstGeom prst="roundRect">
            <a:avLst>
              <a:gd name="adj" fmla="val 7619"/>
            </a:avLst>
          </a:prstGeom>
          <a:solidFill>
            <a:srgbClr val="E9F7EF"/>
          </a:solidFill>
          <a:ln w="12700">
            <a:solidFill>
              <a:srgbClr val="D7E3EA"/>
            </a:solidFill>
            <a:prstDash val="solid"/>
          </a:ln>
          <a:effectLst>
            <a:outerShdw blurRad="19050" dist="127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11" name="Text 8"/>
          <p:cNvSpPr/>
          <p:nvPr/>
        </p:nvSpPr>
        <p:spPr>
          <a:xfrm>
            <a:off x="8887968" y="1536192"/>
            <a:ext cx="2368296"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66534"/>
                </a:solidFill>
                <a:effectLst/>
                <a:uLnTx/>
                <a:uFillTx/>
                <a:latin typeface="Aptos"/>
                <a:ea typeface="+mn-ea"/>
                <a:cs typeface="+mn-cs"/>
              </a:rPr>
              <a:t>Time resolution</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9"/>
          <p:cNvSpPr/>
          <p:nvPr/>
        </p:nvSpPr>
        <p:spPr>
          <a:xfrm>
            <a:off x="9052560" y="1865376"/>
            <a:ext cx="2386584" cy="466344"/>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Hourly data from Jan 2010 through Dec 2020.</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0"/>
          <p:cNvSpPr/>
          <p:nvPr/>
        </p:nvSpPr>
        <p:spPr>
          <a:xfrm>
            <a:off x="5943600" y="2697480"/>
            <a:ext cx="2697480" cy="1298448"/>
          </a:xfrm>
          <a:prstGeom prst="roundRect">
            <a:avLst>
              <a:gd name="adj" fmla="val 5634"/>
            </a:avLst>
          </a:prstGeom>
          <a:solidFill>
            <a:srgbClr val="FFF4DA"/>
          </a:solidFill>
          <a:ln w="12700">
            <a:solidFill>
              <a:srgbClr val="D7E3EA"/>
            </a:solidFill>
            <a:prstDash val="solid"/>
          </a:ln>
          <a:effectLst>
            <a:outerShdw blurRad="19050" dist="127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14" name="Text 11"/>
          <p:cNvSpPr/>
          <p:nvPr/>
        </p:nvSpPr>
        <p:spPr>
          <a:xfrm>
            <a:off x="6108192" y="2807208"/>
            <a:ext cx="2368296"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C4A03"/>
                </a:solidFill>
                <a:effectLst/>
                <a:uLnTx/>
                <a:uFillTx/>
                <a:latin typeface="Aptos"/>
                <a:ea typeface="+mn-ea"/>
                <a:cs typeface="+mn-cs"/>
              </a:rPr>
              <a:t>Inputs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Text 12"/>
          <p:cNvSpPr/>
          <p:nvPr/>
        </p:nvSpPr>
        <p:spPr>
          <a:xfrm>
            <a:off x="6108192" y="3081528"/>
            <a:ext cx="2386584" cy="804672"/>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Rainfall, tide at S4, gate flows, pump flows, and recent water stages.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Shape 13"/>
          <p:cNvSpPr/>
          <p:nvPr/>
        </p:nvSpPr>
        <p:spPr>
          <a:xfrm>
            <a:off x="8887968" y="2697480"/>
            <a:ext cx="2697480" cy="1298448"/>
          </a:xfrm>
          <a:prstGeom prst="roundRect">
            <a:avLst>
              <a:gd name="adj" fmla="val 5634"/>
            </a:avLst>
          </a:prstGeom>
          <a:solidFill>
            <a:srgbClr val="EAF6FB"/>
          </a:solidFill>
          <a:ln w="12700">
            <a:solidFill>
              <a:srgbClr val="D7E3EA"/>
            </a:solidFill>
            <a:prstDash val="solid"/>
          </a:ln>
          <a:effectLst>
            <a:outerShdw blurRad="19050" dist="127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17" name="Text 14"/>
          <p:cNvSpPr/>
          <p:nvPr/>
        </p:nvSpPr>
        <p:spPr>
          <a:xfrm>
            <a:off x="9052560" y="2807208"/>
            <a:ext cx="2368296"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C4A6E"/>
                </a:solidFill>
                <a:effectLst/>
                <a:uLnTx/>
                <a:uFillTx/>
                <a:latin typeface="Aptos"/>
                <a:ea typeface="+mn-ea"/>
                <a:cs typeface="+mn-cs"/>
              </a:rPr>
              <a:t>Targets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5"/>
          <p:cNvSpPr/>
          <p:nvPr/>
        </p:nvSpPr>
        <p:spPr>
          <a:xfrm>
            <a:off x="9052560" y="3081528"/>
            <a:ext cx="2386584" cy="804672"/>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Water stage at S1 and tailwater stage at S25A, S25B, and S26.</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6"/>
          <p:cNvSpPr/>
          <p:nvPr/>
        </p:nvSpPr>
        <p:spPr>
          <a:xfrm>
            <a:off x="5943600" y="4261104"/>
            <a:ext cx="5641848" cy="1234440"/>
          </a:xfrm>
          <a:prstGeom prst="roundRect">
            <a:avLst>
              <a:gd name="adj" fmla="val 5926"/>
            </a:avLst>
          </a:prstGeom>
          <a:solidFill>
            <a:srgbClr val="FFFFFF"/>
          </a:solidFill>
          <a:ln w="12700">
            <a:solidFill>
              <a:srgbClr val="D7E3EA"/>
            </a:solidFill>
            <a:prstDash val="solid"/>
          </a:ln>
          <a:effectLst>
            <a:outerShdw blurRad="19050" dist="127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7"/>
          <p:cNvSpPr/>
          <p:nvPr/>
        </p:nvSpPr>
        <p:spPr>
          <a:xfrm>
            <a:off x="6108192" y="4370832"/>
            <a:ext cx="5312664"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C4A6E"/>
                </a:solidFill>
                <a:effectLst/>
                <a:uLnTx/>
                <a:uFillTx/>
                <a:latin typeface="Aptos"/>
                <a:ea typeface="+mn-ea"/>
                <a:cs typeface="+mn-cs"/>
              </a:rPr>
              <a:t>Train/test split</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8"/>
          <p:cNvSpPr/>
          <p:nvPr/>
        </p:nvSpPr>
        <p:spPr>
          <a:xfrm>
            <a:off x="6108192" y="4645152"/>
            <a:ext cx="5458968" cy="850392"/>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DL data were min-max normalized. Training = 80% (2010 to Aug 7, 2018); testing = 20% (Aug 8, 2018 to Dec 31, 2020).</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Slide Number Placeholder 0"/>
          <p:cNvSpPr>
            <a:spLocks noGrp="1"/>
          </p:cNvSpPr>
          <p:nvPr>
            <p:ph type="sldNum" sz="quarter" idx="4294967295"/>
          </p:nvPr>
        </p:nvSpPr>
        <p:spPr>
          <a:xfrm>
            <a:off x="11567160" y="6556248"/>
            <a:ext cx="256032" cy="109728"/>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7280"/>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5B7280"/>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srgbClr val="5B7280"/>
              </a:solidFill>
              <a:effectLst/>
              <a:uLnTx/>
              <a:uFillTx/>
              <a:latin typeface="Aptos"/>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F8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881360" cy="384048"/>
          </a:xfrm>
          <a:prstGeom prst="rect">
            <a:avLst/>
          </a:prstGeom>
          <a:noFill/>
          <a:ln/>
        </p:spPr>
        <p:txBody>
          <a:bodyPr wrap="square" lIns="0" tIns="0" rIns="0" bIns="0" rtlCol="0" anchor="ctr"/>
          <a:lstStyle/>
          <a:p>
            <a:pPr marL="0" indent="0">
              <a:buNone/>
            </a:pPr>
            <a:r>
              <a:rPr lang="en-US" sz="2800" b="1" dirty="0">
                <a:solidFill>
                  <a:srgbClr val="0B3C5D"/>
                </a:solidFill>
                <a:latin typeface="Aptos Display" pitchFamily="34" charset="0"/>
                <a:ea typeface="Aptos Display" pitchFamily="34" charset="-122"/>
                <a:cs typeface="Aptos Display" pitchFamily="34" charset="-120"/>
              </a:rPr>
              <a:t>Prediction setup: physics model and DL surrogate</a:t>
            </a:r>
            <a:endParaRPr lang="en-US" sz="2800" dirty="0"/>
          </a:p>
        </p:txBody>
      </p:sp>
      <p:sp>
        <p:nvSpPr>
          <p:cNvPr id="3" name="Shape 1"/>
          <p:cNvSpPr/>
          <p:nvPr/>
        </p:nvSpPr>
        <p:spPr>
          <a:xfrm>
            <a:off x="455409" y="822960"/>
            <a:ext cx="11109960" cy="0"/>
          </a:xfrm>
          <a:prstGeom prst="line">
            <a:avLst/>
          </a:prstGeom>
          <a:noFill/>
          <a:ln w="31750">
            <a:solidFill>
              <a:srgbClr val="2F97C1"/>
            </a:solidFill>
            <a:prstDash val="solid"/>
          </a:ln>
        </p:spPr>
        <p:txBody>
          <a:bodyPr/>
          <a:lstStyle/>
          <a:p>
            <a:endParaRPr lang="en-US"/>
          </a:p>
        </p:txBody>
      </p:sp>
      <p:pic>
        <p:nvPicPr>
          <p:cNvPr id="4" name="Image 0" descr="/mnt/data/water_stage_assets/fig2_framework.png"/>
          <p:cNvPicPr>
            <a:picLocks noChangeAspect="1"/>
          </p:cNvPicPr>
          <p:nvPr/>
        </p:nvPicPr>
        <p:blipFill>
          <a:blip r:embed="rId3"/>
          <a:stretch>
            <a:fillRect/>
          </a:stretch>
        </p:blipFill>
        <p:spPr>
          <a:xfrm>
            <a:off x="3255264" y="822960"/>
            <a:ext cx="5510250" cy="2816350"/>
          </a:xfrm>
          <a:prstGeom prst="rect">
            <a:avLst/>
          </a:prstGeom>
        </p:spPr>
      </p:pic>
      <p:sp>
        <p:nvSpPr>
          <p:cNvPr id="5" name="Shape 2"/>
          <p:cNvSpPr/>
          <p:nvPr/>
        </p:nvSpPr>
        <p:spPr>
          <a:xfrm>
            <a:off x="658368" y="3639312"/>
            <a:ext cx="5285232" cy="2432304"/>
          </a:xfrm>
          <a:prstGeom prst="roundRect">
            <a:avLst>
              <a:gd name="adj" fmla="val 3008"/>
            </a:avLst>
          </a:prstGeom>
          <a:solidFill>
            <a:srgbClr val="EAF4F8"/>
          </a:solidFill>
          <a:ln w="12700">
            <a:solidFill>
              <a:srgbClr val="EAF4F8">
                <a:alpha val="0"/>
              </a:srgbClr>
            </a:solidFill>
            <a:prstDash val="solid"/>
          </a:ln>
        </p:spPr>
        <p:txBody>
          <a:bodyPr/>
          <a:lstStyle/>
          <a:p>
            <a:endParaRPr lang="en-US"/>
          </a:p>
        </p:txBody>
      </p:sp>
      <p:sp>
        <p:nvSpPr>
          <p:cNvPr id="6" name="Shape 3"/>
          <p:cNvSpPr/>
          <p:nvPr/>
        </p:nvSpPr>
        <p:spPr>
          <a:xfrm>
            <a:off x="6236208" y="3639312"/>
            <a:ext cx="5285232" cy="2432304"/>
          </a:xfrm>
          <a:prstGeom prst="roundRect">
            <a:avLst>
              <a:gd name="adj" fmla="val 3008"/>
            </a:avLst>
          </a:prstGeom>
          <a:solidFill>
            <a:srgbClr val="EDF6F0"/>
          </a:solidFill>
          <a:ln w="12700">
            <a:solidFill>
              <a:srgbClr val="EDF6F0">
                <a:alpha val="0"/>
              </a:srgbClr>
            </a:solidFill>
            <a:prstDash val="solid"/>
          </a:ln>
        </p:spPr>
        <p:txBody>
          <a:bodyPr/>
          <a:lstStyle/>
          <a:p>
            <a:endParaRPr lang="en-US"/>
          </a:p>
        </p:txBody>
      </p:sp>
      <p:sp>
        <p:nvSpPr>
          <p:cNvPr id="7" name="Text 4"/>
          <p:cNvSpPr/>
          <p:nvPr/>
        </p:nvSpPr>
        <p:spPr>
          <a:xfrm>
            <a:off x="737865" y="3712464"/>
            <a:ext cx="2377440" cy="256032"/>
          </a:xfrm>
          <a:prstGeom prst="rect">
            <a:avLst/>
          </a:prstGeom>
          <a:noFill/>
          <a:ln/>
        </p:spPr>
        <p:txBody>
          <a:bodyPr wrap="square" lIns="254" tIns="254" rIns="254" bIns="254" rtlCol="0" anchor="t">
            <a:normAutofit fontScale="92500" lnSpcReduction="20000"/>
          </a:bodyPr>
          <a:lstStyle/>
          <a:p>
            <a:pPr marL="0" indent="0">
              <a:buNone/>
            </a:pPr>
            <a:r>
              <a:rPr lang="en-US" sz="2200" b="1" dirty="0">
                <a:solidFill>
                  <a:srgbClr val="0B3C5D"/>
                </a:solidFill>
                <a:latin typeface="Aptos" pitchFamily="34" charset="0"/>
                <a:ea typeface="Aptos" pitchFamily="34" charset="-122"/>
                <a:cs typeface="Aptos" pitchFamily="34" charset="-120"/>
              </a:rPr>
              <a:t>DL surrogate model</a:t>
            </a:r>
            <a:endParaRPr lang="en-US" sz="2200" dirty="0"/>
          </a:p>
        </p:txBody>
      </p:sp>
      <p:sp>
        <p:nvSpPr>
          <p:cNvPr id="8" name="Text 5"/>
          <p:cNvSpPr/>
          <p:nvPr/>
        </p:nvSpPr>
        <p:spPr>
          <a:xfrm>
            <a:off x="859536" y="3994248"/>
            <a:ext cx="4956048" cy="2077368"/>
          </a:xfrm>
          <a:prstGeom prst="rect">
            <a:avLst/>
          </a:prstGeom>
          <a:noFill/>
          <a:ln/>
        </p:spPr>
        <p:txBody>
          <a:bodyPr wrap="square" lIns="254" tIns="254" rIns="254" bIns="254" rtlCol="0" anchor="t">
            <a:noAutofit/>
          </a:bodyPr>
          <a:lstStyle/>
          <a:p>
            <a:pPr marL="0" indent="0">
              <a:buNone/>
            </a:pPr>
            <a:r>
              <a:rPr lang="en-US" dirty="0">
                <a:solidFill>
                  <a:srgbClr val="183142"/>
                </a:solidFill>
                <a:latin typeface="Aptos" pitchFamily="34" charset="0"/>
                <a:ea typeface="Aptos" pitchFamily="34" charset="-122"/>
                <a:cs typeface="Aptos" pitchFamily="34" charset="-120"/>
              </a:rPr>
              <a:t>• Uses recent system state plus future covariates.</a:t>
            </a:r>
            <a:endParaRPr lang="en-US" dirty="0"/>
          </a:p>
          <a:p>
            <a:pPr marL="0" indent="0">
              <a:buNone/>
            </a:pPr>
            <a:r>
              <a:rPr lang="en-US" dirty="0">
                <a:solidFill>
                  <a:srgbClr val="183142"/>
                </a:solidFill>
                <a:latin typeface="Aptos" pitchFamily="34" charset="0"/>
                <a:ea typeface="Aptos" pitchFamily="34" charset="-122"/>
                <a:cs typeface="Aptos" pitchFamily="34" charset="-120"/>
              </a:rPr>
              <a:t>• History window: w = 72 h.</a:t>
            </a:r>
            <a:endParaRPr lang="en-US" dirty="0"/>
          </a:p>
          <a:p>
            <a:pPr marL="0" indent="0">
              <a:buNone/>
            </a:pPr>
            <a:r>
              <a:rPr lang="en-US" dirty="0">
                <a:solidFill>
                  <a:srgbClr val="183142"/>
                </a:solidFill>
                <a:latin typeface="Aptos" pitchFamily="34" charset="0"/>
                <a:ea typeface="Aptos" pitchFamily="34" charset="-122"/>
                <a:cs typeface="Aptos" pitchFamily="34" charset="-120"/>
              </a:rPr>
              <a:t>• Forecast horizon: k = 24 h for 4 output locations.</a:t>
            </a:r>
            <a:endParaRPr lang="en-US" dirty="0"/>
          </a:p>
          <a:p>
            <a:pPr marL="0" indent="0">
              <a:buNone/>
            </a:pPr>
            <a:r>
              <a:rPr lang="en-US" dirty="0">
                <a:solidFill>
                  <a:srgbClr val="183142"/>
                </a:solidFill>
                <a:latin typeface="Aptos" pitchFamily="34" charset="0"/>
                <a:ea typeface="Aptos" pitchFamily="34" charset="-122"/>
                <a:cs typeface="Aptos" pitchFamily="34" charset="-120"/>
              </a:rPr>
              <a:t>• Future rainfall/tide can come from forecast products; gate/pump settings are assumed scheduled.</a:t>
            </a:r>
            <a:endParaRPr lang="en-US" dirty="0"/>
          </a:p>
        </p:txBody>
      </p:sp>
      <p:sp>
        <p:nvSpPr>
          <p:cNvPr id="9" name="Text 6"/>
          <p:cNvSpPr/>
          <p:nvPr/>
        </p:nvSpPr>
        <p:spPr>
          <a:xfrm>
            <a:off x="6318504" y="3712464"/>
            <a:ext cx="2560320" cy="256032"/>
          </a:xfrm>
          <a:prstGeom prst="rect">
            <a:avLst/>
          </a:prstGeom>
          <a:noFill/>
          <a:ln/>
        </p:spPr>
        <p:txBody>
          <a:bodyPr wrap="square" lIns="254" tIns="254" rIns="254" bIns="254" rtlCol="0" anchor="t">
            <a:normAutofit fontScale="92500" lnSpcReduction="20000"/>
          </a:bodyPr>
          <a:lstStyle/>
          <a:p>
            <a:pPr marL="0" indent="0">
              <a:buNone/>
            </a:pPr>
            <a:r>
              <a:rPr lang="en-US" sz="2200" b="1" dirty="0">
                <a:solidFill>
                  <a:srgbClr val="0B3C5D"/>
                </a:solidFill>
                <a:latin typeface="Aptos" pitchFamily="34" charset="0"/>
                <a:ea typeface="Aptos" pitchFamily="34" charset="-122"/>
                <a:cs typeface="Aptos" pitchFamily="34" charset="-120"/>
              </a:rPr>
              <a:t>HEC-RAS benchmark</a:t>
            </a:r>
            <a:endParaRPr lang="en-US" sz="2200" dirty="0"/>
          </a:p>
        </p:txBody>
      </p:sp>
      <p:sp>
        <p:nvSpPr>
          <p:cNvPr id="10" name="Text 7"/>
          <p:cNvSpPr/>
          <p:nvPr/>
        </p:nvSpPr>
        <p:spPr>
          <a:xfrm>
            <a:off x="6455664" y="4224528"/>
            <a:ext cx="4645152" cy="1554480"/>
          </a:xfrm>
          <a:prstGeom prst="rect">
            <a:avLst/>
          </a:prstGeom>
          <a:noFill/>
          <a:ln/>
        </p:spPr>
        <p:txBody>
          <a:bodyPr wrap="square" lIns="254" tIns="254" rIns="254" bIns="254" rtlCol="0" anchor="t">
            <a:normAutofit lnSpcReduction="10000"/>
          </a:bodyPr>
          <a:lstStyle/>
          <a:p>
            <a:pPr marL="0" indent="0">
              <a:buNone/>
            </a:pPr>
            <a:r>
              <a:rPr lang="en-US" sz="1880" dirty="0">
                <a:solidFill>
                  <a:srgbClr val="183142"/>
                </a:solidFill>
                <a:latin typeface="Aptos" pitchFamily="34" charset="0"/>
                <a:ea typeface="Aptos" pitchFamily="34" charset="-122"/>
                <a:cs typeface="Aptos" pitchFamily="34" charset="-120"/>
              </a:rPr>
              <a:t>• 1D–2D coupled hydraulic model.</a:t>
            </a:r>
            <a:endParaRPr lang="en-US" sz="1880" dirty="0"/>
          </a:p>
          <a:p>
            <a:pPr marL="0" indent="0">
              <a:buNone/>
            </a:pPr>
            <a:r>
              <a:rPr lang="en-US" sz="1880" dirty="0">
                <a:solidFill>
                  <a:srgbClr val="183142"/>
                </a:solidFill>
                <a:latin typeface="Aptos" pitchFamily="34" charset="0"/>
                <a:ea typeface="Aptos" pitchFamily="34" charset="-122"/>
                <a:cs typeface="Aptos" pitchFamily="34" charset="-120"/>
              </a:rPr>
              <a:t>• Three upstream flow hydrographs: S26, S25A, S25B.</a:t>
            </a:r>
            <a:endParaRPr lang="en-US" sz="1880" dirty="0"/>
          </a:p>
          <a:p>
            <a:pPr marL="0" indent="0">
              <a:buNone/>
            </a:pPr>
            <a:r>
              <a:rPr lang="en-US" sz="1880" dirty="0">
                <a:solidFill>
                  <a:srgbClr val="183142"/>
                </a:solidFill>
                <a:latin typeface="Aptos" pitchFamily="34" charset="0"/>
                <a:ea typeface="Aptos" pitchFamily="34" charset="-122"/>
                <a:cs typeface="Aptos" pitchFamily="34" charset="-120"/>
              </a:rPr>
              <a:t>• One downstream stage boundary: S4.</a:t>
            </a:r>
            <a:endParaRPr lang="en-US" sz="1880" dirty="0"/>
          </a:p>
          <a:p>
            <a:pPr marL="0" indent="0">
              <a:buNone/>
            </a:pPr>
            <a:r>
              <a:rPr lang="en-US" sz="1880" dirty="0">
                <a:solidFill>
                  <a:srgbClr val="183142"/>
                </a:solidFill>
                <a:latin typeface="Aptos" pitchFamily="34" charset="0"/>
                <a:ea typeface="Aptos" pitchFamily="34" charset="-122"/>
                <a:cs typeface="Aptos" pitchFamily="34" charset="-120"/>
              </a:rPr>
              <a:t>• 2-year simulation (2019–2020), 1-min computation step, 1-h outputs.</a:t>
            </a:r>
            <a:endParaRPr lang="en-US" sz="1880" dirty="0"/>
          </a:p>
        </p:txBody>
      </p:sp>
      <p:sp>
        <p:nvSpPr>
          <p:cNvPr id="11" name="Text 8"/>
          <p:cNvSpPr/>
          <p:nvPr/>
        </p:nvSpPr>
        <p:spPr>
          <a:xfrm>
            <a:off x="859536" y="6236208"/>
            <a:ext cx="10661904" cy="420624"/>
          </a:xfrm>
          <a:prstGeom prst="rect">
            <a:avLst/>
          </a:prstGeom>
          <a:noFill/>
          <a:ln/>
        </p:spPr>
        <p:txBody>
          <a:bodyPr wrap="square" lIns="254" tIns="254" rIns="254" bIns="254" rtlCol="0" anchor="t">
            <a:noAutofit/>
          </a:bodyPr>
          <a:lstStyle/>
          <a:p>
            <a:pPr marL="0" indent="0" algn="ctr">
              <a:buNone/>
            </a:pPr>
            <a:r>
              <a:rPr lang="en-US" dirty="0">
                <a:latin typeface="Aptos" pitchFamily="34" charset="0"/>
                <a:ea typeface="Aptos" pitchFamily="34" charset="-122"/>
                <a:cs typeface="Aptos" pitchFamily="34" charset="-120"/>
              </a:rPr>
              <a:t>Key distinction: the DL models explicitly exploit both recent memory and future covariates, while HEC-RAS only needs boundary conditions over the prediction period.</a:t>
            </a:r>
            <a:endParaRPr lang="en-US" dirty="0"/>
          </a:p>
        </p:txBody>
      </p:sp>
      <p:sp>
        <p:nvSpPr>
          <p:cNvPr id="13" name="Text 9"/>
          <p:cNvSpPr/>
          <p:nvPr/>
        </p:nvSpPr>
        <p:spPr>
          <a:xfrm>
            <a:off x="11750040" y="6473952"/>
            <a:ext cx="201168" cy="164592"/>
          </a:xfrm>
          <a:prstGeom prst="rect">
            <a:avLst/>
          </a:prstGeom>
          <a:noFill/>
          <a:ln/>
        </p:spPr>
        <p:txBody>
          <a:bodyPr wrap="square" lIns="0" tIns="0" rIns="0" bIns="0" rtlCol="0" anchor="ctr"/>
          <a:lstStyle/>
          <a:p>
            <a:pPr marL="0" indent="0" algn="r">
              <a:buNone/>
            </a:pPr>
            <a:r>
              <a:rPr lang="en-US" sz="1000" dirty="0">
                <a:solidFill>
                  <a:srgbClr val="566573"/>
                </a:solidFill>
                <a:latin typeface="Aptos" pitchFamily="34" charset="0"/>
                <a:ea typeface="Aptos" pitchFamily="34" charset="-122"/>
                <a:cs typeface="Aptos" pitchFamily="34" charset="-120"/>
              </a:rPr>
              <a:t>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F8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881360" cy="384048"/>
          </a:xfrm>
          <a:prstGeom prst="rect">
            <a:avLst/>
          </a:prstGeom>
          <a:noFill/>
          <a:ln/>
        </p:spPr>
        <p:txBody>
          <a:bodyPr wrap="square" lIns="0" tIns="0" rIns="0" bIns="0" rtlCol="0" anchor="ctr"/>
          <a:lstStyle/>
          <a:p>
            <a:pPr marL="0" indent="0">
              <a:buNone/>
            </a:pPr>
            <a:r>
              <a:rPr lang="en-US" sz="2800" b="1" dirty="0">
                <a:solidFill>
                  <a:srgbClr val="0B3C5D"/>
                </a:solidFill>
                <a:latin typeface="Aptos Display" pitchFamily="34" charset="0"/>
                <a:ea typeface="Aptos Display" pitchFamily="34" charset="-122"/>
                <a:cs typeface="Aptos Display" pitchFamily="34" charset="-120"/>
              </a:rPr>
              <a:t>Models tested and what they are meant to capture</a:t>
            </a:r>
            <a:endParaRPr lang="en-US" sz="2800" dirty="0"/>
          </a:p>
        </p:txBody>
      </p:sp>
      <p:sp>
        <p:nvSpPr>
          <p:cNvPr id="3" name="Shape 1"/>
          <p:cNvSpPr/>
          <p:nvPr/>
        </p:nvSpPr>
        <p:spPr>
          <a:xfrm>
            <a:off x="502920" y="896112"/>
            <a:ext cx="11109960" cy="0"/>
          </a:xfrm>
          <a:prstGeom prst="line">
            <a:avLst/>
          </a:prstGeom>
          <a:noFill/>
          <a:ln w="31750">
            <a:solidFill>
              <a:srgbClr val="2F97C1"/>
            </a:solidFill>
            <a:prstDash val="solid"/>
          </a:ln>
        </p:spPr>
        <p:txBody>
          <a:bodyPr/>
          <a:lstStyle/>
          <a:p>
            <a:endParaRPr lang="en-US"/>
          </a:p>
        </p:txBody>
      </p:sp>
      <p:sp>
        <p:nvSpPr>
          <p:cNvPr id="4" name="Shape 2"/>
          <p:cNvSpPr/>
          <p:nvPr/>
        </p:nvSpPr>
        <p:spPr>
          <a:xfrm>
            <a:off x="621792" y="1024129"/>
            <a:ext cx="3886200" cy="5614415"/>
          </a:xfrm>
          <a:prstGeom prst="roundRect">
            <a:avLst>
              <a:gd name="adj" fmla="val 1882"/>
            </a:avLst>
          </a:prstGeom>
          <a:solidFill>
            <a:srgbClr val="F6F1E8"/>
          </a:solidFill>
          <a:ln w="12700">
            <a:solidFill>
              <a:srgbClr val="F6F1E8">
                <a:alpha val="0"/>
              </a:srgbClr>
            </a:solidFill>
            <a:prstDash val="solid"/>
          </a:ln>
        </p:spPr>
        <p:txBody>
          <a:bodyPr/>
          <a:lstStyle/>
          <a:p>
            <a:endParaRPr lang="en-US"/>
          </a:p>
        </p:txBody>
      </p:sp>
      <p:sp>
        <p:nvSpPr>
          <p:cNvPr id="5" name="Text 3"/>
          <p:cNvSpPr/>
          <p:nvPr/>
        </p:nvSpPr>
        <p:spPr>
          <a:xfrm>
            <a:off x="728721" y="1076942"/>
            <a:ext cx="2560320" cy="274320"/>
          </a:xfrm>
          <a:prstGeom prst="rect">
            <a:avLst/>
          </a:prstGeom>
          <a:noFill/>
          <a:ln/>
        </p:spPr>
        <p:txBody>
          <a:bodyPr wrap="square" lIns="254" tIns="254" rIns="254" bIns="254" rtlCol="0" anchor="t">
            <a:noAutofit/>
          </a:bodyPr>
          <a:lstStyle/>
          <a:p>
            <a:pPr marL="0" indent="0">
              <a:buNone/>
            </a:pPr>
            <a:r>
              <a:rPr lang="en-US" b="1" dirty="0">
                <a:solidFill>
                  <a:srgbClr val="0B3C5D"/>
                </a:solidFill>
                <a:latin typeface="Aptos" pitchFamily="34" charset="0"/>
                <a:ea typeface="Aptos" pitchFamily="34" charset="-122"/>
                <a:cs typeface="Aptos" pitchFamily="34" charset="-120"/>
              </a:rPr>
              <a:t>Baselines and DL family</a:t>
            </a:r>
            <a:endParaRPr lang="en-US" dirty="0"/>
          </a:p>
        </p:txBody>
      </p:sp>
      <p:sp>
        <p:nvSpPr>
          <p:cNvPr id="6" name="Text 4"/>
          <p:cNvSpPr/>
          <p:nvPr/>
        </p:nvSpPr>
        <p:spPr>
          <a:xfrm>
            <a:off x="694944" y="1404074"/>
            <a:ext cx="4050792" cy="3383280"/>
          </a:xfrm>
          <a:prstGeom prst="rect">
            <a:avLst/>
          </a:prstGeom>
          <a:noFill/>
          <a:ln/>
        </p:spPr>
        <p:txBody>
          <a:bodyPr wrap="square" lIns="254" tIns="254" rIns="254" bIns="254" rtlCol="0" anchor="t">
            <a:noAutofit/>
          </a:bodyPr>
          <a:lstStyle/>
          <a:p>
            <a:pPr marL="0" indent="0">
              <a:buNone/>
            </a:pPr>
            <a:r>
              <a:rPr lang="en-US" dirty="0">
                <a:latin typeface="Aptos" pitchFamily="34" charset="0"/>
                <a:ea typeface="Aptos" pitchFamily="34" charset="-122"/>
                <a:cs typeface="Aptos" pitchFamily="34" charset="-120"/>
              </a:rPr>
              <a:t>Baselines: LR, XGBoost, and HEC-RAS</a:t>
            </a:r>
            <a:endParaRPr lang="en-US" dirty="0"/>
          </a:p>
          <a:p>
            <a:pPr marL="0" indent="0">
              <a:buNone/>
            </a:pPr>
            <a:endParaRPr lang="en-US" dirty="0"/>
          </a:p>
          <a:p>
            <a:pPr marL="0" indent="0">
              <a:buNone/>
            </a:pPr>
            <a:r>
              <a:rPr lang="en-US" dirty="0">
                <a:latin typeface="Aptos" pitchFamily="34" charset="0"/>
                <a:ea typeface="Aptos" pitchFamily="34" charset="-122"/>
                <a:cs typeface="Aptos" pitchFamily="34" charset="-120"/>
              </a:rPr>
              <a:t>MLP — nonlinear regression on the flattened input window</a:t>
            </a:r>
            <a:endParaRPr lang="en-US" dirty="0"/>
          </a:p>
          <a:p>
            <a:pPr marL="0" indent="0">
              <a:buNone/>
            </a:pPr>
            <a:endParaRPr lang="en-US" dirty="0"/>
          </a:p>
          <a:p>
            <a:pPr marL="0" indent="0">
              <a:buNone/>
            </a:pPr>
            <a:r>
              <a:rPr lang="en-US" dirty="0">
                <a:latin typeface="Aptos" pitchFamily="34" charset="0"/>
                <a:ea typeface="Aptos" pitchFamily="34" charset="-122"/>
                <a:cs typeface="Aptos" pitchFamily="34" charset="-120"/>
              </a:rPr>
              <a:t>RNN — sequence memory for short-term temporal dependence</a:t>
            </a:r>
            <a:endParaRPr lang="en-US" dirty="0"/>
          </a:p>
          <a:p>
            <a:pPr marL="0" indent="0">
              <a:buNone/>
            </a:pPr>
            <a:endParaRPr lang="en-US" dirty="0"/>
          </a:p>
          <a:p>
            <a:pPr marL="0" indent="0">
              <a:buNone/>
            </a:pPr>
            <a:r>
              <a:rPr lang="en-US" dirty="0">
                <a:latin typeface="Aptos" pitchFamily="34" charset="0"/>
                <a:ea typeface="Aptos" pitchFamily="34" charset="-122"/>
                <a:cs typeface="Aptos" pitchFamily="34" charset="-120"/>
              </a:rPr>
              <a:t>LSTM — gated recurrent model to reduce vanishing-gradient issues</a:t>
            </a:r>
            <a:endParaRPr lang="en-US" dirty="0"/>
          </a:p>
          <a:p>
            <a:pPr marL="0" indent="0">
              <a:buNone/>
            </a:pPr>
            <a:endParaRPr lang="en-US" dirty="0"/>
          </a:p>
          <a:p>
            <a:pPr marL="0" indent="0">
              <a:buNone/>
            </a:pPr>
            <a:r>
              <a:rPr lang="en-US" dirty="0">
                <a:latin typeface="Aptos" pitchFamily="34" charset="0"/>
                <a:ea typeface="Aptos" pitchFamily="34" charset="-122"/>
                <a:cs typeface="Aptos" pitchFamily="34" charset="-120"/>
              </a:rPr>
              <a:t>CNN — local temporal feature extraction across time and variables</a:t>
            </a:r>
            <a:endParaRPr lang="en-US" dirty="0"/>
          </a:p>
          <a:p>
            <a:pPr marL="0" indent="0">
              <a:buNone/>
            </a:pPr>
            <a:endParaRPr lang="en-US" dirty="0"/>
          </a:p>
          <a:p>
            <a:pPr marL="0" indent="0">
              <a:buNone/>
            </a:pPr>
            <a:r>
              <a:rPr lang="en-US" dirty="0">
                <a:latin typeface="Aptos" pitchFamily="34" charset="0"/>
                <a:ea typeface="Aptos" pitchFamily="34" charset="-122"/>
                <a:cs typeface="Aptos" pitchFamily="34" charset="-120"/>
              </a:rPr>
              <a:t>RCNN — RNN features followed by CNN pattern extraction</a:t>
            </a:r>
            <a:endParaRPr lang="en-US" dirty="0"/>
          </a:p>
        </p:txBody>
      </p:sp>
      <p:sp>
        <p:nvSpPr>
          <p:cNvPr id="7" name="Text 5"/>
          <p:cNvSpPr/>
          <p:nvPr/>
        </p:nvSpPr>
        <p:spPr>
          <a:xfrm>
            <a:off x="728720" y="6046237"/>
            <a:ext cx="3779271" cy="390113"/>
          </a:xfrm>
          <a:prstGeom prst="rect">
            <a:avLst/>
          </a:prstGeom>
          <a:noFill/>
          <a:ln/>
        </p:spPr>
        <p:txBody>
          <a:bodyPr wrap="square" lIns="254" tIns="254" rIns="254" bIns="254" rtlCol="0" anchor="t">
            <a:noAutofit/>
          </a:bodyPr>
          <a:lstStyle/>
          <a:p>
            <a:pPr marL="0" indent="0">
              <a:buNone/>
            </a:pPr>
            <a:r>
              <a:rPr lang="en-US" u="sng" dirty="0">
                <a:latin typeface="Aptos" pitchFamily="34" charset="0"/>
                <a:ea typeface="Aptos" pitchFamily="34" charset="-122"/>
                <a:cs typeface="Aptos" pitchFamily="34" charset="-120"/>
              </a:rPr>
              <a:t>Reported metrics</a:t>
            </a:r>
            <a:r>
              <a:rPr lang="en-US" dirty="0">
                <a:latin typeface="Aptos" pitchFamily="34" charset="0"/>
                <a:ea typeface="Aptos" pitchFamily="34" charset="-122"/>
                <a:cs typeface="Aptos" pitchFamily="34" charset="-120"/>
              </a:rPr>
              <a:t>: MAE, RMSE, NSE, and KGE.</a:t>
            </a:r>
            <a:endParaRPr lang="en-US" dirty="0"/>
          </a:p>
        </p:txBody>
      </p:sp>
      <p:pic>
        <p:nvPicPr>
          <p:cNvPr id="8" name="Image 0" descr="/mnt/data/water_stage_assets/fig3_rcnn_arch.png"/>
          <p:cNvPicPr>
            <a:picLocks noChangeAspect="1"/>
          </p:cNvPicPr>
          <p:nvPr/>
        </p:nvPicPr>
        <p:blipFill>
          <a:blip r:embed="rId3"/>
          <a:stretch>
            <a:fillRect/>
          </a:stretch>
        </p:blipFill>
        <p:spPr>
          <a:xfrm>
            <a:off x="5170730" y="1188720"/>
            <a:ext cx="6163459" cy="4069080"/>
          </a:xfrm>
          <a:prstGeom prst="rect">
            <a:avLst/>
          </a:prstGeom>
        </p:spPr>
      </p:pic>
      <p:sp>
        <p:nvSpPr>
          <p:cNvPr id="9" name="Shape 6"/>
          <p:cNvSpPr/>
          <p:nvPr/>
        </p:nvSpPr>
        <p:spPr>
          <a:xfrm>
            <a:off x="4983480" y="5440680"/>
            <a:ext cx="6446520" cy="713232"/>
          </a:xfrm>
          <a:prstGeom prst="roundRect">
            <a:avLst>
              <a:gd name="adj" fmla="val 10256"/>
            </a:avLst>
          </a:prstGeom>
          <a:solidFill>
            <a:srgbClr val="F1ECFA"/>
          </a:solidFill>
          <a:ln w="12700">
            <a:solidFill>
              <a:srgbClr val="F1ECFA">
                <a:alpha val="0"/>
              </a:srgbClr>
            </a:solidFill>
            <a:prstDash val="solid"/>
          </a:ln>
        </p:spPr>
        <p:txBody>
          <a:bodyPr/>
          <a:lstStyle/>
          <a:p>
            <a:endParaRPr lang="en-US"/>
          </a:p>
        </p:txBody>
      </p:sp>
      <p:sp>
        <p:nvSpPr>
          <p:cNvPr id="10" name="Text 7"/>
          <p:cNvSpPr/>
          <p:nvPr/>
        </p:nvSpPr>
        <p:spPr>
          <a:xfrm>
            <a:off x="5170729" y="5550406"/>
            <a:ext cx="6091319" cy="603505"/>
          </a:xfrm>
          <a:prstGeom prst="rect">
            <a:avLst/>
          </a:prstGeom>
          <a:noFill/>
          <a:ln/>
        </p:spPr>
        <p:txBody>
          <a:bodyPr wrap="square" lIns="254" tIns="254" rIns="254" bIns="254" rtlCol="0" anchor="t">
            <a:normAutofit fontScale="85000" lnSpcReduction="10000"/>
          </a:bodyPr>
          <a:lstStyle/>
          <a:p>
            <a:pPr marL="0" indent="0" algn="ctr">
              <a:buNone/>
            </a:pPr>
            <a:r>
              <a:rPr lang="en-US" sz="1860" dirty="0">
                <a:solidFill>
                  <a:srgbClr val="183142"/>
                </a:solidFill>
                <a:latin typeface="Aptos" pitchFamily="34" charset="0"/>
                <a:ea typeface="Aptos" pitchFamily="34" charset="-122"/>
                <a:cs typeface="Aptos" pitchFamily="34" charset="-120"/>
              </a:rPr>
              <a:t>The paper’s intuition: RCNN can learn both sequential dependence (via RNN) and local cross-time / cross-variable patterns (via CNN).</a:t>
            </a:r>
            <a:endParaRPr lang="en-US" sz="1860" dirty="0"/>
          </a:p>
        </p:txBody>
      </p:sp>
      <p:sp>
        <p:nvSpPr>
          <p:cNvPr id="12" name="Text 8"/>
          <p:cNvSpPr/>
          <p:nvPr/>
        </p:nvSpPr>
        <p:spPr>
          <a:xfrm>
            <a:off x="11750040" y="6473952"/>
            <a:ext cx="201168" cy="164592"/>
          </a:xfrm>
          <a:prstGeom prst="rect">
            <a:avLst/>
          </a:prstGeom>
          <a:noFill/>
          <a:ln/>
        </p:spPr>
        <p:txBody>
          <a:bodyPr wrap="square" lIns="0" tIns="0" rIns="0" bIns="0" rtlCol="0" anchor="ctr"/>
          <a:lstStyle/>
          <a:p>
            <a:pPr marL="0" indent="0" algn="r">
              <a:buNone/>
            </a:pPr>
            <a:r>
              <a:rPr lang="en-US" sz="1000" dirty="0">
                <a:solidFill>
                  <a:srgbClr val="566573"/>
                </a:solidFill>
                <a:latin typeface="Aptos" pitchFamily="34" charset="0"/>
                <a:ea typeface="Aptos" pitchFamily="34" charset="-122"/>
                <a:cs typeface="Aptos" pitchFamily="34" charset="-120"/>
              </a:rPr>
              <a:t>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658368"/>
            <a:ext cx="74066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C4A6E"/>
                </a:solidFill>
                <a:effectLst/>
                <a:uLnTx/>
                <a:uFillTx/>
                <a:latin typeface="Aptos Display" pitchFamily="34" charset="0"/>
                <a:ea typeface="Aptos Display" pitchFamily="34" charset="-122"/>
                <a:cs typeface="Aptos Display" pitchFamily="34" charset="-120"/>
              </a:rPr>
              <a:t>Forecasting workflow in plain language</a:t>
            </a:r>
            <a:endParaRPr kumimoji="0" lang="en-US" sz="28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7" y="1024128"/>
            <a:ext cx="10143683" cy="7132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5B7280"/>
                </a:solidFill>
                <a:effectLst/>
                <a:uLnTx/>
                <a:uFillTx/>
                <a:latin typeface="Aptos"/>
                <a:ea typeface="+mn-ea"/>
                <a:cs typeface="+mn-cs"/>
              </a:rPr>
              <a:t>The models use both recent history and information that is expected or scheduled for the near future.</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621792" y="1600200"/>
            <a:ext cx="10972800" cy="2788920"/>
          </a:xfrm>
          <a:prstGeom prst="roundRect">
            <a:avLst>
              <a:gd name="adj" fmla="val 2623"/>
            </a:avLst>
          </a:prstGeom>
          <a:solidFill>
            <a:srgbClr val="FFFF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Shape 3"/>
          <p:cNvSpPr/>
          <p:nvPr/>
        </p:nvSpPr>
        <p:spPr>
          <a:xfrm>
            <a:off x="923544" y="1618394"/>
            <a:ext cx="1746504" cy="484725"/>
          </a:xfrm>
          <a:prstGeom prst="roundRect">
            <a:avLst>
              <a:gd name="adj" fmla="val 29412"/>
            </a:avLst>
          </a:prstGeom>
          <a:solidFill>
            <a:srgbClr val="2563EB"/>
          </a:solidFill>
          <a:ln w="12700">
            <a:solidFill>
              <a:srgbClr val="2563EB">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1033272" y="1737360"/>
            <a:ext cx="152704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Aptos"/>
                <a:ea typeface="+mn-ea"/>
                <a:cs typeface="+mn-cs"/>
              </a:rPr>
              <a:t>Recent history</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841248" y="2441448"/>
            <a:ext cx="1828800" cy="2066638"/>
          </a:xfrm>
          <a:prstGeom prst="roundRect">
            <a:avLst>
              <a:gd name="adj" fmla="val 3871"/>
            </a:avLst>
          </a:prstGeom>
          <a:solidFill>
            <a:srgbClr val="F7FBFD"/>
          </a:solidFill>
          <a:ln w="12700">
            <a:solidFill>
              <a:srgbClr val="BFD7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024128" y="2688336"/>
            <a:ext cx="146304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Past 72 hours</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 water stage</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 rainfall</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 gate flow</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 pump flow</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2862072" y="2807208"/>
            <a:ext cx="749808" cy="411480"/>
          </a:xfrm>
          <a:prstGeom prst="chevron">
            <a:avLst/>
          </a:prstGeom>
          <a:solidFill>
            <a:schemeClr val="accent6">
              <a:lumMod val="75000"/>
            </a:schemeClr>
          </a:solidFill>
          <a:ln w="12700">
            <a:solidFill>
              <a:srgbClr val="BFD7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3831336" y="1609343"/>
            <a:ext cx="2112264" cy="484725"/>
          </a:xfrm>
          <a:prstGeom prst="roundRect">
            <a:avLst>
              <a:gd name="adj" fmla="val 29412"/>
            </a:avLst>
          </a:prstGeom>
          <a:solidFill>
            <a:srgbClr val="0F766E"/>
          </a:solidFill>
          <a:ln w="12700">
            <a:solidFill>
              <a:srgbClr val="0F766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11" name="Text 9"/>
          <p:cNvSpPr/>
          <p:nvPr/>
        </p:nvSpPr>
        <p:spPr>
          <a:xfrm>
            <a:off x="3867912" y="1691920"/>
            <a:ext cx="198424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Aptos"/>
                <a:ea typeface="+mn-ea"/>
                <a:cs typeface="+mn-cs"/>
              </a:rPr>
              <a:t>Known or forecast future inputs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10"/>
          <p:cNvSpPr/>
          <p:nvPr/>
        </p:nvSpPr>
        <p:spPr>
          <a:xfrm>
            <a:off x="3703320" y="2441448"/>
            <a:ext cx="2240280" cy="1417320"/>
          </a:xfrm>
          <a:prstGeom prst="roundRect">
            <a:avLst>
              <a:gd name="adj" fmla="val 3871"/>
            </a:avLst>
          </a:prstGeom>
          <a:solidFill>
            <a:srgbClr val="F4FCFA"/>
          </a:solidFill>
          <a:ln w="12700">
            <a:solidFill>
              <a:srgbClr val="B7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13" name="Text 11"/>
          <p:cNvSpPr/>
          <p:nvPr/>
        </p:nvSpPr>
        <p:spPr>
          <a:xfrm>
            <a:off x="3886200" y="2642616"/>
            <a:ext cx="1874520" cy="102412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Next 24 hours</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 rainfall forecast</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 tide forecast</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 scheduled gate/pump settings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6208776" y="2807208"/>
            <a:ext cx="749808" cy="411480"/>
          </a:xfrm>
          <a:prstGeom prst="chevron">
            <a:avLst/>
          </a:prstGeom>
          <a:solidFill>
            <a:schemeClr val="accent6">
              <a:lumMod val="75000"/>
            </a:schemeClr>
          </a:solidFill>
          <a:ln w="12700">
            <a:solidFill>
              <a:srgbClr val="C7D9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7178040" y="1714220"/>
            <a:ext cx="1325880" cy="310896"/>
          </a:xfrm>
          <a:prstGeom prst="roundRect">
            <a:avLst>
              <a:gd name="adj" fmla="val 29412"/>
            </a:avLst>
          </a:prstGeom>
          <a:solidFill>
            <a:srgbClr val="F59E0B"/>
          </a:solidFill>
          <a:ln w="12700">
            <a:solidFill>
              <a:srgbClr val="F59E0B">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7178040" y="1718886"/>
            <a:ext cx="125272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B2F00"/>
                </a:solidFill>
                <a:effectLst/>
                <a:uLnTx/>
                <a:uFillTx/>
                <a:latin typeface="Aptos"/>
                <a:ea typeface="+mn-ea"/>
                <a:cs typeface="+mn-cs"/>
              </a:rPr>
              <a:t>Model</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Shape 15"/>
          <p:cNvSpPr/>
          <p:nvPr/>
        </p:nvSpPr>
        <p:spPr>
          <a:xfrm>
            <a:off x="7187184" y="2313992"/>
            <a:ext cx="1325880" cy="1657117"/>
          </a:xfrm>
          <a:prstGeom prst="roundRect">
            <a:avLst>
              <a:gd name="adj" fmla="val 6250"/>
            </a:avLst>
          </a:prstGeom>
          <a:solidFill>
            <a:srgbClr val="FFF8E8"/>
          </a:solidFill>
          <a:ln w="12700">
            <a:solidFill>
              <a:srgbClr val="F2D1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18" name="Text 16"/>
          <p:cNvSpPr/>
          <p:nvPr/>
        </p:nvSpPr>
        <p:spPr>
          <a:xfrm>
            <a:off x="7388352" y="2621342"/>
            <a:ext cx="822960" cy="7498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C4A03"/>
                </a:solidFill>
                <a:effectLst/>
                <a:uLnTx/>
                <a:uFillTx/>
                <a:latin typeface="Aptos"/>
                <a:ea typeface="+mn-ea"/>
                <a:cs typeface="+mn-cs"/>
              </a:rPr>
              <a:t>MLP</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C4A03"/>
                </a:solidFill>
                <a:effectLst/>
                <a:uLnTx/>
                <a:uFillTx/>
                <a:latin typeface="Aptos"/>
                <a:ea typeface="+mn-ea"/>
                <a:cs typeface="+mn-cs"/>
              </a:rPr>
              <a:t>RNN</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C4A03"/>
                </a:solidFill>
                <a:effectLst/>
                <a:uLnTx/>
                <a:uFillTx/>
                <a:latin typeface="Aptos"/>
                <a:ea typeface="+mn-ea"/>
                <a:cs typeface="+mn-cs"/>
              </a:rPr>
              <a:t>LSTM</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C4A03"/>
                </a:solidFill>
                <a:effectLst/>
                <a:uLnTx/>
                <a:uFillTx/>
                <a:latin typeface="Aptos"/>
                <a:ea typeface="+mn-ea"/>
                <a:cs typeface="+mn-cs"/>
              </a:rPr>
              <a:t>CNN</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C4A03"/>
                </a:solidFill>
                <a:effectLst/>
                <a:uLnTx/>
                <a:uFillTx/>
                <a:latin typeface="Aptos"/>
                <a:ea typeface="+mn-ea"/>
                <a:cs typeface="+mn-cs"/>
              </a:rPr>
              <a:t>RCNN</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8732520" y="2807208"/>
            <a:ext cx="749808" cy="411480"/>
          </a:xfrm>
          <a:prstGeom prst="chevron">
            <a:avLst/>
          </a:prstGeom>
          <a:solidFill>
            <a:schemeClr val="accent6">
              <a:lumMod val="75000"/>
            </a:schemeClr>
          </a:solidFill>
          <a:ln w="12700">
            <a:solidFill>
              <a:srgbClr val="F2D1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Shape 18"/>
          <p:cNvSpPr/>
          <p:nvPr/>
        </p:nvSpPr>
        <p:spPr>
          <a:xfrm>
            <a:off x="9710928" y="1673632"/>
            <a:ext cx="1783080" cy="310896"/>
          </a:xfrm>
          <a:prstGeom prst="roundRect">
            <a:avLst>
              <a:gd name="adj" fmla="val 29412"/>
            </a:avLst>
          </a:prstGeom>
          <a:solidFill>
            <a:srgbClr val="DC2626"/>
          </a:solidFill>
          <a:ln w="12700">
            <a:solidFill>
              <a:srgbClr val="DC2626">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1" name="Text 19"/>
          <p:cNvSpPr/>
          <p:nvPr/>
        </p:nvSpPr>
        <p:spPr>
          <a:xfrm>
            <a:off x="9747504" y="1714220"/>
            <a:ext cx="170992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Aptos"/>
                <a:ea typeface="+mn-ea"/>
                <a:cs typeface="+mn-cs"/>
              </a:rPr>
              <a:t>Output</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Shape 20"/>
          <p:cNvSpPr/>
          <p:nvPr/>
        </p:nvSpPr>
        <p:spPr>
          <a:xfrm>
            <a:off x="9710928" y="2252316"/>
            <a:ext cx="1664208" cy="1846716"/>
          </a:xfrm>
          <a:prstGeom prst="roundRect">
            <a:avLst>
              <a:gd name="adj" fmla="val 6250"/>
            </a:avLst>
          </a:prstGeom>
          <a:solidFill>
            <a:srgbClr val="FFF6F6"/>
          </a:solidFill>
          <a:ln w="12700">
            <a:solidFill>
              <a:srgbClr val="F6B8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3" name="Text 21"/>
          <p:cNvSpPr/>
          <p:nvPr/>
        </p:nvSpPr>
        <p:spPr>
          <a:xfrm>
            <a:off x="9933432" y="2727804"/>
            <a:ext cx="1261872" cy="56692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DC2626"/>
                </a:solidFill>
                <a:effectLst/>
                <a:uLnTx/>
                <a:uFillTx/>
                <a:latin typeface="Aptos"/>
                <a:ea typeface="+mn-ea"/>
                <a:cs typeface="+mn-cs"/>
              </a:rPr>
              <a:t>Predicted water stage</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DC2626"/>
                </a:solidFill>
                <a:effectLst/>
                <a:uLnTx/>
                <a:uFillTx/>
                <a:latin typeface="Aptos"/>
                <a:ea typeface="+mn-ea"/>
                <a:cs typeface="+mn-cs"/>
              </a:rPr>
              <a:t>at t+1 to t+24 hours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Shape 22"/>
          <p:cNvSpPr/>
          <p:nvPr/>
        </p:nvSpPr>
        <p:spPr>
          <a:xfrm>
            <a:off x="841248" y="4773167"/>
            <a:ext cx="3502152" cy="1702278"/>
          </a:xfrm>
          <a:prstGeom prst="roundRect">
            <a:avLst>
              <a:gd name="adj" fmla="val 8889"/>
            </a:avLst>
          </a:prstGeom>
          <a:solidFill>
            <a:srgbClr val="EAF6FB"/>
          </a:solidFill>
          <a:ln w="12700">
            <a:solidFill>
              <a:srgbClr val="D7E3EA"/>
            </a:solidFill>
            <a:prstDash val="solid"/>
          </a:ln>
          <a:effectLst>
            <a:outerShdw blurRad="19050" dist="127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5" name="Text 23"/>
          <p:cNvSpPr/>
          <p:nvPr/>
        </p:nvSpPr>
        <p:spPr>
          <a:xfrm>
            <a:off x="841248" y="4764026"/>
            <a:ext cx="2962656"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C4A6E"/>
                </a:solidFill>
                <a:effectLst/>
                <a:uLnTx/>
                <a:uFillTx/>
                <a:latin typeface="Aptos"/>
                <a:ea typeface="+mn-ea"/>
                <a:cs typeface="+mn-cs"/>
              </a:rPr>
              <a:t>Why this is interesting</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Text 24"/>
          <p:cNvSpPr/>
          <p:nvPr/>
        </p:nvSpPr>
        <p:spPr>
          <a:xfrm>
            <a:off x="954024" y="5483228"/>
            <a:ext cx="2980944" cy="329184"/>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The DL setup uses the “state of the system” from the recent past plus future covariates, while HEC-RAS uses future boundary conditions only.</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7" name="Shape 25"/>
          <p:cNvSpPr/>
          <p:nvPr/>
        </p:nvSpPr>
        <p:spPr>
          <a:xfrm>
            <a:off x="4453128" y="4773167"/>
            <a:ext cx="2505456" cy="1702277"/>
          </a:xfrm>
          <a:prstGeom prst="roundRect">
            <a:avLst>
              <a:gd name="adj" fmla="val 8889"/>
            </a:avLst>
          </a:prstGeom>
          <a:solidFill>
            <a:srgbClr val="E9F7EF"/>
          </a:solidFill>
          <a:ln w="12700">
            <a:solidFill>
              <a:srgbClr val="D7E3EA"/>
            </a:solidFill>
            <a:prstDash val="solid"/>
          </a:ln>
          <a:effectLst>
            <a:outerShdw blurRad="19050" dist="127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8" name="Text 26"/>
          <p:cNvSpPr/>
          <p:nvPr/>
        </p:nvSpPr>
        <p:spPr>
          <a:xfrm>
            <a:off x="4617720" y="4882896"/>
            <a:ext cx="2185416"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66534"/>
                </a:solidFill>
                <a:effectLst/>
                <a:uLnTx/>
                <a:uFillTx/>
                <a:latin typeface="Aptos"/>
                <a:ea typeface="+mn-ea"/>
                <a:cs typeface="+mn-cs"/>
              </a:rPr>
              <a:t>Lead-time setting</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9" name="Text 27"/>
          <p:cNvSpPr/>
          <p:nvPr/>
        </p:nvSpPr>
        <p:spPr>
          <a:xfrm>
            <a:off x="4599432" y="5504688"/>
            <a:ext cx="2359152" cy="329184"/>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Look-back window w = 72 h; forecast horizon k = 24 h.</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30" name="Shape 28"/>
          <p:cNvSpPr/>
          <p:nvPr/>
        </p:nvSpPr>
        <p:spPr>
          <a:xfrm>
            <a:off x="7251192" y="4773168"/>
            <a:ext cx="4099560" cy="1702276"/>
          </a:xfrm>
          <a:prstGeom prst="roundRect">
            <a:avLst>
              <a:gd name="adj" fmla="val 8889"/>
            </a:avLst>
          </a:prstGeom>
          <a:solidFill>
            <a:srgbClr val="FFF4DA"/>
          </a:solidFill>
          <a:ln w="12700">
            <a:solidFill>
              <a:srgbClr val="D7E3EA"/>
            </a:solidFill>
            <a:prstDash val="solid"/>
          </a:ln>
          <a:effectLst>
            <a:outerShdw blurRad="19050" dist="127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31" name="Text 29"/>
          <p:cNvSpPr/>
          <p:nvPr/>
        </p:nvSpPr>
        <p:spPr>
          <a:xfrm>
            <a:off x="7251192" y="4873752"/>
            <a:ext cx="36576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7C4A03"/>
                </a:solidFill>
                <a:latin typeface="Aptos"/>
              </a:rPr>
              <a:t>T</a:t>
            </a:r>
            <a:r>
              <a:rPr kumimoji="0" lang="en-US" b="1" i="0" u="none" strike="noStrike" kern="1200" cap="none" spc="0" normalizeH="0" baseline="0" noProof="0" dirty="0" err="1">
                <a:ln>
                  <a:noFill/>
                </a:ln>
                <a:solidFill>
                  <a:srgbClr val="7C4A03"/>
                </a:solidFill>
                <a:effectLst/>
                <a:uLnTx/>
                <a:uFillTx/>
                <a:latin typeface="Aptos"/>
                <a:ea typeface="+mn-ea"/>
                <a:cs typeface="+mn-cs"/>
              </a:rPr>
              <a:t>akeaway</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Text 30"/>
          <p:cNvSpPr/>
          <p:nvPr/>
        </p:nvSpPr>
        <p:spPr>
          <a:xfrm>
            <a:off x="7284844" y="5624305"/>
            <a:ext cx="3675888" cy="329184"/>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For engineers, feature design matters: the model can only learn from the variables you choose to provide.</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33" name="Slide Number Placeholder 0"/>
          <p:cNvSpPr>
            <a:spLocks noGrp="1"/>
          </p:cNvSpPr>
          <p:nvPr>
            <p:ph type="sldNum" sz="quarter" idx="4294967295"/>
          </p:nvPr>
        </p:nvSpPr>
        <p:spPr>
          <a:xfrm>
            <a:off x="11567160" y="6556248"/>
            <a:ext cx="256032" cy="109728"/>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7280"/>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5B7280"/>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a:ln>
                <a:noFill/>
              </a:ln>
              <a:solidFill>
                <a:srgbClr val="5B7280"/>
              </a:solidFill>
              <a:effectLst/>
              <a:uLnTx/>
              <a:uFillTx/>
              <a:latin typeface="Aptos"/>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8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881360" cy="384048"/>
          </a:xfrm>
          <a:prstGeom prst="rect">
            <a:avLst/>
          </a:prstGeom>
          <a:noFill/>
          <a:ln/>
        </p:spPr>
        <p:txBody>
          <a:bodyPr wrap="square" lIns="0" tIns="0" rIns="0" bIns="0" rtlCol="0" anchor="ctr"/>
          <a:lstStyle/>
          <a:p>
            <a:pPr marL="0" indent="0">
              <a:buNone/>
            </a:pPr>
            <a:r>
              <a:rPr lang="en-US" sz="2800" b="1" dirty="0">
                <a:solidFill>
                  <a:srgbClr val="0B3C5D"/>
                </a:solidFill>
                <a:latin typeface="Aptos Display" pitchFamily="34" charset="0"/>
                <a:ea typeface="Aptos Display" pitchFamily="34" charset="-122"/>
                <a:cs typeface="Aptos Display" pitchFamily="34" charset="-120"/>
              </a:rPr>
              <a:t>Example hydrograph at S1: normal conditions</a:t>
            </a:r>
            <a:endParaRPr lang="en-US" sz="2800" dirty="0"/>
          </a:p>
        </p:txBody>
      </p:sp>
      <p:sp>
        <p:nvSpPr>
          <p:cNvPr id="3" name="Shape 1"/>
          <p:cNvSpPr/>
          <p:nvPr/>
        </p:nvSpPr>
        <p:spPr>
          <a:xfrm>
            <a:off x="502920" y="896112"/>
            <a:ext cx="11109960" cy="0"/>
          </a:xfrm>
          <a:prstGeom prst="line">
            <a:avLst/>
          </a:prstGeom>
          <a:noFill/>
          <a:ln w="31750">
            <a:solidFill>
              <a:srgbClr val="2F97C1"/>
            </a:solidFill>
            <a:prstDash val="solid"/>
          </a:ln>
        </p:spPr>
        <p:txBody>
          <a:bodyPr/>
          <a:lstStyle/>
          <a:p>
            <a:endParaRPr lang="en-US"/>
          </a:p>
        </p:txBody>
      </p:sp>
      <p:sp>
        <p:nvSpPr>
          <p:cNvPr id="4" name="Text 2"/>
          <p:cNvSpPr/>
          <p:nvPr/>
        </p:nvSpPr>
        <p:spPr>
          <a:xfrm>
            <a:off x="658368" y="902084"/>
            <a:ext cx="10835640" cy="411480"/>
          </a:xfrm>
          <a:prstGeom prst="rect">
            <a:avLst/>
          </a:prstGeom>
          <a:noFill/>
          <a:ln/>
        </p:spPr>
        <p:txBody>
          <a:bodyPr wrap="square" lIns="254" tIns="254" rIns="254" bIns="254" rtlCol="0" anchor="t">
            <a:noAutofit/>
          </a:bodyPr>
          <a:lstStyle/>
          <a:p>
            <a:pPr marL="0" indent="0" algn="ctr">
              <a:buNone/>
            </a:pPr>
            <a:r>
              <a:rPr lang="en-US" dirty="0">
                <a:solidFill>
                  <a:srgbClr val="183142"/>
                </a:solidFill>
                <a:latin typeface="Aptos" pitchFamily="34" charset="0"/>
                <a:ea typeface="Aptos" pitchFamily="34" charset="-122"/>
                <a:cs typeface="Aptos" pitchFamily="34" charset="-120"/>
              </a:rPr>
              <a:t>On a calm day (April 1, 2019), all models follow the tidal cycle closely, but the DL models produce smaller error traces; in the plotted example RCNN MAE = 0.073 ft versus 0.117 ft for HEC-RAS.</a:t>
            </a:r>
            <a:endParaRPr lang="en-US" dirty="0"/>
          </a:p>
        </p:txBody>
      </p:sp>
      <p:pic>
        <p:nvPicPr>
          <p:cNvPr id="5" name="Image 0" descr="/mnt/data/water_stage_assets/fig6_normal_period.png"/>
          <p:cNvPicPr>
            <a:picLocks noChangeAspect="1"/>
          </p:cNvPicPr>
          <p:nvPr/>
        </p:nvPicPr>
        <p:blipFill>
          <a:blip r:embed="rId3"/>
          <a:stretch>
            <a:fillRect/>
          </a:stretch>
        </p:blipFill>
        <p:spPr>
          <a:xfrm>
            <a:off x="1558432" y="1627632"/>
            <a:ext cx="9072088" cy="4956048"/>
          </a:xfrm>
          <a:prstGeom prst="rect">
            <a:avLst/>
          </a:prstGeom>
        </p:spPr>
      </p:pic>
      <p:sp>
        <p:nvSpPr>
          <p:cNvPr id="7" name="Text 3"/>
          <p:cNvSpPr/>
          <p:nvPr/>
        </p:nvSpPr>
        <p:spPr>
          <a:xfrm>
            <a:off x="11750040" y="6473952"/>
            <a:ext cx="201168" cy="164592"/>
          </a:xfrm>
          <a:prstGeom prst="rect">
            <a:avLst/>
          </a:prstGeom>
          <a:noFill/>
          <a:ln/>
        </p:spPr>
        <p:txBody>
          <a:bodyPr wrap="square" lIns="0" tIns="0" rIns="0" bIns="0" rtlCol="0" anchor="ctr"/>
          <a:lstStyle/>
          <a:p>
            <a:pPr marL="0" indent="0" algn="r">
              <a:buNone/>
            </a:pPr>
            <a:r>
              <a:rPr lang="en-US" sz="1000" dirty="0">
                <a:solidFill>
                  <a:srgbClr val="566573"/>
                </a:solidFill>
                <a:latin typeface="Aptos" pitchFamily="34" charset="0"/>
                <a:ea typeface="Aptos" pitchFamily="34" charset="-122"/>
                <a:cs typeface="Aptos" pitchFamily="34" charset="-120"/>
              </a:rPr>
              <a:t>7</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8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881360" cy="384048"/>
          </a:xfrm>
          <a:prstGeom prst="rect">
            <a:avLst/>
          </a:prstGeom>
          <a:noFill/>
          <a:ln/>
        </p:spPr>
        <p:txBody>
          <a:bodyPr wrap="square" lIns="0" tIns="0" rIns="0" bIns="0" rtlCol="0" anchor="ctr"/>
          <a:lstStyle/>
          <a:p>
            <a:pPr marL="0" indent="0">
              <a:buNone/>
            </a:pPr>
            <a:r>
              <a:rPr lang="en-US" sz="2800" b="1" dirty="0">
                <a:solidFill>
                  <a:srgbClr val="0B3C5D"/>
                </a:solidFill>
                <a:latin typeface="Aptos Display" pitchFamily="34" charset="0"/>
                <a:ea typeface="Aptos Display" pitchFamily="34" charset="-122"/>
                <a:cs typeface="Aptos Display" pitchFamily="34" charset="-120"/>
              </a:rPr>
              <a:t>Example hydrograph at S1: Tropical Storm Isaias</a:t>
            </a:r>
            <a:endParaRPr lang="en-US" sz="2800" dirty="0"/>
          </a:p>
        </p:txBody>
      </p:sp>
      <p:sp>
        <p:nvSpPr>
          <p:cNvPr id="3" name="Shape 1"/>
          <p:cNvSpPr/>
          <p:nvPr/>
        </p:nvSpPr>
        <p:spPr>
          <a:xfrm>
            <a:off x="502920" y="896112"/>
            <a:ext cx="11109960" cy="0"/>
          </a:xfrm>
          <a:prstGeom prst="line">
            <a:avLst/>
          </a:prstGeom>
          <a:noFill/>
          <a:ln w="31750">
            <a:solidFill>
              <a:srgbClr val="2F97C1"/>
            </a:solidFill>
            <a:prstDash val="solid"/>
          </a:ln>
        </p:spPr>
        <p:txBody>
          <a:bodyPr/>
          <a:lstStyle/>
          <a:p>
            <a:endParaRPr lang="en-US"/>
          </a:p>
        </p:txBody>
      </p:sp>
      <p:sp>
        <p:nvSpPr>
          <p:cNvPr id="4" name="Text 2"/>
          <p:cNvSpPr/>
          <p:nvPr/>
        </p:nvSpPr>
        <p:spPr>
          <a:xfrm>
            <a:off x="658368" y="1024128"/>
            <a:ext cx="10927080" cy="566928"/>
          </a:xfrm>
          <a:prstGeom prst="rect">
            <a:avLst/>
          </a:prstGeom>
          <a:noFill/>
          <a:ln/>
        </p:spPr>
        <p:txBody>
          <a:bodyPr wrap="square" lIns="254" tIns="254" rIns="254" bIns="254" rtlCol="0" anchor="t">
            <a:normAutofit fontScale="92500"/>
          </a:bodyPr>
          <a:lstStyle/>
          <a:p>
            <a:pPr marL="0" indent="0" algn="ctr">
              <a:buNone/>
            </a:pPr>
            <a:r>
              <a:rPr lang="en-US" sz="1870" dirty="0">
                <a:solidFill>
                  <a:srgbClr val="183142"/>
                </a:solidFill>
                <a:latin typeface="Aptos" pitchFamily="34" charset="0"/>
                <a:ea typeface="Aptos" pitchFamily="34" charset="-122"/>
                <a:cs typeface="Aptos" pitchFamily="34" charset="-120"/>
              </a:rPr>
              <a:t>During Tropical Storm Isaias (Aug 1–3, 2020), the water stages are higher and more dynamic, but the DL models still outperform HEC-RAS in the plotted 24-hour-ahead example; RCNN MAE = 0.106 ft versus 0.22 ft for HEC-RAS.</a:t>
            </a:r>
            <a:endParaRPr lang="en-US" sz="1870" dirty="0"/>
          </a:p>
        </p:txBody>
      </p:sp>
      <p:pic>
        <p:nvPicPr>
          <p:cNvPr id="5" name="Image 0" descr="/mnt/data/water_stage_assets/fig7_storm_period.png"/>
          <p:cNvPicPr>
            <a:picLocks noChangeAspect="1"/>
          </p:cNvPicPr>
          <p:nvPr/>
        </p:nvPicPr>
        <p:blipFill>
          <a:blip r:embed="rId3"/>
          <a:stretch>
            <a:fillRect/>
          </a:stretch>
        </p:blipFill>
        <p:spPr>
          <a:xfrm>
            <a:off x="2344029" y="1719072"/>
            <a:ext cx="7555758" cy="4791456"/>
          </a:xfrm>
          <a:prstGeom prst="rect">
            <a:avLst/>
          </a:prstGeom>
        </p:spPr>
      </p:pic>
      <p:sp>
        <p:nvSpPr>
          <p:cNvPr id="7" name="Text 3"/>
          <p:cNvSpPr/>
          <p:nvPr/>
        </p:nvSpPr>
        <p:spPr>
          <a:xfrm>
            <a:off x="11750040" y="6473952"/>
            <a:ext cx="201168" cy="164592"/>
          </a:xfrm>
          <a:prstGeom prst="rect">
            <a:avLst/>
          </a:prstGeom>
          <a:noFill/>
          <a:ln/>
        </p:spPr>
        <p:txBody>
          <a:bodyPr wrap="square" lIns="0" tIns="0" rIns="0" bIns="0" rtlCol="0" anchor="ctr"/>
          <a:lstStyle/>
          <a:p>
            <a:pPr marL="0" indent="0" algn="r">
              <a:buNone/>
            </a:pPr>
            <a:r>
              <a:rPr lang="en-US" sz="1000" dirty="0">
                <a:solidFill>
                  <a:srgbClr val="566573"/>
                </a:solidFill>
                <a:latin typeface="Aptos" pitchFamily="34" charset="0"/>
                <a:ea typeface="Aptos" pitchFamily="34" charset="-122"/>
                <a:cs typeface="Aptos" pitchFamily="34" charset="-120"/>
              </a:rPr>
              <a:t>8</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8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881360" cy="384048"/>
          </a:xfrm>
          <a:prstGeom prst="rect">
            <a:avLst/>
          </a:prstGeom>
          <a:noFill/>
          <a:ln/>
        </p:spPr>
        <p:txBody>
          <a:bodyPr wrap="square" lIns="0" tIns="0" rIns="0" bIns="0" rtlCol="0" anchor="ctr"/>
          <a:lstStyle/>
          <a:p>
            <a:pPr marL="0" indent="0">
              <a:buNone/>
            </a:pPr>
            <a:r>
              <a:rPr lang="en-US" sz="2800" b="1" dirty="0">
                <a:solidFill>
                  <a:srgbClr val="0B3C5D"/>
                </a:solidFill>
                <a:latin typeface="Aptos Display" pitchFamily="34" charset="0"/>
                <a:ea typeface="Aptos Display" pitchFamily="34" charset="-122"/>
                <a:cs typeface="Aptos Display" pitchFamily="34" charset="-120"/>
              </a:rPr>
              <a:t>Computation time and engineering takeaways</a:t>
            </a:r>
            <a:endParaRPr lang="en-US" sz="2800" dirty="0"/>
          </a:p>
        </p:txBody>
      </p:sp>
      <p:sp>
        <p:nvSpPr>
          <p:cNvPr id="3" name="Shape 1"/>
          <p:cNvSpPr/>
          <p:nvPr/>
        </p:nvSpPr>
        <p:spPr>
          <a:xfrm>
            <a:off x="502920" y="896112"/>
            <a:ext cx="11109960" cy="0"/>
          </a:xfrm>
          <a:prstGeom prst="line">
            <a:avLst/>
          </a:prstGeom>
          <a:noFill/>
          <a:ln w="31750">
            <a:solidFill>
              <a:srgbClr val="2F97C1"/>
            </a:solidFill>
            <a:prstDash val="solid"/>
          </a:ln>
        </p:spPr>
        <p:txBody>
          <a:bodyPr/>
          <a:lstStyle/>
          <a:p>
            <a:endParaRPr lang="en-US"/>
          </a:p>
        </p:txBody>
      </p:sp>
      <p:pic>
        <p:nvPicPr>
          <p:cNvPr id="4" name="Image 0" descr="/mnt/data/water_stage_assets/charts/speedup_vs_hecras.png"/>
          <p:cNvPicPr>
            <a:picLocks noChangeAspect="1"/>
          </p:cNvPicPr>
          <p:nvPr/>
        </p:nvPicPr>
        <p:blipFill>
          <a:blip r:embed="rId3"/>
          <a:stretch>
            <a:fillRect/>
          </a:stretch>
        </p:blipFill>
        <p:spPr>
          <a:xfrm>
            <a:off x="384048" y="1665943"/>
            <a:ext cx="6720840" cy="4477089"/>
          </a:xfrm>
          <a:prstGeom prst="rect">
            <a:avLst/>
          </a:prstGeom>
        </p:spPr>
      </p:pic>
      <p:sp>
        <p:nvSpPr>
          <p:cNvPr id="5" name="Shape 2"/>
          <p:cNvSpPr/>
          <p:nvPr/>
        </p:nvSpPr>
        <p:spPr>
          <a:xfrm>
            <a:off x="7351776" y="1298448"/>
            <a:ext cx="4160520" cy="914400"/>
          </a:xfrm>
          <a:prstGeom prst="roundRect">
            <a:avLst>
              <a:gd name="adj" fmla="val 8000"/>
            </a:avLst>
          </a:prstGeom>
          <a:solidFill>
            <a:srgbClr val="EAF4F8"/>
          </a:solidFill>
          <a:ln w="12700">
            <a:solidFill>
              <a:srgbClr val="EAF4F8">
                <a:alpha val="0"/>
              </a:srgbClr>
            </a:solidFill>
            <a:prstDash val="solid"/>
          </a:ln>
        </p:spPr>
        <p:txBody>
          <a:bodyPr/>
          <a:lstStyle/>
          <a:p>
            <a:endParaRPr lang="en-US"/>
          </a:p>
        </p:txBody>
      </p:sp>
      <p:sp>
        <p:nvSpPr>
          <p:cNvPr id="6" name="Text 3"/>
          <p:cNvSpPr/>
          <p:nvPr/>
        </p:nvSpPr>
        <p:spPr>
          <a:xfrm>
            <a:off x="7571232" y="1554480"/>
            <a:ext cx="3474720" cy="256032"/>
          </a:xfrm>
          <a:prstGeom prst="rect">
            <a:avLst/>
          </a:prstGeom>
          <a:noFill/>
          <a:ln/>
        </p:spPr>
        <p:txBody>
          <a:bodyPr wrap="square" lIns="254" tIns="254" rIns="254" bIns="254" rtlCol="0" anchor="t">
            <a:normAutofit fontScale="77500" lnSpcReduction="20000"/>
          </a:bodyPr>
          <a:lstStyle/>
          <a:p>
            <a:pPr marL="0" indent="0" algn="ctr">
              <a:buNone/>
            </a:pPr>
            <a:r>
              <a:rPr lang="en-US" sz="2500" b="1" dirty="0">
                <a:solidFill>
                  <a:srgbClr val="0B3C5D"/>
                </a:solidFill>
                <a:latin typeface="Aptos" pitchFamily="34" charset="0"/>
                <a:ea typeface="Aptos" pitchFamily="34" charset="-122"/>
                <a:cs typeface="Aptos" pitchFamily="34" charset="-120"/>
              </a:rPr>
              <a:t>45 min → 0.34–4.81 s</a:t>
            </a:r>
            <a:endParaRPr lang="en-US" sz="2500" dirty="0"/>
          </a:p>
        </p:txBody>
      </p:sp>
      <p:sp>
        <p:nvSpPr>
          <p:cNvPr id="7" name="Text 4"/>
          <p:cNvSpPr/>
          <p:nvPr/>
        </p:nvSpPr>
        <p:spPr>
          <a:xfrm>
            <a:off x="7351775" y="2212848"/>
            <a:ext cx="4330151" cy="3370777"/>
          </a:xfrm>
          <a:prstGeom prst="rect">
            <a:avLst/>
          </a:prstGeom>
          <a:noFill/>
          <a:ln/>
        </p:spPr>
        <p:txBody>
          <a:bodyPr wrap="square" lIns="254" tIns="254" rIns="254" bIns="254" rtlCol="0" anchor="t">
            <a:normAutofit lnSpcReduction="10000"/>
          </a:bodyPr>
          <a:lstStyle/>
          <a:p>
            <a:pPr marL="0" indent="0">
              <a:buNone/>
            </a:pPr>
            <a:r>
              <a:rPr lang="en-US" sz="1870" dirty="0">
                <a:latin typeface="Aptos" pitchFamily="34" charset="0"/>
                <a:ea typeface="Aptos" pitchFamily="34" charset="-122"/>
                <a:cs typeface="Aptos" pitchFamily="34" charset="-120"/>
              </a:rPr>
              <a:t>• Every DL model is at least 500× faster than the HEC-RAS test run; MLP and CNN exceed 4,000×.</a:t>
            </a:r>
            <a:endParaRPr lang="en-US" sz="1870" dirty="0"/>
          </a:p>
          <a:p>
            <a:pPr marL="0" indent="0">
              <a:buNone/>
            </a:pPr>
            <a:r>
              <a:rPr lang="en-US" sz="1870" dirty="0">
                <a:latin typeface="Aptos" pitchFamily="34" charset="0"/>
                <a:ea typeface="Aptos" pitchFamily="34" charset="-122"/>
                <a:cs typeface="Aptos" pitchFamily="34" charset="-120"/>
              </a:rPr>
              <a:t>• That speed matters for real-time gate/pump operations, fast what-if screening, and flood response.</a:t>
            </a:r>
            <a:endParaRPr lang="en-US" sz="1870" dirty="0"/>
          </a:p>
          <a:p>
            <a:pPr marL="0" indent="0">
              <a:buNone/>
            </a:pPr>
            <a:r>
              <a:rPr lang="en-US" sz="1870" dirty="0">
                <a:latin typeface="Aptos" pitchFamily="34" charset="0"/>
                <a:ea typeface="Aptos" pitchFamily="34" charset="-122"/>
                <a:cs typeface="Aptos" pitchFamily="34" charset="-120"/>
              </a:rPr>
              <a:t>• Best overall model in this paper: RCNN, because it balances low error, stability over lead time, and &gt;1,000× test-time speedup.</a:t>
            </a:r>
            <a:endParaRPr lang="en-US" sz="1870" dirty="0"/>
          </a:p>
          <a:p>
            <a:pPr marL="0" indent="0">
              <a:buNone/>
            </a:pPr>
            <a:r>
              <a:rPr lang="en-US" sz="1870" dirty="0">
                <a:latin typeface="Aptos" pitchFamily="34" charset="0"/>
                <a:ea typeface="Aptos" pitchFamily="34" charset="-122"/>
                <a:cs typeface="Aptos" pitchFamily="34" charset="-120"/>
              </a:rPr>
              <a:t>• Practical caveat: the DL model still depends on forecasted rain/tide and on good training data from the river system.</a:t>
            </a:r>
            <a:endParaRPr lang="en-US" sz="1870" dirty="0"/>
          </a:p>
        </p:txBody>
      </p:sp>
      <p:sp>
        <p:nvSpPr>
          <p:cNvPr id="8" name="Text 5"/>
          <p:cNvSpPr/>
          <p:nvPr/>
        </p:nvSpPr>
        <p:spPr>
          <a:xfrm>
            <a:off x="7351775" y="5600700"/>
            <a:ext cx="4704371" cy="411480"/>
          </a:xfrm>
          <a:prstGeom prst="rect">
            <a:avLst/>
          </a:prstGeom>
          <a:noFill/>
          <a:ln/>
        </p:spPr>
        <p:txBody>
          <a:bodyPr wrap="square" lIns="254" tIns="254" rIns="254" bIns="254" rtlCol="0" anchor="t">
            <a:noAutofit/>
          </a:bodyPr>
          <a:lstStyle/>
          <a:p>
            <a:pPr marL="0" indent="0">
              <a:buNone/>
            </a:pPr>
            <a:r>
              <a:rPr lang="en-US" b="1" dirty="0">
                <a:latin typeface="Aptos" pitchFamily="34" charset="0"/>
                <a:ea typeface="Aptos" pitchFamily="34" charset="-122"/>
                <a:cs typeface="Aptos" pitchFamily="34" charset="-120"/>
              </a:rPr>
              <a:t>Bottom line for engineers</a:t>
            </a:r>
            <a:r>
              <a:rPr lang="en-US" dirty="0">
                <a:latin typeface="Aptos" pitchFamily="34" charset="0"/>
                <a:ea typeface="Aptos" pitchFamily="34" charset="-122"/>
                <a:cs typeface="Aptos" pitchFamily="34" charset="-120"/>
              </a:rPr>
              <a:t>: the paper supports using DL models as fast surrogate predictors alongside, not necessarily instead of, physics-based hydraulic models.</a:t>
            </a:r>
            <a:endParaRPr lang="en-US" dirty="0"/>
          </a:p>
        </p:txBody>
      </p:sp>
      <p:sp>
        <p:nvSpPr>
          <p:cNvPr id="10" name="Text 6"/>
          <p:cNvSpPr/>
          <p:nvPr/>
        </p:nvSpPr>
        <p:spPr>
          <a:xfrm>
            <a:off x="11750040" y="6473952"/>
            <a:ext cx="201168" cy="164592"/>
          </a:xfrm>
          <a:prstGeom prst="rect">
            <a:avLst/>
          </a:prstGeom>
          <a:noFill/>
          <a:ln/>
        </p:spPr>
        <p:txBody>
          <a:bodyPr wrap="square" lIns="0" tIns="0" rIns="0" bIns="0" rtlCol="0" anchor="ctr"/>
          <a:lstStyle/>
          <a:p>
            <a:pPr marL="0" indent="0" algn="r">
              <a:buNone/>
            </a:pPr>
            <a:r>
              <a:rPr lang="en-US" sz="1000" dirty="0">
                <a:solidFill>
                  <a:srgbClr val="566573"/>
                </a:solidFill>
                <a:latin typeface="Aptos" pitchFamily="34" charset="0"/>
                <a:ea typeface="Aptos" pitchFamily="34" charset="-122"/>
                <a:cs typeface="Aptos" pitchFamily="34" charset="-120"/>
              </a:rPr>
              <a:t>9</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658368"/>
            <a:ext cx="74066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600" b="1" dirty="0">
                <a:solidFill>
                  <a:srgbClr val="0C4A6E"/>
                </a:solidFill>
                <a:latin typeface="Aptos Display" pitchFamily="34" charset="0"/>
                <a:ea typeface="Aptos Display" pitchFamily="34" charset="-122"/>
                <a:cs typeface="Aptos Display" pitchFamily="34" charset="-120"/>
              </a:rPr>
              <a:t>Why t</a:t>
            </a:r>
            <a:r>
              <a:rPr kumimoji="0" lang="en-US" sz="2600" b="1" i="0" u="none" strike="noStrike" kern="1200" cap="none" spc="0" normalizeH="0" baseline="0" noProof="0" dirty="0">
                <a:ln>
                  <a:noFill/>
                </a:ln>
                <a:solidFill>
                  <a:srgbClr val="0C4A6E"/>
                </a:solidFill>
                <a:effectLst/>
                <a:uLnTx/>
                <a:uFillTx/>
                <a:latin typeface="Aptos Display" pitchFamily="34" charset="0"/>
                <a:ea typeface="Aptos Display" pitchFamily="34" charset="-122"/>
                <a:cs typeface="Aptos Display" pitchFamily="34" charset="-120"/>
              </a:rPr>
              <a:t>his approach matters</a:t>
            </a:r>
            <a:endParaRPr kumimoji="0" lang="en-US" sz="2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7" y="1024128"/>
            <a:ext cx="10927453" cy="3931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5B7280"/>
                </a:solidFill>
                <a:effectLst/>
                <a:uLnTx/>
                <a:uFillTx/>
                <a:latin typeface="Aptos"/>
                <a:ea typeface="+mn-ea"/>
                <a:cs typeface="+mn-cs"/>
              </a:rPr>
              <a:t>The paper addresses a familiar water-resources problem: accurate forecasts are needed, but physics-based simulations can be slow.</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566928" y="1481328"/>
            <a:ext cx="3867912" cy="1135350"/>
          </a:xfrm>
          <a:prstGeom prst="roundRect">
            <a:avLst>
              <a:gd name="adj" fmla="val 7143"/>
            </a:avLst>
          </a:prstGeom>
          <a:solidFill>
            <a:srgbClr val="EAF6FB"/>
          </a:solidFill>
          <a:ln w="12700">
            <a:solidFill>
              <a:srgbClr val="D7E3EA"/>
            </a:solidFill>
            <a:prstDash val="solid"/>
          </a:ln>
          <a:effectLst>
            <a:outerShdw blurRad="19050" dist="127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603504" y="1542441"/>
            <a:ext cx="3236976"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C4A6E"/>
                </a:solidFill>
                <a:effectLst/>
                <a:uLnTx/>
                <a:uFillTx/>
                <a:latin typeface="Aptos"/>
                <a:ea typeface="+mn-ea"/>
                <a:cs typeface="+mn-cs"/>
              </a:rPr>
              <a:t>Why stage forecasts matter</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p:cNvSpPr/>
          <p:nvPr/>
        </p:nvSpPr>
        <p:spPr>
          <a:xfrm>
            <a:off x="665226" y="1788676"/>
            <a:ext cx="3730752" cy="77099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Water stage prediction supports flood warning, gate and pump operations, and flood mitigation planning.</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566928" y="2679191"/>
            <a:ext cx="3739896" cy="1709929"/>
          </a:xfrm>
          <a:prstGeom prst="roundRect">
            <a:avLst>
              <a:gd name="adj" fmla="val 6349"/>
            </a:avLst>
          </a:prstGeom>
          <a:solidFill>
            <a:srgbClr val="FFF4DA"/>
          </a:solidFill>
          <a:ln w="12700">
            <a:solidFill>
              <a:srgbClr val="D7E3EA"/>
            </a:solidFill>
            <a:prstDash val="solid"/>
          </a:ln>
          <a:effectLst>
            <a:outerShdw blurRad="19050" dist="127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699516" y="2741799"/>
            <a:ext cx="3662172" cy="267977"/>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C4A03"/>
                </a:solidFill>
                <a:effectLst/>
                <a:uLnTx/>
                <a:uFillTx/>
                <a:latin typeface="Aptos"/>
                <a:ea typeface="+mn-ea"/>
                <a:cs typeface="+mn-cs"/>
              </a:rPr>
              <a:t>What limits traditional models?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49808" y="3293240"/>
            <a:ext cx="3767328" cy="658368"/>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HEC-RAS and similar models are physically rich, but they solve many equations over many cells/cross-sections and can be too slow for repeated real-time testing.</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576072" y="4628170"/>
            <a:ext cx="3730752" cy="1518651"/>
          </a:xfrm>
          <a:prstGeom prst="roundRect">
            <a:avLst>
              <a:gd name="adj" fmla="val 6061"/>
            </a:avLst>
          </a:prstGeom>
          <a:solidFill>
            <a:srgbClr val="E9F7EF"/>
          </a:solidFill>
          <a:ln w="12700">
            <a:solidFill>
              <a:srgbClr val="D7E3EA"/>
            </a:solidFill>
            <a:prstDash val="solid"/>
          </a:ln>
          <a:effectLst>
            <a:outerShdw blurRad="19050" dist="127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 9"/>
          <p:cNvSpPr/>
          <p:nvPr/>
        </p:nvSpPr>
        <p:spPr>
          <a:xfrm>
            <a:off x="576072" y="4389120"/>
            <a:ext cx="3236976"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66534"/>
                </a:solidFill>
                <a:effectLst/>
                <a:uLnTx/>
                <a:uFillTx/>
                <a:latin typeface="Aptos"/>
                <a:ea typeface="+mn-ea"/>
                <a:cs typeface="+mn-cs"/>
              </a:rPr>
              <a:t>Paper idea in one sentence</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10"/>
          <p:cNvSpPr/>
          <p:nvPr/>
        </p:nvSpPr>
        <p:spPr>
          <a:xfrm>
            <a:off x="713232" y="5046648"/>
            <a:ext cx="3255264" cy="713232"/>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Train deep learning models as surrogate models: learn the input-output behavior of the river system, then predict water stage in seconds instead of minutes.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1"/>
          <p:cNvSpPr/>
          <p:nvPr/>
        </p:nvSpPr>
        <p:spPr>
          <a:xfrm>
            <a:off x="4572000" y="1417320"/>
            <a:ext cx="7040880" cy="4023360"/>
          </a:xfrm>
          <a:prstGeom prst="roundRect">
            <a:avLst>
              <a:gd name="adj" fmla="val 1818"/>
            </a:avLst>
          </a:prstGeom>
          <a:solidFill>
            <a:srgbClr val="FFFF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Text 12"/>
          <p:cNvSpPr/>
          <p:nvPr/>
        </p:nvSpPr>
        <p:spPr>
          <a:xfrm>
            <a:off x="4828031" y="1645920"/>
            <a:ext cx="3618739" cy="17616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C4A6E"/>
                </a:solidFill>
                <a:effectLst/>
                <a:uLnTx/>
                <a:uFillTx/>
                <a:latin typeface="Aptos"/>
                <a:ea typeface="+mn-ea"/>
                <a:cs typeface="+mn-cs"/>
              </a:rPr>
              <a:t>Conceptual comparison</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Shape 13"/>
          <p:cNvSpPr/>
          <p:nvPr/>
        </p:nvSpPr>
        <p:spPr>
          <a:xfrm>
            <a:off x="4892040" y="1993392"/>
            <a:ext cx="1743891" cy="310896"/>
          </a:xfrm>
          <a:prstGeom prst="roundRect">
            <a:avLst>
              <a:gd name="adj" fmla="val 29412"/>
            </a:avLst>
          </a:prstGeom>
          <a:solidFill>
            <a:srgbClr val="0C4A6E"/>
          </a:solidFill>
          <a:ln w="12700">
            <a:solidFill>
              <a:srgbClr val="0C4A6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4928616" y="2002536"/>
            <a:ext cx="1674136"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Aptos"/>
                <a:ea typeface="+mn-ea"/>
                <a:cs typeface="+mn-cs"/>
              </a:rPr>
              <a:t>Physics model</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Shape 15"/>
          <p:cNvSpPr/>
          <p:nvPr/>
        </p:nvSpPr>
        <p:spPr>
          <a:xfrm>
            <a:off x="9217152" y="1993392"/>
            <a:ext cx="1700294" cy="310896"/>
          </a:xfrm>
          <a:prstGeom prst="roundRect">
            <a:avLst>
              <a:gd name="adj" fmla="val 29412"/>
            </a:avLst>
          </a:prstGeom>
          <a:solidFill>
            <a:srgbClr val="0F766E"/>
          </a:solidFill>
          <a:ln w="12700">
            <a:solidFill>
              <a:srgbClr val="0F766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18" name="Text 16"/>
          <p:cNvSpPr/>
          <p:nvPr/>
        </p:nvSpPr>
        <p:spPr>
          <a:xfrm>
            <a:off x="9253728" y="2002536"/>
            <a:ext cx="163053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Aptos"/>
                <a:ea typeface="+mn-ea"/>
                <a:cs typeface="+mn-cs"/>
              </a:rPr>
              <a:t>AI/ML surrogate</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4864608" y="2423160"/>
            <a:ext cx="1962920" cy="2837066"/>
          </a:xfrm>
          <a:prstGeom prst="roundRect">
            <a:avLst>
              <a:gd name="adj" fmla="val 2727"/>
            </a:avLst>
          </a:prstGeom>
          <a:solidFill>
            <a:srgbClr val="F7FBFD"/>
          </a:solidFill>
          <a:ln w="12700">
            <a:solidFill>
              <a:srgbClr val="BFD7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12716" y="2792092"/>
            <a:ext cx="1734258" cy="179054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HEC-RAS</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Detailed hydraulics</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Many equations</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Repeated simulation runs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Shape 19"/>
          <p:cNvSpPr/>
          <p:nvPr/>
        </p:nvSpPr>
        <p:spPr>
          <a:xfrm>
            <a:off x="7187690" y="2621997"/>
            <a:ext cx="1517185" cy="1078619"/>
          </a:xfrm>
          <a:prstGeom prst="chevron">
            <a:avLst/>
          </a:prstGeom>
          <a:solidFill>
            <a:srgbClr val="DFF1F8"/>
          </a:solidFill>
          <a:ln w="12700">
            <a:solidFill>
              <a:srgbClr val="9FC7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2" name="Text 20"/>
          <p:cNvSpPr/>
          <p:nvPr/>
        </p:nvSpPr>
        <p:spPr>
          <a:xfrm>
            <a:off x="7406640" y="3136392"/>
            <a:ext cx="1135097" cy="45719"/>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C4A6E"/>
                </a:solidFill>
                <a:effectLst/>
                <a:uLnTx/>
                <a:uFillTx/>
                <a:latin typeface="Aptos"/>
                <a:ea typeface="+mn-ea"/>
                <a:cs typeface="+mn-cs"/>
              </a:rPr>
              <a:t>learn from</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C4A6E"/>
                </a:solidFill>
                <a:effectLst/>
                <a:uLnTx/>
                <a:uFillTx/>
                <a:latin typeface="Aptos"/>
                <a:ea typeface="+mn-ea"/>
                <a:cs typeface="+mn-cs"/>
              </a:rPr>
              <a:t>history</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3" name="Shape 21"/>
          <p:cNvSpPr/>
          <p:nvPr/>
        </p:nvSpPr>
        <p:spPr>
          <a:xfrm>
            <a:off x="8732520" y="2423160"/>
            <a:ext cx="2520198" cy="2148840"/>
          </a:xfrm>
          <a:prstGeom prst="roundRect">
            <a:avLst>
              <a:gd name="adj" fmla="val 2727"/>
            </a:avLst>
          </a:prstGeom>
          <a:solidFill>
            <a:srgbClr val="F4FCFA"/>
          </a:solidFill>
          <a:ln w="12700">
            <a:solidFill>
              <a:srgbClr val="B7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4" name="Text 22"/>
          <p:cNvSpPr/>
          <p:nvPr/>
        </p:nvSpPr>
        <p:spPr>
          <a:xfrm>
            <a:off x="8942832" y="2697480"/>
            <a:ext cx="2244572" cy="15544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DL model</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Fast inference</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Good short-term skill</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Useful for operations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Shape 23"/>
          <p:cNvSpPr/>
          <p:nvPr/>
        </p:nvSpPr>
        <p:spPr>
          <a:xfrm>
            <a:off x="4879548" y="5458222"/>
            <a:ext cx="6373170" cy="988298"/>
          </a:xfrm>
          <a:prstGeom prst="roundRect">
            <a:avLst>
              <a:gd name="adj" fmla="val 11111"/>
            </a:avLst>
          </a:prstGeom>
          <a:solidFill>
            <a:srgbClr val="FDECEC"/>
          </a:solidFill>
          <a:ln w="12700">
            <a:solidFill>
              <a:srgbClr val="FDEC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6" name="Text 24"/>
          <p:cNvSpPr/>
          <p:nvPr/>
        </p:nvSpPr>
        <p:spPr>
          <a:xfrm>
            <a:off x="4992624" y="5771077"/>
            <a:ext cx="5685086"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DC2626"/>
                </a:solidFill>
                <a:effectLst/>
                <a:uLnTx/>
                <a:uFillTx/>
                <a:latin typeface="Aptos"/>
                <a:ea typeface="+mn-ea"/>
                <a:cs typeface="+mn-cs"/>
              </a:rPr>
              <a:t>Teaching point: In practice, AI/ML often complements physics models rather than replacing them.</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7" name="Slide Number Placeholder 0"/>
          <p:cNvSpPr>
            <a:spLocks noGrp="1"/>
          </p:cNvSpPr>
          <p:nvPr>
            <p:ph type="sldNum" sz="quarter" idx="4294967295"/>
          </p:nvPr>
        </p:nvSpPr>
        <p:spPr>
          <a:xfrm>
            <a:off x="11567160" y="6556248"/>
            <a:ext cx="256032" cy="109728"/>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7280"/>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5B7280"/>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000" b="0" i="0" u="none" strike="noStrike" kern="1200" cap="none" spc="0" normalizeH="0" baseline="0" noProof="0">
              <a:ln>
                <a:noFill/>
              </a:ln>
              <a:solidFill>
                <a:srgbClr val="5B7280"/>
              </a:solidFill>
              <a:effectLst/>
              <a:uLnTx/>
              <a:uFillTx/>
              <a:latin typeface="Aptos"/>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658368"/>
            <a:ext cx="74066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C4A6E"/>
                </a:solidFill>
                <a:effectLst/>
                <a:uLnTx/>
                <a:uFillTx/>
                <a:latin typeface="Aptos Display" pitchFamily="34" charset="0"/>
                <a:ea typeface="Aptos Display" pitchFamily="34" charset="-122"/>
                <a:cs typeface="Aptos Display" pitchFamily="34" charset="-120"/>
              </a:rPr>
              <a:t>Model intuition for beginners</a:t>
            </a:r>
            <a:endParaRPr kumimoji="0" lang="en-US" sz="2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1024128"/>
            <a:ext cx="77724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5B7280"/>
                </a:solidFill>
                <a:effectLst/>
                <a:uLnTx/>
                <a:uFillTx/>
                <a:latin typeface="Aptos"/>
                <a:ea typeface="+mn-ea"/>
                <a:cs typeface="+mn-cs"/>
              </a:rPr>
              <a:t>Do not memorize equations first - understand what pattern each architecture is good at learning.</a:t>
            </a:r>
            <a:endParaRPr kumimoji="0" lang="en-US" sz="13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566928" y="1600200"/>
            <a:ext cx="2176272" cy="1828800"/>
          </a:xfrm>
          <a:prstGeom prst="roundRect">
            <a:avLst>
              <a:gd name="adj" fmla="val 3000"/>
            </a:avLst>
          </a:prstGeom>
          <a:solidFill>
            <a:srgbClr val="F7FBFD"/>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731520" y="1728216"/>
            <a:ext cx="1847088" cy="1828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C4A6E"/>
                </a:solidFill>
                <a:effectLst/>
                <a:uLnTx/>
                <a:uFillTx/>
                <a:latin typeface="Aptos"/>
                <a:ea typeface="+mn-ea"/>
                <a:cs typeface="+mn-cs"/>
              </a:rPr>
              <a:t>MLP</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p:cNvSpPr/>
          <p:nvPr/>
        </p:nvSpPr>
        <p:spPr>
          <a:xfrm>
            <a:off x="886968" y="1984248"/>
            <a:ext cx="109728" cy="109728"/>
          </a:xfrm>
          <a:prstGeom prst="ellipse">
            <a:avLst/>
          </a:prstGeom>
          <a:solidFill>
            <a:srgbClr val="FFFFFF"/>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Shape 5"/>
          <p:cNvSpPr/>
          <p:nvPr/>
        </p:nvSpPr>
        <p:spPr>
          <a:xfrm>
            <a:off x="886968" y="2130552"/>
            <a:ext cx="109728" cy="109728"/>
          </a:xfrm>
          <a:prstGeom prst="ellipse">
            <a:avLst/>
          </a:prstGeom>
          <a:solidFill>
            <a:srgbClr val="FFFFFF"/>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Shape 6"/>
          <p:cNvSpPr/>
          <p:nvPr/>
        </p:nvSpPr>
        <p:spPr>
          <a:xfrm>
            <a:off x="886968" y="2276856"/>
            <a:ext cx="109728" cy="109728"/>
          </a:xfrm>
          <a:prstGeom prst="ellipse">
            <a:avLst/>
          </a:prstGeom>
          <a:solidFill>
            <a:srgbClr val="FFFFFF"/>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9" name="Shape 7"/>
          <p:cNvSpPr/>
          <p:nvPr/>
        </p:nvSpPr>
        <p:spPr>
          <a:xfrm>
            <a:off x="1197864" y="2057400"/>
            <a:ext cx="109728" cy="109728"/>
          </a:xfrm>
          <a:prstGeom prst="ellipse">
            <a:avLst/>
          </a:prstGeom>
          <a:solidFill>
            <a:srgbClr val="FFFFFF"/>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Shape 8"/>
          <p:cNvSpPr/>
          <p:nvPr/>
        </p:nvSpPr>
        <p:spPr>
          <a:xfrm>
            <a:off x="1197864" y="2167128"/>
            <a:ext cx="109728" cy="109728"/>
          </a:xfrm>
          <a:prstGeom prst="ellipse">
            <a:avLst/>
          </a:prstGeom>
          <a:solidFill>
            <a:srgbClr val="FFFFFF"/>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1197864" y="2276856"/>
            <a:ext cx="109728" cy="109728"/>
          </a:xfrm>
          <a:prstGeom prst="ellipse">
            <a:avLst/>
          </a:prstGeom>
          <a:solidFill>
            <a:srgbClr val="FFFFFF"/>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Shape 10"/>
          <p:cNvSpPr/>
          <p:nvPr/>
        </p:nvSpPr>
        <p:spPr>
          <a:xfrm>
            <a:off x="1197864" y="2386584"/>
            <a:ext cx="109728" cy="109728"/>
          </a:xfrm>
          <a:prstGeom prst="ellipse">
            <a:avLst/>
          </a:prstGeom>
          <a:solidFill>
            <a:srgbClr val="FFFFFF"/>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Shape 11"/>
          <p:cNvSpPr/>
          <p:nvPr/>
        </p:nvSpPr>
        <p:spPr>
          <a:xfrm>
            <a:off x="1508760" y="2185416"/>
            <a:ext cx="109728" cy="109728"/>
          </a:xfrm>
          <a:prstGeom prst="ellipse">
            <a:avLst/>
          </a:prstGeom>
          <a:solidFill>
            <a:srgbClr val="FFFFFF"/>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p:cNvSpPr/>
          <p:nvPr/>
        </p:nvSpPr>
        <p:spPr>
          <a:xfrm>
            <a:off x="1508760" y="2331720"/>
            <a:ext cx="109728" cy="109728"/>
          </a:xfrm>
          <a:prstGeom prst="ellipse">
            <a:avLst/>
          </a:prstGeom>
          <a:solidFill>
            <a:srgbClr val="FFFFFF"/>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996696" y="2039112"/>
            <a:ext cx="201168" cy="73152"/>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Shape 14"/>
          <p:cNvSpPr/>
          <p:nvPr/>
        </p:nvSpPr>
        <p:spPr>
          <a:xfrm>
            <a:off x="996696" y="2039112"/>
            <a:ext cx="201168" cy="182880"/>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Shape 15"/>
          <p:cNvSpPr/>
          <p:nvPr/>
        </p:nvSpPr>
        <p:spPr>
          <a:xfrm>
            <a:off x="996696" y="2039112"/>
            <a:ext cx="201168" cy="292608"/>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8" name="Shape 16"/>
          <p:cNvSpPr/>
          <p:nvPr/>
        </p:nvSpPr>
        <p:spPr>
          <a:xfrm>
            <a:off x="996696" y="2039112"/>
            <a:ext cx="201168" cy="402336"/>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9" name="Shape 17"/>
          <p:cNvSpPr/>
          <p:nvPr/>
        </p:nvSpPr>
        <p:spPr>
          <a:xfrm>
            <a:off x="996696" y="2185416"/>
            <a:ext cx="201168" cy="0"/>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Shape 18"/>
          <p:cNvSpPr/>
          <p:nvPr/>
        </p:nvSpPr>
        <p:spPr>
          <a:xfrm>
            <a:off x="996696" y="2185416"/>
            <a:ext cx="201168" cy="36576"/>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1" name="Shape 19"/>
          <p:cNvSpPr/>
          <p:nvPr/>
        </p:nvSpPr>
        <p:spPr>
          <a:xfrm>
            <a:off x="996696" y="2185416"/>
            <a:ext cx="201168" cy="146304"/>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2" name="Shape 20"/>
          <p:cNvSpPr/>
          <p:nvPr/>
        </p:nvSpPr>
        <p:spPr>
          <a:xfrm>
            <a:off x="996696" y="2185416"/>
            <a:ext cx="201168" cy="256032"/>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3" name="Shape 21"/>
          <p:cNvSpPr/>
          <p:nvPr/>
        </p:nvSpPr>
        <p:spPr>
          <a:xfrm>
            <a:off x="996696" y="2331720"/>
            <a:ext cx="201168" cy="0"/>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4" name="Shape 22"/>
          <p:cNvSpPr/>
          <p:nvPr/>
        </p:nvSpPr>
        <p:spPr>
          <a:xfrm>
            <a:off x="996696" y="2331720"/>
            <a:ext cx="201168" cy="0"/>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5" name="Shape 23"/>
          <p:cNvSpPr/>
          <p:nvPr/>
        </p:nvSpPr>
        <p:spPr>
          <a:xfrm>
            <a:off x="996696" y="2331720"/>
            <a:ext cx="201168" cy="0"/>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6" name="Shape 24"/>
          <p:cNvSpPr/>
          <p:nvPr/>
        </p:nvSpPr>
        <p:spPr>
          <a:xfrm>
            <a:off x="996696" y="2331720"/>
            <a:ext cx="201168" cy="109728"/>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7" name="Shape 25"/>
          <p:cNvSpPr/>
          <p:nvPr/>
        </p:nvSpPr>
        <p:spPr>
          <a:xfrm>
            <a:off x="1307592" y="2112264"/>
            <a:ext cx="201168" cy="146304"/>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8" name="Shape 26"/>
          <p:cNvSpPr/>
          <p:nvPr/>
        </p:nvSpPr>
        <p:spPr>
          <a:xfrm>
            <a:off x="1307592" y="2112264"/>
            <a:ext cx="201168" cy="292608"/>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9" name="Shape 27"/>
          <p:cNvSpPr/>
          <p:nvPr/>
        </p:nvSpPr>
        <p:spPr>
          <a:xfrm>
            <a:off x="1307592" y="2221992"/>
            <a:ext cx="201168" cy="36576"/>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0" name="Shape 28"/>
          <p:cNvSpPr/>
          <p:nvPr/>
        </p:nvSpPr>
        <p:spPr>
          <a:xfrm>
            <a:off x="1307592" y="2221992"/>
            <a:ext cx="201168" cy="182880"/>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1" name="Shape 29"/>
          <p:cNvSpPr/>
          <p:nvPr/>
        </p:nvSpPr>
        <p:spPr>
          <a:xfrm>
            <a:off x="1307592" y="2331720"/>
            <a:ext cx="201168" cy="0"/>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2" name="Shape 30"/>
          <p:cNvSpPr/>
          <p:nvPr/>
        </p:nvSpPr>
        <p:spPr>
          <a:xfrm>
            <a:off x="1307592" y="2331720"/>
            <a:ext cx="201168" cy="73152"/>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3" name="Shape 31"/>
          <p:cNvSpPr/>
          <p:nvPr/>
        </p:nvSpPr>
        <p:spPr>
          <a:xfrm>
            <a:off x="1307592" y="2441448"/>
            <a:ext cx="201168" cy="0"/>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4" name="Shape 32"/>
          <p:cNvSpPr/>
          <p:nvPr/>
        </p:nvSpPr>
        <p:spPr>
          <a:xfrm>
            <a:off x="1307592" y="2441448"/>
            <a:ext cx="201168" cy="0"/>
          </a:xfrm>
          <a:prstGeom prst="line">
            <a:avLst/>
          </a:prstGeom>
          <a:noFill/>
          <a:ln w="12700">
            <a:solidFill>
              <a:srgbClr val="9DB7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5" name="Text 33"/>
          <p:cNvSpPr/>
          <p:nvPr/>
        </p:nvSpPr>
        <p:spPr>
          <a:xfrm>
            <a:off x="731520" y="2587752"/>
            <a:ext cx="1847088" cy="6583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40" b="0" i="0" u="none" strike="noStrike" kern="1200" cap="none" spc="0" normalizeH="0" baseline="0" noProof="0" dirty="0">
                <a:ln>
                  <a:noFill/>
                </a:ln>
                <a:solidFill>
                  <a:srgbClr val="334155"/>
                </a:solidFill>
                <a:effectLst/>
                <a:uLnTx/>
                <a:uFillTx/>
                <a:latin typeface="Aptos"/>
                <a:ea typeface="+mn-ea"/>
                <a:cs typeface="+mn-cs"/>
              </a:rPr>
              <a:t>Treats the input as a big feature vector. Good baseline for non-linear relationships, but it does not naturally remember sequence order.</a:t>
            </a:r>
            <a:endParaRPr kumimoji="0" lang="en-US" sz="1140" b="0" i="0" u="none" strike="noStrike" kern="1200" cap="none" spc="0" normalizeH="0" baseline="0" noProof="0" dirty="0">
              <a:ln>
                <a:noFill/>
              </a:ln>
              <a:solidFill>
                <a:prstClr val="black"/>
              </a:solidFill>
              <a:effectLst/>
              <a:uLnTx/>
              <a:uFillTx/>
              <a:latin typeface="Aptos"/>
              <a:ea typeface="+mn-ea"/>
              <a:cs typeface="+mn-cs"/>
            </a:endParaRPr>
          </a:p>
        </p:txBody>
      </p:sp>
      <p:sp>
        <p:nvSpPr>
          <p:cNvPr id="36" name="Shape 34"/>
          <p:cNvSpPr/>
          <p:nvPr/>
        </p:nvSpPr>
        <p:spPr>
          <a:xfrm>
            <a:off x="2907792" y="1600200"/>
            <a:ext cx="2176272" cy="1828800"/>
          </a:xfrm>
          <a:prstGeom prst="roundRect">
            <a:avLst>
              <a:gd name="adj" fmla="val 3000"/>
            </a:avLst>
          </a:prstGeom>
          <a:solidFill>
            <a:srgbClr val="FFF7ED"/>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7" name="Text 35"/>
          <p:cNvSpPr/>
          <p:nvPr/>
        </p:nvSpPr>
        <p:spPr>
          <a:xfrm>
            <a:off x="3072384" y="1728216"/>
            <a:ext cx="1847088" cy="1828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C4A6E"/>
                </a:solidFill>
                <a:effectLst/>
                <a:uLnTx/>
                <a:uFillTx/>
                <a:latin typeface="Aptos"/>
                <a:ea typeface="+mn-ea"/>
                <a:cs typeface="+mn-cs"/>
              </a:rPr>
              <a:t>RNN</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38" name="Shape 36"/>
          <p:cNvSpPr/>
          <p:nvPr/>
        </p:nvSpPr>
        <p:spPr>
          <a:xfrm>
            <a:off x="3291840" y="2148840"/>
            <a:ext cx="128016" cy="128016"/>
          </a:xfrm>
          <a:prstGeom prst="roundRect">
            <a:avLst/>
          </a:prstGeom>
          <a:solidFill>
            <a:srgbClr val="FFF7ED"/>
          </a:solidFill>
          <a:ln w="12700">
            <a:solidFill>
              <a:srgbClr val="FB92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9" name="Shape 37"/>
          <p:cNvSpPr/>
          <p:nvPr/>
        </p:nvSpPr>
        <p:spPr>
          <a:xfrm>
            <a:off x="3493008" y="2148840"/>
            <a:ext cx="128016" cy="128016"/>
          </a:xfrm>
          <a:prstGeom prst="roundRect">
            <a:avLst/>
          </a:prstGeom>
          <a:solidFill>
            <a:srgbClr val="FFF7ED"/>
          </a:solidFill>
          <a:ln w="12700">
            <a:solidFill>
              <a:srgbClr val="FB92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0" name="Shape 38"/>
          <p:cNvSpPr/>
          <p:nvPr/>
        </p:nvSpPr>
        <p:spPr>
          <a:xfrm>
            <a:off x="3694176" y="2148840"/>
            <a:ext cx="128016" cy="128016"/>
          </a:xfrm>
          <a:prstGeom prst="roundRect">
            <a:avLst/>
          </a:prstGeom>
          <a:solidFill>
            <a:srgbClr val="FFF7ED"/>
          </a:solidFill>
          <a:ln w="12700">
            <a:solidFill>
              <a:srgbClr val="FB92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1" name="Shape 39"/>
          <p:cNvSpPr/>
          <p:nvPr/>
        </p:nvSpPr>
        <p:spPr>
          <a:xfrm>
            <a:off x="3410712" y="2212848"/>
            <a:ext cx="128016" cy="0"/>
          </a:xfrm>
          <a:prstGeom prst="line">
            <a:avLst/>
          </a:prstGeom>
          <a:noFill/>
          <a:ln w="12700">
            <a:solidFill>
              <a:srgbClr val="FB92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2" name="Shape 40"/>
          <p:cNvSpPr/>
          <p:nvPr/>
        </p:nvSpPr>
        <p:spPr>
          <a:xfrm>
            <a:off x="3611880" y="2212848"/>
            <a:ext cx="128016" cy="0"/>
          </a:xfrm>
          <a:prstGeom prst="line">
            <a:avLst/>
          </a:prstGeom>
          <a:noFill/>
          <a:ln w="12700">
            <a:solidFill>
              <a:srgbClr val="FB92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3" name="Shape 41"/>
          <p:cNvSpPr/>
          <p:nvPr/>
        </p:nvSpPr>
        <p:spPr>
          <a:xfrm>
            <a:off x="3703320" y="2002536"/>
            <a:ext cx="164592" cy="201168"/>
          </a:xfrm>
          <a:prstGeom prst="arc">
            <a:avLst/>
          </a:prstGeom>
          <a:noFill/>
          <a:ln w="12700">
            <a:solidFill>
              <a:srgbClr val="FB92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4" name="Text 42"/>
          <p:cNvSpPr/>
          <p:nvPr/>
        </p:nvSpPr>
        <p:spPr>
          <a:xfrm>
            <a:off x="3072384" y="2587752"/>
            <a:ext cx="1847088" cy="6583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40" b="0" i="0" u="none" strike="noStrike" kern="1200" cap="none" spc="0" normalizeH="0" baseline="0" noProof="0" dirty="0">
                <a:ln>
                  <a:noFill/>
                </a:ln>
                <a:solidFill>
                  <a:srgbClr val="334155"/>
                </a:solidFill>
                <a:effectLst/>
                <a:uLnTx/>
                <a:uFillTx/>
                <a:latin typeface="Aptos"/>
                <a:ea typeface="+mn-ea"/>
                <a:cs typeface="+mn-cs"/>
              </a:rPr>
              <a:t>Reads the sequence step by step. It can remember recent context, but long sequences can make training harder.</a:t>
            </a:r>
            <a:endParaRPr kumimoji="0" lang="en-US" sz="1140" b="0" i="0" u="none" strike="noStrike" kern="1200" cap="none" spc="0" normalizeH="0" baseline="0" noProof="0" dirty="0">
              <a:ln>
                <a:noFill/>
              </a:ln>
              <a:solidFill>
                <a:prstClr val="black"/>
              </a:solidFill>
              <a:effectLst/>
              <a:uLnTx/>
              <a:uFillTx/>
              <a:latin typeface="Aptos"/>
              <a:ea typeface="+mn-ea"/>
              <a:cs typeface="+mn-cs"/>
            </a:endParaRPr>
          </a:p>
        </p:txBody>
      </p:sp>
      <p:sp>
        <p:nvSpPr>
          <p:cNvPr id="45" name="Shape 43"/>
          <p:cNvSpPr/>
          <p:nvPr/>
        </p:nvSpPr>
        <p:spPr>
          <a:xfrm>
            <a:off x="5248656" y="1600200"/>
            <a:ext cx="2176272" cy="1828800"/>
          </a:xfrm>
          <a:prstGeom prst="roundRect">
            <a:avLst>
              <a:gd name="adj" fmla="val 3000"/>
            </a:avLst>
          </a:prstGeom>
          <a:solidFill>
            <a:srgbClr val="F0FDF4"/>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6" name="Text 44"/>
          <p:cNvSpPr/>
          <p:nvPr/>
        </p:nvSpPr>
        <p:spPr>
          <a:xfrm>
            <a:off x="5413248" y="1728216"/>
            <a:ext cx="1847088" cy="1828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C4A6E"/>
                </a:solidFill>
                <a:effectLst/>
                <a:uLnTx/>
                <a:uFillTx/>
                <a:latin typeface="Aptos"/>
                <a:ea typeface="+mn-ea"/>
                <a:cs typeface="+mn-cs"/>
              </a:rPr>
              <a:t>LSTM</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47" name="Shape 45"/>
          <p:cNvSpPr/>
          <p:nvPr/>
        </p:nvSpPr>
        <p:spPr>
          <a:xfrm>
            <a:off x="5715000" y="2057400"/>
            <a:ext cx="457200" cy="329184"/>
          </a:xfrm>
          <a:prstGeom prst="roundRect">
            <a:avLst>
              <a:gd name="adj" fmla="val 22222"/>
            </a:avLst>
          </a:prstGeom>
          <a:solidFill>
            <a:srgbClr val="F0FDF4"/>
          </a:solidFill>
          <a:ln w="12700">
            <a:solidFill>
              <a:srgbClr val="16A3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8" name="Text 46"/>
          <p:cNvSpPr/>
          <p:nvPr/>
        </p:nvSpPr>
        <p:spPr>
          <a:xfrm>
            <a:off x="5751576" y="2103120"/>
            <a:ext cx="384048"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6A34A"/>
                </a:solidFill>
                <a:effectLst/>
                <a:uLnTx/>
                <a:uFillTx/>
                <a:latin typeface="Aptos"/>
                <a:ea typeface="+mn-ea"/>
                <a:cs typeface="+mn-cs"/>
              </a:rPr>
              <a:t>forget / input / output</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6A34A"/>
                </a:solidFill>
                <a:effectLst/>
                <a:uLnTx/>
                <a:uFillTx/>
                <a:latin typeface="Aptos"/>
                <a:ea typeface="+mn-ea"/>
                <a:cs typeface="+mn-cs"/>
              </a:rPr>
              <a:t>gates + cell state</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9" name="Shape 47"/>
          <p:cNvSpPr/>
          <p:nvPr/>
        </p:nvSpPr>
        <p:spPr>
          <a:xfrm>
            <a:off x="5586984" y="2221992"/>
            <a:ext cx="118872" cy="0"/>
          </a:xfrm>
          <a:prstGeom prst="line">
            <a:avLst/>
          </a:prstGeom>
          <a:noFill/>
          <a:ln w="12700">
            <a:solidFill>
              <a:srgbClr val="16A34A"/>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0" name="Shape 48"/>
          <p:cNvSpPr/>
          <p:nvPr/>
        </p:nvSpPr>
        <p:spPr>
          <a:xfrm>
            <a:off x="6172200" y="2221992"/>
            <a:ext cx="118872" cy="0"/>
          </a:xfrm>
          <a:prstGeom prst="line">
            <a:avLst/>
          </a:prstGeom>
          <a:noFill/>
          <a:ln w="12700">
            <a:solidFill>
              <a:srgbClr val="16A34A"/>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1" name="Text 49"/>
          <p:cNvSpPr/>
          <p:nvPr/>
        </p:nvSpPr>
        <p:spPr>
          <a:xfrm>
            <a:off x="5413248" y="2587752"/>
            <a:ext cx="1847088" cy="6583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40" b="0" i="0" u="none" strike="noStrike" kern="1200" cap="none" spc="0" normalizeH="0" baseline="0" noProof="0" dirty="0">
                <a:ln>
                  <a:noFill/>
                </a:ln>
                <a:solidFill>
                  <a:srgbClr val="334155"/>
                </a:solidFill>
                <a:effectLst/>
                <a:uLnTx/>
                <a:uFillTx/>
                <a:latin typeface="Aptos"/>
                <a:ea typeface="+mn-ea"/>
                <a:cs typeface="+mn-cs"/>
              </a:rPr>
              <a:t>An improved RNN with gates that help keep or forget information. Often better than plain RNN for longer memory.</a:t>
            </a:r>
            <a:endParaRPr kumimoji="0" lang="en-US" sz="1140" b="0" i="0" u="none" strike="noStrike" kern="1200" cap="none" spc="0" normalizeH="0" baseline="0" noProof="0" dirty="0">
              <a:ln>
                <a:noFill/>
              </a:ln>
              <a:solidFill>
                <a:prstClr val="black"/>
              </a:solidFill>
              <a:effectLst/>
              <a:uLnTx/>
              <a:uFillTx/>
              <a:latin typeface="Aptos"/>
              <a:ea typeface="+mn-ea"/>
              <a:cs typeface="+mn-cs"/>
            </a:endParaRPr>
          </a:p>
        </p:txBody>
      </p:sp>
      <p:sp>
        <p:nvSpPr>
          <p:cNvPr id="52" name="Shape 50"/>
          <p:cNvSpPr/>
          <p:nvPr/>
        </p:nvSpPr>
        <p:spPr>
          <a:xfrm>
            <a:off x="7589520" y="1600200"/>
            <a:ext cx="2176272" cy="1828800"/>
          </a:xfrm>
          <a:prstGeom prst="roundRect">
            <a:avLst>
              <a:gd name="adj" fmla="val 3000"/>
            </a:avLst>
          </a:prstGeom>
          <a:solidFill>
            <a:srgbClr val="FFF6F6"/>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3" name="Text 51"/>
          <p:cNvSpPr/>
          <p:nvPr/>
        </p:nvSpPr>
        <p:spPr>
          <a:xfrm>
            <a:off x="7754112" y="1728216"/>
            <a:ext cx="1847088" cy="1828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C4A6E"/>
                </a:solidFill>
                <a:effectLst/>
                <a:uLnTx/>
                <a:uFillTx/>
                <a:latin typeface="Aptos"/>
                <a:ea typeface="+mn-ea"/>
                <a:cs typeface="+mn-cs"/>
              </a:rPr>
              <a:t>CNN</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54" name="Shape 52"/>
          <p:cNvSpPr/>
          <p:nvPr/>
        </p:nvSpPr>
        <p:spPr>
          <a:xfrm>
            <a:off x="7982712" y="2075688"/>
            <a:ext cx="237744" cy="237744"/>
          </a:xfrm>
          <a:prstGeom prst="rect">
            <a:avLst/>
          </a:prstGeom>
          <a:solidFill>
            <a:srgbClr val="FFFFFF"/>
          </a:solidFill>
          <a:ln w="12700">
            <a:solidFill>
              <a:srgbClr val="A1A1A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5" name="Shape 53"/>
          <p:cNvSpPr/>
          <p:nvPr/>
        </p:nvSpPr>
        <p:spPr>
          <a:xfrm>
            <a:off x="8092440" y="2185416"/>
            <a:ext cx="237744" cy="237744"/>
          </a:xfrm>
          <a:prstGeom prst="rect">
            <a:avLst/>
          </a:prstGeom>
          <a:solidFill>
            <a:srgbClr val="FFFFFF"/>
          </a:solidFill>
          <a:ln w="12700">
            <a:solidFill>
              <a:srgbClr val="A1A1A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6" name="Shape 54"/>
          <p:cNvSpPr/>
          <p:nvPr/>
        </p:nvSpPr>
        <p:spPr>
          <a:xfrm>
            <a:off x="8202168" y="2295144"/>
            <a:ext cx="237744" cy="237744"/>
          </a:xfrm>
          <a:prstGeom prst="rect">
            <a:avLst/>
          </a:prstGeom>
          <a:solidFill>
            <a:srgbClr val="FFFFFF"/>
          </a:solidFill>
          <a:ln w="12700">
            <a:solidFill>
              <a:srgbClr val="A1A1A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7" name="Shape 55"/>
          <p:cNvSpPr/>
          <p:nvPr/>
        </p:nvSpPr>
        <p:spPr>
          <a:xfrm>
            <a:off x="8110728" y="2203704"/>
            <a:ext cx="109728" cy="109728"/>
          </a:xfrm>
          <a:prstGeom prst="rect">
            <a:avLst/>
          </a:prstGeom>
          <a:solidFill>
            <a:srgbClr val="FEE2E2"/>
          </a:solidFill>
          <a:ln w="12700">
            <a:solidFill>
              <a:srgbClr val="DC26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8" name="Shape 56"/>
          <p:cNvSpPr/>
          <p:nvPr/>
        </p:nvSpPr>
        <p:spPr>
          <a:xfrm>
            <a:off x="8339328" y="2212848"/>
            <a:ext cx="146304" cy="0"/>
          </a:xfrm>
          <a:prstGeom prst="line">
            <a:avLst/>
          </a:prstGeom>
          <a:noFill/>
          <a:ln w="12700">
            <a:solidFill>
              <a:srgbClr val="DC2626"/>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9" name="Shape 57"/>
          <p:cNvSpPr/>
          <p:nvPr/>
        </p:nvSpPr>
        <p:spPr>
          <a:xfrm>
            <a:off x="8513064" y="2121408"/>
            <a:ext cx="73152" cy="73152"/>
          </a:xfrm>
          <a:prstGeom prst="rect">
            <a:avLst/>
          </a:prstGeom>
          <a:solidFill>
            <a:srgbClr val="FFF1F2"/>
          </a:solidFill>
          <a:ln w="12700">
            <a:solidFill>
              <a:srgbClr val="DC26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0" name="Shape 58"/>
          <p:cNvSpPr/>
          <p:nvPr/>
        </p:nvSpPr>
        <p:spPr>
          <a:xfrm>
            <a:off x="8513064" y="2212848"/>
            <a:ext cx="73152" cy="73152"/>
          </a:xfrm>
          <a:prstGeom prst="rect">
            <a:avLst/>
          </a:prstGeom>
          <a:solidFill>
            <a:srgbClr val="FFF1F2"/>
          </a:solidFill>
          <a:ln w="12700">
            <a:solidFill>
              <a:srgbClr val="DC26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1" name="Shape 59"/>
          <p:cNvSpPr/>
          <p:nvPr/>
        </p:nvSpPr>
        <p:spPr>
          <a:xfrm>
            <a:off x="8513064" y="2304288"/>
            <a:ext cx="73152" cy="73152"/>
          </a:xfrm>
          <a:prstGeom prst="rect">
            <a:avLst/>
          </a:prstGeom>
          <a:solidFill>
            <a:srgbClr val="FFF1F2"/>
          </a:solidFill>
          <a:ln w="12700">
            <a:solidFill>
              <a:srgbClr val="DC26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2" name="Text 60"/>
          <p:cNvSpPr/>
          <p:nvPr/>
        </p:nvSpPr>
        <p:spPr>
          <a:xfrm>
            <a:off x="7754112" y="2587752"/>
            <a:ext cx="1847088" cy="6583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40" b="0" i="0" u="none" strike="noStrike" kern="1200" cap="none" spc="0" normalizeH="0" baseline="0" noProof="0" dirty="0">
                <a:ln>
                  <a:noFill/>
                </a:ln>
                <a:solidFill>
                  <a:srgbClr val="334155"/>
                </a:solidFill>
                <a:effectLst/>
                <a:uLnTx/>
                <a:uFillTx/>
                <a:latin typeface="Aptos"/>
                <a:ea typeface="+mn-ea"/>
                <a:cs typeface="+mn-cs"/>
              </a:rPr>
              <a:t>Slides filters over the time series to detect local patterns. Often stable and efficient for repeated shapes or peaks.</a:t>
            </a:r>
            <a:endParaRPr kumimoji="0" lang="en-US" sz="1140" b="0" i="0" u="none" strike="noStrike" kern="1200" cap="none" spc="0" normalizeH="0" baseline="0" noProof="0" dirty="0">
              <a:ln>
                <a:noFill/>
              </a:ln>
              <a:solidFill>
                <a:prstClr val="black"/>
              </a:solidFill>
              <a:effectLst/>
              <a:uLnTx/>
              <a:uFillTx/>
              <a:latin typeface="Aptos"/>
              <a:ea typeface="+mn-ea"/>
              <a:cs typeface="+mn-cs"/>
            </a:endParaRPr>
          </a:p>
        </p:txBody>
      </p:sp>
      <p:sp>
        <p:nvSpPr>
          <p:cNvPr id="63" name="Shape 61"/>
          <p:cNvSpPr/>
          <p:nvPr/>
        </p:nvSpPr>
        <p:spPr>
          <a:xfrm>
            <a:off x="9930384" y="1600200"/>
            <a:ext cx="1691640" cy="1828800"/>
          </a:xfrm>
          <a:prstGeom prst="roundRect">
            <a:avLst>
              <a:gd name="adj" fmla="val 3243"/>
            </a:avLst>
          </a:prstGeom>
          <a:solidFill>
            <a:srgbClr val="EFF6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4" name="Text 62"/>
          <p:cNvSpPr/>
          <p:nvPr/>
        </p:nvSpPr>
        <p:spPr>
          <a:xfrm>
            <a:off x="10094976" y="1728216"/>
            <a:ext cx="1362456" cy="1828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C4A6E"/>
                </a:solidFill>
                <a:effectLst/>
                <a:uLnTx/>
                <a:uFillTx/>
                <a:latin typeface="Aptos"/>
                <a:ea typeface="+mn-ea"/>
                <a:cs typeface="+mn-cs"/>
              </a:rPr>
              <a:t>RCNN</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65" name="Shape 63"/>
          <p:cNvSpPr/>
          <p:nvPr/>
        </p:nvSpPr>
        <p:spPr>
          <a:xfrm>
            <a:off x="10305288" y="2148840"/>
            <a:ext cx="164592" cy="128016"/>
          </a:xfrm>
          <a:prstGeom prst="roundRect">
            <a:avLst>
              <a:gd name="adj" fmla="val 42857"/>
            </a:avLst>
          </a:prstGeom>
          <a:solidFill>
            <a:srgbClr val="FFF7ED"/>
          </a:solidFill>
          <a:ln w="12700">
            <a:solidFill>
              <a:srgbClr val="FB92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6" name="Text 64"/>
          <p:cNvSpPr/>
          <p:nvPr/>
        </p:nvSpPr>
        <p:spPr>
          <a:xfrm>
            <a:off x="10323576" y="2167128"/>
            <a:ext cx="128016" cy="731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ptos"/>
                <a:ea typeface="+mn-ea"/>
                <a:cs typeface="+mn-cs"/>
              </a:rPr>
              <a:t>RNN</a:t>
            </a:r>
            <a:endParaRPr kumimoji="0" lang="en-US" sz="900" b="0" i="0" u="none" strike="noStrike" kern="1200" cap="none" spc="0" normalizeH="0" baseline="0" noProof="0" dirty="0">
              <a:ln>
                <a:noFill/>
              </a:ln>
              <a:solidFill>
                <a:prstClr val="black"/>
              </a:solidFill>
              <a:effectLst/>
              <a:uLnTx/>
              <a:uFillTx/>
              <a:latin typeface="Aptos"/>
              <a:ea typeface="+mn-ea"/>
              <a:cs typeface="+mn-cs"/>
            </a:endParaRPr>
          </a:p>
        </p:txBody>
      </p:sp>
      <p:sp>
        <p:nvSpPr>
          <p:cNvPr id="67" name="Shape 65"/>
          <p:cNvSpPr/>
          <p:nvPr/>
        </p:nvSpPr>
        <p:spPr>
          <a:xfrm>
            <a:off x="10469880" y="2212848"/>
            <a:ext cx="100584" cy="0"/>
          </a:xfrm>
          <a:prstGeom prst="line">
            <a:avLst/>
          </a:prstGeom>
          <a:noFill/>
          <a:ln w="12700">
            <a:solidFill>
              <a:srgbClr val="FB923C"/>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8" name="Shape 66"/>
          <p:cNvSpPr/>
          <p:nvPr/>
        </p:nvSpPr>
        <p:spPr>
          <a:xfrm>
            <a:off x="10607040" y="2093976"/>
            <a:ext cx="73152" cy="73152"/>
          </a:xfrm>
          <a:prstGeom prst="rect">
            <a:avLst/>
          </a:prstGeom>
          <a:solidFill>
            <a:srgbClr val="EFF6FF"/>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9" name="Shape 67"/>
          <p:cNvSpPr/>
          <p:nvPr/>
        </p:nvSpPr>
        <p:spPr>
          <a:xfrm>
            <a:off x="10607040" y="2167128"/>
            <a:ext cx="73152" cy="73152"/>
          </a:xfrm>
          <a:prstGeom prst="rect">
            <a:avLst/>
          </a:prstGeom>
          <a:solidFill>
            <a:srgbClr val="EFF6FF"/>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0" name="Shape 68"/>
          <p:cNvSpPr/>
          <p:nvPr/>
        </p:nvSpPr>
        <p:spPr>
          <a:xfrm>
            <a:off x="10607040" y="2240280"/>
            <a:ext cx="73152" cy="73152"/>
          </a:xfrm>
          <a:prstGeom prst="rect">
            <a:avLst/>
          </a:prstGeom>
          <a:solidFill>
            <a:srgbClr val="EFF6FF"/>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1" name="Shape 69"/>
          <p:cNvSpPr/>
          <p:nvPr/>
        </p:nvSpPr>
        <p:spPr>
          <a:xfrm>
            <a:off x="10744200" y="2130552"/>
            <a:ext cx="73152" cy="73152"/>
          </a:xfrm>
          <a:prstGeom prst="rect">
            <a:avLst/>
          </a:prstGeom>
          <a:solidFill>
            <a:srgbClr val="F0FDF4"/>
          </a:solidFill>
          <a:ln w="12700">
            <a:solidFill>
              <a:srgbClr val="16A3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2" name="Shape 70"/>
          <p:cNvSpPr/>
          <p:nvPr/>
        </p:nvSpPr>
        <p:spPr>
          <a:xfrm>
            <a:off x="10744200" y="2221992"/>
            <a:ext cx="73152" cy="73152"/>
          </a:xfrm>
          <a:prstGeom prst="rect">
            <a:avLst/>
          </a:prstGeom>
          <a:solidFill>
            <a:srgbClr val="F0FDF4"/>
          </a:solidFill>
          <a:ln w="12700">
            <a:solidFill>
              <a:srgbClr val="16A3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3" name="Shape 71"/>
          <p:cNvSpPr/>
          <p:nvPr/>
        </p:nvSpPr>
        <p:spPr>
          <a:xfrm>
            <a:off x="10826496" y="2203704"/>
            <a:ext cx="118872" cy="0"/>
          </a:xfrm>
          <a:prstGeom prst="line">
            <a:avLst/>
          </a:prstGeom>
          <a:noFill/>
          <a:ln w="12700">
            <a:solidFill>
              <a:srgbClr val="16A34A"/>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4" name="Text 72"/>
          <p:cNvSpPr/>
          <p:nvPr/>
        </p:nvSpPr>
        <p:spPr>
          <a:xfrm>
            <a:off x="10094976" y="2587752"/>
            <a:ext cx="1362456" cy="6583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40" b="0" i="0" u="none" strike="noStrike" kern="1200" cap="none" spc="0" normalizeH="0" baseline="0" noProof="0" dirty="0">
                <a:ln>
                  <a:noFill/>
                </a:ln>
                <a:solidFill>
                  <a:srgbClr val="334155"/>
                </a:solidFill>
                <a:effectLst/>
                <a:uLnTx/>
                <a:uFillTx/>
                <a:latin typeface="Aptos"/>
                <a:ea typeface="+mn-ea"/>
                <a:cs typeface="+mn-cs"/>
              </a:rPr>
              <a:t>RNN first, then CNN. This hybrid captures sequence memory and local pattern extraction together.</a:t>
            </a:r>
            <a:endParaRPr kumimoji="0" lang="en-US" sz="1140" b="0" i="0" u="none" strike="noStrike" kern="1200" cap="none" spc="0" normalizeH="0" baseline="0" noProof="0" dirty="0">
              <a:ln>
                <a:noFill/>
              </a:ln>
              <a:solidFill>
                <a:prstClr val="black"/>
              </a:solidFill>
              <a:effectLst/>
              <a:uLnTx/>
              <a:uFillTx/>
              <a:latin typeface="Aptos"/>
              <a:ea typeface="+mn-ea"/>
              <a:cs typeface="+mn-cs"/>
            </a:endParaRPr>
          </a:p>
        </p:txBody>
      </p:sp>
      <p:sp>
        <p:nvSpPr>
          <p:cNvPr id="75" name="Shape 73"/>
          <p:cNvSpPr/>
          <p:nvPr/>
        </p:nvSpPr>
        <p:spPr>
          <a:xfrm>
            <a:off x="841248" y="3977640"/>
            <a:ext cx="10881360" cy="1371600"/>
          </a:xfrm>
          <a:prstGeom prst="roundRect">
            <a:avLst>
              <a:gd name="adj" fmla="val 5333"/>
            </a:avLst>
          </a:prstGeom>
          <a:solidFill>
            <a:srgbClr val="FFFFFF"/>
          </a:solidFill>
          <a:ln w="12700">
            <a:solidFill>
              <a:srgbClr val="D7E3EA"/>
            </a:solidFill>
            <a:prstDash val="solid"/>
          </a:ln>
          <a:effectLst>
            <a:outerShdw blurRad="19050" dist="127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6" name="Text 74"/>
          <p:cNvSpPr/>
          <p:nvPr/>
        </p:nvSpPr>
        <p:spPr>
          <a:xfrm>
            <a:off x="1005840" y="4087368"/>
            <a:ext cx="10552176"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C4A6E"/>
                </a:solidFill>
                <a:effectLst/>
                <a:uLnTx/>
                <a:uFillTx/>
                <a:latin typeface="Aptos"/>
                <a:ea typeface="+mn-ea"/>
                <a:cs typeface="+mn-cs"/>
              </a:rPr>
              <a:t>What the paper found</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77" name="Text 75"/>
          <p:cNvSpPr/>
          <p:nvPr/>
        </p:nvSpPr>
        <p:spPr>
          <a:xfrm>
            <a:off x="1005840" y="4361688"/>
            <a:ext cx="10570464" cy="877824"/>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334155"/>
                </a:solidFill>
                <a:effectLst/>
                <a:uLnTx/>
                <a:uFillTx/>
                <a:latin typeface="Aptos"/>
                <a:ea typeface="+mn-ea"/>
                <a:cs typeface="+mn-cs"/>
              </a:rPr>
              <a:t>RCNN gave the most consistently strong overall performance. RNN and LSTM were more sensitive to longer forecast lead times, while MLP and CNN were relatively more stable as the forecast horizon increased.</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78" name="Slide Number Placeholder 0"/>
          <p:cNvSpPr>
            <a:spLocks noGrp="1"/>
          </p:cNvSpPr>
          <p:nvPr>
            <p:ph type="sldNum" sz="quarter" idx="4294967295"/>
          </p:nvPr>
        </p:nvSpPr>
        <p:spPr>
          <a:xfrm>
            <a:off x="11567160" y="6556248"/>
            <a:ext cx="256032" cy="109728"/>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7280"/>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5B7280"/>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000" b="0" i="0" u="none" strike="noStrike" kern="1200" cap="none" spc="0" normalizeH="0" baseline="0" noProof="0">
              <a:ln>
                <a:noFill/>
              </a:ln>
              <a:solidFill>
                <a:srgbClr val="5B7280"/>
              </a:solidFill>
              <a:effectLst/>
              <a:uLnTx/>
              <a:uFillTx/>
              <a:latin typeface="Aptos"/>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658368"/>
            <a:ext cx="74066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C4A6E"/>
                </a:solidFill>
                <a:effectLst/>
                <a:uLnTx/>
                <a:uFillTx/>
                <a:latin typeface="Aptos Display" pitchFamily="34" charset="0"/>
                <a:ea typeface="Aptos Display" pitchFamily="34" charset="-122"/>
                <a:cs typeface="Aptos Display" pitchFamily="34" charset="-120"/>
              </a:rPr>
              <a:t>Accuracy snapshot: entire 24-hour forecast</a:t>
            </a:r>
            <a:endParaRPr kumimoji="0" lang="en-US" sz="2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7" y="1024128"/>
            <a:ext cx="9761127"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5B7280"/>
                </a:solidFill>
                <a:effectLst/>
                <a:uLnTx/>
                <a:uFillTx/>
                <a:latin typeface="Aptos"/>
                <a:ea typeface="+mn-ea"/>
                <a:cs typeface="+mn-cs"/>
              </a:rPr>
              <a:t>Using the paper’s MAE results is a simple way to explain model comparison to beginners. Lower MAE means smaller average error.</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566928" y="1508760"/>
            <a:ext cx="6537960" cy="4526280"/>
          </a:xfrm>
          <a:prstGeom prst="roundRect">
            <a:avLst>
              <a:gd name="adj" fmla="val 1616"/>
            </a:avLst>
          </a:prstGeom>
          <a:solidFill>
            <a:srgbClr val="FFFF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pic>
        <p:nvPicPr>
          <p:cNvPr id="5" name="Image 0" descr="/mnt/data/assets/mae_bar.png"/>
          <p:cNvPicPr>
            <a:picLocks noChangeAspect="1"/>
          </p:cNvPicPr>
          <p:nvPr/>
        </p:nvPicPr>
        <p:blipFill>
          <a:blip r:embed="rId3"/>
          <a:stretch>
            <a:fillRect/>
          </a:stretch>
        </p:blipFill>
        <p:spPr>
          <a:xfrm>
            <a:off x="786384" y="2170125"/>
            <a:ext cx="6080760" cy="3166973"/>
          </a:xfrm>
          <a:prstGeom prst="rect">
            <a:avLst/>
          </a:prstGeom>
        </p:spPr>
      </p:pic>
      <p:sp>
        <p:nvSpPr>
          <p:cNvPr id="6" name="Shape 3"/>
          <p:cNvSpPr/>
          <p:nvPr/>
        </p:nvSpPr>
        <p:spPr>
          <a:xfrm>
            <a:off x="7360920" y="1385316"/>
            <a:ext cx="4251960" cy="1298448"/>
          </a:xfrm>
          <a:prstGeom prst="roundRect">
            <a:avLst>
              <a:gd name="adj" fmla="val 4225"/>
            </a:avLst>
          </a:prstGeom>
          <a:solidFill>
            <a:srgbClr val="F4FCFA"/>
          </a:solidFill>
          <a:ln w="12700">
            <a:solidFill>
              <a:srgbClr val="B7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Text 4"/>
          <p:cNvSpPr/>
          <p:nvPr/>
        </p:nvSpPr>
        <p:spPr>
          <a:xfrm>
            <a:off x="7571232" y="1682496"/>
            <a:ext cx="155448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66534"/>
                </a:solidFill>
                <a:effectLst/>
                <a:uLnTx/>
                <a:uFillTx/>
                <a:latin typeface="Aptos"/>
                <a:ea typeface="+mn-ea"/>
                <a:cs typeface="+mn-cs"/>
              </a:rPr>
              <a:t>Best overall MAE</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5"/>
          <p:cNvSpPr/>
          <p:nvPr/>
        </p:nvSpPr>
        <p:spPr>
          <a:xfrm>
            <a:off x="7433699" y="2339464"/>
            <a:ext cx="1790919"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334155"/>
                </a:solidFill>
                <a:effectLst/>
                <a:uLnTx/>
                <a:uFillTx/>
                <a:latin typeface="Aptos"/>
                <a:ea typeface="+mn-ea"/>
                <a:cs typeface="+mn-cs"/>
              </a:rPr>
              <a:t>RCNN = 0.098 ft</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334155"/>
                </a:solidFill>
                <a:effectLst/>
                <a:uLnTx/>
                <a:uFillTx/>
                <a:latin typeface="Aptos"/>
                <a:ea typeface="+mn-ea"/>
                <a:cs typeface="+mn-cs"/>
              </a:rPr>
              <a:t>HEC-RAS = 0.186 ft</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334155"/>
                </a:solidFill>
                <a:effectLst/>
                <a:uLnTx/>
                <a:uFillTx/>
                <a:latin typeface="Aptos"/>
                <a:ea typeface="+mn-ea"/>
                <a:cs typeface="+mn-cs"/>
              </a:rPr>
              <a:t>LR = 0.296 ft</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6"/>
          <p:cNvSpPr/>
          <p:nvPr/>
        </p:nvSpPr>
        <p:spPr>
          <a:xfrm>
            <a:off x="9189720" y="1508760"/>
            <a:ext cx="2435352" cy="1946272"/>
          </a:xfrm>
          <a:prstGeom prst="roundRect">
            <a:avLst>
              <a:gd name="adj" fmla="val 4225"/>
            </a:avLst>
          </a:prstGeom>
          <a:solidFill>
            <a:srgbClr val="FFF8E8"/>
          </a:solidFill>
          <a:ln w="12700">
            <a:solidFill>
              <a:srgbClr val="F2D1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Text 7"/>
          <p:cNvSpPr/>
          <p:nvPr/>
        </p:nvSpPr>
        <p:spPr>
          <a:xfrm>
            <a:off x="9273759" y="1643634"/>
            <a:ext cx="2339121"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7C4A03"/>
                </a:solidFill>
                <a:effectLst/>
                <a:uLnTx/>
                <a:uFillTx/>
                <a:latin typeface="Aptos"/>
                <a:ea typeface="+mn-ea"/>
                <a:cs typeface="+mn-cs"/>
              </a:rPr>
              <a:t>Operational reading</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Text 8"/>
          <p:cNvSpPr/>
          <p:nvPr/>
        </p:nvSpPr>
        <p:spPr>
          <a:xfrm>
            <a:off x="9255033" y="2363118"/>
            <a:ext cx="2435352"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The best DL models beat both simple regression and the benchmark physics model on MAE.</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9"/>
          <p:cNvSpPr/>
          <p:nvPr/>
        </p:nvSpPr>
        <p:spPr>
          <a:xfrm>
            <a:off x="11868912" y="1188720"/>
            <a:ext cx="4251960" cy="2852928"/>
          </a:xfrm>
          <a:prstGeom prst="roundRect">
            <a:avLst>
              <a:gd name="adj" fmla="val 1923"/>
            </a:avLst>
          </a:prstGeom>
          <a:solidFill>
            <a:srgbClr val="FFFF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13" name="Text 10"/>
          <p:cNvSpPr/>
          <p:nvPr/>
        </p:nvSpPr>
        <p:spPr>
          <a:xfrm>
            <a:off x="7595180" y="3578476"/>
            <a:ext cx="3498917" cy="24231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C4A6E"/>
                </a:solidFill>
                <a:effectLst/>
                <a:uLnTx/>
                <a:uFillTx/>
                <a:latin typeface="Aptos"/>
                <a:ea typeface="+mn-ea"/>
                <a:cs typeface="+mn-cs"/>
              </a:rPr>
              <a:t>24-hour MAE by station (ft)</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1"/>
          <p:cNvSpPr/>
          <p:nvPr/>
        </p:nvSpPr>
        <p:spPr>
          <a:xfrm>
            <a:off x="7595181" y="3944236"/>
            <a:ext cx="868680" cy="292608"/>
          </a:xfrm>
          <a:prstGeom prst="rect">
            <a:avLst/>
          </a:prstGeom>
          <a:solidFill>
            <a:srgbClr val="EDF5F8"/>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15" name="Text 12"/>
          <p:cNvSpPr/>
          <p:nvPr/>
        </p:nvSpPr>
        <p:spPr>
          <a:xfrm>
            <a:off x="7446202" y="3980812"/>
            <a:ext cx="999371" cy="24231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C4A6E"/>
                </a:solidFill>
                <a:effectLst/>
                <a:uLnTx/>
                <a:uFillTx/>
                <a:latin typeface="Aptos"/>
                <a:ea typeface="+mn-ea"/>
                <a:cs typeface="+mn-cs"/>
              </a:rPr>
              <a:t>Model</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Shape 13"/>
          <p:cNvSpPr/>
          <p:nvPr/>
        </p:nvSpPr>
        <p:spPr>
          <a:xfrm>
            <a:off x="8463861" y="3944236"/>
            <a:ext cx="786384" cy="292608"/>
          </a:xfrm>
          <a:prstGeom prst="rect">
            <a:avLst/>
          </a:prstGeom>
          <a:solidFill>
            <a:srgbClr val="EDF5F8"/>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17" name="Text 14"/>
          <p:cNvSpPr/>
          <p:nvPr/>
        </p:nvSpPr>
        <p:spPr>
          <a:xfrm>
            <a:off x="8482149" y="3980812"/>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C4A6E"/>
                </a:solidFill>
                <a:effectLst/>
                <a:uLnTx/>
                <a:uFillTx/>
                <a:latin typeface="Aptos"/>
                <a:ea typeface="+mn-ea"/>
                <a:cs typeface="+mn-cs"/>
              </a:rPr>
              <a:t>S1</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Shape 15"/>
          <p:cNvSpPr/>
          <p:nvPr/>
        </p:nvSpPr>
        <p:spPr>
          <a:xfrm>
            <a:off x="9250245" y="3944236"/>
            <a:ext cx="786384" cy="292608"/>
          </a:xfrm>
          <a:prstGeom prst="rect">
            <a:avLst/>
          </a:prstGeom>
          <a:solidFill>
            <a:srgbClr val="EDF5F8"/>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19" name="Text 16"/>
          <p:cNvSpPr/>
          <p:nvPr/>
        </p:nvSpPr>
        <p:spPr>
          <a:xfrm>
            <a:off x="9268533" y="3980812"/>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C4A6E"/>
                </a:solidFill>
                <a:effectLst/>
                <a:uLnTx/>
                <a:uFillTx/>
                <a:latin typeface="Aptos"/>
                <a:ea typeface="+mn-ea"/>
                <a:cs typeface="+mn-cs"/>
              </a:rPr>
              <a:t>S25A</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Shape 17"/>
          <p:cNvSpPr/>
          <p:nvPr/>
        </p:nvSpPr>
        <p:spPr>
          <a:xfrm>
            <a:off x="10036629" y="3944236"/>
            <a:ext cx="786384" cy="292608"/>
          </a:xfrm>
          <a:prstGeom prst="rect">
            <a:avLst/>
          </a:prstGeom>
          <a:solidFill>
            <a:srgbClr val="EDF5F8"/>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1" name="Text 18"/>
          <p:cNvSpPr/>
          <p:nvPr/>
        </p:nvSpPr>
        <p:spPr>
          <a:xfrm>
            <a:off x="10054917" y="3980812"/>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C4A6E"/>
                </a:solidFill>
                <a:effectLst/>
                <a:uLnTx/>
                <a:uFillTx/>
                <a:latin typeface="Aptos"/>
                <a:ea typeface="+mn-ea"/>
                <a:cs typeface="+mn-cs"/>
              </a:rPr>
              <a:t>S25B</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Shape 19"/>
          <p:cNvSpPr/>
          <p:nvPr/>
        </p:nvSpPr>
        <p:spPr>
          <a:xfrm>
            <a:off x="10823013" y="3944236"/>
            <a:ext cx="786384" cy="292608"/>
          </a:xfrm>
          <a:prstGeom prst="rect">
            <a:avLst/>
          </a:prstGeom>
          <a:solidFill>
            <a:srgbClr val="EDF5F8"/>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3" name="Text 20"/>
          <p:cNvSpPr/>
          <p:nvPr/>
        </p:nvSpPr>
        <p:spPr>
          <a:xfrm>
            <a:off x="10841301" y="3980812"/>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C4A6E"/>
                </a:solidFill>
                <a:effectLst/>
                <a:uLnTx/>
                <a:uFillTx/>
                <a:latin typeface="Aptos"/>
                <a:ea typeface="+mn-ea"/>
                <a:cs typeface="+mn-cs"/>
              </a:rPr>
              <a:t>S26</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Shape 21"/>
          <p:cNvSpPr/>
          <p:nvPr/>
        </p:nvSpPr>
        <p:spPr>
          <a:xfrm>
            <a:off x="7464490" y="4236844"/>
            <a:ext cx="999371" cy="355216"/>
          </a:xfrm>
          <a:prstGeom prst="rect">
            <a:avLst/>
          </a:prstGeom>
          <a:solidFill>
            <a:srgbClr val="F0FDF4"/>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5" name="Text 22"/>
          <p:cNvSpPr/>
          <p:nvPr/>
        </p:nvSpPr>
        <p:spPr>
          <a:xfrm>
            <a:off x="7613469" y="4277992"/>
            <a:ext cx="832104"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RCNN</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Shape 23"/>
          <p:cNvSpPr/>
          <p:nvPr/>
        </p:nvSpPr>
        <p:spPr>
          <a:xfrm>
            <a:off x="8463861" y="4236844"/>
            <a:ext cx="786384" cy="292608"/>
          </a:xfrm>
          <a:prstGeom prst="rect">
            <a:avLst/>
          </a:prstGeom>
          <a:solidFill>
            <a:srgbClr val="F0FDF4"/>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7" name="Text 24"/>
          <p:cNvSpPr/>
          <p:nvPr/>
        </p:nvSpPr>
        <p:spPr>
          <a:xfrm>
            <a:off x="8482149" y="4277992"/>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0.072</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Shape 25"/>
          <p:cNvSpPr/>
          <p:nvPr/>
        </p:nvSpPr>
        <p:spPr>
          <a:xfrm>
            <a:off x="9250245" y="4236844"/>
            <a:ext cx="786384" cy="292608"/>
          </a:xfrm>
          <a:prstGeom prst="rect">
            <a:avLst/>
          </a:prstGeom>
          <a:solidFill>
            <a:srgbClr val="F0FDF4"/>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9" name="Text 26"/>
          <p:cNvSpPr/>
          <p:nvPr/>
        </p:nvSpPr>
        <p:spPr>
          <a:xfrm>
            <a:off x="9268533" y="4277992"/>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0.085</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30" name="Shape 27"/>
          <p:cNvSpPr/>
          <p:nvPr/>
        </p:nvSpPr>
        <p:spPr>
          <a:xfrm>
            <a:off x="10036629" y="4236844"/>
            <a:ext cx="786384" cy="292608"/>
          </a:xfrm>
          <a:prstGeom prst="rect">
            <a:avLst/>
          </a:prstGeom>
          <a:solidFill>
            <a:srgbClr val="F0FDF4"/>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31" name="Text 28"/>
          <p:cNvSpPr/>
          <p:nvPr/>
        </p:nvSpPr>
        <p:spPr>
          <a:xfrm>
            <a:off x="10054917" y="4277992"/>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0.082</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Shape 29"/>
          <p:cNvSpPr/>
          <p:nvPr/>
        </p:nvSpPr>
        <p:spPr>
          <a:xfrm>
            <a:off x="10823013" y="4236844"/>
            <a:ext cx="786384" cy="292608"/>
          </a:xfrm>
          <a:prstGeom prst="rect">
            <a:avLst/>
          </a:prstGeom>
          <a:solidFill>
            <a:srgbClr val="F0FDF4"/>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33" name="Text 30"/>
          <p:cNvSpPr/>
          <p:nvPr/>
        </p:nvSpPr>
        <p:spPr>
          <a:xfrm>
            <a:off x="10841301" y="4277992"/>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0.182</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35" name="Text 32"/>
          <p:cNvSpPr/>
          <p:nvPr/>
        </p:nvSpPr>
        <p:spPr>
          <a:xfrm>
            <a:off x="7613469" y="4633208"/>
            <a:ext cx="832104"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CNN</a:t>
            </a:r>
            <a:endParaRPr kumimoji="0" lang="en-US" b="1" i="0" u="none" strike="noStrike" kern="1200" cap="none" spc="0" normalizeH="0" baseline="0" noProof="0" dirty="0">
              <a:ln>
                <a:noFill/>
              </a:ln>
              <a:solidFill>
                <a:prstClr val="black"/>
              </a:solidFill>
              <a:effectLst/>
              <a:uLnTx/>
              <a:uFillTx/>
              <a:latin typeface="Aptos"/>
              <a:ea typeface="+mn-ea"/>
              <a:cs typeface="+mn-cs"/>
            </a:endParaRPr>
          </a:p>
        </p:txBody>
      </p:sp>
      <p:sp>
        <p:nvSpPr>
          <p:cNvPr id="36" name="Shape 33"/>
          <p:cNvSpPr/>
          <p:nvPr/>
        </p:nvSpPr>
        <p:spPr>
          <a:xfrm>
            <a:off x="8463861" y="4529452"/>
            <a:ext cx="786384" cy="292608"/>
          </a:xfrm>
          <a:prstGeom prst="rect">
            <a:avLst/>
          </a:prstGeom>
          <a:solidFill>
            <a:srgbClr val="FFFF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37" name="Text 34"/>
          <p:cNvSpPr/>
          <p:nvPr/>
        </p:nvSpPr>
        <p:spPr>
          <a:xfrm>
            <a:off x="8482149" y="4570600"/>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0.107</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38" name="Shape 35"/>
          <p:cNvSpPr/>
          <p:nvPr/>
        </p:nvSpPr>
        <p:spPr>
          <a:xfrm>
            <a:off x="9250245" y="4529452"/>
            <a:ext cx="786384" cy="292608"/>
          </a:xfrm>
          <a:prstGeom prst="rect">
            <a:avLst/>
          </a:prstGeom>
          <a:solidFill>
            <a:srgbClr val="FFFF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39" name="Text 36"/>
          <p:cNvSpPr/>
          <p:nvPr/>
        </p:nvSpPr>
        <p:spPr>
          <a:xfrm>
            <a:off x="9268533" y="4570600"/>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0.093</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40" name="Shape 37"/>
          <p:cNvSpPr/>
          <p:nvPr/>
        </p:nvSpPr>
        <p:spPr>
          <a:xfrm>
            <a:off x="10036629" y="4529452"/>
            <a:ext cx="786384" cy="292608"/>
          </a:xfrm>
          <a:prstGeom prst="rect">
            <a:avLst/>
          </a:prstGeom>
          <a:solidFill>
            <a:srgbClr val="FFFF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41" name="Text 38"/>
          <p:cNvSpPr/>
          <p:nvPr/>
        </p:nvSpPr>
        <p:spPr>
          <a:xfrm>
            <a:off x="10054917" y="4570600"/>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0.090</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42" name="Shape 39"/>
          <p:cNvSpPr/>
          <p:nvPr/>
        </p:nvSpPr>
        <p:spPr>
          <a:xfrm>
            <a:off x="10823013" y="4529452"/>
            <a:ext cx="786384" cy="292608"/>
          </a:xfrm>
          <a:prstGeom prst="rect">
            <a:avLst/>
          </a:prstGeom>
          <a:solidFill>
            <a:srgbClr val="FFFF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43" name="Text 40"/>
          <p:cNvSpPr/>
          <p:nvPr/>
        </p:nvSpPr>
        <p:spPr>
          <a:xfrm>
            <a:off x="10841301" y="4570600"/>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0.206</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45" name="Text 42"/>
          <p:cNvSpPr/>
          <p:nvPr/>
        </p:nvSpPr>
        <p:spPr>
          <a:xfrm>
            <a:off x="7242327" y="4814688"/>
            <a:ext cx="1250925" cy="3122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334155"/>
                </a:solidFill>
                <a:effectLst/>
                <a:uLnTx/>
                <a:uFillTx/>
                <a:latin typeface="Aptos"/>
                <a:ea typeface="+mn-ea"/>
                <a:cs typeface="+mn-cs"/>
              </a:rPr>
              <a:t>HEC-RAS</a:t>
            </a:r>
            <a:endParaRPr kumimoji="0" lang="en-US" b="1" i="0" u="none" strike="noStrike" kern="1200" cap="none" spc="0" normalizeH="0" baseline="0" noProof="0" dirty="0">
              <a:ln>
                <a:noFill/>
              </a:ln>
              <a:solidFill>
                <a:prstClr val="black"/>
              </a:solidFill>
              <a:effectLst/>
              <a:uLnTx/>
              <a:uFillTx/>
              <a:latin typeface="Aptos"/>
              <a:ea typeface="+mn-ea"/>
              <a:cs typeface="+mn-cs"/>
            </a:endParaRPr>
          </a:p>
        </p:txBody>
      </p:sp>
      <p:sp>
        <p:nvSpPr>
          <p:cNvPr id="46" name="Shape 43"/>
          <p:cNvSpPr/>
          <p:nvPr/>
        </p:nvSpPr>
        <p:spPr>
          <a:xfrm>
            <a:off x="8463861" y="4822060"/>
            <a:ext cx="786384" cy="292608"/>
          </a:xfrm>
          <a:prstGeom prst="rect">
            <a:avLst/>
          </a:prstGeom>
          <a:solidFill>
            <a:srgbClr val="FFFF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47" name="Text 44"/>
          <p:cNvSpPr/>
          <p:nvPr/>
        </p:nvSpPr>
        <p:spPr>
          <a:xfrm>
            <a:off x="8482149" y="4863208"/>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0.176</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48" name="Shape 45"/>
          <p:cNvSpPr/>
          <p:nvPr/>
        </p:nvSpPr>
        <p:spPr>
          <a:xfrm>
            <a:off x="9250245" y="4822060"/>
            <a:ext cx="786384" cy="292608"/>
          </a:xfrm>
          <a:prstGeom prst="rect">
            <a:avLst/>
          </a:prstGeom>
          <a:solidFill>
            <a:srgbClr val="FFFF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49" name="Text 46"/>
          <p:cNvSpPr/>
          <p:nvPr/>
        </p:nvSpPr>
        <p:spPr>
          <a:xfrm>
            <a:off x="9268533" y="4863208"/>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0.182</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50" name="Shape 47"/>
          <p:cNvSpPr/>
          <p:nvPr/>
        </p:nvSpPr>
        <p:spPr>
          <a:xfrm>
            <a:off x="10036629" y="4822060"/>
            <a:ext cx="786384" cy="292608"/>
          </a:xfrm>
          <a:prstGeom prst="rect">
            <a:avLst/>
          </a:prstGeom>
          <a:solidFill>
            <a:srgbClr val="FFFF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51" name="Text 48"/>
          <p:cNvSpPr/>
          <p:nvPr/>
        </p:nvSpPr>
        <p:spPr>
          <a:xfrm>
            <a:off x="10054917" y="4863208"/>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0.198</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52" name="Shape 49"/>
          <p:cNvSpPr/>
          <p:nvPr/>
        </p:nvSpPr>
        <p:spPr>
          <a:xfrm>
            <a:off x="10823013" y="4822060"/>
            <a:ext cx="786384" cy="292608"/>
          </a:xfrm>
          <a:prstGeom prst="rect">
            <a:avLst/>
          </a:prstGeom>
          <a:solidFill>
            <a:srgbClr val="FFFF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53" name="Text 50"/>
          <p:cNvSpPr/>
          <p:nvPr/>
        </p:nvSpPr>
        <p:spPr>
          <a:xfrm>
            <a:off x="10841301" y="4863208"/>
            <a:ext cx="749808" cy="16459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0.184</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54" name="Text 51"/>
          <p:cNvSpPr/>
          <p:nvPr/>
        </p:nvSpPr>
        <p:spPr>
          <a:xfrm>
            <a:off x="7104888" y="5389360"/>
            <a:ext cx="4764024" cy="8057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RCNN is best at S1, S25A, and S25B; other DL models are slightly better at S26, but all DL models beat HEC-RAS at every station.</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55" name="Slide Number Placeholder 0"/>
          <p:cNvSpPr>
            <a:spLocks noGrp="1"/>
          </p:cNvSpPr>
          <p:nvPr>
            <p:ph type="sldNum" sz="quarter" idx="4294967295"/>
          </p:nvPr>
        </p:nvSpPr>
        <p:spPr>
          <a:xfrm>
            <a:off x="11567160" y="6556248"/>
            <a:ext cx="256032" cy="109728"/>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7280"/>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5B7280"/>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000" b="0" i="0" u="none" strike="noStrike" kern="1200" cap="none" spc="0" normalizeH="0" baseline="0" noProof="0">
              <a:ln>
                <a:noFill/>
              </a:ln>
              <a:solidFill>
                <a:srgbClr val="5B7280"/>
              </a:solidFill>
              <a:effectLst/>
              <a:uLnTx/>
              <a:uFillTx/>
              <a:latin typeface="Aptos"/>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658368"/>
            <a:ext cx="74066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C4A6E"/>
                </a:solidFill>
                <a:effectLst/>
                <a:uLnTx/>
                <a:uFillTx/>
                <a:latin typeface="Aptos Display" pitchFamily="34" charset="0"/>
                <a:ea typeface="Aptos Display" pitchFamily="34" charset="-122"/>
                <a:cs typeface="Aptos Display" pitchFamily="34" charset="-120"/>
              </a:rPr>
              <a:t>Forecast horizon and stress testing</a:t>
            </a:r>
            <a:endParaRPr kumimoji="0" lang="en-US" sz="2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1024128"/>
            <a:ext cx="77724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5B7280"/>
                </a:solidFill>
                <a:effectLst/>
                <a:uLnTx/>
                <a:uFillTx/>
                <a:latin typeface="Aptos"/>
                <a:ea typeface="+mn-ea"/>
                <a:cs typeface="+mn-cs"/>
              </a:rPr>
              <a:t>A useful beginner lesson: some models are very good at short lead times but lose skill as the horizon gets longer.</a:t>
            </a:r>
            <a:endParaRPr kumimoji="0" lang="en-US" sz="13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603504" y="1572768"/>
            <a:ext cx="3931920" cy="978408"/>
          </a:xfrm>
          <a:prstGeom prst="roundRect">
            <a:avLst>
              <a:gd name="adj" fmla="val 7477"/>
            </a:avLst>
          </a:prstGeom>
          <a:solidFill>
            <a:srgbClr val="EAF6FB"/>
          </a:solidFill>
          <a:ln w="12700">
            <a:solidFill>
              <a:srgbClr val="D7E3EA"/>
            </a:solidFill>
            <a:prstDash val="solid"/>
          </a:ln>
          <a:effectLst>
            <a:outerShdw blurRad="19050" dist="127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768096" y="1682496"/>
            <a:ext cx="3602736"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C4A6E"/>
                </a:solidFill>
                <a:effectLst/>
                <a:uLnTx/>
                <a:uFillTx/>
                <a:latin typeface="Aptos"/>
                <a:ea typeface="+mn-ea"/>
                <a:cs typeface="+mn-cs"/>
              </a:rPr>
              <a:t>Reading the figure</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p:cNvSpPr/>
          <p:nvPr/>
        </p:nvSpPr>
        <p:spPr>
          <a:xfrm>
            <a:off x="768096" y="1956816"/>
            <a:ext cx="3621024" cy="484632"/>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334155"/>
                </a:solidFill>
                <a:effectLst/>
                <a:uLnTx/>
                <a:uFillTx/>
                <a:latin typeface="Aptos"/>
                <a:ea typeface="+mn-ea"/>
                <a:cs typeface="+mn-cs"/>
              </a:rPr>
              <a:t>The y-axis is MAE. Lower is better. Each point shows how average error changes as the model predicts farther into the future.</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03504" y="2743200"/>
            <a:ext cx="3931920" cy="1005840"/>
          </a:xfrm>
          <a:prstGeom prst="roundRect">
            <a:avLst>
              <a:gd name="adj" fmla="val 7273"/>
            </a:avLst>
          </a:prstGeom>
          <a:solidFill>
            <a:srgbClr val="E9F7EF"/>
          </a:solidFill>
          <a:ln w="12700">
            <a:solidFill>
              <a:srgbClr val="D7E3EA"/>
            </a:solidFill>
            <a:prstDash val="solid"/>
          </a:ln>
          <a:effectLst>
            <a:outerShdw blurRad="19050" dist="127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768096" y="2852928"/>
            <a:ext cx="3602736"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66534"/>
                </a:solidFill>
                <a:effectLst/>
                <a:uLnTx/>
                <a:uFillTx/>
                <a:latin typeface="Aptos"/>
                <a:ea typeface="+mn-ea"/>
                <a:cs typeface="+mn-cs"/>
              </a:rPr>
              <a:t>Key pattern</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68096" y="3127248"/>
            <a:ext cx="3621024" cy="512064"/>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334155"/>
                </a:solidFill>
                <a:effectLst/>
                <a:uLnTx/>
                <a:uFillTx/>
                <a:latin typeface="Aptos"/>
                <a:ea typeface="+mn-ea"/>
                <a:cs typeface="+mn-cs"/>
              </a:rPr>
              <a:t>RNN is best at 1 hour ahead (0.075 ft), but its error grows with lead time. RCNN stays low and stable from 8 to 24 hours ahead.</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603504" y="3950208"/>
            <a:ext cx="3931920" cy="1170432"/>
          </a:xfrm>
          <a:prstGeom prst="roundRect">
            <a:avLst>
              <a:gd name="adj" fmla="val 6250"/>
            </a:avLst>
          </a:prstGeom>
          <a:solidFill>
            <a:srgbClr val="FFF4DA"/>
          </a:solidFill>
          <a:ln w="12700">
            <a:solidFill>
              <a:srgbClr val="D7E3EA"/>
            </a:solidFill>
            <a:prstDash val="solid"/>
          </a:ln>
          <a:effectLst>
            <a:outerShdw blurRad="19050" dist="127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 9"/>
          <p:cNvSpPr/>
          <p:nvPr/>
        </p:nvSpPr>
        <p:spPr>
          <a:xfrm>
            <a:off x="768096" y="4059936"/>
            <a:ext cx="3602736"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C4A03"/>
                </a:solidFill>
                <a:effectLst/>
                <a:uLnTx/>
                <a:uFillTx/>
                <a:latin typeface="Aptos"/>
                <a:ea typeface="+mn-ea"/>
                <a:cs typeface="+mn-cs"/>
              </a:rPr>
              <a:t>Important nuance</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10"/>
          <p:cNvSpPr/>
          <p:nvPr/>
        </p:nvSpPr>
        <p:spPr>
          <a:xfrm>
            <a:off x="768096" y="4334256"/>
            <a:ext cx="3621024" cy="676656"/>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334155"/>
                </a:solidFill>
                <a:effectLst/>
                <a:uLnTx/>
                <a:uFillTx/>
                <a:latin typeface="Aptos"/>
                <a:ea typeface="+mn-ea"/>
                <a:cs typeface="+mn-cs"/>
              </a:rPr>
              <a:t>HEC-RAS is flat across lead time because the paper uses future boundary conditions directly for that model. It is not forecasting under uncertainty in the same way as the DL models.</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1"/>
          <p:cNvSpPr/>
          <p:nvPr/>
        </p:nvSpPr>
        <p:spPr>
          <a:xfrm>
            <a:off x="4892040" y="1508760"/>
            <a:ext cx="6720840" cy="4526280"/>
          </a:xfrm>
          <a:prstGeom prst="roundRect">
            <a:avLst>
              <a:gd name="adj" fmla="val 1616"/>
            </a:avLst>
          </a:prstGeom>
          <a:solidFill>
            <a:srgbClr val="FFFF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pic>
        <p:nvPicPr>
          <p:cNvPr id="14" name="Image 0" descr="/mnt/data/assets/lead_lines.png"/>
          <p:cNvPicPr>
            <a:picLocks noChangeAspect="1"/>
          </p:cNvPicPr>
          <p:nvPr/>
        </p:nvPicPr>
        <p:blipFill>
          <a:blip r:embed="rId3"/>
          <a:stretch>
            <a:fillRect/>
          </a:stretch>
        </p:blipFill>
        <p:spPr>
          <a:xfrm>
            <a:off x="5682959" y="1764792"/>
            <a:ext cx="5148146" cy="2743200"/>
          </a:xfrm>
          <a:prstGeom prst="rect">
            <a:avLst/>
          </a:prstGeom>
        </p:spPr>
      </p:pic>
      <p:sp>
        <p:nvSpPr>
          <p:cNvPr id="15" name="Shape 12"/>
          <p:cNvSpPr/>
          <p:nvPr/>
        </p:nvSpPr>
        <p:spPr>
          <a:xfrm>
            <a:off x="5230368" y="4617720"/>
            <a:ext cx="5989320" cy="1005840"/>
          </a:xfrm>
          <a:prstGeom prst="roundRect">
            <a:avLst>
              <a:gd name="adj" fmla="val 5455"/>
            </a:avLst>
          </a:prstGeom>
          <a:solidFill>
            <a:srgbClr val="F4FCFA"/>
          </a:solidFill>
          <a:ln w="12700">
            <a:solidFill>
              <a:srgbClr val="B7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3"/>
          <p:cNvSpPr/>
          <p:nvPr/>
        </p:nvSpPr>
        <p:spPr>
          <a:xfrm>
            <a:off x="5431536" y="4773168"/>
            <a:ext cx="5577840" cy="58521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60" b="0" i="0" u="none" strike="noStrike" kern="1200" cap="none" spc="0" normalizeH="0" baseline="0" noProof="0" dirty="0">
                <a:ln>
                  <a:noFill/>
                </a:ln>
                <a:solidFill>
                  <a:srgbClr val="334155"/>
                </a:solidFill>
                <a:effectLst/>
                <a:uLnTx/>
                <a:uFillTx/>
                <a:latin typeface="Aptos"/>
                <a:ea typeface="+mn-ea"/>
                <a:cs typeface="+mn-cs"/>
              </a:rPr>
              <a:t>Storm and robustness result: during Tropical Storm Isaias, all DL models still outperformed HEC-RAS at S1, and adding 20% random noise to future covariates changed DL MAE only slightly (&lt; 4%).</a:t>
            </a:r>
            <a:endParaRPr kumimoji="0" lang="en-US" sz="126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Slide Number Placeholder 0"/>
          <p:cNvSpPr>
            <a:spLocks noGrp="1"/>
          </p:cNvSpPr>
          <p:nvPr>
            <p:ph type="sldNum" sz="quarter" idx="4294967295"/>
          </p:nvPr>
        </p:nvSpPr>
        <p:spPr>
          <a:xfrm>
            <a:off x="11567160" y="6556248"/>
            <a:ext cx="256032" cy="109728"/>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7280"/>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5B7280"/>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000" b="0" i="0" u="none" strike="noStrike" kern="1200" cap="none" spc="0" normalizeH="0" baseline="0" noProof="0">
              <a:ln>
                <a:noFill/>
              </a:ln>
              <a:solidFill>
                <a:srgbClr val="5B7280"/>
              </a:solidFill>
              <a:effectLst/>
              <a:uLnTx/>
              <a:uFillTx/>
              <a:latin typeface="Aptos"/>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658368"/>
            <a:ext cx="74066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C4A6E"/>
                </a:solidFill>
                <a:effectLst/>
                <a:uLnTx/>
                <a:uFillTx/>
                <a:latin typeface="Aptos Display" pitchFamily="34" charset="0"/>
                <a:ea typeface="Aptos Display" pitchFamily="34" charset="-122"/>
                <a:cs typeface="Aptos Display" pitchFamily="34" charset="-120"/>
              </a:rPr>
              <a:t>Why operators care: runtime</a:t>
            </a:r>
            <a:endParaRPr kumimoji="0" lang="en-US" sz="2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1024128"/>
            <a:ext cx="77724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5B7280"/>
                </a:solidFill>
                <a:effectLst/>
                <a:uLnTx/>
                <a:uFillTx/>
                <a:latin typeface="Aptos"/>
                <a:ea typeface="+mn-ea"/>
                <a:cs typeface="+mn-cs"/>
              </a:rPr>
              <a:t>For real-time or repeated scenario testing, seconds matter.</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566928" y="1508760"/>
            <a:ext cx="6583680" cy="4526280"/>
          </a:xfrm>
          <a:prstGeom prst="roundRect">
            <a:avLst>
              <a:gd name="adj" fmla="val 1616"/>
            </a:avLst>
          </a:prstGeom>
          <a:solidFill>
            <a:srgbClr val="FFFFFF"/>
          </a:solidFill>
          <a:ln w="12700">
            <a:solidFill>
              <a:srgbClr val="D7E3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pic>
        <p:nvPicPr>
          <p:cNvPr id="5" name="Image 0" descr="/mnt/data/assets/speed_bar.png"/>
          <p:cNvPicPr>
            <a:picLocks noChangeAspect="1"/>
          </p:cNvPicPr>
          <p:nvPr/>
        </p:nvPicPr>
        <p:blipFill>
          <a:blip r:embed="rId3"/>
          <a:stretch>
            <a:fillRect/>
          </a:stretch>
        </p:blipFill>
        <p:spPr>
          <a:xfrm>
            <a:off x="841248" y="2049708"/>
            <a:ext cx="6035040" cy="3215783"/>
          </a:xfrm>
          <a:prstGeom prst="rect">
            <a:avLst/>
          </a:prstGeom>
        </p:spPr>
      </p:pic>
      <p:sp>
        <p:nvSpPr>
          <p:cNvPr id="6" name="Shape 3"/>
          <p:cNvSpPr/>
          <p:nvPr/>
        </p:nvSpPr>
        <p:spPr>
          <a:xfrm>
            <a:off x="7418832" y="850299"/>
            <a:ext cx="4251960" cy="987552"/>
          </a:xfrm>
          <a:prstGeom prst="roundRect">
            <a:avLst>
              <a:gd name="adj" fmla="val 5556"/>
            </a:avLst>
          </a:prstGeom>
          <a:solidFill>
            <a:srgbClr val="F4FCFA"/>
          </a:solidFill>
          <a:ln w="12700">
            <a:solidFill>
              <a:srgbClr val="B7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Text 4"/>
          <p:cNvSpPr/>
          <p:nvPr/>
        </p:nvSpPr>
        <p:spPr>
          <a:xfrm>
            <a:off x="7418832" y="1060704"/>
            <a:ext cx="18288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66534"/>
                </a:solidFill>
                <a:effectLst/>
                <a:uLnTx/>
                <a:uFillTx/>
                <a:latin typeface="Aptos"/>
                <a:ea typeface="+mn-ea"/>
                <a:cs typeface="+mn-cs"/>
              </a:rPr>
              <a:t>Test-phase benchmark</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5"/>
          <p:cNvSpPr/>
          <p:nvPr/>
        </p:nvSpPr>
        <p:spPr>
          <a:xfrm>
            <a:off x="8767323" y="987552"/>
            <a:ext cx="2799837" cy="66396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334155"/>
                </a:solidFill>
                <a:effectLst/>
                <a:uLnTx/>
                <a:uFillTx/>
                <a:latin typeface="Aptos"/>
                <a:ea typeface="+mn-ea"/>
                <a:cs typeface="+mn-cs"/>
              </a:rPr>
              <a:t>HEC-RAS = 45 min</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334155"/>
                </a:solidFill>
                <a:effectLst/>
                <a:uLnTx/>
                <a:uFillTx/>
                <a:latin typeface="Aptos"/>
                <a:ea typeface="+mn-ea"/>
                <a:cs typeface="+mn-cs"/>
              </a:rPr>
              <a:t>MLP = 0.34 s, CNN = 0.62 s</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334155"/>
                </a:solidFill>
                <a:effectLst/>
                <a:uLnTx/>
                <a:uFillTx/>
                <a:latin typeface="Aptos"/>
                <a:ea typeface="+mn-ea"/>
                <a:cs typeface="+mn-cs"/>
              </a:rPr>
              <a:t>RCNN = 2.41 s, LSTM = 4.81 s</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6"/>
          <p:cNvSpPr/>
          <p:nvPr/>
        </p:nvSpPr>
        <p:spPr>
          <a:xfrm>
            <a:off x="7360920" y="2587752"/>
            <a:ext cx="4251960" cy="1344168"/>
          </a:xfrm>
          <a:prstGeom prst="roundRect">
            <a:avLst>
              <a:gd name="adj" fmla="val 4800"/>
            </a:avLst>
          </a:prstGeom>
          <a:solidFill>
            <a:srgbClr val="FFF8E8"/>
          </a:solidFill>
          <a:ln w="12700">
            <a:solidFill>
              <a:srgbClr val="F2D1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Text 7"/>
          <p:cNvSpPr/>
          <p:nvPr/>
        </p:nvSpPr>
        <p:spPr>
          <a:xfrm>
            <a:off x="7360920" y="2130505"/>
            <a:ext cx="256032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7C4A03"/>
                </a:solidFill>
                <a:effectLst/>
                <a:uLnTx/>
                <a:uFillTx/>
                <a:latin typeface="Aptos"/>
                <a:ea typeface="+mn-ea"/>
                <a:cs typeface="+mn-cs"/>
              </a:rPr>
              <a:t>Training is a one-time cost</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Text 8"/>
          <p:cNvSpPr/>
          <p:nvPr/>
        </p:nvSpPr>
        <p:spPr>
          <a:xfrm>
            <a:off x="7571232" y="2894005"/>
            <a:ext cx="3779520" cy="68575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Training times in the paper range from 27 min (MLP) to 1033 min (LSTM). That is acceptable when inference later runs in seconds.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9"/>
          <p:cNvSpPr/>
          <p:nvPr/>
        </p:nvSpPr>
        <p:spPr>
          <a:xfrm>
            <a:off x="7360920" y="4160520"/>
            <a:ext cx="4703562" cy="2039112"/>
          </a:xfrm>
          <a:prstGeom prst="roundRect">
            <a:avLst>
              <a:gd name="adj" fmla="val 4082"/>
            </a:avLst>
          </a:prstGeom>
          <a:solidFill>
            <a:srgbClr val="FFF6F6"/>
          </a:solidFill>
          <a:ln w="12700">
            <a:solidFill>
              <a:srgbClr val="F6B8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Text 10"/>
          <p:cNvSpPr/>
          <p:nvPr/>
        </p:nvSpPr>
        <p:spPr>
          <a:xfrm>
            <a:off x="7571232" y="4352544"/>
            <a:ext cx="256032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DC2626"/>
                </a:solidFill>
                <a:effectLst/>
                <a:uLnTx/>
                <a:uFillTx/>
                <a:latin typeface="Aptos"/>
                <a:ea typeface="+mn-ea"/>
                <a:cs typeface="+mn-cs"/>
              </a:rPr>
              <a:t>Engineering interpretation</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Text 11"/>
          <p:cNvSpPr/>
          <p:nvPr/>
        </p:nvSpPr>
        <p:spPr>
          <a:xfrm>
            <a:off x="7559040" y="4892040"/>
            <a:ext cx="4053840" cy="9784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4155"/>
                </a:solidFill>
                <a:effectLst/>
                <a:uLnTx/>
                <a:uFillTx/>
                <a:latin typeface="Aptos"/>
                <a:ea typeface="+mn-ea"/>
                <a:cs typeface="+mn-cs"/>
              </a:rPr>
              <a:t>A fast surrogate can support many what-if runs for pumps, gates, tides, and rainfall conditions - a major benefit for operations and emergency response.</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Slide Number Placeholder 0"/>
          <p:cNvSpPr>
            <a:spLocks noGrp="1"/>
          </p:cNvSpPr>
          <p:nvPr>
            <p:ph type="sldNum" sz="quarter" idx="4294967295"/>
          </p:nvPr>
        </p:nvSpPr>
        <p:spPr>
          <a:xfrm>
            <a:off x="11567160" y="6556248"/>
            <a:ext cx="256032" cy="109728"/>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7280"/>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5B7280"/>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000" b="0" i="0" u="none" strike="noStrike" kern="1200" cap="none" spc="0" normalizeH="0" baseline="0" noProof="0">
              <a:ln>
                <a:noFill/>
              </a:ln>
              <a:solidFill>
                <a:srgbClr val="5B7280"/>
              </a:solidFill>
              <a:effectLst/>
              <a:uLnTx/>
              <a:uFillTx/>
              <a:latin typeface="Aptos"/>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E1D1BEE7492B748AAA939E15478942A" ma:contentTypeVersion="3" ma:contentTypeDescription="Create a new document." ma:contentTypeScope="" ma:versionID="a3ae003b3bc9c2f933d329e11d0c3319">
  <xsd:schema xmlns:xsd="http://www.w3.org/2001/XMLSchema" xmlns:xs="http://www.w3.org/2001/XMLSchema" xmlns:p="http://schemas.microsoft.com/office/2006/metadata/properties" xmlns:ns2="f5820155-a73e-4bed-81ca-61e3abc3ae5c" targetNamespace="http://schemas.microsoft.com/office/2006/metadata/properties" ma:root="true" ma:fieldsID="7eb7418994d847370236082d77edc9a3" ns2:_="">
    <xsd:import namespace="f5820155-a73e-4bed-81ca-61e3abc3ae5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820155-a73e-4bed-81ca-61e3abc3ae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D5DC7AC-0FDC-4090-8B75-1EF83F53222A}"/>
</file>

<file path=customXml/itemProps2.xml><?xml version="1.0" encoding="utf-8"?>
<ds:datastoreItem xmlns:ds="http://schemas.openxmlformats.org/officeDocument/2006/customXml" ds:itemID="{85367AE4-6B1A-4B95-AD5F-C1D6DFA0B726}"/>
</file>

<file path=customXml/itemProps3.xml><?xml version="1.0" encoding="utf-8"?>
<ds:datastoreItem xmlns:ds="http://schemas.openxmlformats.org/officeDocument/2006/customXml" ds:itemID="{18A64C57-4BF6-4A63-BCB0-F6F9C76C65E2}"/>
</file>

<file path=docProps/app.xml><?xml version="1.0" encoding="utf-8"?>
<Properties xmlns="http://schemas.openxmlformats.org/officeDocument/2006/extended-properties" xmlns:vt="http://schemas.openxmlformats.org/officeDocument/2006/docPropsVTypes">
  <TotalTime>82</TotalTime>
  <Words>2863</Words>
  <Application>Microsoft Office PowerPoint</Application>
  <PresentationFormat>Widescreen</PresentationFormat>
  <Paragraphs>317</Paragraphs>
  <Slides>21</Slides>
  <Notes>20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21</vt:i4>
      </vt:variant>
    </vt:vector>
  </HeadingPairs>
  <TitlesOfParts>
    <vt:vector size="27" baseType="lpstr">
      <vt:lpstr>Aptos</vt:lpstr>
      <vt:lpstr>Aptos Display</vt:lpstr>
      <vt:lpstr>Arial</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for Water Stage Prediction</dc:title>
  <dc:subject>Deep Learning Models for Water Stage Predictions in South Florida</dc:subject>
  <dc:creator>OpenAI</dc:creator>
  <cp:lastModifiedBy>Jayantha Obeysekera</cp:lastModifiedBy>
  <cp:revision>3</cp:revision>
  <dcterms:created xsi:type="dcterms:W3CDTF">2026-04-13T09:47:36Z</dcterms:created>
  <dcterms:modified xsi:type="dcterms:W3CDTF">2026-04-23T12:08:55Z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0x0101005E1D1BEE7492B748AAA939E15478942A</vt:lpwstr>
  </property>
</Properties>
</file>