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 id="2147483738" r:id="rId2"/>
    <p:sldMasterId id="2147483741" r:id="rId3"/>
    <p:sldMasterId id="2147483753" r:id="rId4"/>
  </p:sldMasterIdLst>
  <p:notesMasterIdLst>
    <p:notesMasterId r:id="rId21"/>
  </p:notesMasterIdLst>
  <p:sldIdLst>
    <p:sldId id="320" r:id="rId5"/>
    <p:sldId id="323" r:id="rId6"/>
    <p:sldId id="324" r:id="rId7"/>
    <p:sldId id="325" r:id="rId8"/>
    <p:sldId id="259" r:id="rId9"/>
    <p:sldId id="326" r:id="rId10"/>
    <p:sldId id="327" r:id="rId11"/>
    <p:sldId id="328" r:id="rId12"/>
    <p:sldId id="330" r:id="rId13"/>
    <p:sldId id="329" r:id="rId14"/>
    <p:sldId id="302" r:id="rId15"/>
    <p:sldId id="315" r:id="rId16"/>
    <p:sldId id="308" r:id="rId17"/>
    <p:sldId id="304" r:id="rId18"/>
    <p:sldId id="311" r:id="rId19"/>
    <p:sldId id="305"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7B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8025" autoAdjust="0"/>
    <p:restoredTop sz="95036" autoAdjust="0"/>
  </p:normalViewPr>
  <p:slideViewPr>
    <p:cSldViewPr snapToGrid="0">
      <p:cViewPr varScale="1">
        <p:scale>
          <a:sx n="105" d="100"/>
          <a:sy n="105" d="100"/>
        </p:scale>
        <p:origin x="660" y="108"/>
      </p:cViewPr>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00" d="100"/>
        <a:sy n="100" d="100"/>
      </p:scale>
      <p:origin x="0" y="-762"/>
    </p:cViewPr>
  </p:sorterViewPr>
  <p:notesViewPr>
    <p:cSldViewPr snapToGrid="0">
      <p:cViewPr varScale="1">
        <p:scale>
          <a:sx n="84" d="100"/>
          <a:sy n="84" d="100"/>
        </p:scale>
        <p:origin x="3912" y="6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slideMaster" Target="slideMasters/slideMaster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28" Type="http://schemas.openxmlformats.org/officeDocument/2006/relationships/customXml" Target="../customXml/item2.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openxmlformats.org/officeDocument/2006/relationships/customXml" Target="../customXml/item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yantha Obeysekera" userId="746567d5-bca1-4cfe-9ff2-830dff7f142b" providerId="ADAL" clId="{0449B1CE-3603-4936-8D6C-FA466DF3740F}"/>
    <pc:docChg chg="undo custSel addSld delSld modSld addMainMaster delMainMaster modMainMaster">
      <pc:chgData name="Jayantha Obeysekera" userId="746567d5-bca1-4cfe-9ff2-830dff7f142b" providerId="ADAL" clId="{0449B1CE-3603-4936-8D6C-FA466DF3740F}" dt="2026-04-21T15:33:57.563" v="375" actId="478"/>
      <pc:docMkLst>
        <pc:docMk/>
      </pc:docMkLst>
      <pc:sldChg chg="delSp modSp mod modClrScheme chgLayout">
        <pc:chgData name="Jayantha Obeysekera" userId="746567d5-bca1-4cfe-9ff2-830dff7f142b" providerId="ADAL" clId="{0449B1CE-3603-4936-8D6C-FA466DF3740F}" dt="2026-04-21T15:26:22.652" v="324" actId="700"/>
        <pc:sldMkLst>
          <pc:docMk/>
          <pc:sldMk cId="0" sldId="259"/>
        </pc:sldMkLst>
        <pc:spChg chg="mod">
          <ac:chgData name="Jayantha Obeysekera" userId="746567d5-bca1-4cfe-9ff2-830dff7f142b" providerId="ADAL" clId="{0449B1CE-3603-4936-8D6C-FA466DF3740F}" dt="2026-04-21T15:26:01.371" v="322" actId="207"/>
          <ac:spMkLst>
            <pc:docMk/>
            <pc:sldMk cId="0" sldId="259"/>
            <ac:spMk id="2" creationId="{00000000-0000-0000-0000-000000000000}"/>
          </ac:spMkLst>
        </pc:spChg>
        <pc:spChg chg="mod">
          <ac:chgData name="Jayantha Obeysekera" userId="746567d5-bca1-4cfe-9ff2-830dff7f142b" providerId="ADAL" clId="{0449B1CE-3603-4936-8D6C-FA466DF3740F}" dt="2026-04-11T09:40:27.149" v="89" actId="14100"/>
          <ac:spMkLst>
            <pc:docMk/>
            <pc:sldMk cId="0" sldId="259"/>
            <ac:spMk id="5" creationId="{00000000-0000-0000-0000-000000000000}"/>
          </ac:spMkLst>
        </pc:spChg>
        <pc:spChg chg="mod">
          <ac:chgData name="Jayantha Obeysekera" userId="746567d5-bca1-4cfe-9ff2-830dff7f142b" providerId="ADAL" clId="{0449B1CE-3603-4936-8D6C-FA466DF3740F}" dt="2026-04-21T15:15:19.345" v="282" actId="14100"/>
          <ac:spMkLst>
            <pc:docMk/>
            <pc:sldMk cId="0" sldId="259"/>
            <ac:spMk id="6" creationId="{00000000-0000-0000-0000-000000000000}"/>
          </ac:spMkLst>
        </pc:spChg>
        <pc:spChg chg="mod">
          <ac:chgData name="Jayantha Obeysekera" userId="746567d5-bca1-4cfe-9ff2-830dff7f142b" providerId="ADAL" clId="{0449B1CE-3603-4936-8D6C-FA466DF3740F}" dt="2026-04-21T15:15:24.994" v="283" actId="1076"/>
          <ac:spMkLst>
            <pc:docMk/>
            <pc:sldMk cId="0" sldId="259"/>
            <ac:spMk id="7" creationId="{00000000-0000-0000-0000-000000000000}"/>
          </ac:spMkLst>
        </pc:spChg>
        <pc:spChg chg="mod">
          <ac:chgData name="Jayantha Obeysekera" userId="746567d5-bca1-4cfe-9ff2-830dff7f142b" providerId="ADAL" clId="{0449B1CE-3603-4936-8D6C-FA466DF3740F}" dt="2026-04-11T09:40:01.414" v="84" actId="1076"/>
          <ac:spMkLst>
            <pc:docMk/>
            <pc:sldMk cId="0" sldId="259"/>
            <ac:spMk id="8" creationId="{00000000-0000-0000-0000-000000000000}"/>
          </ac:spMkLst>
        </pc:spChg>
        <pc:spChg chg="mod">
          <ac:chgData name="Jayantha Obeysekera" userId="746567d5-bca1-4cfe-9ff2-830dff7f142b" providerId="ADAL" clId="{0449B1CE-3603-4936-8D6C-FA466DF3740F}" dt="2026-04-11T09:40:48.613" v="94" actId="1076"/>
          <ac:spMkLst>
            <pc:docMk/>
            <pc:sldMk cId="0" sldId="259"/>
            <ac:spMk id="9" creationId="{00000000-0000-0000-0000-000000000000}"/>
          </ac:spMkLst>
        </pc:spChg>
        <pc:spChg chg="mod">
          <ac:chgData name="Jayantha Obeysekera" userId="746567d5-bca1-4cfe-9ff2-830dff7f142b" providerId="ADAL" clId="{0449B1CE-3603-4936-8D6C-FA466DF3740F}" dt="2026-04-11T09:37:49.058" v="62" actId="1076"/>
          <ac:spMkLst>
            <pc:docMk/>
            <pc:sldMk cId="0" sldId="259"/>
            <ac:spMk id="10" creationId="{00000000-0000-0000-0000-000000000000}"/>
          </ac:spMkLst>
        </pc:spChg>
        <pc:spChg chg="mod">
          <ac:chgData name="Jayantha Obeysekera" userId="746567d5-bca1-4cfe-9ff2-830dff7f142b" providerId="ADAL" clId="{0449B1CE-3603-4936-8D6C-FA466DF3740F}" dt="2026-04-11T09:38:56.807" v="71" actId="1076"/>
          <ac:spMkLst>
            <pc:docMk/>
            <pc:sldMk cId="0" sldId="259"/>
            <ac:spMk id="11" creationId="{00000000-0000-0000-0000-000000000000}"/>
          </ac:spMkLst>
        </pc:spChg>
        <pc:spChg chg="mod">
          <ac:chgData name="Jayantha Obeysekera" userId="746567d5-bca1-4cfe-9ff2-830dff7f142b" providerId="ADAL" clId="{0449B1CE-3603-4936-8D6C-FA466DF3740F}" dt="2026-04-11T09:40:31.834" v="90" actId="14100"/>
          <ac:spMkLst>
            <pc:docMk/>
            <pc:sldMk cId="0" sldId="259"/>
            <ac:spMk id="12" creationId="{00000000-0000-0000-0000-000000000000}"/>
          </ac:spMkLst>
        </pc:spChg>
        <pc:spChg chg="mod">
          <ac:chgData name="Jayantha Obeysekera" userId="746567d5-bca1-4cfe-9ff2-830dff7f142b" providerId="ADAL" clId="{0449B1CE-3603-4936-8D6C-FA466DF3740F}" dt="2026-04-11T09:40:36.777" v="91" actId="14100"/>
          <ac:spMkLst>
            <pc:docMk/>
            <pc:sldMk cId="0" sldId="259"/>
            <ac:spMk id="14" creationId="{00000000-0000-0000-0000-000000000000}"/>
          </ac:spMkLst>
        </pc:spChg>
        <pc:spChg chg="mod">
          <ac:chgData name="Jayantha Obeysekera" userId="746567d5-bca1-4cfe-9ff2-830dff7f142b" providerId="ADAL" clId="{0449B1CE-3603-4936-8D6C-FA466DF3740F}" dt="2026-04-11T09:38:56.807" v="71" actId="1076"/>
          <ac:spMkLst>
            <pc:docMk/>
            <pc:sldMk cId="0" sldId="259"/>
            <ac:spMk id="15" creationId="{00000000-0000-0000-0000-000000000000}"/>
          </ac:spMkLst>
        </pc:spChg>
        <pc:spChg chg="mod">
          <ac:chgData name="Jayantha Obeysekera" userId="746567d5-bca1-4cfe-9ff2-830dff7f142b" providerId="ADAL" clId="{0449B1CE-3603-4936-8D6C-FA466DF3740F}" dt="2026-04-11T09:40:41.675" v="92" actId="14100"/>
          <ac:spMkLst>
            <pc:docMk/>
            <pc:sldMk cId="0" sldId="259"/>
            <ac:spMk id="16" creationId="{00000000-0000-0000-0000-000000000000}"/>
          </ac:spMkLst>
        </pc:spChg>
        <pc:spChg chg="mod">
          <ac:chgData name="Jayantha Obeysekera" userId="746567d5-bca1-4cfe-9ff2-830dff7f142b" providerId="ADAL" clId="{0449B1CE-3603-4936-8D6C-FA466DF3740F}" dt="2026-04-11T09:38:56.807" v="71" actId="1076"/>
          <ac:spMkLst>
            <pc:docMk/>
            <pc:sldMk cId="0" sldId="259"/>
            <ac:spMk id="17" creationId="{00000000-0000-0000-0000-000000000000}"/>
          </ac:spMkLst>
        </pc:spChg>
        <pc:spChg chg="mod">
          <ac:chgData name="Jayantha Obeysekera" userId="746567d5-bca1-4cfe-9ff2-830dff7f142b" providerId="ADAL" clId="{0449B1CE-3603-4936-8D6C-FA466DF3740F}" dt="2026-04-11T09:40:45.035" v="93" actId="14100"/>
          <ac:spMkLst>
            <pc:docMk/>
            <pc:sldMk cId="0" sldId="259"/>
            <ac:spMk id="18" creationId="{00000000-0000-0000-0000-000000000000}"/>
          </ac:spMkLst>
        </pc:spChg>
        <pc:spChg chg="mod">
          <ac:chgData name="Jayantha Obeysekera" userId="746567d5-bca1-4cfe-9ff2-830dff7f142b" providerId="ADAL" clId="{0449B1CE-3603-4936-8D6C-FA466DF3740F}" dt="2026-04-11T09:43:34.218" v="128" actId="1076"/>
          <ac:spMkLst>
            <pc:docMk/>
            <pc:sldMk cId="0" sldId="259"/>
            <ac:spMk id="21" creationId="{00000000-0000-0000-0000-000000000000}"/>
          </ac:spMkLst>
        </pc:spChg>
        <pc:spChg chg="mod">
          <ac:chgData name="Jayantha Obeysekera" userId="746567d5-bca1-4cfe-9ff2-830dff7f142b" providerId="ADAL" clId="{0449B1CE-3603-4936-8D6C-FA466DF3740F}" dt="2026-04-11T09:40:56.582" v="95" actId="255"/>
          <ac:spMkLst>
            <pc:docMk/>
            <pc:sldMk cId="0" sldId="259"/>
            <ac:spMk id="22" creationId="{00000000-0000-0000-0000-000000000000}"/>
          </ac:spMkLst>
        </pc:spChg>
        <pc:spChg chg="mod">
          <ac:chgData name="Jayantha Obeysekera" userId="746567d5-bca1-4cfe-9ff2-830dff7f142b" providerId="ADAL" clId="{0449B1CE-3603-4936-8D6C-FA466DF3740F}" dt="2026-04-11T09:42:26.302" v="114" actId="14100"/>
          <ac:spMkLst>
            <pc:docMk/>
            <pc:sldMk cId="0" sldId="259"/>
            <ac:spMk id="23" creationId="{00000000-0000-0000-0000-000000000000}"/>
          </ac:spMkLst>
        </pc:spChg>
        <pc:spChg chg="mod">
          <ac:chgData name="Jayantha Obeysekera" userId="746567d5-bca1-4cfe-9ff2-830dff7f142b" providerId="ADAL" clId="{0449B1CE-3603-4936-8D6C-FA466DF3740F}" dt="2026-04-11T09:43:50.478" v="131" actId="1076"/>
          <ac:spMkLst>
            <pc:docMk/>
            <pc:sldMk cId="0" sldId="259"/>
            <ac:spMk id="24" creationId="{00000000-0000-0000-0000-000000000000}"/>
          </ac:spMkLst>
        </pc:spChg>
        <pc:spChg chg="mod">
          <ac:chgData name="Jayantha Obeysekera" userId="746567d5-bca1-4cfe-9ff2-830dff7f142b" providerId="ADAL" clId="{0449B1CE-3603-4936-8D6C-FA466DF3740F}" dt="2026-04-11T09:43:45.529" v="130" actId="1076"/>
          <ac:spMkLst>
            <pc:docMk/>
            <pc:sldMk cId="0" sldId="259"/>
            <ac:spMk id="25" creationId="{00000000-0000-0000-0000-000000000000}"/>
          </ac:spMkLst>
        </pc:spChg>
        <pc:spChg chg="mod">
          <ac:chgData name="Jayantha Obeysekera" userId="746567d5-bca1-4cfe-9ff2-830dff7f142b" providerId="ADAL" clId="{0449B1CE-3603-4936-8D6C-FA466DF3740F}" dt="2026-04-11T09:40:56.582" v="95" actId="255"/>
          <ac:spMkLst>
            <pc:docMk/>
            <pc:sldMk cId="0" sldId="259"/>
            <ac:spMk id="26" creationId="{00000000-0000-0000-0000-000000000000}"/>
          </ac:spMkLst>
        </pc:spChg>
        <pc:spChg chg="mod">
          <ac:chgData name="Jayantha Obeysekera" userId="746567d5-bca1-4cfe-9ff2-830dff7f142b" providerId="ADAL" clId="{0449B1CE-3603-4936-8D6C-FA466DF3740F}" dt="2026-04-11T09:42:14.318" v="112" actId="14100"/>
          <ac:spMkLst>
            <pc:docMk/>
            <pc:sldMk cId="0" sldId="259"/>
            <ac:spMk id="27" creationId="{00000000-0000-0000-0000-000000000000}"/>
          </ac:spMkLst>
        </pc:spChg>
        <pc:spChg chg="mod">
          <ac:chgData name="Jayantha Obeysekera" userId="746567d5-bca1-4cfe-9ff2-830dff7f142b" providerId="ADAL" clId="{0449B1CE-3603-4936-8D6C-FA466DF3740F}" dt="2026-04-11T09:43:54.369" v="132" actId="1076"/>
          <ac:spMkLst>
            <pc:docMk/>
            <pc:sldMk cId="0" sldId="259"/>
            <ac:spMk id="28" creationId="{00000000-0000-0000-0000-000000000000}"/>
          </ac:spMkLst>
        </pc:spChg>
        <pc:spChg chg="mod">
          <ac:chgData name="Jayantha Obeysekera" userId="746567d5-bca1-4cfe-9ff2-830dff7f142b" providerId="ADAL" clId="{0449B1CE-3603-4936-8D6C-FA466DF3740F}" dt="2026-04-11T09:42:35.753" v="116" actId="1076"/>
          <ac:spMkLst>
            <pc:docMk/>
            <pc:sldMk cId="0" sldId="259"/>
            <ac:spMk id="29" creationId="{00000000-0000-0000-0000-000000000000}"/>
          </ac:spMkLst>
        </pc:spChg>
        <pc:spChg chg="mod">
          <ac:chgData name="Jayantha Obeysekera" userId="746567d5-bca1-4cfe-9ff2-830dff7f142b" providerId="ADAL" clId="{0449B1CE-3603-4936-8D6C-FA466DF3740F}" dt="2026-04-11T09:40:56.582" v="95" actId="255"/>
          <ac:spMkLst>
            <pc:docMk/>
            <pc:sldMk cId="0" sldId="259"/>
            <ac:spMk id="30" creationId="{00000000-0000-0000-0000-000000000000}"/>
          </ac:spMkLst>
        </pc:spChg>
        <pc:spChg chg="mod">
          <ac:chgData name="Jayantha Obeysekera" userId="746567d5-bca1-4cfe-9ff2-830dff7f142b" providerId="ADAL" clId="{0449B1CE-3603-4936-8D6C-FA466DF3740F}" dt="2026-04-11T09:42:44.844" v="118" actId="14100"/>
          <ac:spMkLst>
            <pc:docMk/>
            <pc:sldMk cId="0" sldId="259"/>
            <ac:spMk id="31" creationId="{00000000-0000-0000-0000-000000000000}"/>
          </ac:spMkLst>
        </pc:spChg>
        <pc:spChg chg="mod">
          <ac:chgData name="Jayantha Obeysekera" userId="746567d5-bca1-4cfe-9ff2-830dff7f142b" providerId="ADAL" clId="{0449B1CE-3603-4936-8D6C-FA466DF3740F}" dt="2026-04-11T09:43:57.902" v="133" actId="1076"/>
          <ac:spMkLst>
            <pc:docMk/>
            <pc:sldMk cId="0" sldId="259"/>
            <ac:spMk id="32" creationId="{00000000-0000-0000-0000-000000000000}"/>
          </ac:spMkLst>
        </pc:spChg>
        <pc:spChg chg="mod">
          <ac:chgData name="Jayantha Obeysekera" userId="746567d5-bca1-4cfe-9ff2-830dff7f142b" providerId="ADAL" clId="{0449B1CE-3603-4936-8D6C-FA466DF3740F}" dt="2026-04-11T09:42:59.970" v="120" actId="1076"/>
          <ac:spMkLst>
            <pc:docMk/>
            <pc:sldMk cId="0" sldId="259"/>
            <ac:spMk id="33" creationId="{00000000-0000-0000-0000-000000000000}"/>
          </ac:spMkLst>
        </pc:spChg>
        <pc:spChg chg="mod">
          <ac:chgData name="Jayantha Obeysekera" userId="746567d5-bca1-4cfe-9ff2-830dff7f142b" providerId="ADAL" clId="{0449B1CE-3603-4936-8D6C-FA466DF3740F}" dt="2026-04-11T09:40:56.582" v="95" actId="255"/>
          <ac:spMkLst>
            <pc:docMk/>
            <pc:sldMk cId="0" sldId="259"/>
            <ac:spMk id="34" creationId="{00000000-0000-0000-0000-000000000000}"/>
          </ac:spMkLst>
        </pc:spChg>
        <pc:spChg chg="mod">
          <ac:chgData name="Jayantha Obeysekera" userId="746567d5-bca1-4cfe-9ff2-830dff7f142b" providerId="ADAL" clId="{0449B1CE-3603-4936-8D6C-FA466DF3740F}" dt="2026-04-11T09:43:04.706" v="121" actId="14100"/>
          <ac:spMkLst>
            <pc:docMk/>
            <pc:sldMk cId="0" sldId="259"/>
            <ac:spMk id="35" creationId="{00000000-0000-0000-0000-000000000000}"/>
          </ac:spMkLst>
        </pc:spChg>
        <pc:spChg chg="mod">
          <ac:chgData name="Jayantha Obeysekera" userId="746567d5-bca1-4cfe-9ff2-830dff7f142b" providerId="ADAL" clId="{0449B1CE-3603-4936-8D6C-FA466DF3740F}" dt="2026-04-11T09:44:02.763" v="134" actId="1076"/>
          <ac:spMkLst>
            <pc:docMk/>
            <pc:sldMk cId="0" sldId="259"/>
            <ac:spMk id="36" creationId="{00000000-0000-0000-0000-000000000000}"/>
          </ac:spMkLst>
        </pc:spChg>
        <pc:spChg chg="mod">
          <ac:chgData name="Jayantha Obeysekera" userId="746567d5-bca1-4cfe-9ff2-830dff7f142b" providerId="ADAL" clId="{0449B1CE-3603-4936-8D6C-FA466DF3740F}" dt="2026-04-11T09:43:08.731" v="122" actId="1076"/>
          <ac:spMkLst>
            <pc:docMk/>
            <pc:sldMk cId="0" sldId="259"/>
            <ac:spMk id="37" creationId="{00000000-0000-0000-0000-000000000000}"/>
          </ac:spMkLst>
        </pc:spChg>
        <pc:spChg chg="mod ord">
          <ac:chgData name="Jayantha Obeysekera" userId="746567d5-bca1-4cfe-9ff2-830dff7f142b" providerId="ADAL" clId="{0449B1CE-3603-4936-8D6C-FA466DF3740F}" dt="2026-04-21T15:26:22.652" v="324" actId="700"/>
          <ac:spMkLst>
            <pc:docMk/>
            <pc:sldMk cId="0" sldId="259"/>
            <ac:spMk id="38" creationId="{00000000-0000-0000-0000-000000000000}"/>
          </ac:spMkLst>
        </pc:spChg>
      </pc:sldChg>
      <pc:sldChg chg="delSp modSp mod">
        <pc:chgData name="Jayantha Obeysekera" userId="746567d5-bca1-4cfe-9ff2-830dff7f142b" providerId="ADAL" clId="{0449B1CE-3603-4936-8D6C-FA466DF3740F}" dt="2026-04-21T15:29:10.635" v="359" actId="255"/>
        <pc:sldMkLst>
          <pc:docMk/>
          <pc:sldMk cId="2187119516" sldId="302"/>
        </pc:sldMkLst>
        <pc:spChg chg="mod">
          <ac:chgData name="Jayantha Obeysekera" userId="746567d5-bca1-4cfe-9ff2-830dff7f142b" providerId="ADAL" clId="{0449B1CE-3603-4936-8D6C-FA466DF3740F}" dt="2026-04-21T15:29:10.635" v="359" actId="255"/>
          <ac:spMkLst>
            <pc:docMk/>
            <pc:sldMk cId="2187119516" sldId="302"/>
            <ac:spMk id="2" creationId="{10AF48AD-2C0B-2815-85EF-FECCC6667A0F}"/>
          </ac:spMkLst>
        </pc:spChg>
        <pc:spChg chg="mod">
          <ac:chgData name="Jayantha Obeysekera" userId="746567d5-bca1-4cfe-9ff2-830dff7f142b" providerId="ADAL" clId="{0449B1CE-3603-4936-8D6C-FA466DF3740F}" dt="2026-04-21T15:24:07.143" v="307" actId="1076"/>
          <ac:spMkLst>
            <pc:docMk/>
            <pc:sldMk cId="2187119516" sldId="302"/>
            <ac:spMk id="3" creationId="{1D7AA05C-9D5A-2B90-7249-3A1398B949A2}"/>
          </ac:spMkLst>
        </pc:spChg>
        <pc:graphicFrameChg chg="del">
          <ac:chgData name="Jayantha Obeysekera" userId="746567d5-bca1-4cfe-9ff2-830dff7f142b" providerId="ADAL" clId="{0449B1CE-3603-4936-8D6C-FA466DF3740F}" dt="2026-04-21T15:24:01.256" v="306" actId="478"/>
          <ac:graphicFrameMkLst>
            <pc:docMk/>
            <pc:sldMk cId="2187119516" sldId="302"/>
            <ac:graphicFrameMk id="9" creationId="{F551BBC6-0E9C-A06C-D279-103CCD86F3B3}"/>
          </ac:graphicFrameMkLst>
        </pc:graphicFrameChg>
      </pc:sldChg>
      <pc:sldChg chg="delSp modSp mod">
        <pc:chgData name="Jayantha Obeysekera" userId="746567d5-bca1-4cfe-9ff2-830dff7f142b" providerId="ADAL" clId="{0449B1CE-3603-4936-8D6C-FA466DF3740F}" dt="2026-04-21T15:30:06.492" v="369" actId="113"/>
        <pc:sldMkLst>
          <pc:docMk/>
          <pc:sldMk cId="3664053729" sldId="304"/>
        </pc:sldMkLst>
        <pc:spChg chg="mod">
          <ac:chgData name="Jayantha Obeysekera" userId="746567d5-bca1-4cfe-9ff2-830dff7f142b" providerId="ADAL" clId="{0449B1CE-3603-4936-8D6C-FA466DF3740F}" dt="2026-04-21T15:24:48.169" v="316" actId="14100"/>
          <ac:spMkLst>
            <pc:docMk/>
            <pc:sldMk cId="3664053729" sldId="304"/>
            <ac:spMk id="6" creationId="{07346D32-9927-6A13-B14F-0B9DD15E29A3}"/>
          </ac:spMkLst>
        </pc:spChg>
        <pc:spChg chg="mod">
          <ac:chgData name="Jayantha Obeysekera" userId="746567d5-bca1-4cfe-9ff2-830dff7f142b" providerId="ADAL" clId="{0449B1CE-3603-4936-8D6C-FA466DF3740F}" dt="2026-04-21T15:30:06.492" v="369" actId="113"/>
          <ac:spMkLst>
            <pc:docMk/>
            <pc:sldMk cId="3664053729" sldId="304"/>
            <ac:spMk id="8" creationId="{10AF48AD-2C0B-2815-85EF-FECCC6667A0F}"/>
          </ac:spMkLst>
        </pc:spChg>
        <pc:graphicFrameChg chg="del">
          <ac:chgData name="Jayantha Obeysekera" userId="746567d5-bca1-4cfe-9ff2-830dff7f142b" providerId="ADAL" clId="{0449B1CE-3603-4936-8D6C-FA466DF3740F}" dt="2026-04-21T15:24:41.026" v="314" actId="478"/>
          <ac:graphicFrameMkLst>
            <pc:docMk/>
            <pc:sldMk cId="3664053729" sldId="304"/>
            <ac:graphicFrameMk id="3" creationId="{B3B4CA68-0DEA-3750-EFCA-4796CCBB6750}"/>
          </ac:graphicFrameMkLst>
        </pc:graphicFrameChg>
      </pc:sldChg>
      <pc:sldChg chg="addSp delSp modSp mod">
        <pc:chgData name="Jayantha Obeysekera" userId="746567d5-bca1-4cfe-9ff2-830dff7f142b" providerId="ADAL" clId="{0449B1CE-3603-4936-8D6C-FA466DF3740F}" dt="2026-04-21T15:33:57.563" v="375" actId="478"/>
        <pc:sldMkLst>
          <pc:docMk/>
          <pc:sldMk cId="4248466317" sldId="305"/>
        </pc:sldMkLst>
        <pc:spChg chg="add del mod">
          <ac:chgData name="Jayantha Obeysekera" userId="746567d5-bca1-4cfe-9ff2-830dff7f142b" providerId="ADAL" clId="{0449B1CE-3603-4936-8D6C-FA466DF3740F}" dt="2026-04-21T15:23:33.386" v="305" actId="14100"/>
          <ac:spMkLst>
            <pc:docMk/>
            <pc:sldMk cId="4248466317" sldId="305"/>
            <ac:spMk id="2" creationId="{199797DE-D607-8E69-101D-3DE312E8A684}"/>
          </ac:spMkLst>
        </pc:spChg>
        <pc:spChg chg="mod">
          <ac:chgData name="Jayantha Obeysekera" userId="746567d5-bca1-4cfe-9ff2-830dff7f142b" providerId="ADAL" clId="{0449B1CE-3603-4936-8D6C-FA466DF3740F}" dt="2026-04-21T15:22:58.587" v="303" actId="12"/>
          <ac:spMkLst>
            <pc:docMk/>
            <pc:sldMk cId="4248466317" sldId="305"/>
            <ac:spMk id="3" creationId="{3F07108F-B171-94C8-D63E-31A7616A463F}"/>
          </ac:spMkLst>
        </pc:spChg>
        <pc:spChg chg="mod">
          <ac:chgData name="Jayantha Obeysekera" userId="746567d5-bca1-4cfe-9ff2-830dff7f142b" providerId="ADAL" clId="{0449B1CE-3603-4936-8D6C-FA466DF3740F}" dt="2026-04-21T15:23:22.721" v="304" actId="12"/>
          <ac:spMkLst>
            <pc:docMk/>
            <pc:sldMk cId="4248466317" sldId="305"/>
            <ac:spMk id="4" creationId="{470885A3-4A4F-6317-0952-D2B728C16610}"/>
          </ac:spMkLst>
        </pc:spChg>
        <pc:spChg chg="mod">
          <ac:chgData name="Jayantha Obeysekera" userId="746567d5-bca1-4cfe-9ff2-830dff7f142b" providerId="ADAL" clId="{0449B1CE-3603-4936-8D6C-FA466DF3740F}" dt="2026-04-21T15:30:35.858" v="374" actId="113"/>
          <ac:spMkLst>
            <pc:docMk/>
            <pc:sldMk cId="4248466317" sldId="305"/>
            <ac:spMk id="16" creationId="{10AF48AD-2C0B-2815-85EF-FECCC6667A0F}"/>
          </ac:spMkLst>
        </pc:spChg>
        <pc:graphicFrameChg chg="del">
          <ac:chgData name="Jayantha Obeysekera" userId="746567d5-bca1-4cfe-9ff2-830dff7f142b" providerId="ADAL" clId="{0449B1CE-3603-4936-8D6C-FA466DF3740F}" dt="2026-04-21T15:33:57.563" v="375" actId="478"/>
          <ac:graphicFrameMkLst>
            <pc:docMk/>
            <pc:sldMk cId="4248466317" sldId="305"/>
            <ac:graphicFrameMk id="15" creationId="{BA1C27ED-B443-E06B-5D9F-811F41C8D3B6}"/>
          </ac:graphicFrameMkLst>
        </pc:graphicFrameChg>
      </pc:sldChg>
      <pc:sldChg chg="delSp modSp mod">
        <pc:chgData name="Jayantha Obeysekera" userId="746567d5-bca1-4cfe-9ff2-830dff7f142b" providerId="ADAL" clId="{0449B1CE-3603-4936-8D6C-FA466DF3740F}" dt="2026-04-21T15:29:56.113" v="367" actId="207"/>
        <pc:sldMkLst>
          <pc:docMk/>
          <pc:sldMk cId="1081085449" sldId="308"/>
        </pc:sldMkLst>
        <pc:spChg chg="mod">
          <ac:chgData name="Jayantha Obeysekera" userId="746567d5-bca1-4cfe-9ff2-830dff7f142b" providerId="ADAL" clId="{0449B1CE-3603-4936-8D6C-FA466DF3740F}" dt="2026-04-21T15:24:33.911" v="313" actId="14100"/>
          <ac:spMkLst>
            <pc:docMk/>
            <pc:sldMk cId="1081085449" sldId="308"/>
            <ac:spMk id="5" creationId="{86492ED9-1DE7-5FBE-0052-99EB09B4DA20}"/>
          </ac:spMkLst>
        </pc:spChg>
        <pc:spChg chg="mod">
          <ac:chgData name="Jayantha Obeysekera" userId="746567d5-bca1-4cfe-9ff2-830dff7f142b" providerId="ADAL" clId="{0449B1CE-3603-4936-8D6C-FA466DF3740F}" dt="2026-04-21T15:29:56.113" v="367" actId="207"/>
          <ac:spMkLst>
            <pc:docMk/>
            <pc:sldMk cId="1081085449" sldId="308"/>
            <ac:spMk id="7" creationId="{10AF48AD-2C0B-2815-85EF-FECCC6667A0F}"/>
          </ac:spMkLst>
        </pc:spChg>
        <pc:graphicFrameChg chg="del">
          <ac:chgData name="Jayantha Obeysekera" userId="746567d5-bca1-4cfe-9ff2-830dff7f142b" providerId="ADAL" clId="{0449B1CE-3603-4936-8D6C-FA466DF3740F}" dt="2026-04-21T15:24:26.556" v="311" actId="478"/>
          <ac:graphicFrameMkLst>
            <pc:docMk/>
            <pc:sldMk cId="1081085449" sldId="308"/>
            <ac:graphicFrameMk id="3" creationId="{F7154AB9-C894-1320-1020-38CF2F9FDC3F}"/>
          </ac:graphicFrameMkLst>
        </pc:graphicFrameChg>
        <pc:cxnChg chg="mod">
          <ac:chgData name="Jayantha Obeysekera" userId="746567d5-bca1-4cfe-9ff2-830dff7f142b" providerId="ADAL" clId="{0449B1CE-3603-4936-8D6C-FA466DF3740F}" dt="2026-04-21T15:29:47.494" v="364" actId="1076"/>
          <ac:cxnSpMkLst>
            <pc:docMk/>
            <pc:sldMk cId="1081085449" sldId="308"/>
            <ac:cxnSpMk id="10" creationId="{047BC7FF-9C8C-2B04-A56B-4D898123B196}"/>
          </ac:cxnSpMkLst>
        </pc:cxnChg>
      </pc:sldChg>
      <pc:sldChg chg="delSp modSp mod">
        <pc:chgData name="Jayantha Obeysekera" userId="746567d5-bca1-4cfe-9ff2-830dff7f142b" providerId="ADAL" clId="{0449B1CE-3603-4936-8D6C-FA466DF3740F}" dt="2026-04-21T15:30:20.131" v="371" actId="113"/>
        <pc:sldMkLst>
          <pc:docMk/>
          <pc:sldMk cId="3314161023" sldId="311"/>
        </pc:sldMkLst>
        <pc:spChg chg="mod">
          <ac:chgData name="Jayantha Obeysekera" userId="746567d5-bca1-4cfe-9ff2-830dff7f142b" providerId="ADAL" clId="{0449B1CE-3603-4936-8D6C-FA466DF3740F}" dt="2026-04-21T15:24:58.939" v="318" actId="1076"/>
          <ac:spMkLst>
            <pc:docMk/>
            <pc:sldMk cId="3314161023" sldId="311"/>
            <ac:spMk id="9" creationId="{2465FE54-9A82-E529-7F87-572D4E1FC4C0}"/>
          </ac:spMkLst>
        </pc:spChg>
        <pc:spChg chg="mod">
          <ac:chgData name="Jayantha Obeysekera" userId="746567d5-bca1-4cfe-9ff2-830dff7f142b" providerId="ADAL" clId="{0449B1CE-3603-4936-8D6C-FA466DF3740F}" dt="2026-04-21T15:30:20.131" v="371" actId="113"/>
          <ac:spMkLst>
            <pc:docMk/>
            <pc:sldMk cId="3314161023" sldId="311"/>
            <ac:spMk id="10" creationId="{10AF48AD-2C0B-2815-85EF-FECCC6667A0F}"/>
          </ac:spMkLst>
        </pc:spChg>
        <pc:graphicFrameChg chg="del">
          <ac:chgData name="Jayantha Obeysekera" userId="746567d5-bca1-4cfe-9ff2-830dff7f142b" providerId="ADAL" clId="{0449B1CE-3603-4936-8D6C-FA466DF3740F}" dt="2026-04-21T15:24:54.389" v="317" actId="478"/>
          <ac:graphicFrameMkLst>
            <pc:docMk/>
            <pc:sldMk cId="3314161023" sldId="311"/>
            <ac:graphicFrameMk id="5" creationId="{530928F1-85CB-F6C4-05DE-E34C5FCC53F5}"/>
          </ac:graphicFrameMkLst>
        </pc:graphicFrameChg>
      </pc:sldChg>
      <pc:sldChg chg="delSp modSp mod">
        <pc:chgData name="Jayantha Obeysekera" userId="746567d5-bca1-4cfe-9ff2-830dff7f142b" providerId="ADAL" clId="{0449B1CE-3603-4936-8D6C-FA466DF3740F}" dt="2026-04-21T15:29:35.328" v="363" actId="1076"/>
        <pc:sldMkLst>
          <pc:docMk/>
          <pc:sldMk cId="2383661430" sldId="315"/>
        </pc:sldMkLst>
        <pc:spChg chg="mod">
          <ac:chgData name="Jayantha Obeysekera" userId="746567d5-bca1-4cfe-9ff2-830dff7f142b" providerId="ADAL" clId="{0449B1CE-3603-4936-8D6C-FA466DF3740F}" dt="2026-04-21T15:24:20.019" v="310" actId="14100"/>
          <ac:spMkLst>
            <pc:docMk/>
            <pc:sldMk cId="2383661430" sldId="315"/>
            <ac:spMk id="3" creationId="{9AD7EF63-B18C-7ADE-0153-0D8DAB244D70}"/>
          </ac:spMkLst>
        </pc:spChg>
        <pc:spChg chg="mod">
          <ac:chgData name="Jayantha Obeysekera" userId="746567d5-bca1-4cfe-9ff2-830dff7f142b" providerId="ADAL" clId="{0449B1CE-3603-4936-8D6C-FA466DF3740F}" dt="2026-04-21T15:29:35.328" v="363" actId="1076"/>
          <ac:spMkLst>
            <pc:docMk/>
            <pc:sldMk cId="2383661430" sldId="315"/>
            <ac:spMk id="7" creationId="{10AF48AD-2C0B-2815-85EF-FECCC6667A0F}"/>
          </ac:spMkLst>
        </pc:spChg>
        <pc:graphicFrameChg chg="del">
          <ac:chgData name="Jayantha Obeysekera" userId="746567d5-bca1-4cfe-9ff2-830dff7f142b" providerId="ADAL" clId="{0449B1CE-3603-4936-8D6C-FA466DF3740F}" dt="2026-04-21T15:24:13.999" v="308" actId="478"/>
          <ac:graphicFrameMkLst>
            <pc:docMk/>
            <pc:sldMk cId="2383661430" sldId="315"/>
            <ac:graphicFrameMk id="4" creationId="{ED8B323F-AFE2-D484-0092-ABDF161FC813}"/>
          </ac:graphicFrameMkLst>
        </pc:graphicFrameChg>
        <pc:cxnChg chg="mod">
          <ac:chgData name="Jayantha Obeysekera" userId="746567d5-bca1-4cfe-9ff2-830dff7f142b" providerId="ADAL" clId="{0449B1CE-3603-4936-8D6C-FA466DF3740F}" dt="2026-04-21T15:29:30.850" v="362" actId="1076"/>
          <ac:cxnSpMkLst>
            <pc:docMk/>
            <pc:sldMk cId="2383661430" sldId="315"/>
            <ac:cxnSpMk id="9" creationId="{711FC6BF-01AA-7156-192A-615EB0A080F5}"/>
          </ac:cxnSpMkLst>
        </pc:cxnChg>
      </pc:sldChg>
      <pc:sldChg chg="modSp mod">
        <pc:chgData name="Jayantha Obeysekera" userId="746567d5-bca1-4cfe-9ff2-830dff7f142b" providerId="ADAL" clId="{0449B1CE-3603-4936-8D6C-FA466DF3740F}" dt="2026-04-21T15:25:36.929" v="320" actId="113"/>
        <pc:sldMkLst>
          <pc:docMk/>
          <pc:sldMk cId="410393918" sldId="324"/>
        </pc:sldMkLst>
        <pc:spChg chg="mod">
          <ac:chgData name="Jayantha Obeysekera" userId="746567d5-bca1-4cfe-9ff2-830dff7f142b" providerId="ADAL" clId="{0449B1CE-3603-4936-8D6C-FA466DF3740F}" dt="2026-04-21T15:25:36.929" v="320" actId="113"/>
          <ac:spMkLst>
            <pc:docMk/>
            <pc:sldMk cId="410393918" sldId="324"/>
            <ac:spMk id="3" creationId="{A8E2B204-FBA1-3366-3384-A9CFD0106621}"/>
          </ac:spMkLst>
        </pc:spChg>
      </pc:sldChg>
      <pc:sldChg chg="addSp delSp modSp mod">
        <pc:chgData name="Jayantha Obeysekera" userId="746567d5-bca1-4cfe-9ff2-830dff7f142b" providerId="ADAL" clId="{0449B1CE-3603-4936-8D6C-FA466DF3740F}" dt="2026-04-21T15:25:43.920" v="321" actId="207"/>
        <pc:sldMkLst>
          <pc:docMk/>
          <pc:sldMk cId="0" sldId="325"/>
        </pc:sldMkLst>
        <pc:spChg chg="mod">
          <ac:chgData name="Jayantha Obeysekera" userId="746567d5-bca1-4cfe-9ff2-830dff7f142b" providerId="ADAL" clId="{0449B1CE-3603-4936-8D6C-FA466DF3740F}" dt="2026-04-21T15:25:43.920" v="321" actId="207"/>
          <ac:spMkLst>
            <pc:docMk/>
            <pc:sldMk cId="0" sldId="325"/>
            <ac:spMk id="2" creationId="{00000000-0000-0000-0000-000000000000}"/>
          </ac:spMkLst>
        </pc:spChg>
        <pc:spChg chg="mod">
          <ac:chgData name="Jayantha Obeysekera" userId="746567d5-bca1-4cfe-9ff2-830dff7f142b" providerId="ADAL" clId="{0449B1CE-3603-4936-8D6C-FA466DF3740F}" dt="2026-04-11T09:31:45.905" v="12" actId="14100"/>
          <ac:spMkLst>
            <pc:docMk/>
            <pc:sldMk cId="0" sldId="325"/>
            <ac:spMk id="4" creationId="{00000000-0000-0000-0000-000000000000}"/>
          </ac:spMkLst>
        </pc:spChg>
        <pc:spChg chg="mod">
          <ac:chgData name="Jayantha Obeysekera" userId="746567d5-bca1-4cfe-9ff2-830dff7f142b" providerId="ADAL" clId="{0449B1CE-3603-4936-8D6C-FA466DF3740F}" dt="2026-04-11T09:35:26.821" v="40" actId="255"/>
          <ac:spMkLst>
            <pc:docMk/>
            <pc:sldMk cId="0" sldId="325"/>
            <ac:spMk id="7" creationId="{00000000-0000-0000-0000-000000000000}"/>
          </ac:spMkLst>
        </pc:spChg>
        <pc:spChg chg="mod">
          <ac:chgData name="Jayantha Obeysekera" userId="746567d5-bca1-4cfe-9ff2-830dff7f142b" providerId="ADAL" clId="{0449B1CE-3603-4936-8D6C-FA466DF3740F}" dt="2026-04-21T15:13:46.112" v="268" actId="1076"/>
          <ac:spMkLst>
            <pc:docMk/>
            <pc:sldMk cId="0" sldId="325"/>
            <ac:spMk id="8" creationId="{00000000-0000-0000-0000-000000000000}"/>
          </ac:spMkLst>
        </pc:spChg>
        <pc:spChg chg="mod">
          <ac:chgData name="Jayantha Obeysekera" userId="746567d5-bca1-4cfe-9ff2-830dff7f142b" providerId="ADAL" clId="{0449B1CE-3603-4936-8D6C-FA466DF3740F}" dt="2026-04-11T09:36:33.659" v="54" actId="1076"/>
          <ac:spMkLst>
            <pc:docMk/>
            <pc:sldMk cId="0" sldId="325"/>
            <ac:spMk id="9" creationId="{00000000-0000-0000-0000-000000000000}"/>
          </ac:spMkLst>
        </pc:spChg>
        <pc:spChg chg="mod">
          <ac:chgData name="Jayantha Obeysekera" userId="746567d5-bca1-4cfe-9ff2-830dff7f142b" providerId="ADAL" clId="{0449B1CE-3603-4936-8D6C-FA466DF3740F}" dt="2026-04-21T15:13:03.436" v="263" actId="1076"/>
          <ac:spMkLst>
            <pc:docMk/>
            <pc:sldMk cId="0" sldId="325"/>
            <ac:spMk id="10" creationId="{00000000-0000-0000-0000-000000000000}"/>
          </ac:spMkLst>
        </pc:spChg>
        <pc:spChg chg="mod">
          <ac:chgData name="Jayantha Obeysekera" userId="746567d5-bca1-4cfe-9ff2-830dff7f142b" providerId="ADAL" clId="{0449B1CE-3603-4936-8D6C-FA466DF3740F}" dt="2026-04-21T15:13:41.713" v="267" actId="255"/>
          <ac:spMkLst>
            <pc:docMk/>
            <pc:sldMk cId="0" sldId="325"/>
            <ac:spMk id="11" creationId="{00000000-0000-0000-0000-000000000000}"/>
          </ac:spMkLst>
        </pc:spChg>
        <pc:spChg chg="mod">
          <ac:chgData name="Jayantha Obeysekera" userId="746567d5-bca1-4cfe-9ff2-830dff7f142b" providerId="ADAL" clId="{0449B1CE-3603-4936-8D6C-FA466DF3740F}" dt="2026-04-21T15:13:53.896" v="269" actId="1076"/>
          <ac:spMkLst>
            <pc:docMk/>
            <pc:sldMk cId="0" sldId="325"/>
            <ac:spMk id="12" creationId="{00000000-0000-0000-0000-000000000000}"/>
          </ac:spMkLst>
        </pc:spChg>
        <pc:spChg chg="mod">
          <ac:chgData name="Jayantha Obeysekera" userId="746567d5-bca1-4cfe-9ff2-830dff7f142b" providerId="ADAL" clId="{0449B1CE-3603-4936-8D6C-FA466DF3740F}" dt="2026-04-11T09:35:06.806" v="36" actId="1076"/>
          <ac:spMkLst>
            <pc:docMk/>
            <pc:sldMk cId="0" sldId="325"/>
            <ac:spMk id="13" creationId="{00000000-0000-0000-0000-000000000000}"/>
          </ac:spMkLst>
        </pc:spChg>
        <pc:spChg chg="mod">
          <ac:chgData name="Jayantha Obeysekera" userId="746567d5-bca1-4cfe-9ff2-830dff7f142b" providerId="ADAL" clId="{0449B1CE-3603-4936-8D6C-FA466DF3740F}" dt="2026-04-11T09:35:53.457" v="46" actId="1076"/>
          <ac:spMkLst>
            <pc:docMk/>
            <pc:sldMk cId="0" sldId="325"/>
            <ac:spMk id="14" creationId="{00000000-0000-0000-0000-000000000000}"/>
          </ac:spMkLst>
        </pc:spChg>
        <pc:spChg chg="mod">
          <ac:chgData name="Jayantha Obeysekera" userId="746567d5-bca1-4cfe-9ff2-830dff7f142b" providerId="ADAL" clId="{0449B1CE-3603-4936-8D6C-FA466DF3740F}" dt="2026-04-11T09:36:00.177" v="47" actId="1076"/>
          <ac:spMkLst>
            <pc:docMk/>
            <pc:sldMk cId="0" sldId="325"/>
            <ac:spMk id="15" creationId="{00000000-0000-0000-0000-000000000000}"/>
          </ac:spMkLst>
        </pc:spChg>
        <pc:spChg chg="mod">
          <ac:chgData name="Jayantha Obeysekera" userId="746567d5-bca1-4cfe-9ff2-830dff7f142b" providerId="ADAL" clId="{0449B1CE-3603-4936-8D6C-FA466DF3740F}" dt="2026-04-21T15:14:03.238" v="270" actId="255"/>
          <ac:spMkLst>
            <pc:docMk/>
            <pc:sldMk cId="0" sldId="325"/>
            <ac:spMk id="16" creationId="{00000000-0000-0000-0000-000000000000}"/>
          </ac:spMkLst>
        </pc:spChg>
        <pc:spChg chg="mod">
          <ac:chgData name="Jayantha Obeysekera" userId="746567d5-bca1-4cfe-9ff2-830dff7f142b" providerId="ADAL" clId="{0449B1CE-3603-4936-8D6C-FA466DF3740F}" dt="2026-04-21T15:14:12.014" v="272" actId="255"/>
          <ac:spMkLst>
            <pc:docMk/>
            <pc:sldMk cId="0" sldId="325"/>
            <ac:spMk id="17" creationId="{00000000-0000-0000-0000-000000000000}"/>
          </ac:spMkLst>
        </pc:spChg>
        <pc:spChg chg="mod">
          <ac:chgData name="Jayantha Obeysekera" userId="746567d5-bca1-4cfe-9ff2-830dff7f142b" providerId="ADAL" clId="{0449B1CE-3603-4936-8D6C-FA466DF3740F}" dt="2026-04-21T15:14:19.642" v="273" actId="255"/>
          <ac:spMkLst>
            <pc:docMk/>
            <pc:sldMk cId="0" sldId="325"/>
            <ac:spMk id="18" creationId="{00000000-0000-0000-0000-000000000000}"/>
          </ac:spMkLst>
        </pc:spChg>
        <pc:picChg chg="add del mod">
          <ac:chgData name="Jayantha Obeysekera" userId="746567d5-bca1-4cfe-9ff2-830dff7f142b" providerId="ADAL" clId="{0449B1CE-3603-4936-8D6C-FA466DF3740F}" dt="2026-04-21T15:14:50.074" v="280" actId="14100"/>
          <ac:picMkLst>
            <pc:docMk/>
            <pc:sldMk cId="0" sldId="325"/>
            <ac:picMk id="6" creationId="{00000000-0000-0000-0000-000000000000}"/>
          </ac:picMkLst>
        </pc:picChg>
      </pc:sldChg>
      <pc:sldChg chg="delSp modSp mod">
        <pc:chgData name="Jayantha Obeysekera" userId="746567d5-bca1-4cfe-9ff2-830dff7f142b" providerId="ADAL" clId="{0449B1CE-3603-4936-8D6C-FA466DF3740F}" dt="2026-04-21T15:16:31.971" v="289" actId="207"/>
        <pc:sldMkLst>
          <pc:docMk/>
          <pc:sldMk cId="0" sldId="326"/>
        </pc:sldMkLst>
        <pc:spChg chg="mod">
          <ac:chgData name="Jayantha Obeysekera" userId="746567d5-bca1-4cfe-9ff2-830dff7f142b" providerId="ADAL" clId="{0449B1CE-3603-4936-8D6C-FA466DF3740F}" dt="2026-04-11T09:46:55.799" v="160" actId="14100"/>
          <ac:spMkLst>
            <pc:docMk/>
            <pc:sldMk cId="0" sldId="326"/>
            <ac:spMk id="4" creationId="{00000000-0000-0000-0000-000000000000}"/>
          </ac:spMkLst>
        </pc:spChg>
        <pc:spChg chg="mod">
          <ac:chgData name="Jayantha Obeysekera" userId="746567d5-bca1-4cfe-9ff2-830dff7f142b" providerId="ADAL" clId="{0449B1CE-3603-4936-8D6C-FA466DF3740F}" dt="2026-04-11T09:45:27.425" v="144" actId="1076"/>
          <ac:spMkLst>
            <pc:docMk/>
            <pc:sldMk cId="0" sldId="326"/>
            <ac:spMk id="6" creationId="{00000000-0000-0000-0000-000000000000}"/>
          </ac:spMkLst>
        </pc:spChg>
        <pc:spChg chg="mod">
          <ac:chgData name="Jayantha Obeysekera" userId="746567d5-bca1-4cfe-9ff2-830dff7f142b" providerId="ADAL" clId="{0449B1CE-3603-4936-8D6C-FA466DF3740F}" dt="2026-04-21T15:16:16.537" v="285" actId="14100"/>
          <ac:spMkLst>
            <pc:docMk/>
            <pc:sldMk cId="0" sldId="326"/>
            <ac:spMk id="7" creationId="{00000000-0000-0000-0000-000000000000}"/>
          </ac:spMkLst>
        </pc:spChg>
        <pc:spChg chg="mod">
          <ac:chgData name="Jayantha Obeysekera" userId="746567d5-bca1-4cfe-9ff2-830dff7f142b" providerId="ADAL" clId="{0449B1CE-3603-4936-8D6C-FA466DF3740F}" dt="2026-04-11T09:46:13.364" v="150" actId="14100"/>
          <ac:spMkLst>
            <pc:docMk/>
            <pc:sldMk cId="0" sldId="326"/>
            <ac:spMk id="10" creationId="{00000000-0000-0000-0000-000000000000}"/>
          </ac:spMkLst>
        </pc:spChg>
        <pc:spChg chg="mod">
          <ac:chgData name="Jayantha Obeysekera" userId="746567d5-bca1-4cfe-9ff2-830dff7f142b" providerId="ADAL" clId="{0449B1CE-3603-4936-8D6C-FA466DF3740F}" dt="2026-04-21T15:16:31.971" v="289" actId="207"/>
          <ac:spMkLst>
            <pc:docMk/>
            <pc:sldMk cId="0" sldId="326"/>
            <ac:spMk id="12" creationId="{00000000-0000-0000-0000-000000000000}"/>
          </ac:spMkLst>
        </pc:spChg>
        <pc:spChg chg="mod">
          <ac:chgData name="Jayantha Obeysekera" userId="746567d5-bca1-4cfe-9ff2-830dff7f142b" providerId="ADAL" clId="{0449B1CE-3603-4936-8D6C-FA466DF3740F}" dt="2026-04-11T09:45:40.933" v="145" actId="1076"/>
          <ac:spMkLst>
            <pc:docMk/>
            <pc:sldMk cId="0" sldId="326"/>
            <ac:spMk id="13" creationId="{00000000-0000-0000-0000-000000000000}"/>
          </ac:spMkLst>
        </pc:spChg>
        <pc:spChg chg="mod">
          <ac:chgData name="Jayantha Obeysekera" userId="746567d5-bca1-4cfe-9ff2-830dff7f142b" providerId="ADAL" clId="{0449B1CE-3603-4936-8D6C-FA466DF3740F}" dt="2026-04-11T09:45:40.933" v="145" actId="1076"/>
          <ac:spMkLst>
            <pc:docMk/>
            <pc:sldMk cId="0" sldId="326"/>
            <ac:spMk id="14" creationId="{00000000-0000-0000-0000-000000000000}"/>
          </ac:spMkLst>
        </pc:spChg>
        <pc:spChg chg="mod">
          <ac:chgData name="Jayantha Obeysekera" userId="746567d5-bca1-4cfe-9ff2-830dff7f142b" providerId="ADAL" clId="{0449B1CE-3603-4936-8D6C-FA466DF3740F}" dt="2026-04-11T09:45:43.820" v="146" actId="1076"/>
          <ac:spMkLst>
            <pc:docMk/>
            <pc:sldMk cId="0" sldId="326"/>
            <ac:spMk id="15" creationId="{00000000-0000-0000-0000-000000000000}"/>
          </ac:spMkLst>
        </pc:spChg>
        <pc:picChg chg="mod">
          <ac:chgData name="Jayantha Obeysekera" userId="746567d5-bca1-4cfe-9ff2-830dff7f142b" providerId="ADAL" clId="{0449B1CE-3603-4936-8D6C-FA466DF3740F}" dt="2026-04-11T09:46:32.743" v="156" actId="1076"/>
          <ac:picMkLst>
            <pc:docMk/>
            <pc:sldMk cId="0" sldId="326"/>
            <ac:picMk id="11" creationId="{00000000-0000-0000-0000-000000000000}"/>
          </ac:picMkLst>
        </pc:picChg>
      </pc:sldChg>
      <pc:sldChg chg="delSp modSp mod">
        <pc:chgData name="Jayantha Obeysekera" userId="746567d5-bca1-4cfe-9ff2-830dff7f142b" providerId="ADAL" clId="{0449B1CE-3603-4936-8D6C-FA466DF3740F}" dt="2026-04-21T15:27:46.561" v="337" actId="1076"/>
        <pc:sldMkLst>
          <pc:docMk/>
          <pc:sldMk cId="0" sldId="327"/>
        </pc:sldMkLst>
        <pc:spChg chg="mod">
          <ac:chgData name="Jayantha Obeysekera" userId="746567d5-bca1-4cfe-9ff2-830dff7f142b" providerId="ADAL" clId="{0449B1CE-3603-4936-8D6C-FA466DF3740F}" dt="2026-04-21T15:27:46.561" v="337" actId="1076"/>
          <ac:spMkLst>
            <pc:docMk/>
            <pc:sldMk cId="0" sldId="327"/>
            <ac:spMk id="2" creationId="{00000000-0000-0000-0000-000000000000}"/>
          </ac:spMkLst>
        </pc:spChg>
        <pc:spChg chg="mod">
          <ac:chgData name="Jayantha Obeysekera" userId="746567d5-bca1-4cfe-9ff2-830dff7f142b" providerId="ADAL" clId="{0449B1CE-3603-4936-8D6C-FA466DF3740F}" dt="2026-04-21T15:27:43.050" v="336" actId="1076"/>
          <ac:spMkLst>
            <pc:docMk/>
            <pc:sldMk cId="0" sldId="327"/>
            <ac:spMk id="3" creationId="{00000000-0000-0000-0000-000000000000}"/>
          </ac:spMkLst>
        </pc:spChg>
        <pc:spChg chg="mod">
          <ac:chgData name="Jayantha Obeysekera" userId="746567d5-bca1-4cfe-9ff2-830dff7f142b" providerId="ADAL" clId="{0449B1CE-3603-4936-8D6C-FA466DF3740F}" dt="2026-04-21T15:27:40.073" v="335" actId="14100"/>
          <ac:spMkLst>
            <pc:docMk/>
            <pc:sldMk cId="0" sldId="327"/>
            <ac:spMk id="4" creationId="{00000000-0000-0000-0000-000000000000}"/>
          </ac:spMkLst>
        </pc:spChg>
        <pc:spChg chg="mod">
          <ac:chgData name="Jayantha Obeysekera" userId="746567d5-bca1-4cfe-9ff2-830dff7f142b" providerId="ADAL" clId="{0449B1CE-3603-4936-8D6C-FA466DF3740F}" dt="2026-04-11T09:48:34.270" v="181" actId="1076"/>
          <ac:spMkLst>
            <pc:docMk/>
            <pc:sldMk cId="0" sldId="327"/>
            <ac:spMk id="7" creationId="{00000000-0000-0000-0000-000000000000}"/>
          </ac:spMkLst>
        </pc:spChg>
        <pc:spChg chg="mod">
          <ac:chgData name="Jayantha Obeysekera" userId="746567d5-bca1-4cfe-9ff2-830dff7f142b" providerId="ADAL" clId="{0449B1CE-3603-4936-8D6C-FA466DF3740F}" dt="2026-04-11T09:48:57.378" v="186" actId="14100"/>
          <ac:spMkLst>
            <pc:docMk/>
            <pc:sldMk cId="0" sldId="327"/>
            <ac:spMk id="8" creationId="{00000000-0000-0000-0000-000000000000}"/>
          </ac:spMkLst>
        </pc:spChg>
        <pc:spChg chg="mod">
          <ac:chgData name="Jayantha Obeysekera" userId="746567d5-bca1-4cfe-9ff2-830dff7f142b" providerId="ADAL" clId="{0449B1CE-3603-4936-8D6C-FA466DF3740F}" dt="2026-04-11T09:48:47.635" v="184" actId="14100"/>
          <ac:spMkLst>
            <pc:docMk/>
            <pc:sldMk cId="0" sldId="327"/>
            <ac:spMk id="9" creationId="{00000000-0000-0000-0000-000000000000}"/>
          </ac:spMkLst>
        </pc:spChg>
        <pc:spChg chg="mod">
          <ac:chgData name="Jayantha Obeysekera" userId="746567d5-bca1-4cfe-9ff2-830dff7f142b" providerId="ADAL" clId="{0449B1CE-3603-4936-8D6C-FA466DF3740F}" dt="2026-04-11T09:49:10.032" v="188" actId="14100"/>
          <ac:spMkLst>
            <pc:docMk/>
            <pc:sldMk cId="0" sldId="327"/>
            <ac:spMk id="10" creationId="{00000000-0000-0000-0000-000000000000}"/>
          </ac:spMkLst>
        </pc:spChg>
        <pc:spChg chg="mod">
          <ac:chgData name="Jayantha Obeysekera" userId="746567d5-bca1-4cfe-9ff2-830dff7f142b" providerId="ADAL" clId="{0449B1CE-3603-4936-8D6C-FA466DF3740F}" dt="2026-04-11T09:49:10.032" v="188" actId="14100"/>
          <ac:spMkLst>
            <pc:docMk/>
            <pc:sldMk cId="0" sldId="327"/>
            <ac:spMk id="11" creationId="{00000000-0000-0000-0000-000000000000}"/>
          </ac:spMkLst>
        </pc:spChg>
        <pc:spChg chg="mod">
          <ac:chgData name="Jayantha Obeysekera" userId="746567d5-bca1-4cfe-9ff2-830dff7f142b" providerId="ADAL" clId="{0449B1CE-3603-4936-8D6C-FA466DF3740F}" dt="2026-04-11T09:49:22.744" v="190" actId="14100"/>
          <ac:spMkLst>
            <pc:docMk/>
            <pc:sldMk cId="0" sldId="327"/>
            <ac:spMk id="12" creationId="{00000000-0000-0000-0000-000000000000}"/>
          </ac:spMkLst>
        </pc:spChg>
        <pc:spChg chg="mod">
          <ac:chgData name="Jayantha Obeysekera" userId="746567d5-bca1-4cfe-9ff2-830dff7f142b" providerId="ADAL" clId="{0449B1CE-3603-4936-8D6C-FA466DF3740F}" dt="2026-04-11T09:49:31.932" v="191" actId="1076"/>
          <ac:spMkLst>
            <pc:docMk/>
            <pc:sldMk cId="0" sldId="327"/>
            <ac:spMk id="14" creationId="{00000000-0000-0000-0000-000000000000}"/>
          </ac:spMkLst>
        </pc:spChg>
        <pc:spChg chg="mod">
          <ac:chgData name="Jayantha Obeysekera" userId="746567d5-bca1-4cfe-9ff2-830dff7f142b" providerId="ADAL" clId="{0449B1CE-3603-4936-8D6C-FA466DF3740F}" dt="2026-04-11T09:49:47.892" v="194" actId="1076"/>
          <ac:spMkLst>
            <pc:docMk/>
            <pc:sldMk cId="0" sldId="327"/>
            <ac:spMk id="15" creationId="{00000000-0000-0000-0000-000000000000}"/>
          </ac:spMkLst>
        </pc:spChg>
        <pc:picChg chg="mod">
          <ac:chgData name="Jayantha Obeysekera" userId="746567d5-bca1-4cfe-9ff2-830dff7f142b" providerId="ADAL" clId="{0449B1CE-3603-4936-8D6C-FA466DF3740F}" dt="2026-04-21T15:27:25.230" v="332" actId="1076"/>
          <ac:picMkLst>
            <pc:docMk/>
            <pc:sldMk cId="0" sldId="327"/>
            <ac:picMk id="6" creationId="{00000000-0000-0000-0000-000000000000}"/>
          </ac:picMkLst>
        </pc:picChg>
      </pc:sldChg>
      <pc:sldChg chg="addSp delSp modSp mod">
        <pc:chgData name="Jayantha Obeysekera" userId="746567d5-bca1-4cfe-9ff2-830dff7f142b" providerId="ADAL" clId="{0449B1CE-3603-4936-8D6C-FA466DF3740F}" dt="2026-04-21T15:28:26.080" v="339" actId="478"/>
        <pc:sldMkLst>
          <pc:docMk/>
          <pc:sldMk cId="0" sldId="328"/>
        </pc:sldMkLst>
        <pc:spChg chg="mod">
          <ac:chgData name="Jayantha Obeysekera" userId="746567d5-bca1-4cfe-9ff2-830dff7f142b" providerId="ADAL" clId="{0449B1CE-3603-4936-8D6C-FA466DF3740F}" dt="2026-04-21T15:27:57.513" v="338" actId="207"/>
          <ac:spMkLst>
            <pc:docMk/>
            <pc:sldMk cId="0" sldId="328"/>
            <ac:spMk id="2" creationId="{00000000-0000-0000-0000-000000000000}"/>
          </ac:spMkLst>
        </pc:spChg>
        <pc:spChg chg="del mod">
          <ac:chgData name="Jayantha Obeysekera" userId="746567d5-bca1-4cfe-9ff2-830dff7f142b" providerId="ADAL" clId="{0449B1CE-3603-4936-8D6C-FA466DF3740F}" dt="2026-04-21T15:28:26.080" v="339" actId="478"/>
          <ac:spMkLst>
            <pc:docMk/>
            <pc:sldMk cId="0" sldId="328"/>
            <ac:spMk id="3" creationId="{00000000-0000-0000-0000-000000000000}"/>
          </ac:spMkLst>
        </pc:spChg>
        <pc:spChg chg="mod">
          <ac:chgData name="Jayantha Obeysekera" userId="746567d5-bca1-4cfe-9ff2-830dff7f142b" providerId="ADAL" clId="{0449B1CE-3603-4936-8D6C-FA466DF3740F}" dt="2026-04-11T09:52:36.271" v="207" actId="207"/>
          <ac:spMkLst>
            <pc:docMk/>
            <pc:sldMk cId="0" sldId="328"/>
            <ac:spMk id="7" creationId="{00000000-0000-0000-0000-000000000000}"/>
          </ac:spMkLst>
        </pc:spChg>
        <pc:spChg chg="mod">
          <ac:chgData name="Jayantha Obeysekera" userId="746567d5-bca1-4cfe-9ff2-830dff7f142b" providerId="ADAL" clId="{0449B1CE-3603-4936-8D6C-FA466DF3740F}" dt="2026-04-11T09:50:39.718" v="198" actId="255"/>
          <ac:spMkLst>
            <pc:docMk/>
            <pc:sldMk cId="0" sldId="328"/>
            <ac:spMk id="13" creationId="{00000000-0000-0000-0000-000000000000}"/>
          </ac:spMkLst>
        </pc:spChg>
        <pc:spChg chg="mod">
          <ac:chgData name="Jayantha Obeysekera" userId="746567d5-bca1-4cfe-9ff2-830dff7f142b" providerId="ADAL" clId="{0449B1CE-3603-4936-8D6C-FA466DF3740F}" dt="2026-04-11T09:50:39.718" v="198" actId="255"/>
          <ac:spMkLst>
            <pc:docMk/>
            <pc:sldMk cId="0" sldId="328"/>
            <ac:spMk id="14" creationId="{00000000-0000-0000-0000-000000000000}"/>
          </ac:spMkLst>
        </pc:spChg>
        <pc:spChg chg="mod">
          <ac:chgData name="Jayantha Obeysekera" userId="746567d5-bca1-4cfe-9ff2-830dff7f142b" providerId="ADAL" clId="{0449B1CE-3603-4936-8D6C-FA466DF3740F}" dt="2026-04-11T09:50:39.718" v="198" actId="255"/>
          <ac:spMkLst>
            <pc:docMk/>
            <pc:sldMk cId="0" sldId="328"/>
            <ac:spMk id="18" creationId="{00000000-0000-0000-0000-000000000000}"/>
          </ac:spMkLst>
        </pc:spChg>
        <pc:spChg chg="mod">
          <ac:chgData name="Jayantha Obeysekera" userId="746567d5-bca1-4cfe-9ff2-830dff7f142b" providerId="ADAL" clId="{0449B1CE-3603-4936-8D6C-FA466DF3740F}" dt="2026-04-11T09:50:39.718" v="198" actId="255"/>
          <ac:spMkLst>
            <pc:docMk/>
            <pc:sldMk cId="0" sldId="328"/>
            <ac:spMk id="30" creationId="{00000000-0000-0000-0000-000000000000}"/>
          </ac:spMkLst>
        </pc:spChg>
        <pc:spChg chg="mod">
          <ac:chgData name="Jayantha Obeysekera" userId="746567d5-bca1-4cfe-9ff2-830dff7f142b" providerId="ADAL" clId="{0449B1CE-3603-4936-8D6C-FA466DF3740F}" dt="2026-04-11T09:50:39.718" v="198" actId="255"/>
          <ac:spMkLst>
            <pc:docMk/>
            <pc:sldMk cId="0" sldId="328"/>
            <ac:spMk id="33" creationId="{00000000-0000-0000-0000-000000000000}"/>
          </ac:spMkLst>
        </pc:spChg>
        <pc:spChg chg="mod">
          <ac:chgData name="Jayantha Obeysekera" userId="746567d5-bca1-4cfe-9ff2-830dff7f142b" providerId="ADAL" clId="{0449B1CE-3603-4936-8D6C-FA466DF3740F}" dt="2026-04-11T09:50:39.718" v="198" actId="255"/>
          <ac:spMkLst>
            <pc:docMk/>
            <pc:sldMk cId="0" sldId="328"/>
            <ac:spMk id="35" creationId="{00000000-0000-0000-0000-000000000000}"/>
          </ac:spMkLst>
        </pc:spChg>
        <pc:spChg chg="mod">
          <ac:chgData name="Jayantha Obeysekera" userId="746567d5-bca1-4cfe-9ff2-830dff7f142b" providerId="ADAL" clId="{0449B1CE-3603-4936-8D6C-FA466DF3740F}" dt="2026-04-11T09:50:39.718" v="198" actId="255"/>
          <ac:spMkLst>
            <pc:docMk/>
            <pc:sldMk cId="0" sldId="328"/>
            <ac:spMk id="42" creationId="{00000000-0000-0000-0000-000000000000}"/>
          </ac:spMkLst>
        </pc:spChg>
        <pc:spChg chg="mod">
          <ac:chgData name="Jayantha Obeysekera" userId="746567d5-bca1-4cfe-9ff2-830dff7f142b" providerId="ADAL" clId="{0449B1CE-3603-4936-8D6C-FA466DF3740F}" dt="2026-04-11T09:50:39.718" v="198" actId="255"/>
          <ac:spMkLst>
            <pc:docMk/>
            <pc:sldMk cId="0" sldId="328"/>
            <ac:spMk id="44" creationId="{00000000-0000-0000-0000-000000000000}"/>
          </ac:spMkLst>
        </pc:spChg>
        <pc:spChg chg="mod">
          <ac:chgData name="Jayantha Obeysekera" userId="746567d5-bca1-4cfe-9ff2-830dff7f142b" providerId="ADAL" clId="{0449B1CE-3603-4936-8D6C-FA466DF3740F}" dt="2026-04-11T09:50:39.718" v="198" actId="255"/>
          <ac:spMkLst>
            <pc:docMk/>
            <pc:sldMk cId="0" sldId="328"/>
            <ac:spMk id="47" creationId="{00000000-0000-0000-0000-000000000000}"/>
          </ac:spMkLst>
        </pc:spChg>
        <pc:spChg chg="mod">
          <ac:chgData name="Jayantha Obeysekera" userId="746567d5-bca1-4cfe-9ff2-830dff7f142b" providerId="ADAL" clId="{0449B1CE-3603-4936-8D6C-FA466DF3740F}" dt="2026-04-11T09:50:39.718" v="198" actId="255"/>
          <ac:spMkLst>
            <pc:docMk/>
            <pc:sldMk cId="0" sldId="328"/>
            <ac:spMk id="50" creationId="{00000000-0000-0000-0000-000000000000}"/>
          </ac:spMkLst>
        </pc:spChg>
        <pc:spChg chg="mod">
          <ac:chgData name="Jayantha Obeysekera" userId="746567d5-bca1-4cfe-9ff2-830dff7f142b" providerId="ADAL" clId="{0449B1CE-3603-4936-8D6C-FA466DF3740F}" dt="2026-04-11T09:53:19.796" v="216" actId="14100"/>
          <ac:spMkLst>
            <pc:docMk/>
            <pc:sldMk cId="0" sldId="328"/>
            <ac:spMk id="51" creationId="{00000000-0000-0000-0000-000000000000}"/>
          </ac:spMkLst>
        </pc:spChg>
        <pc:spChg chg="mod">
          <ac:chgData name="Jayantha Obeysekera" userId="746567d5-bca1-4cfe-9ff2-830dff7f142b" providerId="ADAL" clId="{0449B1CE-3603-4936-8D6C-FA466DF3740F}" dt="2026-04-11T09:53:31.721" v="218" actId="1076"/>
          <ac:spMkLst>
            <pc:docMk/>
            <pc:sldMk cId="0" sldId="328"/>
            <ac:spMk id="52" creationId="{00000000-0000-0000-0000-000000000000}"/>
          </ac:spMkLst>
        </pc:spChg>
        <pc:spChg chg="mod">
          <ac:chgData name="Jayantha Obeysekera" userId="746567d5-bca1-4cfe-9ff2-830dff7f142b" providerId="ADAL" clId="{0449B1CE-3603-4936-8D6C-FA466DF3740F}" dt="2026-04-11T09:53:45.611" v="222" actId="14100"/>
          <ac:spMkLst>
            <pc:docMk/>
            <pc:sldMk cId="0" sldId="328"/>
            <ac:spMk id="53" creationId="{00000000-0000-0000-0000-000000000000}"/>
          </ac:spMkLst>
        </pc:spChg>
        <pc:picChg chg="mod">
          <ac:chgData name="Jayantha Obeysekera" userId="746567d5-bca1-4cfe-9ff2-830dff7f142b" providerId="ADAL" clId="{0449B1CE-3603-4936-8D6C-FA466DF3740F}" dt="2026-04-11T09:53:13.483" v="215" actId="14100"/>
          <ac:picMkLst>
            <pc:docMk/>
            <pc:sldMk cId="0" sldId="328"/>
            <ac:picMk id="10" creationId="{00000000-0000-0000-0000-000000000000}"/>
          </ac:picMkLst>
        </pc:picChg>
        <pc:picChg chg="add mod">
          <ac:chgData name="Jayantha Obeysekera" userId="746567d5-bca1-4cfe-9ff2-830dff7f142b" providerId="ADAL" clId="{0449B1CE-3603-4936-8D6C-FA466DF3740F}" dt="2026-04-11T09:52:43.584" v="209" actId="14100"/>
          <ac:picMkLst>
            <pc:docMk/>
            <pc:sldMk cId="0" sldId="328"/>
            <ac:picMk id="55" creationId="{D8D058D9-C82E-6250-22E6-55A1BEE11D40}"/>
          </ac:picMkLst>
        </pc:picChg>
      </pc:sldChg>
      <pc:sldChg chg="addSp delSp modSp mod">
        <pc:chgData name="Jayantha Obeysekera" userId="746567d5-bca1-4cfe-9ff2-830dff7f142b" providerId="ADAL" clId="{0449B1CE-3603-4936-8D6C-FA466DF3740F}" dt="2026-04-21T15:28:42.447" v="340" actId="207"/>
        <pc:sldMkLst>
          <pc:docMk/>
          <pc:sldMk cId="0" sldId="329"/>
        </pc:sldMkLst>
        <pc:spChg chg="mod">
          <ac:chgData name="Jayantha Obeysekera" userId="746567d5-bca1-4cfe-9ff2-830dff7f142b" providerId="ADAL" clId="{0449B1CE-3603-4936-8D6C-FA466DF3740F}" dt="2026-04-21T15:28:42.447" v="340" actId="207"/>
          <ac:spMkLst>
            <pc:docMk/>
            <pc:sldMk cId="0" sldId="329"/>
            <ac:spMk id="2" creationId="{00000000-0000-0000-0000-000000000000}"/>
          </ac:spMkLst>
        </pc:spChg>
        <pc:spChg chg="mod">
          <ac:chgData name="Jayantha Obeysekera" userId="746567d5-bca1-4cfe-9ff2-830dff7f142b" providerId="ADAL" clId="{0449B1CE-3603-4936-8D6C-FA466DF3740F}" dt="2026-04-21T15:17:51.299" v="291" actId="255"/>
          <ac:spMkLst>
            <pc:docMk/>
            <pc:sldMk cId="0" sldId="329"/>
            <ac:spMk id="3" creationId="{00000000-0000-0000-0000-000000000000}"/>
          </ac:spMkLst>
        </pc:spChg>
        <pc:spChg chg="mod">
          <ac:chgData name="Jayantha Obeysekera" userId="746567d5-bca1-4cfe-9ff2-830dff7f142b" providerId="ADAL" clId="{0449B1CE-3603-4936-8D6C-FA466DF3740F}" dt="2026-04-21T15:17:59.660" v="292" actId="14100"/>
          <ac:spMkLst>
            <pc:docMk/>
            <pc:sldMk cId="0" sldId="329"/>
            <ac:spMk id="4" creationId="{00000000-0000-0000-0000-000000000000}"/>
          </ac:spMkLst>
        </pc:spChg>
        <pc:spChg chg="mod">
          <ac:chgData name="Jayantha Obeysekera" userId="746567d5-bca1-4cfe-9ff2-830dff7f142b" providerId="ADAL" clId="{0449B1CE-3603-4936-8D6C-FA466DF3740F}" dt="2026-04-11T09:57:00.151" v="245" actId="14100"/>
          <ac:spMkLst>
            <pc:docMk/>
            <pc:sldMk cId="0" sldId="329"/>
            <ac:spMk id="7" creationId="{00000000-0000-0000-0000-000000000000}"/>
          </ac:spMkLst>
        </pc:spChg>
        <pc:spChg chg="mod">
          <ac:chgData name="Jayantha Obeysekera" userId="746567d5-bca1-4cfe-9ff2-830dff7f142b" providerId="ADAL" clId="{0449B1CE-3603-4936-8D6C-FA466DF3740F}" dt="2026-04-11T09:57:21.917" v="250" actId="1076"/>
          <ac:spMkLst>
            <pc:docMk/>
            <pc:sldMk cId="0" sldId="329"/>
            <ac:spMk id="8" creationId="{00000000-0000-0000-0000-000000000000}"/>
          </ac:spMkLst>
        </pc:spChg>
        <pc:spChg chg="mod">
          <ac:chgData name="Jayantha Obeysekera" userId="746567d5-bca1-4cfe-9ff2-830dff7f142b" providerId="ADAL" clId="{0449B1CE-3603-4936-8D6C-FA466DF3740F}" dt="2026-04-21T15:18:15.308" v="293" actId="948"/>
          <ac:spMkLst>
            <pc:docMk/>
            <pc:sldMk cId="0" sldId="329"/>
            <ac:spMk id="9" creationId="{00000000-0000-0000-0000-000000000000}"/>
          </ac:spMkLst>
        </pc:spChg>
        <pc:picChg chg="add mod">
          <ac:chgData name="Jayantha Obeysekera" userId="746567d5-bca1-4cfe-9ff2-830dff7f142b" providerId="ADAL" clId="{0449B1CE-3603-4936-8D6C-FA466DF3740F}" dt="2026-04-11T09:57:42.317" v="254" actId="1076"/>
          <ac:picMkLst>
            <pc:docMk/>
            <pc:sldMk cId="0" sldId="329"/>
            <ac:picMk id="14" creationId="{60AC3984-EBF6-EB57-FE1F-F80671E1B87B}"/>
          </ac:picMkLst>
        </pc:picChg>
      </pc:sldChg>
      <pc:sldChg chg="addSp delSp modSp new mod setBg">
        <pc:chgData name="Jayantha Obeysekera" userId="746567d5-bca1-4cfe-9ff2-830dff7f142b" providerId="ADAL" clId="{0449B1CE-3603-4936-8D6C-FA466DF3740F}" dt="2026-04-11T09:56:02.724" v="239" actId="26606"/>
        <pc:sldMkLst>
          <pc:docMk/>
          <pc:sldMk cId="2565130909" sldId="330"/>
        </pc:sldMkLst>
        <pc:picChg chg="add mod">
          <ac:chgData name="Jayantha Obeysekera" userId="746567d5-bca1-4cfe-9ff2-830dff7f142b" providerId="ADAL" clId="{0449B1CE-3603-4936-8D6C-FA466DF3740F}" dt="2026-04-11T09:56:02.724" v="239" actId="26606"/>
          <ac:picMkLst>
            <pc:docMk/>
            <pc:sldMk cId="2565130909" sldId="330"/>
            <ac:picMk id="3" creationId="{C42CEE1E-5DF3-5FEE-704F-89868A8823CC}"/>
          </ac:picMkLst>
        </pc:picChg>
      </pc:sldChg>
      <pc:sldMasterChg chg="add del addSldLayout delSldLayout modSldLayout">
        <pc:chgData name="Jayantha Obeysekera" userId="746567d5-bca1-4cfe-9ff2-830dff7f142b" providerId="ADAL" clId="{0449B1CE-3603-4936-8D6C-FA466DF3740F}" dt="2026-04-21T15:26:33.540" v="325" actId="478"/>
        <pc:sldMasterMkLst>
          <pc:docMk/>
          <pc:sldMasterMk cId="2069185048" sldId="2147483738"/>
        </pc:sldMasterMkLst>
        <pc:sldLayoutChg chg="add del">
          <pc:chgData name="Jayantha Obeysekera" userId="746567d5-bca1-4cfe-9ff2-830dff7f142b" providerId="ADAL" clId="{0449B1CE-3603-4936-8D6C-FA466DF3740F}" dt="2026-04-21T15:26:22.652" v="324" actId="700"/>
          <pc:sldLayoutMkLst>
            <pc:docMk/>
            <pc:sldMasterMk cId="2069185048" sldId="2147483738"/>
            <pc:sldLayoutMk cId="2776237435" sldId="2147483739"/>
          </pc:sldLayoutMkLst>
        </pc:sldLayoutChg>
        <pc:sldLayoutChg chg="delSp add del mod">
          <pc:chgData name="Jayantha Obeysekera" userId="746567d5-bca1-4cfe-9ff2-830dff7f142b" providerId="ADAL" clId="{0449B1CE-3603-4936-8D6C-FA466DF3740F}" dt="2026-04-21T15:26:33.540" v="325" actId="478"/>
          <pc:sldLayoutMkLst>
            <pc:docMk/>
            <pc:sldMasterMk cId="2069185048" sldId="2147483738"/>
            <pc:sldLayoutMk cId="3947984798" sldId="2147483740"/>
          </pc:sldLayoutMkLst>
          <pc:spChg chg="del">
            <ac:chgData name="Jayantha Obeysekera" userId="746567d5-bca1-4cfe-9ff2-830dff7f142b" providerId="ADAL" clId="{0449B1CE-3603-4936-8D6C-FA466DF3740F}" dt="2026-04-21T15:26:33.540" v="325" actId="478"/>
            <ac:spMkLst>
              <pc:docMk/>
              <pc:sldMasterMk cId="2069185048" sldId="2147483738"/>
              <pc:sldLayoutMk cId="3947984798" sldId="2147483740"/>
              <ac:spMk id="2"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8EE798-3599-429E-A68C-2896CF600607}" type="datetimeFigureOut">
              <a:rPr lang="en-US" smtClean="0"/>
              <a:t>4/21/2026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5F5808-A049-4E98-8F22-C01BDC9F299A}" type="slidenum">
              <a:rPr lang="en-US" smtClean="0"/>
              <a:t>‹#›</a:t>
            </a:fld>
            <a:endParaRPr lang="en-US"/>
          </a:p>
        </p:txBody>
      </p:sp>
    </p:spTree>
    <p:extLst>
      <p:ext uri="{BB962C8B-B14F-4D97-AF65-F5344CB8AC3E}">
        <p14:creationId xmlns:p14="http://schemas.microsoft.com/office/powerpoint/2010/main" val="30537046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dirty="0"/>
          </a:p>
        </p:txBody>
      </p:sp>
      <p:sp>
        <p:nvSpPr>
          <p:cNvPr id="4" name="Slide Number Placeholder 3"/>
          <p:cNvSpPr>
            <a:spLocks noGrp="1"/>
          </p:cNvSpPr>
          <p:nvPr>
            <p:ph type="sldNum" sz="quarter" idx="5"/>
          </p:nvPr>
        </p:nvSpPr>
        <p:spPr/>
        <p:txBody>
          <a:bodyPr/>
          <a:lstStyle/>
          <a:p>
            <a:fld id="{6E5F5808-A049-4E98-8F22-C01BDC9F299A}" type="slidenum">
              <a:rPr lang="en-US" smtClean="0"/>
              <a:t>1</a:t>
            </a:fld>
            <a:endParaRPr lang="en-US"/>
          </a:p>
        </p:txBody>
      </p:sp>
    </p:spTree>
    <p:extLst>
      <p:ext uri="{BB962C8B-B14F-4D97-AF65-F5344CB8AC3E}">
        <p14:creationId xmlns:p14="http://schemas.microsoft.com/office/powerpoint/2010/main" val="2491150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E5F5808-A049-4E98-8F22-C01BDC9F299A}" type="slidenum">
              <a:rPr lang="en-US" smtClean="0"/>
              <a:t>2</a:t>
            </a:fld>
            <a:endParaRPr lang="en-US"/>
          </a:p>
        </p:txBody>
      </p:sp>
    </p:spTree>
    <p:extLst>
      <p:ext uri="{BB962C8B-B14F-4D97-AF65-F5344CB8AC3E}">
        <p14:creationId xmlns:p14="http://schemas.microsoft.com/office/powerpoint/2010/main" val="38764452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E5F5808-A049-4E98-8F22-C01BDC9F299A}" type="slidenum">
              <a:rPr lang="en-US" smtClean="0"/>
              <a:t>3</a:t>
            </a:fld>
            <a:endParaRPr lang="en-US"/>
          </a:p>
        </p:txBody>
      </p:sp>
    </p:spTree>
    <p:extLst>
      <p:ext uri="{BB962C8B-B14F-4D97-AF65-F5344CB8AC3E}">
        <p14:creationId xmlns:p14="http://schemas.microsoft.com/office/powerpoint/2010/main" val="29748293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notebook: cells 0, 3, 8, 10, 12, 14, 16, 17, 19, 34-35.
- Process-flow diagram synthesized from the notebook logic listed above.</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Uploaded notebook: /mnt/data/MachineLearningCombinedNewTrain_cleaned_with_LSTM_XGBoost.ipynb
- Train/test dates and sizes come from the notebook split cell output; model definitions and XGBoost parameters come from the training code cell.
[/Sources]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notebook: cells 3, 6, 10, 12, 14 and their saved outputs.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notebook: cells 15, 16, 17, 18, 19.
- Model-flow diagram synthesized from notebook logic and hyperparameters in those cells.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notebook: cells 19, 21, 23, 24, 30 and their saved outputs.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notebook: cells 17, 19, 33, 34, 35 and their saved outputs.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 levels along the United States coastline have been rising faster than the global average</a:t>
            </a:r>
          </a:p>
          <a:p>
            <a:endParaRPr lang="en-US" dirty="0"/>
          </a:p>
          <a:p>
            <a:r>
              <a:rPr lang="en-US" dirty="0"/>
              <a:t>With some of the largest increases observed along the eastern gulf and the southeastern parts of the country</a:t>
            </a:r>
          </a:p>
          <a:p>
            <a:endParaRPr lang="en-US" dirty="0"/>
          </a:p>
          <a:p>
            <a:r>
              <a:rPr lang="en-US" dirty="0"/>
              <a:t>There is a need for advanced prediction of sea level in efforts to mitigate the flood risk of coastal communities</a:t>
            </a:r>
          </a:p>
          <a:p>
            <a:endParaRPr lang="en-US" dirty="0"/>
          </a:p>
          <a:p>
            <a:r>
              <a:rPr lang="en-US" dirty="0"/>
              <a:t>Machine learning is advantageous as it offers a more computationally efficient than dynamical modeling tools.</a:t>
            </a:r>
          </a:p>
          <a:p>
            <a:endParaRPr lang="en-US" dirty="0"/>
          </a:p>
          <a:p>
            <a:r>
              <a:rPr lang="en-US" dirty="0"/>
              <a:t>Machine learning has previously been applied to predict sea variability. There two common approaches – one uses lagged data and second using oceanic and atmospheric variables.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this work, we use the second approach. Our objective was to use oceanic and atmospheric variables in predicting sea levels. Here we present the results from the application of the Random Forest regressor.</a:t>
            </a:r>
          </a:p>
          <a:p>
            <a:endParaRPr lang="en-US" dirty="0"/>
          </a:p>
        </p:txBody>
      </p:sp>
      <p:sp>
        <p:nvSpPr>
          <p:cNvPr id="4" name="Slide Number Placeholder 3"/>
          <p:cNvSpPr>
            <a:spLocks noGrp="1"/>
          </p:cNvSpPr>
          <p:nvPr>
            <p:ph type="sldNum" sz="quarter" idx="5"/>
          </p:nvPr>
        </p:nvSpPr>
        <p:spPr/>
        <p:txBody>
          <a:bodyPr/>
          <a:lstStyle/>
          <a:p>
            <a:fld id="{79DF2AD0-4C85-4450-BDBE-A62E74DD1F73}" type="slidenum">
              <a:rPr lang="en-US" smtClean="0"/>
              <a:t>11</a:t>
            </a:fld>
            <a:endParaRPr lang="en-US"/>
          </a:p>
        </p:txBody>
      </p:sp>
    </p:spTree>
    <p:extLst>
      <p:ext uri="{BB962C8B-B14F-4D97-AF65-F5344CB8AC3E}">
        <p14:creationId xmlns:p14="http://schemas.microsoft.com/office/powerpoint/2010/main" val="35185097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obtained hourly sea level and tide from NOAAs Tides and Currents for the 19 tide gauge stations shown in the map. We also obtained  hourly sea level pressure and wind data from ERA5. Daily sea surface temperature was downloaded from NOAAs Coral Reef Watch and Florida Current Transport data from NOAA’s Atlantic Oceanographic and Meteorological Laboratory</a:t>
            </a:r>
          </a:p>
        </p:txBody>
      </p:sp>
      <p:sp>
        <p:nvSpPr>
          <p:cNvPr id="4" name="Slide Number Placeholder 3"/>
          <p:cNvSpPr>
            <a:spLocks noGrp="1"/>
          </p:cNvSpPr>
          <p:nvPr>
            <p:ph type="sldNum" sz="quarter" idx="5"/>
          </p:nvPr>
        </p:nvSpPr>
        <p:spPr/>
        <p:txBody>
          <a:bodyPr/>
          <a:lstStyle/>
          <a:p>
            <a:fld id="{79DF2AD0-4C85-4450-BDBE-A62E74DD1F73}" type="slidenum">
              <a:rPr lang="en-US" smtClean="0"/>
              <a:t>12</a:t>
            </a:fld>
            <a:endParaRPr lang="en-US"/>
          </a:p>
        </p:txBody>
      </p:sp>
    </p:spTree>
    <p:extLst>
      <p:ext uri="{BB962C8B-B14F-4D97-AF65-F5344CB8AC3E}">
        <p14:creationId xmlns:p14="http://schemas.microsoft.com/office/powerpoint/2010/main" val="33878860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Here we present the mean absolute error, the root mean squared error and the r-squared for the testing dataset. For these results, we have added both the trend and tide components back before computing the errors so we can compare with the observed sea levels.</a:t>
            </a:r>
          </a:p>
          <a:p>
            <a:endParaRPr lang="en-US" sz="1200" dirty="0"/>
          </a:p>
          <a:p>
            <a:r>
              <a:rPr lang="en-US" sz="1200" dirty="0">
                <a:effectLst/>
                <a:latin typeface="Calibri" panose="020F0502020204030204" pitchFamily="34" charset="0"/>
                <a:ea typeface="Calibri" panose="020F0502020204030204" pitchFamily="34" charset="0"/>
                <a:cs typeface="Times New Roman" panose="02020603050405020304" pitchFamily="18" charset="0"/>
              </a:rPr>
              <a:t>R</a:t>
            </a:r>
            <a:r>
              <a:rPr lang="en-US" sz="1200" baseline="30000" dirty="0">
                <a:effectLst/>
                <a:latin typeface="Calibri" panose="020F0502020204030204" pitchFamily="34" charset="0"/>
                <a:ea typeface="Calibri" panose="020F0502020204030204" pitchFamily="34" charset="0"/>
                <a:cs typeface="Times New Roman" panose="02020603050405020304" pitchFamily="18" charset="0"/>
              </a:rPr>
              <a:t>2</a:t>
            </a:r>
            <a:r>
              <a:rPr lang="en-US" sz="1200" dirty="0">
                <a:effectLst/>
                <a:latin typeface="Calibri" panose="020F0502020204030204" pitchFamily="34" charset="0"/>
                <a:ea typeface="Calibri" panose="020F0502020204030204" pitchFamily="34" charset="0"/>
                <a:cs typeface="Times New Roman" panose="02020603050405020304" pitchFamily="18" charset="0"/>
              </a:rPr>
              <a:t> values for Case 1 ranged from 0.52 to 0.72 and case </a:t>
            </a:r>
            <a:r>
              <a:rPr lang="en-US" sz="1200" dirty="0" err="1">
                <a:effectLst/>
                <a:latin typeface="Calibri" panose="020F0502020204030204" pitchFamily="34" charset="0"/>
                <a:ea typeface="Calibri" panose="020F0502020204030204" pitchFamily="34" charset="0"/>
                <a:cs typeface="Times New Roman" panose="02020603050405020304" pitchFamily="18" charset="0"/>
              </a:rPr>
              <a:t>Case</a:t>
            </a:r>
            <a:r>
              <a:rPr lang="en-US" sz="1200" dirty="0">
                <a:effectLst/>
                <a:latin typeface="Calibri" panose="020F0502020204030204" pitchFamily="34" charset="0"/>
                <a:ea typeface="Calibri" panose="020F0502020204030204" pitchFamily="34" charset="0"/>
                <a:cs typeface="Times New Roman" panose="02020603050405020304" pitchFamily="18" charset="0"/>
              </a:rPr>
              <a:t> 2 ranged from 0.52 to 0.70. Overall, the R</a:t>
            </a:r>
            <a:r>
              <a:rPr lang="en-US" sz="1200" baseline="30000" dirty="0">
                <a:effectLst/>
                <a:latin typeface="Calibri" panose="020F0502020204030204" pitchFamily="34" charset="0"/>
                <a:ea typeface="Calibri" panose="020F0502020204030204" pitchFamily="34" charset="0"/>
                <a:cs typeface="Times New Roman" panose="02020603050405020304" pitchFamily="18" charset="0"/>
              </a:rPr>
              <a:t>2</a:t>
            </a:r>
            <a:r>
              <a:rPr lang="en-US" sz="1200" dirty="0">
                <a:effectLst/>
                <a:latin typeface="Calibri" panose="020F0502020204030204" pitchFamily="34" charset="0"/>
                <a:ea typeface="Calibri" panose="020F0502020204030204" pitchFamily="34" charset="0"/>
                <a:cs typeface="Times New Roman" panose="02020603050405020304" pitchFamily="18" charset="0"/>
              </a:rPr>
              <a:t>-values for Case 1 and Case 2 are comparable, with some stations like Vaca Key, Port Manatee, St. Petersburg, Old Port Tampa, and Clearwater Beach performing better for Case 1. Old Port Tampa has the largest difference in R</a:t>
            </a:r>
            <a:r>
              <a:rPr lang="en-US" sz="1200" baseline="30000" dirty="0">
                <a:effectLst/>
                <a:latin typeface="Calibri" panose="020F0502020204030204" pitchFamily="34" charset="0"/>
                <a:ea typeface="Calibri" panose="020F0502020204030204" pitchFamily="34" charset="0"/>
                <a:cs typeface="Times New Roman" panose="02020603050405020304" pitchFamily="18" charset="0"/>
              </a:rPr>
              <a:t>2</a:t>
            </a:r>
            <a:r>
              <a:rPr lang="en-US" sz="1200" dirty="0">
                <a:effectLst/>
                <a:latin typeface="Calibri" panose="020F0502020204030204" pitchFamily="34" charset="0"/>
                <a:ea typeface="Calibri" panose="020F0502020204030204" pitchFamily="34" charset="0"/>
                <a:cs typeface="Times New Roman" panose="02020603050405020304" pitchFamily="18" charset="0"/>
              </a:rPr>
              <a:t> between the two cases with an R</a:t>
            </a:r>
            <a:r>
              <a:rPr lang="en-US" sz="1200" baseline="30000" dirty="0">
                <a:effectLst/>
                <a:latin typeface="Calibri" panose="020F0502020204030204" pitchFamily="34" charset="0"/>
                <a:ea typeface="Calibri" panose="020F0502020204030204" pitchFamily="34" charset="0"/>
                <a:cs typeface="Times New Roman" panose="02020603050405020304" pitchFamily="18" charset="0"/>
              </a:rPr>
              <a:t>2</a:t>
            </a:r>
            <a:r>
              <a:rPr lang="en-US" sz="1200" dirty="0">
                <a:effectLst/>
                <a:latin typeface="Calibri" panose="020F0502020204030204" pitchFamily="34" charset="0"/>
                <a:ea typeface="Calibri" panose="020F0502020204030204" pitchFamily="34" charset="0"/>
                <a:cs typeface="Times New Roman" panose="02020603050405020304" pitchFamily="18" charset="0"/>
              </a:rPr>
              <a:t> of 0.62 for Case 1 and 0.53 for Case 2.</a:t>
            </a:r>
            <a:endParaRPr lang="en-US" sz="1200" dirty="0"/>
          </a:p>
        </p:txBody>
      </p:sp>
      <p:sp>
        <p:nvSpPr>
          <p:cNvPr id="4" name="Slide Number Placeholder 3"/>
          <p:cNvSpPr>
            <a:spLocks noGrp="1"/>
          </p:cNvSpPr>
          <p:nvPr>
            <p:ph type="sldNum" sz="quarter" idx="5"/>
          </p:nvPr>
        </p:nvSpPr>
        <p:spPr/>
        <p:txBody>
          <a:bodyPr/>
          <a:lstStyle/>
          <a:p>
            <a:fld id="{79DF2AD0-4C85-4450-BDBE-A62E74DD1F73}" type="slidenum">
              <a:rPr lang="en-US" smtClean="0"/>
              <a:t>13</a:t>
            </a:fld>
            <a:endParaRPr lang="en-US"/>
          </a:p>
        </p:txBody>
      </p:sp>
    </p:spTree>
    <p:extLst>
      <p:ext uri="{BB962C8B-B14F-4D97-AF65-F5344CB8AC3E}">
        <p14:creationId xmlns:p14="http://schemas.microsoft.com/office/powerpoint/2010/main" val="21058129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effectLst/>
                <a:latin typeface="Calibri" panose="020F0502020204030204" pitchFamily="34" charset="0"/>
                <a:ea typeface="Calibri" panose="020F0502020204030204" pitchFamily="34" charset="0"/>
                <a:cs typeface="Times New Roman" panose="02020603050405020304" pitchFamily="18" charset="0"/>
              </a:rPr>
              <a:t>A map of RMSEs for Case 1 is presented on the left.</a:t>
            </a:r>
          </a:p>
          <a:p>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200" dirty="0">
                <a:effectLst/>
                <a:latin typeface="Calibri" panose="020F0502020204030204" pitchFamily="34" charset="0"/>
                <a:ea typeface="Calibri" panose="020F0502020204030204" pitchFamily="34" charset="0"/>
                <a:cs typeface="Times New Roman" panose="02020603050405020304" pitchFamily="18" charset="0"/>
              </a:rPr>
              <a:t>For all cases, the lowest RMSEs were calculated for stations in South Florida: Virginia Key, Vaca Key, and Key West. Higher RMSEs are observed for the northwest coast of Florida with RMSEs ranging from 8.7 cm to 11.1 cm for Case 2. The RMSEs of the central-west coast are comparable with RMSEs ranging from 7.5 cm to 8.6 cm for Case 1. The spatial grouping of stations with high RMSEs, like the one observed along the coasts of South Carolina and Georgia might indicate the presence of a local variable, not considered in this study, influencing sea levels at these stations.</a:t>
            </a:r>
          </a:p>
          <a:p>
            <a:endParaRPr lang="en-US" sz="1200" dirty="0">
              <a:effectLst/>
              <a:latin typeface="Calibri" panose="020F0502020204030204" pitchFamily="34" charset="0"/>
              <a:cs typeface="Times New Roman" panose="02020603050405020304" pitchFamily="18" charset="0"/>
            </a:endParaRPr>
          </a:p>
          <a:p>
            <a:r>
              <a:rPr lang="en-US" sz="1200" dirty="0"/>
              <a:t>Presented on the right side is the Case 1 observed versus modeled for the training dataset with the white background and the testing dataset with the yellow background. In both cases, the models captures the daily fluctuations, but not necessarily the magnitude. In both cases it tends to miss the highs and the lows in the dataset, and this is more apparent in the case of an extreme event, where the model tends to under predict sea level.</a:t>
            </a:r>
          </a:p>
        </p:txBody>
      </p:sp>
      <p:sp>
        <p:nvSpPr>
          <p:cNvPr id="4" name="Slide Number Placeholder 3"/>
          <p:cNvSpPr>
            <a:spLocks noGrp="1"/>
          </p:cNvSpPr>
          <p:nvPr>
            <p:ph type="sldNum" sz="quarter" idx="5"/>
          </p:nvPr>
        </p:nvSpPr>
        <p:spPr/>
        <p:txBody>
          <a:bodyPr/>
          <a:lstStyle/>
          <a:p>
            <a:fld id="{79DF2AD0-4C85-4450-BDBE-A62E74DD1F73}" type="slidenum">
              <a:rPr lang="en-US" smtClean="0"/>
              <a:t>14</a:t>
            </a:fld>
            <a:endParaRPr lang="en-US"/>
          </a:p>
        </p:txBody>
      </p:sp>
    </p:spTree>
    <p:extLst>
      <p:ext uri="{BB962C8B-B14F-4D97-AF65-F5344CB8AC3E}">
        <p14:creationId xmlns:p14="http://schemas.microsoft.com/office/powerpoint/2010/main" val="14076262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effectLst/>
                <a:latin typeface="Calibri" panose="020F0502020204030204" pitchFamily="34" charset="0"/>
                <a:ea typeface="Calibri" panose="020F0502020204030204" pitchFamily="34" charset="0"/>
                <a:cs typeface="Times New Roman" panose="02020603050405020304" pitchFamily="18" charset="0"/>
              </a:rPr>
              <a:t>These maps present the top five important features for Case 1 (on the left) and Case 2 (on the right). The grey color in the pie charts indicate the sum the importance of the top five subtracted by one.</a:t>
            </a:r>
          </a:p>
          <a:p>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200" dirty="0">
                <a:effectLst/>
                <a:latin typeface="Calibri" panose="020F0502020204030204" pitchFamily="34" charset="0"/>
                <a:ea typeface="Calibri" panose="020F0502020204030204" pitchFamily="34" charset="0"/>
                <a:cs typeface="Times New Roman" panose="02020603050405020304" pitchFamily="18" charset="0"/>
              </a:rPr>
              <a:t>Overall, stations that are in close geographic proximity tend to have similar top features. For example, we have a group with similar features off the coast of South Carolina, Georgia and North Florida. There is another group of stations in South Florida and one in central west </a:t>
            </a:r>
            <a:r>
              <a:rPr lang="en-US" sz="1200" dirty="0" err="1">
                <a:effectLst/>
                <a:latin typeface="Calibri" panose="020F0502020204030204" pitchFamily="34" charset="0"/>
                <a:ea typeface="Calibri" panose="020F0502020204030204" pitchFamily="34" charset="0"/>
                <a:cs typeface="Times New Roman" panose="02020603050405020304" pitchFamily="18" charset="0"/>
              </a:rPr>
              <a:t>florida</a:t>
            </a:r>
            <a:r>
              <a:rPr lang="en-US" sz="1200" dirty="0">
                <a:effectLst/>
                <a:latin typeface="Calibri" panose="020F0502020204030204" pitchFamily="34" charset="0"/>
                <a:ea typeface="Calibri" panose="020F0502020204030204" pitchFamily="34" charset="0"/>
                <a:cs typeface="Times New Roman" panose="02020603050405020304" pitchFamily="18" charset="0"/>
              </a:rPr>
              <a:t>, and finally another in northwest </a:t>
            </a:r>
            <a:r>
              <a:rPr lang="en-US" sz="1200" dirty="0" err="1">
                <a:effectLst/>
                <a:latin typeface="Calibri" panose="020F0502020204030204" pitchFamily="34" charset="0"/>
                <a:ea typeface="Calibri" panose="020F0502020204030204" pitchFamily="34" charset="0"/>
                <a:cs typeface="Times New Roman" panose="02020603050405020304" pitchFamily="18" charset="0"/>
              </a:rPr>
              <a:t>florida</a:t>
            </a:r>
            <a:r>
              <a:rPr lang="en-US" sz="1200" dirty="0">
                <a:effectLst/>
                <a:latin typeface="Calibri" panose="020F0502020204030204" pitchFamily="34" charset="0"/>
                <a:ea typeface="Calibri" panose="020F0502020204030204" pitchFamily="34" charset="0"/>
                <a:cs typeface="Times New Roman" panose="02020603050405020304" pitchFamily="18" charset="0"/>
              </a:rPr>
              <a:t>.</a:t>
            </a:r>
          </a:p>
          <a:p>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200" dirty="0">
                <a:effectLst/>
                <a:latin typeface="Calibri" panose="020F0502020204030204" pitchFamily="34" charset="0"/>
                <a:ea typeface="Calibri" panose="020F0502020204030204" pitchFamily="34" charset="0"/>
                <a:cs typeface="Times New Roman" panose="02020603050405020304" pitchFamily="18" charset="0"/>
              </a:rPr>
              <a:t>For Case 1, there appears to be a pattern of increasing tidal importance as we go down the eastern coast. This increase in tidal importance also corresponds to a decrease in the importance of the Florida current. FC is the second most important feature for all stations on the east coast from Charleston to Virginia Key. When tide is removed for those stations, as in Case 2, FC becomes the most important feature. For Case 2, the most important feature appears to be sea level pressure for west coast stations, while it is the second most important feature for east coast stations. For west coast stations under Case 2, </a:t>
            </a:r>
            <a:r>
              <a:rPr lang="en-US" sz="1200" dirty="0" err="1">
                <a:effectLst/>
                <a:latin typeface="Calibri" panose="020F0502020204030204" pitchFamily="34" charset="0"/>
                <a:ea typeface="Calibri" panose="020F0502020204030204" pitchFamily="34" charset="0"/>
                <a:cs typeface="Times New Roman" panose="02020603050405020304" pitchFamily="18" charset="0"/>
              </a:rPr>
              <a:t>ws</a:t>
            </a:r>
            <a:r>
              <a:rPr lang="en-US" sz="1200" dirty="0">
                <a:effectLst/>
                <a:latin typeface="Calibri" panose="020F0502020204030204" pitchFamily="34" charset="0"/>
                <a:ea typeface="Calibri" panose="020F0502020204030204" pitchFamily="34" charset="0"/>
                <a:cs typeface="Times New Roman" panose="02020603050405020304" pitchFamily="18" charset="0"/>
              </a:rPr>
              <a:t> is the second most important feature.</a:t>
            </a:r>
          </a:p>
          <a:p>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200" dirty="0">
                <a:effectLst/>
                <a:latin typeface="Calibri" panose="020F0502020204030204" pitchFamily="34" charset="0"/>
                <a:ea typeface="Calibri" panose="020F0502020204030204" pitchFamily="34" charset="0"/>
                <a:cs typeface="Times New Roman" panose="02020603050405020304" pitchFamily="18" charset="0"/>
              </a:rPr>
              <a:t>The sensitivity of the model performance to the inclusion of different variables was tested by running the models by excluding one variable at a time for Case 1 and Case 2. In nearly all cases, R2 drops when important features are excluded from the model with up to 30% drop in R-squared when the important feature to the model is dropped.</a:t>
            </a:r>
          </a:p>
          <a:p>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Don’t forget to talk about how dropping the most important features resulted in drop in R-squared</a:t>
            </a:r>
          </a:p>
          <a:p>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1800" dirty="0">
              <a:effectLst/>
              <a:latin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79DF2AD0-4C85-4450-BDBE-A62E74DD1F73}" type="slidenum">
              <a:rPr lang="en-US" smtClean="0"/>
              <a:t>15</a:t>
            </a:fld>
            <a:endParaRPr lang="en-US"/>
          </a:p>
        </p:txBody>
      </p:sp>
    </p:spTree>
    <p:extLst>
      <p:ext uri="{BB962C8B-B14F-4D97-AF65-F5344CB8AC3E}">
        <p14:creationId xmlns:p14="http://schemas.microsoft.com/office/powerpoint/2010/main" val="37461349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summary, we used the random forest regressor with multiple variables like tide, sea level pressure, wind speed and direction, sea surface temperature, and Florida Current to build models at 19 tide gauges along the Southeastern US coast.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a:t>
            </a:r>
            <a:r>
              <a:rPr lang="en-US" sz="1200" dirty="0"/>
              <a:t>he models captures the daily fluctuations, but not necessarily the magnitude. </a:t>
            </a:r>
            <a:r>
              <a:rPr lang="en-US" dirty="0"/>
              <a:t>There is a tendency to miss the highs and lows. The models appear to underestimate sea levels during extreme events.</a:t>
            </a:r>
            <a:r>
              <a:rPr lang="en-US" sz="1200" dirty="0"/>
              <a:t> Part of the reason is that the model is not sufficiently trained for extreme water levels because the number of data points with hurricane-induced sea levels is small in the training dataset. The other explanation is that these models are trained with data from point locations or a single cell in the case of gridded data, and these are not sufficient to capture the dynamics of an extreme event like a hurricane.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Important features were identified as tide, Florida Current, sea level pressure, and wind speed. And we confirmed their importance by testing the sensitivity of the model to these variables.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9DF2AD0-4C85-4450-BDBE-A62E74DD1F73}" type="slidenum">
              <a:rPr lang="en-US" smtClean="0"/>
              <a:t>16</a:t>
            </a:fld>
            <a:endParaRPr lang="en-US"/>
          </a:p>
        </p:txBody>
      </p:sp>
    </p:spTree>
    <p:extLst>
      <p:ext uri="{BB962C8B-B14F-4D97-AF65-F5344CB8AC3E}">
        <p14:creationId xmlns:p14="http://schemas.microsoft.com/office/powerpoint/2010/main" val="32321718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A0799-D926-3C8A-BC78-AFA25B55C95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BD8E1DE-7B61-2855-29AC-B534982E169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A5D7C39-65FF-CDAF-9AC3-F3617A33368F}"/>
              </a:ext>
            </a:extLst>
          </p:cNvPr>
          <p:cNvSpPr>
            <a:spLocks noGrp="1"/>
          </p:cNvSpPr>
          <p:nvPr>
            <p:ph type="dt" sz="half" idx="10"/>
          </p:nvPr>
        </p:nvSpPr>
        <p:spPr/>
        <p:txBody>
          <a:bodyPr/>
          <a:lstStyle/>
          <a:p>
            <a:fld id="{1D6C88D2-DE01-415E-BB93-0FC79B5C3294}" type="datetime1">
              <a:rPr lang="en-US" smtClean="0"/>
              <a:t>4/21/2026</a:t>
            </a:fld>
            <a:endParaRPr lang="en-US"/>
          </a:p>
        </p:txBody>
      </p:sp>
      <p:sp>
        <p:nvSpPr>
          <p:cNvPr id="5" name="Footer Placeholder 4">
            <a:extLst>
              <a:ext uri="{FF2B5EF4-FFF2-40B4-BE49-F238E27FC236}">
                <a16:creationId xmlns:a16="http://schemas.microsoft.com/office/drawing/2014/main" id="{8C7C7988-F7D6-8ED3-4471-F3F677F3F38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54A88C9-EE06-458B-AFDF-EB95A686F337}"/>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5218105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9294D-2FF6-00DE-1478-1886E2C2C1D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369AF1-CDFB-C972-4C80-8D53160E00C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58E9D3-D277-5D49-3A57-48CE9F1CF3DD}"/>
              </a:ext>
            </a:extLst>
          </p:cNvPr>
          <p:cNvSpPr>
            <a:spLocks noGrp="1"/>
          </p:cNvSpPr>
          <p:nvPr>
            <p:ph type="dt" sz="half" idx="10"/>
          </p:nvPr>
        </p:nvSpPr>
        <p:spPr/>
        <p:txBody>
          <a:bodyPr/>
          <a:lstStyle/>
          <a:p>
            <a:fld id="{760E162A-ACAA-4487-AB57-AE38E4C193BA}" type="datetime1">
              <a:rPr lang="en-US" smtClean="0"/>
              <a:t>4/21/2026</a:t>
            </a:fld>
            <a:endParaRPr lang="en-US"/>
          </a:p>
        </p:txBody>
      </p:sp>
      <p:sp>
        <p:nvSpPr>
          <p:cNvPr id="5" name="Footer Placeholder 4">
            <a:extLst>
              <a:ext uri="{FF2B5EF4-FFF2-40B4-BE49-F238E27FC236}">
                <a16:creationId xmlns:a16="http://schemas.microsoft.com/office/drawing/2014/main" id="{0A0E661B-3C2D-E8AC-30B3-09888EBADC9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9968F0-9028-DCB3-23EB-2C0254046073}"/>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27390426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58F7E-C319-4C43-CA10-C915775A915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3312F70-F80F-1872-DB84-577B8C4F1A8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122EB59-2DE0-6E48-1D37-39FD4539EC5F}"/>
              </a:ext>
            </a:extLst>
          </p:cNvPr>
          <p:cNvSpPr>
            <a:spLocks noGrp="1"/>
          </p:cNvSpPr>
          <p:nvPr>
            <p:ph type="dt" sz="half" idx="10"/>
          </p:nvPr>
        </p:nvSpPr>
        <p:spPr/>
        <p:txBody>
          <a:bodyPr/>
          <a:lstStyle/>
          <a:p>
            <a:fld id="{A0D9C457-FF0E-4939-95C2-B1E67D5C0E0D}" type="datetime1">
              <a:rPr lang="en-US" smtClean="0"/>
              <a:t>4/21/2026</a:t>
            </a:fld>
            <a:endParaRPr lang="en-US"/>
          </a:p>
        </p:txBody>
      </p:sp>
      <p:sp>
        <p:nvSpPr>
          <p:cNvPr id="5" name="Footer Placeholder 4">
            <a:extLst>
              <a:ext uri="{FF2B5EF4-FFF2-40B4-BE49-F238E27FC236}">
                <a16:creationId xmlns:a16="http://schemas.microsoft.com/office/drawing/2014/main" id="{F1AE93E8-473A-2E75-C443-DF60C2C98E9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2A6983-8115-CF90-E546-5A1E26BCEC0A}"/>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20306999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876A0-C4AA-0B1F-0FAD-AE298CD5C82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0798D56-607D-D9D2-A2D8-090C8C7A072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DC1991F-F496-07B7-1E53-8E816942D30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F6BAF4D-65B7-1032-264B-296D92D839C4}"/>
              </a:ext>
            </a:extLst>
          </p:cNvPr>
          <p:cNvSpPr>
            <a:spLocks noGrp="1"/>
          </p:cNvSpPr>
          <p:nvPr>
            <p:ph type="dt" sz="half" idx="10"/>
          </p:nvPr>
        </p:nvSpPr>
        <p:spPr/>
        <p:txBody>
          <a:bodyPr/>
          <a:lstStyle/>
          <a:p>
            <a:fld id="{01C4F414-373D-4B43-B225-52201FF0BEB8}" type="datetime1">
              <a:rPr lang="en-US" smtClean="0"/>
              <a:t>4/21/2026</a:t>
            </a:fld>
            <a:endParaRPr lang="en-US"/>
          </a:p>
        </p:txBody>
      </p:sp>
      <p:sp>
        <p:nvSpPr>
          <p:cNvPr id="6" name="Footer Placeholder 5">
            <a:extLst>
              <a:ext uri="{FF2B5EF4-FFF2-40B4-BE49-F238E27FC236}">
                <a16:creationId xmlns:a16="http://schemas.microsoft.com/office/drawing/2014/main" id="{B18091F1-FC5F-2DF4-EF0A-FD5892E10B3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AC4F1E2-3BC5-8F32-EA70-1DFB3D35772B}"/>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30309801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D6BE5-946D-E102-7B34-21C6D58A2AA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D80230A-EEF4-3B94-29C4-1EDE4D26879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031C4A8-45C7-5CF8-F7C7-2A64D0027A5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4AAD0CD-58EA-8500-C156-5D9E5E68361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A90514A-6124-71A2-0A46-ED5BBB6B24B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0788609-DD0F-1460-899C-E9D21EB54E75}"/>
              </a:ext>
            </a:extLst>
          </p:cNvPr>
          <p:cNvSpPr>
            <a:spLocks noGrp="1"/>
          </p:cNvSpPr>
          <p:nvPr>
            <p:ph type="dt" sz="half" idx="10"/>
          </p:nvPr>
        </p:nvSpPr>
        <p:spPr/>
        <p:txBody>
          <a:bodyPr/>
          <a:lstStyle/>
          <a:p>
            <a:fld id="{88E90200-04AF-45E0-9A6C-94B12906BECB}" type="datetime1">
              <a:rPr lang="en-US" smtClean="0"/>
              <a:t>4/21/2026</a:t>
            </a:fld>
            <a:endParaRPr lang="en-US"/>
          </a:p>
        </p:txBody>
      </p:sp>
      <p:sp>
        <p:nvSpPr>
          <p:cNvPr id="8" name="Footer Placeholder 7">
            <a:extLst>
              <a:ext uri="{FF2B5EF4-FFF2-40B4-BE49-F238E27FC236}">
                <a16:creationId xmlns:a16="http://schemas.microsoft.com/office/drawing/2014/main" id="{CB7004C4-75F8-A308-01C8-CF1548A19733}"/>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AB6EF7AE-529F-7637-E6AC-13BBBAE1E76D}"/>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19074951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92911-8D61-DA71-E6EA-3553866A768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E52416B-B13D-CBA3-AFC3-7EEF9C73BEEB}"/>
              </a:ext>
            </a:extLst>
          </p:cNvPr>
          <p:cNvSpPr>
            <a:spLocks noGrp="1"/>
          </p:cNvSpPr>
          <p:nvPr>
            <p:ph type="dt" sz="half" idx="10"/>
          </p:nvPr>
        </p:nvSpPr>
        <p:spPr/>
        <p:txBody>
          <a:bodyPr/>
          <a:lstStyle/>
          <a:p>
            <a:fld id="{4A49C69E-B6B8-4614-9893-FA768F883FCB}" type="datetime1">
              <a:rPr lang="en-US" smtClean="0"/>
              <a:t>4/21/2026</a:t>
            </a:fld>
            <a:endParaRPr lang="en-US"/>
          </a:p>
        </p:txBody>
      </p:sp>
      <p:sp>
        <p:nvSpPr>
          <p:cNvPr id="4" name="Footer Placeholder 3">
            <a:extLst>
              <a:ext uri="{FF2B5EF4-FFF2-40B4-BE49-F238E27FC236}">
                <a16:creationId xmlns:a16="http://schemas.microsoft.com/office/drawing/2014/main" id="{00C7B6AD-FDDA-9D5D-0A5D-42DDFEC9261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42A706A2-605B-23A4-B0D9-857455F9B5F3}"/>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19159837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68222C1-78D6-B0DF-8915-D4412A2042BC}"/>
              </a:ext>
            </a:extLst>
          </p:cNvPr>
          <p:cNvSpPr>
            <a:spLocks noGrp="1"/>
          </p:cNvSpPr>
          <p:nvPr>
            <p:ph type="dt" sz="half" idx="10"/>
          </p:nvPr>
        </p:nvSpPr>
        <p:spPr/>
        <p:txBody>
          <a:bodyPr/>
          <a:lstStyle/>
          <a:p>
            <a:fld id="{049547D5-E013-40C7-8313-D9AA0A5CF1B1}" type="datetime1">
              <a:rPr lang="en-US" smtClean="0"/>
              <a:t>4/21/2026</a:t>
            </a:fld>
            <a:endParaRPr lang="en-US"/>
          </a:p>
        </p:txBody>
      </p:sp>
      <p:sp>
        <p:nvSpPr>
          <p:cNvPr id="3" name="Footer Placeholder 2">
            <a:extLst>
              <a:ext uri="{FF2B5EF4-FFF2-40B4-BE49-F238E27FC236}">
                <a16:creationId xmlns:a16="http://schemas.microsoft.com/office/drawing/2014/main" id="{989E96C6-6EAA-B436-E61D-45DEC695C6C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AB7F00EA-E38D-2EAD-8B47-9A76F2C75008}"/>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38370720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60BEB-CC09-AEB9-F7CA-75ADF4E2FB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5D7A7A0-8A1C-1611-BBB0-04B6471C62E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FBBF637-39A7-29F7-D3DC-883F72E9EC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9A4E93-EEE5-10E7-213F-0C3BC18A8B8B}"/>
              </a:ext>
            </a:extLst>
          </p:cNvPr>
          <p:cNvSpPr>
            <a:spLocks noGrp="1"/>
          </p:cNvSpPr>
          <p:nvPr>
            <p:ph type="dt" sz="half" idx="10"/>
          </p:nvPr>
        </p:nvSpPr>
        <p:spPr/>
        <p:txBody>
          <a:bodyPr/>
          <a:lstStyle/>
          <a:p>
            <a:fld id="{8AD79CBC-E0C5-494E-9DA9-D3BAF12A3352}" type="datetime1">
              <a:rPr lang="en-US" smtClean="0"/>
              <a:t>4/21/2026</a:t>
            </a:fld>
            <a:endParaRPr lang="en-US"/>
          </a:p>
        </p:txBody>
      </p:sp>
      <p:sp>
        <p:nvSpPr>
          <p:cNvPr id="6" name="Footer Placeholder 5">
            <a:extLst>
              <a:ext uri="{FF2B5EF4-FFF2-40B4-BE49-F238E27FC236}">
                <a16:creationId xmlns:a16="http://schemas.microsoft.com/office/drawing/2014/main" id="{89FB8A68-DCA0-DBAF-CB16-4452DC5CFEB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15FA205-5A06-4D33-45D8-BE4C437FB4B4}"/>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19262392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8A974-2D65-3CCC-61CF-EDBA966BEA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2B32E6B-0636-94BC-622F-FF856FD6BD2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9FF7C44-74C0-3D53-E754-8B0A4E9434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0D7567-A0BF-CAC4-5819-105081A72394}"/>
              </a:ext>
            </a:extLst>
          </p:cNvPr>
          <p:cNvSpPr>
            <a:spLocks noGrp="1"/>
          </p:cNvSpPr>
          <p:nvPr>
            <p:ph type="dt" sz="half" idx="10"/>
          </p:nvPr>
        </p:nvSpPr>
        <p:spPr/>
        <p:txBody>
          <a:bodyPr/>
          <a:lstStyle/>
          <a:p>
            <a:fld id="{03178759-268B-450A-B6D5-53C01D404CBE}" type="datetime1">
              <a:rPr lang="en-US" smtClean="0"/>
              <a:t>4/21/2026</a:t>
            </a:fld>
            <a:endParaRPr lang="en-US"/>
          </a:p>
        </p:txBody>
      </p:sp>
      <p:sp>
        <p:nvSpPr>
          <p:cNvPr id="6" name="Footer Placeholder 5">
            <a:extLst>
              <a:ext uri="{FF2B5EF4-FFF2-40B4-BE49-F238E27FC236}">
                <a16:creationId xmlns:a16="http://schemas.microsoft.com/office/drawing/2014/main" id="{E4EB7A65-2711-8276-60F9-44B22615D42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8DE6898-A89D-3579-9E72-10240BEF7EC1}"/>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13050660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1E4E9-EA5B-5778-D7F1-87D7B0FB9D5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19559AE-FFD8-EF59-542A-C28BBD056C5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98452F-7215-68C3-C282-D15CB4A06C2E}"/>
              </a:ext>
            </a:extLst>
          </p:cNvPr>
          <p:cNvSpPr>
            <a:spLocks noGrp="1"/>
          </p:cNvSpPr>
          <p:nvPr>
            <p:ph type="dt" sz="half" idx="10"/>
          </p:nvPr>
        </p:nvSpPr>
        <p:spPr/>
        <p:txBody>
          <a:bodyPr/>
          <a:lstStyle/>
          <a:p>
            <a:fld id="{449D5DFA-A8EF-42AA-AF4E-DA21DC2B6F50}" type="datetime1">
              <a:rPr lang="en-US" smtClean="0"/>
              <a:t>4/21/2026</a:t>
            </a:fld>
            <a:endParaRPr lang="en-US"/>
          </a:p>
        </p:txBody>
      </p:sp>
      <p:sp>
        <p:nvSpPr>
          <p:cNvPr id="5" name="Footer Placeholder 4">
            <a:extLst>
              <a:ext uri="{FF2B5EF4-FFF2-40B4-BE49-F238E27FC236}">
                <a16:creationId xmlns:a16="http://schemas.microsoft.com/office/drawing/2014/main" id="{52F2819B-436B-15C9-4C3E-7EDAB34C365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60714BEB-4457-2A5A-12B1-0527E48E5633}"/>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33545549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DA23472-DFDD-313F-330A-7F24E72B9DA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A1C7609-C3CE-4329-3D0B-75143C4F195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ED9B4B-0F24-5CB4-0FD0-1A91A0971FDC}"/>
              </a:ext>
            </a:extLst>
          </p:cNvPr>
          <p:cNvSpPr>
            <a:spLocks noGrp="1"/>
          </p:cNvSpPr>
          <p:nvPr>
            <p:ph type="dt" sz="half" idx="10"/>
          </p:nvPr>
        </p:nvSpPr>
        <p:spPr/>
        <p:txBody>
          <a:bodyPr/>
          <a:lstStyle/>
          <a:p>
            <a:fld id="{6665720D-5B81-4331-9356-7D5999FAF5FB}" type="datetime1">
              <a:rPr lang="en-US" smtClean="0"/>
              <a:t>4/21/2026</a:t>
            </a:fld>
            <a:endParaRPr lang="en-US"/>
          </a:p>
        </p:txBody>
      </p:sp>
      <p:sp>
        <p:nvSpPr>
          <p:cNvPr id="5" name="Footer Placeholder 4">
            <a:extLst>
              <a:ext uri="{FF2B5EF4-FFF2-40B4-BE49-F238E27FC236}">
                <a16:creationId xmlns:a16="http://schemas.microsoft.com/office/drawing/2014/main" id="{7211DA8A-BA63-FF36-09E3-2F9861BF97E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B82EFCB-9B7F-D115-B5C1-6D9B77C5E1D3}"/>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34668605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762374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MASTER">
    <p:bg>
      <p:bgPr>
        <a:solidFill>
          <a:srgbClr val="F3F5F7"/>
        </a:solidFill>
        <a:effectLst/>
      </p:bgPr>
    </p:bg>
    <p:spTree>
      <p:nvGrpSpPr>
        <p:cNvPr id="1" name=""/>
        <p:cNvGrpSpPr/>
        <p:nvPr/>
      </p:nvGrpSpPr>
      <p:grpSpPr>
        <a:xfrm>
          <a:off x="0" y="0"/>
          <a:ext cx="0" cy="0"/>
          <a:chOff x="0" y="0"/>
          <a:chExt cx="0" cy="0"/>
        </a:xfrm>
      </p:grpSpPr>
      <p:sp>
        <p:nvSpPr>
          <p:cNvPr id="3" name="Shape 1"/>
          <p:cNvSpPr/>
          <p:nvPr/>
        </p:nvSpPr>
        <p:spPr>
          <a:xfrm>
            <a:off x="548640" y="6446520"/>
            <a:ext cx="11064240" cy="0"/>
          </a:xfrm>
          <a:prstGeom prst="line">
            <a:avLst/>
          </a:prstGeom>
          <a:noFill/>
          <a:ln w="12700">
            <a:solidFill>
              <a:srgbClr val="C9D2DB"/>
            </a:solidFill>
            <a:prstDash val="solid"/>
          </a:ln>
        </p:spPr>
        <p:txBody>
          <a:bodyPr/>
          <a:lstStyle/>
          <a:p>
            <a:endParaRPr lang="en-US"/>
          </a:p>
        </p:txBody>
      </p:sp>
      <p:sp>
        <p:nvSpPr>
          <p:cNvPr id="25" name="Slide Number Placeholder 0"/>
          <p:cNvSpPr>
            <a:spLocks noGrp="1"/>
          </p:cNvSpPr>
          <p:nvPr>
            <p:ph type="sldNum" sz="quarter" idx="4294967295"/>
          </p:nvPr>
        </p:nvSpPr>
        <p:spPr>
          <a:xfrm>
            <a:off x="11777472" y="6473952"/>
            <a:ext cx="228600" cy="164592"/>
          </a:xfrm>
          <a:prstGeom prst="rect">
            <a:avLst/>
          </a:prstGeom>
          <a:extLst>
            <a:ext uri="{C572A759-6A51-4108-AA02-DFA0A04FC94B}">
              <ma14:wrappingTextBoxFlag xmlns="" xmlns:ma14="http://schemas.microsoft.com/office/mac/drawingml/2011/main" val="0"/>
            </a:ext>
          </a:extLst>
        </p:spPr>
        <p:txBody>
          <a:bodyPr/>
          <a:lstStyle>
            <a:lvl1pPr>
              <a:defRPr sz="800">
                <a:solidFill>
                  <a:srgbClr val="677482"/>
                </a:solidFill>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39479847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3A24B5B4-0B39-456D-96F7-6735738DF0FC}"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4AD05E-37FB-4EA3-B344-CEB61A6F945B}" type="slidenum">
              <a:rPr lang="en-US" smtClean="0"/>
              <a:t>‹#›</a:t>
            </a:fld>
            <a:endParaRPr lang="en-US"/>
          </a:p>
        </p:txBody>
      </p:sp>
    </p:spTree>
    <p:extLst>
      <p:ext uri="{BB962C8B-B14F-4D97-AF65-F5344CB8AC3E}">
        <p14:creationId xmlns:p14="http://schemas.microsoft.com/office/powerpoint/2010/main" val="7745960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A24B5B4-0B39-456D-96F7-6735738DF0FC}"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4AD05E-37FB-4EA3-B344-CEB61A6F945B}" type="slidenum">
              <a:rPr lang="en-US" smtClean="0"/>
              <a:t>‹#›</a:t>
            </a:fld>
            <a:endParaRPr lang="en-US"/>
          </a:p>
        </p:txBody>
      </p:sp>
    </p:spTree>
    <p:extLst>
      <p:ext uri="{BB962C8B-B14F-4D97-AF65-F5344CB8AC3E}">
        <p14:creationId xmlns:p14="http://schemas.microsoft.com/office/powerpoint/2010/main" val="32470330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A24B5B4-0B39-456D-96F7-6735738DF0FC}"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4AD05E-37FB-4EA3-B344-CEB61A6F945B}" type="slidenum">
              <a:rPr lang="en-US" smtClean="0"/>
              <a:t>‹#›</a:t>
            </a:fld>
            <a:endParaRPr lang="en-US"/>
          </a:p>
        </p:txBody>
      </p:sp>
    </p:spTree>
    <p:extLst>
      <p:ext uri="{BB962C8B-B14F-4D97-AF65-F5344CB8AC3E}">
        <p14:creationId xmlns:p14="http://schemas.microsoft.com/office/powerpoint/2010/main" val="23584426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A24B5B4-0B39-456D-96F7-6735738DF0FC}" type="datetimeFigureOut">
              <a:rPr lang="en-US" smtClean="0"/>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24AD05E-37FB-4EA3-B344-CEB61A6F945B}" type="slidenum">
              <a:rPr lang="en-US" smtClean="0"/>
              <a:t>‹#›</a:t>
            </a:fld>
            <a:endParaRPr lang="en-US"/>
          </a:p>
        </p:txBody>
      </p:sp>
    </p:spTree>
    <p:extLst>
      <p:ext uri="{BB962C8B-B14F-4D97-AF65-F5344CB8AC3E}">
        <p14:creationId xmlns:p14="http://schemas.microsoft.com/office/powerpoint/2010/main" val="121763342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A24B5B4-0B39-456D-96F7-6735738DF0FC}" type="datetimeFigureOut">
              <a:rPr lang="en-US" smtClean="0"/>
              <a:t>4/21/2026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24AD05E-37FB-4EA3-B344-CEB61A6F945B}" type="slidenum">
              <a:rPr lang="en-US" smtClean="0"/>
              <a:t>‹#›</a:t>
            </a:fld>
            <a:endParaRPr lang="en-US"/>
          </a:p>
        </p:txBody>
      </p:sp>
    </p:spTree>
    <p:extLst>
      <p:ext uri="{BB962C8B-B14F-4D97-AF65-F5344CB8AC3E}">
        <p14:creationId xmlns:p14="http://schemas.microsoft.com/office/powerpoint/2010/main" val="300294746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A24B5B4-0B39-456D-96F7-6735738DF0FC}" type="datetimeFigureOut">
              <a:rPr lang="en-US" smtClean="0"/>
              <a:t>4/21/2026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24AD05E-37FB-4EA3-B344-CEB61A6F945B}" type="slidenum">
              <a:rPr lang="en-US" smtClean="0"/>
              <a:t>‹#›</a:t>
            </a:fld>
            <a:endParaRPr lang="en-US"/>
          </a:p>
        </p:txBody>
      </p:sp>
    </p:spTree>
    <p:extLst>
      <p:ext uri="{BB962C8B-B14F-4D97-AF65-F5344CB8AC3E}">
        <p14:creationId xmlns:p14="http://schemas.microsoft.com/office/powerpoint/2010/main" val="92111560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24B5B4-0B39-456D-96F7-6735738DF0FC}" type="datetimeFigureOut">
              <a:rPr lang="en-US" smtClean="0"/>
              <a:t>4/21/2026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24AD05E-37FB-4EA3-B344-CEB61A6F945B}" type="slidenum">
              <a:rPr lang="en-US" smtClean="0"/>
              <a:t>‹#›</a:t>
            </a:fld>
            <a:endParaRPr lang="en-US"/>
          </a:p>
        </p:txBody>
      </p:sp>
    </p:spTree>
    <p:extLst>
      <p:ext uri="{BB962C8B-B14F-4D97-AF65-F5344CB8AC3E}">
        <p14:creationId xmlns:p14="http://schemas.microsoft.com/office/powerpoint/2010/main" val="97137091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A24B5B4-0B39-456D-96F7-6735738DF0FC}" type="datetimeFigureOut">
              <a:rPr lang="en-US" smtClean="0"/>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24AD05E-37FB-4EA3-B344-CEB61A6F945B}" type="slidenum">
              <a:rPr lang="en-US" smtClean="0"/>
              <a:t>‹#›</a:t>
            </a:fld>
            <a:endParaRPr lang="en-US"/>
          </a:p>
        </p:txBody>
      </p:sp>
    </p:spTree>
    <p:extLst>
      <p:ext uri="{BB962C8B-B14F-4D97-AF65-F5344CB8AC3E}">
        <p14:creationId xmlns:p14="http://schemas.microsoft.com/office/powerpoint/2010/main" val="212143492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A24B5B4-0B39-456D-96F7-6735738DF0FC}" type="datetimeFigureOut">
              <a:rPr lang="en-US" smtClean="0"/>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24AD05E-37FB-4EA3-B344-CEB61A6F945B}" type="slidenum">
              <a:rPr lang="en-US" smtClean="0"/>
              <a:t>‹#›</a:t>
            </a:fld>
            <a:endParaRPr lang="en-US"/>
          </a:p>
        </p:txBody>
      </p:sp>
    </p:spTree>
    <p:extLst>
      <p:ext uri="{BB962C8B-B14F-4D97-AF65-F5344CB8AC3E}">
        <p14:creationId xmlns:p14="http://schemas.microsoft.com/office/powerpoint/2010/main" val="90004735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A24B5B4-0B39-456D-96F7-6735738DF0FC}"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4AD05E-37FB-4EA3-B344-CEB61A6F945B}" type="slidenum">
              <a:rPr lang="en-US" smtClean="0"/>
              <a:t>‹#›</a:t>
            </a:fld>
            <a:endParaRPr lang="en-US"/>
          </a:p>
        </p:txBody>
      </p:sp>
    </p:spTree>
    <p:extLst>
      <p:ext uri="{BB962C8B-B14F-4D97-AF65-F5344CB8AC3E}">
        <p14:creationId xmlns:p14="http://schemas.microsoft.com/office/powerpoint/2010/main" val="273425543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A24B5B4-0B39-456D-96F7-6735738DF0FC}"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4AD05E-37FB-4EA3-B344-CEB61A6F945B}" type="slidenum">
              <a:rPr lang="en-US" smtClean="0"/>
              <a:t>‹#›</a:t>
            </a:fld>
            <a:endParaRPr lang="en-US"/>
          </a:p>
        </p:txBody>
      </p:sp>
    </p:spTree>
    <p:extLst>
      <p:ext uri="{BB962C8B-B14F-4D97-AF65-F5344CB8AC3E}">
        <p14:creationId xmlns:p14="http://schemas.microsoft.com/office/powerpoint/2010/main" val="120451803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789902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3.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4C4A35-7427-6BCC-4C9A-41A06B8FFC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1C4BFCD-1CD4-67FA-E041-1A9C8A9EBDB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BFA18F-EAD5-E736-506C-93E6932E759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C5D6948-4C45-4B8B-A782-6DE3D96F10EB}" type="datetime1">
              <a:rPr lang="en-US" smtClean="0"/>
              <a:t>4/21/2026</a:t>
            </a:fld>
            <a:endParaRPr lang="en-US"/>
          </a:p>
        </p:txBody>
      </p:sp>
      <p:sp>
        <p:nvSpPr>
          <p:cNvPr id="5" name="Footer Placeholder 4">
            <a:extLst>
              <a:ext uri="{FF2B5EF4-FFF2-40B4-BE49-F238E27FC236}">
                <a16:creationId xmlns:a16="http://schemas.microsoft.com/office/drawing/2014/main" id="{2D068DF5-53DC-89CD-429C-1AF5B1EF764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C5107B31-5EA6-D0FD-0BEB-130734FB995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FDF98CC-160E-494C-8C3C-8CDC5FA257DE}" type="slidenum">
              <a:rPr lang="en-US" smtClean="0"/>
              <a:pPr/>
              <a:t>‹#›</a:t>
            </a:fld>
            <a:endParaRPr lang="en-US" dirty="0"/>
          </a:p>
        </p:txBody>
      </p:sp>
    </p:spTree>
    <p:extLst>
      <p:ext uri="{BB962C8B-B14F-4D97-AF65-F5344CB8AC3E}">
        <p14:creationId xmlns:p14="http://schemas.microsoft.com/office/powerpoint/2010/main" val="45154797"/>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77472" y="6473952"/>
            <a:ext cx="228600" cy="164592"/>
          </a:xfrm>
          <a:prstGeom prst="rect">
            <a:avLst/>
          </a:prstGeom>
          <a:extLst>
            <a:ext uri="{C572A759-6A51-4108-AA02-DFA0A04FC94B}">
              <ma14:wrappingTextBoxFlag xmlns="" xmlns:ma14="http://schemas.microsoft.com/office/mac/drawingml/2011/main" val="0"/>
            </a:ext>
          </a:extLst>
        </p:spPr>
        <p:txBody>
          <a:bodyPr/>
          <a:lstStyle>
            <a:lvl1pPr>
              <a:defRPr sz="800">
                <a:solidFill>
                  <a:srgbClr val="677482"/>
                </a:solidFill>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2069185048"/>
      </p:ext>
    </p:extLst>
  </p:cSld>
  <p:clrMap bg1="lt1" tx1="dk1" bg2="lt2" tx2="dk2" accent1="accent1" accent2="accent2" accent3="accent3" accent4="accent4" accent5="accent5" accent6="accent6" hlink="hlink" folHlink="folHlink"/>
  <p:sldLayoutIdLst>
    <p:sldLayoutId id="2147483739" r:id="rId1"/>
    <p:sldLayoutId id="214748374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24B5B4-0B39-456D-96F7-6735738DF0FC}" type="datetimeFigureOut">
              <a:rPr lang="en-US" smtClean="0"/>
              <a:t>4/21/2026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4AD05E-37FB-4EA3-B344-CEB61A6F945B}" type="slidenum">
              <a:rPr lang="en-US" smtClean="0"/>
              <a:t>‹#›</a:t>
            </a:fld>
            <a:endParaRPr lang="en-US"/>
          </a:p>
        </p:txBody>
      </p:sp>
    </p:spTree>
    <p:extLst>
      <p:ext uri="{BB962C8B-B14F-4D97-AF65-F5344CB8AC3E}">
        <p14:creationId xmlns:p14="http://schemas.microsoft.com/office/powerpoint/2010/main" val="3036496667"/>
      </p:ext>
    </p:extLst>
  </p:cSld>
  <p:clrMap bg1="lt1" tx1="dk1" bg2="lt2" tx2="dk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6" r:id="rId5"/>
    <p:sldLayoutId id="2147483747" r:id="rId6"/>
    <p:sldLayoutId id="2147483748" r:id="rId7"/>
    <p:sldLayoutId id="2147483749" r:id="rId8"/>
    <p:sldLayoutId id="2147483750" r:id="rId9"/>
    <p:sldLayoutId id="2147483751" r:id="rId10"/>
    <p:sldLayoutId id="214748375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46855"/>
      </p:ext>
    </p:extLst>
  </p:cSld>
  <p:clrMap bg1="lt1" tx1="dk1" bg2="lt2" tx2="dk2" accent1="accent1" accent2="accent2" accent3="accent3" accent4="accent4" accent5="accent5" accent6="accent6" hlink="hlink" folHlink="folHlink"/>
  <p:sldLayoutIdLst>
    <p:sldLayoutId id="2147483754"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0.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5.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4.jp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7.jpg"/><Relationship Id="rId4" Type="http://schemas.openxmlformats.org/officeDocument/2006/relationships/image" Target="../media/image16.jpg"/></Relationships>
</file>

<file path=ppt/slides/_rels/slide1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20.jpeg"/><Relationship Id="rId4" Type="http://schemas.openxmlformats.org/officeDocument/2006/relationships/image" Target="../media/image19.jpe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4EC92-7E11-0024-736F-6F8D32D44E12}"/>
              </a:ext>
            </a:extLst>
          </p:cNvPr>
          <p:cNvSpPr>
            <a:spLocks noGrp="1"/>
          </p:cNvSpPr>
          <p:nvPr>
            <p:ph type="ctrTitle"/>
          </p:nvPr>
        </p:nvSpPr>
        <p:spPr>
          <a:xfrm>
            <a:off x="0" y="1065701"/>
            <a:ext cx="12192000" cy="1963000"/>
          </a:xfrm>
          <a:solidFill>
            <a:schemeClr val="tx2">
              <a:lumMod val="75000"/>
              <a:lumOff val="25000"/>
            </a:schemeClr>
          </a:solidFill>
        </p:spPr>
        <p:txBody>
          <a:bodyPr>
            <a:normAutofit/>
          </a:bodyPr>
          <a:lstStyle/>
          <a:p>
            <a:r>
              <a:rPr lang="en-US" sz="4000" dirty="0">
                <a:solidFill>
                  <a:srgbClr val="FFC000"/>
                </a:solidFill>
              </a:rPr>
              <a:t>Predicting Sea Level Variability along the Southeastern United States Coastline using Machine Learning</a:t>
            </a:r>
          </a:p>
        </p:txBody>
      </p:sp>
      <p:pic>
        <p:nvPicPr>
          <p:cNvPr id="5" name="image1.png">
            <a:extLst>
              <a:ext uri="{FF2B5EF4-FFF2-40B4-BE49-F238E27FC236}">
                <a16:creationId xmlns:a16="http://schemas.microsoft.com/office/drawing/2014/main" id="{F620CD3C-7FBB-C429-D120-3B5609B52C11}"/>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95124" y="59951"/>
            <a:ext cx="3061876" cy="685800"/>
          </a:xfrm>
          <a:prstGeom prst="rect">
            <a:avLst/>
          </a:prstGeom>
          <a:ln/>
        </p:spPr>
      </p:pic>
      <p:pic>
        <p:nvPicPr>
          <p:cNvPr id="1026" name="Picture 2" descr="RELEASE AND WAIVER OF LIABILTY">
            <a:extLst>
              <a:ext uri="{FF2B5EF4-FFF2-40B4-BE49-F238E27FC236}">
                <a16:creationId xmlns:a16="http://schemas.microsoft.com/office/drawing/2014/main" id="{6A36ECB6-0E3C-E380-A9B4-29B48E55837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84873" y="87372"/>
            <a:ext cx="2612003" cy="685800"/>
          </a:xfrm>
          <a:prstGeom prst="rect">
            <a:avLst/>
          </a:prstGeom>
          <a:noFill/>
          <a:extLst>
            <a:ext uri="{909E8E84-426E-40DD-AFC4-6F175D3DCCD1}">
              <a14:hiddenFill xmlns:a14="http://schemas.microsoft.com/office/drawing/2010/main">
                <a:solidFill>
                  <a:srgbClr val="FFFFFF"/>
                </a:solidFill>
              </a14:hiddenFill>
            </a:ext>
          </a:extLst>
        </p:spPr>
      </p:pic>
      <p:sp>
        <p:nvSpPr>
          <p:cNvPr id="12" name="Subtitle 11">
            <a:extLst>
              <a:ext uri="{FF2B5EF4-FFF2-40B4-BE49-F238E27FC236}">
                <a16:creationId xmlns:a16="http://schemas.microsoft.com/office/drawing/2014/main" id="{7455CC43-D5A7-13FF-93F0-521FB1829253}"/>
              </a:ext>
            </a:extLst>
          </p:cNvPr>
          <p:cNvSpPr>
            <a:spLocks noGrp="1"/>
          </p:cNvSpPr>
          <p:nvPr>
            <p:ph type="subTitle" idx="1"/>
          </p:nvPr>
        </p:nvSpPr>
        <p:spPr>
          <a:xfrm>
            <a:off x="4903941" y="4851821"/>
            <a:ext cx="6835506" cy="1693574"/>
          </a:xfrm>
        </p:spPr>
        <p:txBody>
          <a:bodyPr>
            <a:normAutofit/>
          </a:bodyPr>
          <a:lstStyle/>
          <a:p>
            <a:pPr algn="r">
              <a:lnSpc>
                <a:spcPct val="50000"/>
              </a:lnSpc>
              <a:spcBef>
                <a:spcPts val="1200"/>
              </a:spcBef>
            </a:pPr>
            <a:r>
              <a:rPr lang="en-US" sz="1600" b="1" kern="100" dirty="0">
                <a:effectLst/>
                <a:ea typeface="Calibri" panose="020F0502020204030204" pitchFamily="34" charset="0"/>
                <a:cs typeface="Calibri" panose="020F0502020204030204" pitchFamily="34" charset="0"/>
              </a:rPr>
              <a:t>Anupama John</a:t>
            </a:r>
            <a:r>
              <a:rPr lang="en-US" sz="1600" kern="100" dirty="0">
                <a:effectLst/>
                <a:ea typeface="Calibri" panose="020F0502020204030204" pitchFamily="34" charset="0"/>
                <a:cs typeface="Calibri" panose="020F0502020204030204" pitchFamily="34" charset="0"/>
              </a:rPr>
              <a:t>, </a:t>
            </a:r>
            <a:r>
              <a:rPr lang="en-US" sz="1600" kern="100" dirty="0">
                <a:ea typeface="Calibri" panose="020F0502020204030204" pitchFamily="34" charset="0"/>
                <a:cs typeface="Calibri" panose="020F0502020204030204" pitchFamily="34" charset="0"/>
              </a:rPr>
              <a:t>Florida International University</a:t>
            </a:r>
            <a:endParaRPr lang="en-US" sz="1600" kern="100" dirty="0">
              <a:effectLst/>
              <a:ea typeface="Calibri" panose="020F0502020204030204" pitchFamily="34" charset="0"/>
              <a:cs typeface="Calibri" panose="020F0502020204030204" pitchFamily="34" charset="0"/>
            </a:endParaRPr>
          </a:p>
          <a:p>
            <a:pPr algn="r">
              <a:lnSpc>
                <a:spcPct val="50000"/>
              </a:lnSpc>
              <a:spcBef>
                <a:spcPts val="1200"/>
              </a:spcBef>
            </a:pPr>
            <a:r>
              <a:rPr lang="en-US" sz="1600" kern="100" dirty="0">
                <a:effectLst/>
                <a:ea typeface="Calibri" panose="020F0502020204030204" pitchFamily="34" charset="0"/>
                <a:cs typeface="Calibri" panose="020F0502020204030204" pitchFamily="34" charset="0"/>
              </a:rPr>
              <a:t>Jayantha ‘Obey’ Obeysekera</a:t>
            </a:r>
            <a:r>
              <a:rPr lang="en-US" sz="1600" kern="100" dirty="0">
                <a:ea typeface="Calibri" panose="020F0502020204030204" pitchFamily="34" charset="0"/>
                <a:cs typeface="Calibri" panose="020F0502020204030204" pitchFamily="34" charset="0"/>
              </a:rPr>
              <a:t>, Florida International University</a:t>
            </a:r>
            <a:endParaRPr lang="en-US" sz="1600" kern="100" dirty="0">
              <a:effectLst/>
              <a:ea typeface="Calibri" panose="020F0502020204030204" pitchFamily="34" charset="0"/>
              <a:cs typeface="Calibri" panose="020F0502020204030204" pitchFamily="34" charset="0"/>
            </a:endParaRPr>
          </a:p>
          <a:p>
            <a:pPr algn="r">
              <a:lnSpc>
                <a:spcPct val="50000"/>
              </a:lnSpc>
              <a:spcBef>
                <a:spcPts val="1200"/>
              </a:spcBef>
            </a:pPr>
            <a:r>
              <a:rPr lang="en-US" sz="1600" kern="100" dirty="0">
                <a:effectLst/>
                <a:ea typeface="Calibri" panose="020F0502020204030204" pitchFamily="34" charset="0"/>
                <a:cs typeface="Calibri" panose="020F0502020204030204" pitchFamily="34" charset="0"/>
              </a:rPr>
              <a:t>Kaleb Smith</a:t>
            </a:r>
            <a:r>
              <a:rPr lang="en-US" sz="1600" kern="100" dirty="0">
                <a:ea typeface="Calibri" panose="020F0502020204030204" pitchFamily="34" charset="0"/>
                <a:cs typeface="Calibri" panose="020F0502020204030204" pitchFamily="34" charset="0"/>
              </a:rPr>
              <a:t>, NVIDIA AI Technology Center</a:t>
            </a:r>
            <a:r>
              <a:rPr lang="en-US" sz="1600" kern="100" dirty="0">
                <a:effectLst/>
                <a:ea typeface="Calibri" panose="020F0502020204030204" pitchFamily="34" charset="0"/>
                <a:cs typeface="Calibri" panose="020F0502020204030204" pitchFamily="34" charset="0"/>
              </a:rPr>
              <a:t> </a:t>
            </a:r>
          </a:p>
          <a:p>
            <a:pPr algn="r">
              <a:lnSpc>
                <a:spcPct val="50000"/>
              </a:lnSpc>
              <a:spcBef>
                <a:spcPts val="1200"/>
              </a:spcBef>
            </a:pPr>
            <a:r>
              <a:rPr lang="en-US" sz="1600" kern="100" dirty="0">
                <a:effectLst/>
                <a:ea typeface="Calibri" panose="020F0502020204030204" pitchFamily="34" charset="0"/>
                <a:cs typeface="Calibri" panose="020F0502020204030204" pitchFamily="34" charset="0"/>
              </a:rPr>
              <a:t>Martina M. Rogers</a:t>
            </a:r>
            <a:r>
              <a:rPr lang="en-US" sz="1600" kern="100" dirty="0">
                <a:ea typeface="Calibri" panose="020F0502020204030204" pitchFamily="34" charset="0"/>
                <a:cs typeface="Calibri" panose="020F0502020204030204" pitchFamily="34" charset="0"/>
              </a:rPr>
              <a:t>, HBC Engineering</a:t>
            </a:r>
            <a:endParaRPr lang="en-US" sz="1600" kern="100" dirty="0">
              <a:effectLst/>
              <a:ea typeface="Calibri" panose="020F0502020204030204" pitchFamily="34" charset="0"/>
              <a:cs typeface="Calibri" panose="020F0502020204030204" pitchFamily="34" charset="0"/>
            </a:endParaRPr>
          </a:p>
          <a:p>
            <a:pPr algn="r">
              <a:lnSpc>
                <a:spcPct val="50000"/>
              </a:lnSpc>
              <a:spcBef>
                <a:spcPts val="1200"/>
              </a:spcBef>
            </a:pPr>
            <a:r>
              <a:rPr lang="en-US" sz="1600" kern="100" dirty="0">
                <a:effectLst/>
                <a:ea typeface="Calibri" panose="020F0502020204030204" pitchFamily="34" charset="0"/>
                <a:cs typeface="Calibri" panose="020F0502020204030204" pitchFamily="34" charset="0"/>
              </a:rPr>
              <a:t>Michael C. Sukop, </a:t>
            </a:r>
            <a:r>
              <a:rPr lang="en-US" sz="1600" kern="100" dirty="0">
                <a:ea typeface="Calibri" panose="020F0502020204030204" pitchFamily="34" charset="0"/>
                <a:cs typeface="Calibri" panose="020F0502020204030204" pitchFamily="34" charset="0"/>
              </a:rPr>
              <a:t>Florida International University</a:t>
            </a:r>
            <a:endParaRPr lang="en-US" sz="1600" kern="100" dirty="0">
              <a:effectLst/>
              <a:ea typeface="Calibri" panose="020F0502020204030204" pitchFamily="34" charset="0"/>
              <a:cs typeface="Calibri" panose="020F0502020204030204" pitchFamily="34" charset="0"/>
            </a:endParaRPr>
          </a:p>
          <a:p>
            <a:pPr algn="r">
              <a:lnSpc>
                <a:spcPct val="50000"/>
              </a:lnSpc>
              <a:spcBef>
                <a:spcPts val="1200"/>
              </a:spcBef>
            </a:pPr>
            <a:r>
              <a:rPr lang="en-US" sz="1600" kern="100" dirty="0">
                <a:effectLst/>
                <a:ea typeface="Calibri" panose="020F0502020204030204" pitchFamily="34" charset="0"/>
                <a:cs typeface="Calibri" panose="020F0502020204030204" pitchFamily="34" charset="0"/>
              </a:rPr>
              <a:t>Oscar Guzman</a:t>
            </a:r>
            <a:r>
              <a:rPr lang="en-US" sz="1600" kern="100" dirty="0">
                <a:ea typeface="Calibri" panose="020F0502020204030204" pitchFamily="34" charset="0"/>
                <a:cs typeface="Calibri" panose="020F0502020204030204" pitchFamily="34" charset="0"/>
              </a:rPr>
              <a:t>, Florida International University</a:t>
            </a:r>
            <a:endParaRPr lang="en-US" sz="1600" kern="100" dirty="0">
              <a:effectLst/>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024263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334257" y="199505"/>
            <a:ext cx="8638530" cy="6018414"/>
          </a:xfrm>
          <a:prstGeom prst="rect">
            <a:avLst/>
          </a:prstGeom>
        </p:spPr>
      </p:pic>
      <p:pic>
        <p:nvPicPr>
          <p:cNvPr id="5" name="Picture 4"/>
          <p:cNvPicPr>
            <a:picLocks noChangeAspect="1"/>
          </p:cNvPicPr>
          <p:nvPr/>
        </p:nvPicPr>
        <p:blipFill>
          <a:blip r:embed="rId4"/>
          <a:stretch>
            <a:fillRect/>
          </a:stretch>
        </p:blipFill>
        <p:spPr>
          <a:xfrm>
            <a:off x="6339494" y="232064"/>
            <a:ext cx="3619500" cy="2362200"/>
          </a:xfrm>
          <a:prstGeom prst="rect">
            <a:avLst/>
          </a:prstGeom>
        </p:spPr>
      </p:pic>
      <p:cxnSp>
        <p:nvCxnSpPr>
          <p:cNvPr id="7" name="Straight Arrow Connector 6"/>
          <p:cNvCxnSpPr/>
          <p:nvPr/>
        </p:nvCxnSpPr>
        <p:spPr>
          <a:xfrm flipH="1">
            <a:off x="5224550" y="1554480"/>
            <a:ext cx="1350817" cy="133834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6191942" y="3754826"/>
            <a:ext cx="1675015" cy="1354974"/>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TextBox 9"/>
          <p:cNvSpPr txBox="1"/>
          <p:nvPr/>
        </p:nvSpPr>
        <p:spPr>
          <a:xfrm>
            <a:off x="6521335" y="3829565"/>
            <a:ext cx="1255222"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U-Wind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V-Wind</a:t>
            </a:r>
          </a:p>
        </p:txBody>
      </p:sp>
      <p:sp>
        <p:nvSpPr>
          <p:cNvPr id="11" name="TextBox 10"/>
          <p:cNvSpPr txBox="1"/>
          <p:nvPr/>
        </p:nvSpPr>
        <p:spPr>
          <a:xfrm>
            <a:off x="5991398" y="2892829"/>
            <a:ext cx="1618904" cy="646331"/>
          </a:xfrm>
          <a:prstGeom prst="rect">
            <a:avLst/>
          </a:prstGeom>
          <a:solidFill>
            <a:schemeClr val="accent1">
              <a:lumMod val="60000"/>
              <a:lumOff val="40000"/>
            </a:schemeClr>
          </a:solidFill>
          <a:ln w="12700">
            <a:solidFill>
              <a:schemeClr val="tx1"/>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Sea Surface Temperature</a:t>
            </a:r>
          </a:p>
        </p:txBody>
      </p:sp>
      <p:sp>
        <p:nvSpPr>
          <p:cNvPr id="12" name="TextBox 11"/>
          <p:cNvSpPr txBox="1"/>
          <p:nvPr/>
        </p:nvSpPr>
        <p:spPr>
          <a:xfrm>
            <a:off x="386542" y="4313860"/>
            <a:ext cx="1697901" cy="369332"/>
          </a:xfrm>
          <a:prstGeom prst="rect">
            <a:avLst/>
          </a:prstGeom>
          <a:noFill/>
          <a:ln w="28575">
            <a:solidFill>
              <a:schemeClr val="tx1"/>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Teleconnections</a:t>
            </a:r>
          </a:p>
        </p:txBody>
      </p:sp>
      <p:cxnSp>
        <p:nvCxnSpPr>
          <p:cNvPr id="16" name="Curved Connector 15"/>
          <p:cNvCxnSpPr>
            <a:stCxn id="12" idx="3"/>
          </p:cNvCxnSpPr>
          <p:nvPr/>
        </p:nvCxnSpPr>
        <p:spPr>
          <a:xfrm flipV="1">
            <a:off x="2084443" y="3424844"/>
            <a:ext cx="2886568" cy="1073682"/>
          </a:xfrm>
          <a:prstGeom prst="curvedConnector3">
            <a:avLst>
              <a:gd name="adj1" fmla="val 99245"/>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9" name="Up Arrow 18"/>
          <p:cNvSpPr/>
          <p:nvPr/>
        </p:nvSpPr>
        <p:spPr>
          <a:xfrm>
            <a:off x="4828655" y="4313860"/>
            <a:ext cx="324197" cy="789069"/>
          </a:xfrm>
          <a:prstGeom prst="upArrow">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TextBox 19"/>
          <p:cNvSpPr txBox="1"/>
          <p:nvPr/>
        </p:nvSpPr>
        <p:spPr>
          <a:xfrm flipH="1">
            <a:off x="3998895" y="5238712"/>
            <a:ext cx="1636568" cy="369332"/>
          </a:xfrm>
          <a:prstGeom prst="rect">
            <a:avLst/>
          </a:prstGeom>
          <a:noFill/>
          <a:ln>
            <a:solidFill>
              <a:srgbClr val="FFC00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Florida Current</a:t>
            </a:r>
          </a:p>
        </p:txBody>
      </p:sp>
      <p:cxnSp>
        <p:nvCxnSpPr>
          <p:cNvPr id="22" name="Straight Arrow Connector 21"/>
          <p:cNvCxnSpPr/>
          <p:nvPr/>
        </p:nvCxnSpPr>
        <p:spPr>
          <a:xfrm>
            <a:off x="6430935" y="4408017"/>
            <a:ext cx="789709" cy="403167"/>
          </a:xfrm>
          <a:prstGeom prst="straightConnector1">
            <a:avLst/>
          </a:prstGeom>
          <a:ln w="57150">
            <a:headEnd type="triangle"/>
            <a:tailEnd type="triangle"/>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9443258" y="2892829"/>
            <a:ext cx="2074735" cy="923330"/>
          </a:xfrm>
          <a:prstGeom prst="rect">
            <a:avLst/>
          </a:prstGeom>
          <a:noFill/>
          <a:ln w="28575">
            <a:solidFill>
              <a:schemeClr val="tx1"/>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Astronomical Tides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Sea Level Rise Trend</a:t>
            </a:r>
          </a:p>
        </p:txBody>
      </p:sp>
      <p:cxnSp>
        <p:nvCxnSpPr>
          <p:cNvPr id="25" name="Straight Arrow Connector 24"/>
          <p:cNvCxnSpPr>
            <a:stCxn id="23" idx="1"/>
          </p:cNvCxnSpPr>
          <p:nvPr/>
        </p:nvCxnSpPr>
        <p:spPr>
          <a:xfrm flipH="1" flipV="1">
            <a:off x="8587047" y="2335877"/>
            <a:ext cx="856211" cy="10186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6339494" y="5377209"/>
            <a:ext cx="1618904" cy="646331"/>
          </a:xfrm>
          <a:prstGeom prst="rect">
            <a:avLst/>
          </a:prstGeom>
          <a:solidFill>
            <a:schemeClr val="accent1">
              <a:lumMod val="60000"/>
              <a:lumOff val="40000"/>
            </a:schemeClr>
          </a:solidFill>
          <a:ln w="12700">
            <a:solidFill>
              <a:schemeClr val="tx1"/>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Sea Level Pressure</a:t>
            </a:r>
          </a:p>
        </p:txBody>
      </p:sp>
      <p:cxnSp>
        <p:nvCxnSpPr>
          <p:cNvPr id="29" name="Curved Connector 28"/>
          <p:cNvCxnSpPr>
            <a:stCxn id="11" idx="1"/>
          </p:cNvCxnSpPr>
          <p:nvPr/>
        </p:nvCxnSpPr>
        <p:spPr>
          <a:xfrm rot="10800000">
            <a:off x="5266114" y="3179619"/>
            <a:ext cx="725285" cy="36377"/>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Curved Connector 30"/>
          <p:cNvCxnSpPr>
            <a:stCxn id="9" idx="1"/>
          </p:cNvCxnSpPr>
          <p:nvPr/>
        </p:nvCxnSpPr>
        <p:spPr>
          <a:xfrm rot="10800000">
            <a:off x="5158050" y="3237809"/>
            <a:ext cx="1033893" cy="1194505"/>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Curved Connector 33"/>
          <p:cNvCxnSpPr>
            <a:stCxn id="27" idx="1"/>
          </p:cNvCxnSpPr>
          <p:nvPr/>
        </p:nvCxnSpPr>
        <p:spPr>
          <a:xfrm rot="10800000">
            <a:off x="5086112" y="3197809"/>
            <a:ext cx="1253382" cy="2502567"/>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6800850" y="349134"/>
            <a:ext cx="203914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Sea Level Variability</a:t>
            </a:r>
          </a:p>
        </p:txBody>
      </p:sp>
    </p:spTree>
    <p:extLst>
      <p:ext uri="{BB962C8B-B14F-4D97-AF65-F5344CB8AC3E}">
        <p14:creationId xmlns:p14="http://schemas.microsoft.com/office/powerpoint/2010/main" val="3452091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3645923" y="150886"/>
            <a:ext cx="8069204" cy="6556228"/>
          </a:xfrm>
          <a:prstGeom prst="rect">
            <a:avLst/>
          </a:prstGeom>
        </p:spPr>
      </p:pic>
      <p:sp>
        <p:nvSpPr>
          <p:cNvPr id="3" name="Title 2">
            <a:extLst>
              <a:ext uri="{FF2B5EF4-FFF2-40B4-BE49-F238E27FC236}">
                <a16:creationId xmlns:a16="http://schemas.microsoft.com/office/drawing/2014/main" id="{A8E2B204-FBA1-3366-3384-A9CFD0106621}"/>
              </a:ext>
            </a:extLst>
          </p:cNvPr>
          <p:cNvSpPr>
            <a:spLocks noGrp="1"/>
          </p:cNvSpPr>
          <p:nvPr>
            <p:ph type="title"/>
          </p:nvPr>
        </p:nvSpPr>
        <p:spPr>
          <a:xfrm>
            <a:off x="629478" y="2482159"/>
            <a:ext cx="1855304" cy="1325563"/>
          </a:xfrm>
        </p:spPr>
        <p:txBody>
          <a:bodyPr/>
          <a:lstStyle/>
          <a:p>
            <a:r>
              <a:rPr lang="en-US" b="1" dirty="0">
                <a:latin typeface="Arial" panose="020B0604020202020204" pitchFamily="34" charset="0"/>
                <a:cs typeface="Arial" panose="020B0604020202020204" pitchFamily="34" charset="0"/>
              </a:rPr>
              <a:t>Data</a:t>
            </a:r>
          </a:p>
        </p:txBody>
      </p:sp>
    </p:spTree>
    <p:extLst>
      <p:ext uri="{BB962C8B-B14F-4D97-AF65-F5344CB8AC3E}">
        <p14:creationId xmlns:p14="http://schemas.microsoft.com/office/powerpoint/2010/main" val="410393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66928" y="219456"/>
            <a:ext cx="8412480"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b="1" dirty="0">
                <a:latin typeface="Arial"/>
              </a:rPr>
              <a:t>P</a:t>
            </a:r>
            <a:r>
              <a:rPr kumimoji="0" lang="en-US" sz="3200" b="1" i="0" u="none" strike="noStrike" kern="1200" cap="none" spc="0" normalizeH="0" baseline="0" noProof="0" dirty="0" err="1">
                <a:ln>
                  <a:noFill/>
                </a:ln>
                <a:effectLst/>
                <a:uLnTx/>
                <a:uFillTx/>
                <a:latin typeface="Arial"/>
                <a:ea typeface="+mn-ea"/>
                <a:cs typeface="+mn-cs"/>
              </a:rPr>
              <a:t>rocess</a:t>
            </a:r>
            <a:r>
              <a:rPr kumimoji="0" lang="en-US" sz="3200" b="1" i="0" u="none" strike="noStrike" kern="1200" cap="none" spc="0" normalizeH="0" baseline="0" noProof="0" dirty="0">
                <a:ln>
                  <a:noFill/>
                </a:ln>
                <a:effectLst/>
                <a:uLnTx/>
                <a:uFillTx/>
                <a:latin typeface="Arial"/>
                <a:ea typeface="+mn-ea"/>
                <a:cs typeface="+mn-cs"/>
              </a:rPr>
              <a:t> flow</a:t>
            </a:r>
            <a:endParaRPr kumimoji="0" lang="en-US" sz="3200" b="0" i="0" u="none" strike="noStrike" kern="1200" cap="none" spc="0" normalizeH="0" baseline="0" noProof="0" dirty="0">
              <a:ln>
                <a:noFill/>
              </a:ln>
              <a:effectLst/>
              <a:uLnTx/>
              <a:uFillTx/>
              <a:latin typeface="Arial"/>
              <a:ea typeface="+mn-ea"/>
              <a:cs typeface="+mn-cs"/>
            </a:endParaRPr>
          </a:p>
        </p:txBody>
      </p:sp>
      <p:sp>
        <p:nvSpPr>
          <p:cNvPr id="4" name="Shape 2"/>
          <p:cNvSpPr/>
          <p:nvPr/>
        </p:nvSpPr>
        <p:spPr>
          <a:xfrm>
            <a:off x="566928" y="841248"/>
            <a:ext cx="2423160" cy="45719"/>
          </a:xfrm>
          <a:prstGeom prst="rect">
            <a:avLst/>
          </a:prstGeom>
          <a:solidFill>
            <a:srgbClr val="1E8E8F"/>
          </a:solidFill>
          <a:ln w="12700">
            <a:solidFill>
              <a:srgbClr val="1E8E8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pic>
        <p:nvPicPr>
          <p:cNvPr id="6" name="Image 0" descr="/mnt/data/rebuild/slide_assets/process_flow.png"/>
          <p:cNvPicPr>
            <a:picLocks noChangeAspect="1"/>
          </p:cNvPicPr>
          <p:nvPr/>
        </p:nvPicPr>
        <p:blipFill>
          <a:blip r:embed="rId3"/>
          <a:stretch>
            <a:fillRect/>
          </a:stretch>
        </p:blipFill>
        <p:spPr>
          <a:xfrm>
            <a:off x="497212" y="5128664"/>
            <a:ext cx="11197575" cy="688255"/>
          </a:xfrm>
          <a:prstGeom prst="rect">
            <a:avLst/>
          </a:prstGeom>
        </p:spPr>
      </p:pic>
      <p:sp>
        <p:nvSpPr>
          <p:cNvPr id="7" name="Text 4"/>
          <p:cNvSpPr/>
          <p:nvPr/>
        </p:nvSpPr>
        <p:spPr>
          <a:xfrm>
            <a:off x="594360" y="1207437"/>
            <a:ext cx="274320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03B53"/>
                </a:solidFill>
                <a:effectLst/>
                <a:uLnTx/>
                <a:uFillTx/>
                <a:latin typeface="Arial"/>
                <a:ea typeface="+mn-ea"/>
                <a:cs typeface="+mn-cs"/>
              </a:rPr>
              <a:t>What goes in</a:t>
            </a:r>
            <a:endParaRPr kumimoji="0" lang="en-US" sz="2000" b="0" i="0" u="none" strike="noStrike" kern="1200" cap="none" spc="0" normalizeH="0" baseline="0" noProof="0" dirty="0">
              <a:ln>
                <a:noFill/>
              </a:ln>
              <a:solidFill>
                <a:prstClr val="black"/>
              </a:solidFill>
              <a:effectLst/>
              <a:uLnTx/>
              <a:uFillTx/>
              <a:latin typeface="Arial"/>
              <a:ea typeface="+mn-ea"/>
              <a:cs typeface="+mn-cs"/>
            </a:endParaRPr>
          </a:p>
        </p:txBody>
      </p:sp>
      <p:sp>
        <p:nvSpPr>
          <p:cNvPr id="8" name="Text 5"/>
          <p:cNvSpPr/>
          <p:nvPr/>
        </p:nvSpPr>
        <p:spPr>
          <a:xfrm>
            <a:off x="525780" y="1626174"/>
            <a:ext cx="3136392" cy="117728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1D2B36"/>
                </a:solidFill>
                <a:effectLst/>
                <a:uLnTx/>
                <a:uFillTx/>
                <a:latin typeface="Arial"/>
                <a:ea typeface="+mn-ea"/>
                <a:cs typeface="+mn-cs"/>
              </a:rPr>
              <a:t>Station sheet from a multi-station Excel workbook, with water-level and forcing variables.</a:t>
            </a:r>
            <a:endParaRPr kumimoji="0" lang="en-US" b="0" i="0" u="none" strike="noStrike" kern="1200" cap="none" spc="0" normalizeH="0" baseline="0" noProof="0" dirty="0">
              <a:ln>
                <a:noFill/>
              </a:ln>
              <a:solidFill>
                <a:prstClr val="black"/>
              </a:solidFill>
              <a:effectLst/>
              <a:uLnTx/>
              <a:uFillTx/>
              <a:latin typeface="Arial"/>
              <a:ea typeface="+mn-ea"/>
              <a:cs typeface="+mn-cs"/>
            </a:endParaRPr>
          </a:p>
        </p:txBody>
      </p:sp>
      <p:sp>
        <p:nvSpPr>
          <p:cNvPr id="9" name="Text 6"/>
          <p:cNvSpPr/>
          <p:nvPr/>
        </p:nvSpPr>
        <p:spPr>
          <a:xfrm>
            <a:off x="3776472" y="1141665"/>
            <a:ext cx="347472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03B53"/>
                </a:solidFill>
                <a:effectLst/>
                <a:uLnTx/>
                <a:uFillTx/>
                <a:latin typeface="Arial"/>
                <a:ea typeface="+mn-ea"/>
                <a:cs typeface="+mn-cs"/>
              </a:rPr>
              <a:t>What changes inside the notebook</a:t>
            </a:r>
            <a:endParaRPr kumimoji="0" lang="en-US" sz="2000" b="0" i="0" u="none" strike="noStrike" kern="1200" cap="none" spc="0" normalizeH="0" baseline="0" noProof="0" dirty="0">
              <a:ln>
                <a:noFill/>
              </a:ln>
              <a:solidFill>
                <a:prstClr val="black"/>
              </a:solidFill>
              <a:effectLst/>
              <a:uLnTx/>
              <a:uFillTx/>
              <a:latin typeface="Arial"/>
              <a:ea typeface="+mn-ea"/>
              <a:cs typeface="+mn-cs"/>
            </a:endParaRPr>
          </a:p>
        </p:txBody>
      </p:sp>
      <p:sp>
        <p:nvSpPr>
          <p:cNvPr id="10" name="Text 7"/>
          <p:cNvSpPr/>
          <p:nvPr/>
        </p:nvSpPr>
        <p:spPr>
          <a:xfrm>
            <a:off x="3707892" y="1870694"/>
            <a:ext cx="361188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1D2B36"/>
                </a:solidFill>
                <a:effectLst/>
                <a:uLnTx/>
                <a:uFillTx/>
                <a:latin typeface="Arial"/>
                <a:ea typeface="+mn-ea"/>
                <a:cs typeface="+mn-cs"/>
              </a:rPr>
              <a:t>Missing values are interpolated, lagged forcing terms are added, and the target/predictor matrix is assembled.</a:t>
            </a:r>
            <a:endParaRPr kumimoji="0" lang="en-US" b="0" i="0" u="none" strike="noStrike" kern="1200" cap="none" spc="0" normalizeH="0" baseline="0" noProof="0" dirty="0">
              <a:ln>
                <a:noFill/>
              </a:ln>
              <a:solidFill>
                <a:prstClr val="black"/>
              </a:solidFill>
              <a:effectLst/>
              <a:uLnTx/>
              <a:uFillTx/>
              <a:latin typeface="Arial"/>
              <a:ea typeface="+mn-ea"/>
              <a:cs typeface="+mn-cs"/>
            </a:endParaRPr>
          </a:p>
        </p:txBody>
      </p:sp>
      <p:sp>
        <p:nvSpPr>
          <p:cNvPr id="11" name="Text 8"/>
          <p:cNvSpPr/>
          <p:nvPr/>
        </p:nvSpPr>
        <p:spPr>
          <a:xfrm>
            <a:off x="8104103" y="1041081"/>
            <a:ext cx="246888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03B53"/>
                </a:solidFill>
                <a:effectLst/>
                <a:uLnTx/>
                <a:uFillTx/>
                <a:latin typeface="Arial"/>
                <a:ea typeface="+mn-ea"/>
                <a:cs typeface="+mn-cs"/>
              </a:rPr>
              <a:t>What comes out</a:t>
            </a:r>
            <a:endParaRPr kumimoji="0" lang="en-US" sz="2000" b="0" i="0" u="none" strike="noStrike" kern="1200" cap="none" spc="0" normalizeH="0" baseline="0" noProof="0" dirty="0">
              <a:ln>
                <a:noFill/>
              </a:ln>
              <a:solidFill>
                <a:prstClr val="black"/>
              </a:solidFill>
              <a:effectLst/>
              <a:uLnTx/>
              <a:uFillTx/>
              <a:latin typeface="Arial"/>
              <a:ea typeface="+mn-ea"/>
              <a:cs typeface="+mn-cs"/>
            </a:endParaRPr>
          </a:p>
        </p:txBody>
      </p:sp>
      <p:sp>
        <p:nvSpPr>
          <p:cNvPr id="12" name="Text 9"/>
          <p:cNvSpPr/>
          <p:nvPr/>
        </p:nvSpPr>
        <p:spPr>
          <a:xfrm>
            <a:off x="8131535" y="1845118"/>
            <a:ext cx="29718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1D2B36"/>
                </a:solidFill>
                <a:effectLst/>
                <a:uLnTx/>
                <a:uFillTx/>
                <a:latin typeface="Arial"/>
                <a:ea typeface="+mn-ea"/>
                <a:cs typeface="+mn-cs"/>
              </a:rPr>
              <a:t>Predictions for a held-out test period plus error metrics, residual plots, and feature importance.</a:t>
            </a:r>
            <a:endParaRPr kumimoji="0" lang="en-US" b="0" i="0" u="none" strike="noStrike" kern="1200" cap="none" spc="0" normalizeH="0" baseline="0" noProof="0" dirty="0">
              <a:ln>
                <a:noFill/>
              </a:ln>
              <a:solidFill>
                <a:prstClr val="black"/>
              </a:solidFill>
              <a:effectLst/>
              <a:uLnTx/>
              <a:uFillTx/>
              <a:latin typeface="Arial"/>
              <a:ea typeface="+mn-ea"/>
              <a:cs typeface="+mn-cs"/>
            </a:endParaRPr>
          </a:p>
        </p:txBody>
      </p:sp>
      <p:sp>
        <p:nvSpPr>
          <p:cNvPr id="13" name="Shape 10"/>
          <p:cNvSpPr/>
          <p:nvPr/>
        </p:nvSpPr>
        <p:spPr>
          <a:xfrm>
            <a:off x="525780" y="3515551"/>
            <a:ext cx="2880360" cy="749808"/>
          </a:xfrm>
          <a:prstGeom prst="roundRect">
            <a:avLst>
              <a:gd name="adj" fmla="val 9756"/>
            </a:avLst>
          </a:prstGeom>
          <a:solidFill>
            <a:srgbClr val="EAF4F6"/>
          </a:solidFill>
          <a:ln w="12700">
            <a:solidFill>
              <a:srgbClr val="D7E1E6"/>
            </a:solidFill>
            <a:prstDash val="solid"/>
          </a:ln>
          <a:effectLst>
            <a:outerShdw blurRad="19050" dist="6350" dir="27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14" name="Shape 11"/>
          <p:cNvSpPr/>
          <p:nvPr/>
        </p:nvSpPr>
        <p:spPr>
          <a:xfrm>
            <a:off x="3941064" y="3515551"/>
            <a:ext cx="2880360" cy="749808"/>
          </a:xfrm>
          <a:prstGeom prst="roundRect">
            <a:avLst>
              <a:gd name="adj" fmla="val 9756"/>
            </a:avLst>
          </a:prstGeom>
          <a:solidFill>
            <a:srgbClr val="EAF4F6"/>
          </a:solidFill>
          <a:ln w="12700">
            <a:solidFill>
              <a:srgbClr val="D7E1E6"/>
            </a:solidFill>
            <a:prstDash val="solid"/>
          </a:ln>
          <a:effectLst>
            <a:outerShdw blurRad="19050" dist="6350" dir="27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15" name="Shape 12"/>
          <p:cNvSpPr/>
          <p:nvPr/>
        </p:nvSpPr>
        <p:spPr>
          <a:xfrm>
            <a:off x="7621524" y="3469365"/>
            <a:ext cx="3730752" cy="749808"/>
          </a:xfrm>
          <a:prstGeom prst="roundRect">
            <a:avLst>
              <a:gd name="adj" fmla="val 9756"/>
            </a:avLst>
          </a:prstGeom>
          <a:solidFill>
            <a:srgbClr val="F5E7BF"/>
          </a:solidFill>
          <a:ln w="12700">
            <a:solidFill>
              <a:srgbClr val="E3C36D"/>
            </a:solidFill>
            <a:prstDash val="solid"/>
          </a:ln>
          <a:effectLst>
            <a:outerShdw blurRad="19050" dist="6350" dir="27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16" name="Text 13"/>
          <p:cNvSpPr/>
          <p:nvPr/>
        </p:nvSpPr>
        <p:spPr>
          <a:xfrm>
            <a:off x="594360" y="3762438"/>
            <a:ext cx="2468880" cy="18288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103B53"/>
                </a:solidFill>
                <a:effectLst/>
                <a:uLnTx/>
                <a:uFillTx/>
                <a:latin typeface="Arial"/>
                <a:ea typeface="+mn-ea"/>
                <a:cs typeface="+mn-cs"/>
              </a:rPr>
              <a:t>Target: residualTide</a:t>
            </a:r>
            <a:endParaRPr kumimoji="0" lang="en-US" b="0" i="0" u="none" strike="noStrike" kern="1200" cap="none" spc="0" normalizeH="0" baseline="0" noProof="0" dirty="0">
              <a:ln>
                <a:noFill/>
              </a:ln>
              <a:solidFill>
                <a:prstClr val="black"/>
              </a:solidFill>
              <a:effectLst/>
              <a:uLnTx/>
              <a:uFillTx/>
              <a:latin typeface="Arial"/>
              <a:ea typeface="+mn-ea"/>
              <a:cs typeface="+mn-cs"/>
            </a:endParaRPr>
          </a:p>
        </p:txBody>
      </p:sp>
      <p:sp>
        <p:nvSpPr>
          <p:cNvPr id="17" name="Text 14"/>
          <p:cNvSpPr/>
          <p:nvPr/>
        </p:nvSpPr>
        <p:spPr>
          <a:xfrm>
            <a:off x="4146804" y="3766693"/>
            <a:ext cx="2468880" cy="18288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103B53"/>
                </a:solidFill>
                <a:effectLst/>
                <a:uLnTx/>
                <a:uFillTx/>
                <a:latin typeface="Arial"/>
                <a:ea typeface="+mn-ea"/>
                <a:cs typeface="+mn-cs"/>
              </a:rPr>
              <a:t>Chronological 80/20 split</a:t>
            </a:r>
            <a:endParaRPr kumimoji="0" lang="en-US" b="0" i="0" u="none" strike="noStrike" kern="1200" cap="none" spc="0" normalizeH="0" baseline="0" noProof="0" dirty="0">
              <a:ln>
                <a:noFill/>
              </a:ln>
              <a:solidFill>
                <a:prstClr val="black"/>
              </a:solidFill>
              <a:effectLst/>
              <a:uLnTx/>
              <a:uFillTx/>
              <a:latin typeface="Arial"/>
              <a:ea typeface="+mn-ea"/>
              <a:cs typeface="+mn-cs"/>
            </a:endParaRPr>
          </a:p>
        </p:txBody>
      </p:sp>
      <p:sp>
        <p:nvSpPr>
          <p:cNvPr id="18" name="Text 15"/>
          <p:cNvSpPr/>
          <p:nvPr/>
        </p:nvSpPr>
        <p:spPr>
          <a:xfrm>
            <a:off x="7829783" y="3707575"/>
            <a:ext cx="3246120" cy="18288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103B53"/>
                </a:solidFill>
                <a:effectLst/>
                <a:uLnTx/>
                <a:uFillTx/>
                <a:latin typeface="Arial"/>
                <a:ea typeface="+mn-ea"/>
                <a:cs typeface="+mn-cs"/>
              </a:rPr>
              <a:t>Fair comparison across RF, GB, XGBoost, and LSTM</a:t>
            </a:r>
            <a:endParaRPr kumimoji="0" lang="en-US" b="0" i="0" u="none" strike="noStrike" kern="1200" cap="none" spc="0" normalizeH="0" baseline="0" noProof="0" dirty="0">
              <a:ln>
                <a:noFill/>
              </a:ln>
              <a:solidFill>
                <a:prstClr val="black"/>
              </a:solidFill>
              <a:effectLst/>
              <a:uLnTx/>
              <a:uFillTx/>
              <a:latin typeface="Arial"/>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32989" y="374904"/>
            <a:ext cx="621792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effectLst/>
                <a:uLnTx/>
                <a:uFillTx/>
                <a:latin typeface="Aptos Display" pitchFamily="34" charset="0"/>
                <a:ea typeface="Aptos Display" pitchFamily="34" charset="-122"/>
                <a:cs typeface="Aptos Display" pitchFamily="34" charset="-120"/>
              </a:rPr>
              <a:t>Time-aware split and model branches</a:t>
            </a:r>
            <a:endParaRPr kumimoji="0" lang="en-US" sz="2800" b="0" i="0" u="none" strike="noStrike" kern="1200" cap="none" spc="0" normalizeH="0" baseline="0" noProof="0" dirty="0">
              <a:ln>
                <a:noFill/>
              </a:ln>
              <a:effectLst/>
              <a:uLnTx/>
              <a:uFillTx/>
              <a:latin typeface="Aptos"/>
              <a:ea typeface="+mn-ea"/>
              <a:cs typeface="+mn-cs"/>
            </a:endParaRPr>
          </a:p>
        </p:txBody>
      </p:sp>
      <p:sp>
        <p:nvSpPr>
          <p:cNvPr id="5" name="Shape 3"/>
          <p:cNvSpPr/>
          <p:nvPr/>
        </p:nvSpPr>
        <p:spPr>
          <a:xfrm>
            <a:off x="1414582" y="859536"/>
            <a:ext cx="8887329" cy="1787652"/>
          </a:xfrm>
          <a:prstGeom prst="roundRect">
            <a:avLst>
              <a:gd name="adj" fmla="val 4444"/>
            </a:avLst>
          </a:prstGeom>
          <a:solidFill>
            <a:srgbClr val="FFFFFF"/>
          </a:solidFill>
          <a:ln w="12700">
            <a:solidFill>
              <a:srgbClr val="D6DDE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ptos"/>
              <a:ea typeface="+mn-ea"/>
              <a:cs typeface="+mn-cs"/>
            </a:endParaRPr>
          </a:p>
        </p:txBody>
      </p:sp>
      <p:sp>
        <p:nvSpPr>
          <p:cNvPr id="6" name="Shape 4"/>
          <p:cNvSpPr/>
          <p:nvPr/>
        </p:nvSpPr>
        <p:spPr>
          <a:xfrm>
            <a:off x="2651760" y="946404"/>
            <a:ext cx="3612199" cy="1051560"/>
          </a:xfrm>
          <a:prstGeom prst="roundRect">
            <a:avLst>
              <a:gd name="adj" fmla="val 17647"/>
            </a:avLst>
          </a:prstGeom>
          <a:solidFill>
            <a:srgbClr val="2B7A78"/>
          </a:solidFill>
          <a:ln w="12700">
            <a:solidFill>
              <a:srgbClr val="2B7A7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7" name="Text 5"/>
          <p:cNvSpPr/>
          <p:nvPr/>
        </p:nvSpPr>
        <p:spPr>
          <a:xfrm>
            <a:off x="3429856" y="982978"/>
            <a:ext cx="2624328" cy="9601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FFFFFF"/>
                </a:solidFill>
                <a:effectLst/>
                <a:uLnTx/>
                <a:uFillTx/>
                <a:latin typeface="Aptos"/>
                <a:ea typeface="+mn-ea"/>
                <a:cs typeface="+mn-cs"/>
              </a:rPr>
              <a:t>Train: 2010-01-06 to 2018-10-20 | 3,210 rows</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8" name="Shape 6"/>
          <p:cNvSpPr/>
          <p:nvPr/>
        </p:nvSpPr>
        <p:spPr>
          <a:xfrm>
            <a:off x="7193467" y="898398"/>
            <a:ext cx="2849163" cy="1106424"/>
          </a:xfrm>
          <a:prstGeom prst="roundRect">
            <a:avLst>
              <a:gd name="adj" fmla="val 17647"/>
            </a:avLst>
          </a:prstGeom>
          <a:solidFill>
            <a:srgbClr val="D39A2D"/>
          </a:solidFill>
          <a:ln w="12700">
            <a:solidFill>
              <a:srgbClr val="D39A2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9" name="Text 7"/>
          <p:cNvSpPr/>
          <p:nvPr/>
        </p:nvSpPr>
        <p:spPr>
          <a:xfrm>
            <a:off x="7539228" y="1207008"/>
            <a:ext cx="224028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163347"/>
                </a:solidFill>
                <a:effectLst/>
                <a:uLnTx/>
                <a:uFillTx/>
                <a:latin typeface="Aptos"/>
                <a:ea typeface="+mn-ea"/>
                <a:cs typeface="+mn-cs"/>
              </a:rPr>
              <a:t>Test: 2018-10-21 to 2020-12-31 | 803 rows</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10" name="Shape 8"/>
          <p:cNvSpPr/>
          <p:nvPr/>
        </p:nvSpPr>
        <p:spPr>
          <a:xfrm>
            <a:off x="1844351" y="2052828"/>
            <a:ext cx="5349240" cy="146304"/>
          </a:xfrm>
          <a:prstGeom prst="rect">
            <a:avLst/>
          </a:prstGeom>
          <a:solidFill>
            <a:srgbClr val="2B7A78"/>
          </a:solidFill>
          <a:ln w="12700">
            <a:solidFill>
              <a:srgbClr val="2B7A7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1" name="Shape 9"/>
          <p:cNvSpPr/>
          <p:nvPr/>
        </p:nvSpPr>
        <p:spPr>
          <a:xfrm>
            <a:off x="7193591" y="2052828"/>
            <a:ext cx="2514600" cy="146304"/>
          </a:xfrm>
          <a:prstGeom prst="rect">
            <a:avLst/>
          </a:prstGeom>
          <a:solidFill>
            <a:srgbClr val="D39A2D"/>
          </a:solidFill>
          <a:ln w="12700">
            <a:solidFill>
              <a:srgbClr val="D39A2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2" name="Text 10"/>
          <p:cNvSpPr/>
          <p:nvPr/>
        </p:nvSpPr>
        <p:spPr>
          <a:xfrm>
            <a:off x="1734622" y="2263140"/>
            <a:ext cx="615385"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617180"/>
                </a:solidFill>
                <a:effectLst/>
                <a:uLnTx/>
                <a:uFillTx/>
                <a:latin typeface="Aptos"/>
                <a:ea typeface="+mn-ea"/>
                <a:cs typeface="+mn-cs"/>
              </a:rPr>
              <a:t>2010</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13" name="Shape 11"/>
          <p:cNvSpPr/>
          <p:nvPr/>
        </p:nvSpPr>
        <p:spPr>
          <a:xfrm>
            <a:off x="1890071" y="2153412"/>
            <a:ext cx="0" cy="100584"/>
          </a:xfrm>
          <a:prstGeom prst="line">
            <a:avLst/>
          </a:prstGeom>
          <a:noFill/>
          <a:ln w="12700">
            <a:solidFill>
              <a:srgbClr val="AEBBC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4" name="Text 12"/>
          <p:cNvSpPr/>
          <p:nvPr/>
        </p:nvSpPr>
        <p:spPr>
          <a:xfrm>
            <a:off x="4386382" y="2263139"/>
            <a:ext cx="642809" cy="231213"/>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617180"/>
                </a:solidFill>
                <a:effectLst/>
                <a:uLnTx/>
                <a:uFillTx/>
                <a:latin typeface="Aptos"/>
                <a:ea typeface="+mn-ea"/>
                <a:cs typeface="+mn-cs"/>
              </a:rPr>
              <a:t>2014</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15" name="Shape 13"/>
          <p:cNvSpPr/>
          <p:nvPr/>
        </p:nvSpPr>
        <p:spPr>
          <a:xfrm>
            <a:off x="4541831" y="2153412"/>
            <a:ext cx="0" cy="100584"/>
          </a:xfrm>
          <a:prstGeom prst="line">
            <a:avLst/>
          </a:prstGeom>
          <a:noFill/>
          <a:ln w="12700">
            <a:solidFill>
              <a:srgbClr val="AEBBC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6" name="Text 14"/>
          <p:cNvSpPr/>
          <p:nvPr/>
        </p:nvSpPr>
        <p:spPr>
          <a:xfrm>
            <a:off x="7038142" y="2263140"/>
            <a:ext cx="789103" cy="23121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617180"/>
                </a:solidFill>
                <a:effectLst/>
                <a:uLnTx/>
                <a:uFillTx/>
                <a:latin typeface="Aptos"/>
                <a:ea typeface="+mn-ea"/>
                <a:cs typeface="+mn-cs"/>
              </a:rPr>
              <a:t>2018</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17" name="Shape 15"/>
          <p:cNvSpPr/>
          <p:nvPr/>
        </p:nvSpPr>
        <p:spPr>
          <a:xfrm>
            <a:off x="7193591" y="2153412"/>
            <a:ext cx="0" cy="100584"/>
          </a:xfrm>
          <a:prstGeom prst="line">
            <a:avLst/>
          </a:prstGeom>
          <a:noFill/>
          <a:ln w="12700">
            <a:solidFill>
              <a:srgbClr val="AEBBC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8" name="Text 16"/>
          <p:cNvSpPr/>
          <p:nvPr/>
        </p:nvSpPr>
        <p:spPr>
          <a:xfrm>
            <a:off x="9598462" y="2263140"/>
            <a:ext cx="624513" cy="23121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617180"/>
                </a:solidFill>
                <a:effectLst/>
                <a:uLnTx/>
                <a:uFillTx/>
                <a:latin typeface="Aptos"/>
                <a:ea typeface="+mn-ea"/>
                <a:cs typeface="+mn-cs"/>
              </a:rPr>
              <a:t>2020</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19" name="Shape 17"/>
          <p:cNvSpPr/>
          <p:nvPr/>
        </p:nvSpPr>
        <p:spPr>
          <a:xfrm>
            <a:off x="9753911" y="2153412"/>
            <a:ext cx="0" cy="100584"/>
          </a:xfrm>
          <a:prstGeom prst="line">
            <a:avLst/>
          </a:prstGeom>
          <a:noFill/>
          <a:ln w="12700">
            <a:solidFill>
              <a:srgbClr val="AEBBC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1" name="Text 19"/>
          <p:cNvSpPr/>
          <p:nvPr/>
        </p:nvSpPr>
        <p:spPr>
          <a:xfrm>
            <a:off x="4890361" y="2692908"/>
            <a:ext cx="2389643" cy="711273"/>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14324A"/>
                </a:solidFill>
                <a:effectLst/>
                <a:uLnTx/>
                <a:uFillTx/>
                <a:latin typeface="Aptos"/>
                <a:ea typeface="+mn-ea"/>
                <a:cs typeface="+mn-cs"/>
              </a:rPr>
              <a:t>Shared feature</a:t>
            </a:r>
            <a:endParaRPr kumimoji="0" lang="en-US" b="0" i="0" u="none" strike="noStrike" kern="1200" cap="none" spc="0" normalizeH="0" baseline="0" noProof="0" dirty="0">
              <a:ln>
                <a:noFill/>
              </a:ln>
              <a:solidFill>
                <a:prstClr val="black"/>
              </a:solidFill>
              <a:effectLst/>
              <a:uLnTx/>
              <a:uFillTx/>
              <a:latin typeface="Apto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14324A"/>
                </a:solidFill>
                <a:effectLst/>
                <a:uLnTx/>
                <a:uFillTx/>
                <a:latin typeface="Aptos"/>
                <a:ea typeface="+mn-ea"/>
                <a:cs typeface="+mn-cs"/>
              </a:rPr>
              <a:t>matrix: 92 predictors</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22" name="Shape 20"/>
          <p:cNvSpPr/>
          <p:nvPr/>
        </p:nvSpPr>
        <p:spPr>
          <a:xfrm>
            <a:off x="2350008" y="4023360"/>
            <a:ext cx="0" cy="210312"/>
          </a:xfrm>
          <a:prstGeom prst="line">
            <a:avLst/>
          </a:prstGeom>
          <a:noFill/>
          <a:ln w="12700">
            <a:solidFill>
              <a:srgbClr val="B8C3C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ptos"/>
              <a:ea typeface="+mn-ea"/>
              <a:cs typeface="+mn-cs"/>
            </a:endParaRPr>
          </a:p>
        </p:txBody>
      </p:sp>
      <p:sp>
        <p:nvSpPr>
          <p:cNvPr id="23" name="Shape 21"/>
          <p:cNvSpPr/>
          <p:nvPr/>
        </p:nvSpPr>
        <p:spPr>
          <a:xfrm>
            <a:off x="1059181" y="4233672"/>
            <a:ext cx="2388107" cy="1705356"/>
          </a:xfrm>
          <a:prstGeom prst="roundRect">
            <a:avLst>
              <a:gd name="adj" fmla="val 4444"/>
            </a:avLst>
          </a:prstGeom>
          <a:solidFill>
            <a:srgbClr val="EAF1F7"/>
          </a:solidFill>
          <a:ln w="12700">
            <a:solidFill>
              <a:srgbClr val="2F6D9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ptos"/>
              <a:ea typeface="+mn-ea"/>
              <a:cs typeface="+mn-cs"/>
            </a:endParaRPr>
          </a:p>
        </p:txBody>
      </p:sp>
      <p:sp>
        <p:nvSpPr>
          <p:cNvPr id="24" name="Text 22"/>
          <p:cNvSpPr/>
          <p:nvPr/>
        </p:nvSpPr>
        <p:spPr>
          <a:xfrm>
            <a:off x="1361694" y="3694176"/>
            <a:ext cx="1783080" cy="1828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14324A"/>
                </a:solidFill>
                <a:effectLst/>
                <a:uLnTx/>
                <a:uFillTx/>
                <a:latin typeface="Aptos"/>
                <a:ea typeface="+mn-ea"/>
                <a:cs typeface="+mn-cs"/>
              </a:rPr>
              <a:t>Random Forest</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25" name="Text 23"/>
          <p:cNvSpPr/>
          <p:nvPr/>
        </p:nvSpPr>
        <p:spPr>
          <a:xfrm>
            <a:off x="1109472" y="4256532"/>
            <a:ext cx="2388107" cy="178765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163347"/>
                </a:solidFill>
                <a:effectLst/>
                <a:uLnTx/>
                <a:uFillTx/>
                <a:latin typeface="Aptos"/>
                <a:ea typeface="+mn-ea"/>
                <a:cs typeface="+mn-cs"/>
              </a:rPr>
              <a:t>500 trees</a:t>
            </a:r>
            <a:endParaRPr kumimoji="0" lang="en-US" b="0" i="0" u="none" strike="noStrike" kern="1200" cap="none" spc="0" normalizeH="0" baseline="0" noProof="0" dirty="0">
              <a:ln>
                <a:noFill/>
              </a:ln>
              <a:solidFill>
                <a:prstClr val="black"/>
              </a:solidFill>
              <a:effectLst/>
              <a:uLnTx/>
              <a:uFillTx/>
              <a:latin typeface="Apto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163347"/>
                </a:solidFill>
                <a:effectLst/>
                <a:uLnTx/>
                <a:uFillTx/>
                <a:latin typeface="Aptos"/>
                <a:ea typeface="+mn-ea"/>
                <a:cs typeface="+mn-cs"/>
              </a:rPr>
              <a:t>max_depth = 10</a:t>
            </a:r>
            <a:endParaRPr kumimoji="0" lang="en-US" b="0" i="0" u="none" strike="noStrike" kern="1200" cap="none" spc="0" normalizeH="0" baseline="0" noProof="0" dirty="0">
              <a:ln>
                <a:noFill/>
              </a:ln>
              <a:solidFill>
                <a:prstClr val="black"/>
              </a:solidFill>
              <a:effectLst/>
              <a:uLnTx/>
              <a:uFillTx/>
              <a:latin typeface="Apto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163347"/>
                </a:solidFill>
                <a:effectLst/>
                <a:uLnTx/>
                <a:uFillTx/>
                <a:latin typeface="Aptos"/>
                <a:ea typeface="+mn-ea"/>
                <a:cs typeface="+mn-cs"/>
              </a:rPr>
              <a:t>bagged trees on lagged predictors</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26" name="Shape 24"/>
          <p:cNvSpPr/>
          <p:nvPr/>
        </p:nvSpPr>
        <p:spPr>
          <a:xfrm>
            <a:off x="5029200" y="4023360"/>
            <a:ext cx="0" cy="210312"/>
          </a:xfrm>
          <a:prstGeom prst="line">
            <a:avLst/>
          </a:prstGeom>
          <a:noFill/>
          <a:ln w="12700">
            <a:solidFill>
              <a:srgbClr val="B8C3C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ptos"/>
              <a:ea typeface="+mn-ea"/>
              <a:cs typeface="+mn-cs"/>
            </a:endParaRPr>
          </a:p>
        </p:txBody>
      </p:sp>
      <p:sp>
        <p:nvSpPr>
          <p:cNvPr id="27" name="Shape 25"/>
          <p:cNvSpPr/>
          <p:nvPr/>
        </p:nvSpPr>
        <p:spPr>
          <a:xfrm>
            <a:off x="3968496" y="4233672"/>
            <a:ext cx="2157984" cy="1668780"/>
          </a:xfrm>
          <a:prstGeom prst="roundRect">
            <a:avLst>
              <a:gd name="adj" fmla="val 4444"/>
            </a:avLst>
          </a:prstGeom>
          <a:solidFill>
            <a:srgbClr val="EBF4EE"/>
          </a:solidFill>
          <a:ln w="12700">
            <a:solidFill>
              <a:srgbClr val="4C956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ptos"/>
              <a:ea typeface="+mn-ea"/>
              <a:cs typeface="+mn-cs"/>
            </a:endParaRPr>
          </a:p>
        </p:txBody>
      </p:sp>
      <p:sp>
        <p:nvSpPr>
          <p:cNvPr id="28" name="Text 26"/>
          <p:cNvSpPr/>
          <p:nvPr/>
        </p:nvSpPr>
        <p:spPr>
          <a:xfrm>
            <a:off x="4180641" y="3678499"/>
            <a:ext cx="2083318" cy="97971"/>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14324A"/>
                </a:solidFill>
                <a:effectLst/>
                <a:uLnTx/>
                <a:uFillTx/>
                <a:latin typeface="Aptos"/>
                <a:ea typeface="+mn-ea"/>
                <a:cs typeface="+mn-cs"/>
              </a:rPr>
              <a:t>Gradient Boosting</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29" name="Text 27"/>
          <p:cNvSpPr/>
          <p:nvPr/>
        </p:nvSpPr>
        <p:spPr>
          <a:xfrm>
            <a:off x="4180641" y="4777739"/>
            <a:ext cx="1783080" cy="56692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163347"/>
                </a:solidFill>
                <a:effectLst/>
                <a:uLnTx/>
                <a:uFillTx/>
                <a:latin typeface="Aptos"/>
                <a:ea typeface="+mn-ea"/>
                <a:cs typeface="+mn-cs"/>
              </a:rPr>
              <a:t>500 estimators</a:t>
            </a:r>
            <a:endParaRPr kumimoji="0" lang="en-US" b="0" i="0" u="none" strike="noStrike" kern="1200" cap="none" spc="0" normalizeH="0" baseline="0" noProof="0" dirty="0">
              <a:ln>
                <a:noFill/>
              </a:ln>
              <a:solidFill>
                <a:prstClr val="black"/>
              </a:solidFill>
              <a:effectLst/>
              <a:uLnTx/>
              <a:uFillTx/>
              <a:latin typeface="Apto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163347"/>
                </a:solidFill>
                <a:effectLst/>
                <a:uLnTx/>
                <a:uFillTx/>
                <a:latin typeface="Aptos"/>
                <a:ea typeface="+mn-ea"/>
                <a:cs typeface="+mn-cs"/>
              </a:rPr>
              <a:t>learning_rate = 0.01</a:t>
            </a:r>
            <a:endParaRPr kumimoji="0" lang="en-US" b="0" i="0" u="none" strike="noStrike" kern="1200" cap="none" spc="0" normalizeH="0" baseline="0" noProof="0" dirty="0">
              <a:ln>
                <a:noFill/>
              </a:ln>
              <a:solidFill>
                <a:prstClr val="black"/>
              </a:solidFill>
              <a:effectLst/>
              <a:uLnTx/>
              <a:uFillTx/>
              <a:latin typeface="Apto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163347"/>
                </a:solidFill>
                <a:effectLst/>
                <a:uLnTx/>
                <a:uFillTx/>
                <a:latin typeface="Aptos"/>
                <a:ea typeface="+mn-ea"/>
                <a:cs typeface="+mn-cs"/>
              </a:rPr>
              <a:t>small trees added sequentially</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30" name="Shape 28"/>
          <p:cNvSpPr/>
          <p:nvPr/>
        </p:nvSpPr>
        <p:spPr>
          <a:xfrm>
            <a:off x="7452360" y="4023360"/>
            <a:ext cx="0" cy="210312"/>
          </a:xfrm>
          <a:prstGeom prst="line">
            <a:avLst/>
          </a:prstGeom>
          <a:noFill/>
          <a:ln w="12700">
            <a:solidFill>
              <a:srgbClr val="B8C3C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ptos"/>
              <a:ea typeface="+mn-ea"/>
              <a:cs typeface="+mn-cs"/>
            </a:endParaRPr>
          </a:p>
        </p:txBody>
      </p:sp>
      <p:sp>
        <p:nvSpPr>
          <p:cNvPr id="31" name="Shape 29"/>
          <p:cNvSpPr/>
          <p:nvPr/>
        </p:nvSpPr>
        <p:spPr>
          <a:xfrm>
            <a:off x="6537959" y="4233672"/>
            <a:ext cx="2240281" cy="1810512"/>
          </a:xfrm>
          <a:prstGeom prst="roundRect">
            <a:avLst>
              <a:gd name="adj" fmla="val 4444"/>
            </a:avLst>
          </a:prstGeom>
          <a:solidFill>
            <a:srgbClr val="FAF0DD"/>
          </a:solidFill>
          <a:ln w="12700">
            <a:solidFill>
              <a:srgbClr val="D39A2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ptos"/>
              <a:ea typeface="+mn-ea"/>
              <a:cs typeface="+mn-cs"/>
            </a:endParaRPr>
          </a:p>
        </p:txBody>
      </p:sp>
      <p:sp>
        <p:nvSpPr>
          <p:cNvPr id="32" name="Text 30"/>
          <p:cNvSpPr/>
          <p:nvPr/>
        </p:nvSpPr>
        <p:spPr>
          <a:xfrm>
            <a:off x="6667811" y="3678499"/>
            <a:ext cx="1783080" cy="1828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14324A"/>
                </a:solidFill>
                <a:effectLst/>
                <a:uLnTx/>
                <a:uFillTx/>
                <a:latin typeface="Aptos"/>
                <a:ea typeface="+mn-ea"/>
                <a:cs typeface="+mn-cs"/>
              </a:rPr>
              <a:t>XGBoost</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33" name="Text 31"/>
          <p:cNvSpPr/>
          <p:nvPr/>
        </p:nvSpPr>
        <p:spPr>
          <a:xfrm>
            <a:off x="6727959" y="4605146"/>
            <a:ext cx="1853494" cy="80238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163347"/>
                </a:solidFill>
                <a:effectLst/>
                <a:uLnTx/>
                <a:uFillTx/>
                <a:latin typeface="Aptos"/>
                <a:ea typeface="+mn-ea"/>
                <a:cs typeface="+mn-cs"/>
              </a:rPr>
              <a:t>300 trees</a:t>
            </a:r>
            <a:endParaRPr kumimoji="0" lang="en-US" b="0" i="0" u="none" strike="noStrike" kern="1200" cap="none" spc="0" normalizeH="0" baseline="0" noProof="0" dirty="0">
              <a:ln>
                <a:noFill/>
              </a:ln>
              <a:solidFill>
                <a:prstClr val="black"/>
              </a:solidFill>
              <a:effectLst/>
              <a:uLnTx/>
              <a:uFillTx/>
              <a:latin typeface="Apto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163347"/>
                </a:solidFill>
                <a:effectLst/>
                <a:uLnTx/>
                <a:uFillTx/>
                <a:latin typeface="Aptos"/>
                <a:ea typeface="+mn-ea"/>
                <a:cs typeface="+mn-cs"/>
              </a:rPr>
              <a:t>lr = 0.05, depth = 4</a:t>
            </a:r>
            <a:endParaRPr kumimoji="0" lang="en-US" b="0" i="0" u="none" strike="noStrike" kern="1200" cap="none" spc="0" normalizeH="0" baseline="0" noProof="0" dirty="0">
              <a:ln>
                <a:noFill/>
              </a:ln>
              <a:solidFill>
                <a:prstClr val="black"/>
              </a:solidFill>
              <a:effectLst/>
              <a:uLnTx/>
              <a:uFillTx/>
              <a:latin typeface="Apto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163347"/>
                </a:solidFill>
                <a:effectLst/>
                <a:uLnTx/>
                <a:uFillTx/>
                <a:latin typeface="Aptos"/>
                <a:ea typeface="+mn-ea"/>
                <a:cs typeface="+mn-cs"/>
              </a:rPr>
              <a:t>subsample + column sample = 0.90</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34" name="Shape 32"/>
          <p:cNvSpPr/>
          <p:nvPr/>
        </p:nvSpPr>
        <p:spPr>
          <a:xfrm>
            <a:off x="9875520" y="4023360"/>
            <a:ext cx="0" cy="210312"/>
          </a:xfrm>
          <a:prstGeom prst="line">
            <a:avLst/>
          </a:prstGeom>
          <a:noFill/>
          <a:ln w="12700">
            <a:solidFill>
              <a:srgbClr val="B8C3C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ptos"/>
              <a:ea typeface="+mn-ea"/>
              <a:cs typeface="+mn-cs"/>
            </a:endParaRPr>
          </a:p>
        </p:txBody>
      </p:sp>
      <p:sp>
        <p:nvSpPr>
          <p:cNvPr id="35" name="Shape 33"/>
          <p:cNvSpPr/>
          <p:nvPr/>
        </p:nvSpPr>
        <p:spPr>
          <a:xfrm>
            <a:off x="8961119" y="4233672"/>
            <a:ext cx="2388107" cy="1997964"/>
          </a:xfrm>
          <a:prstGeom prst="roundRect">
            <a:avLst>
              <a:gd name="adj" fmla="val 4444"/>
            </a:avLst>
          </a:prstGeom>
          <a:solidFill>
            <a:srgbClr val="F1ECF8"/>
          </a:solidFill>
          <a:ln w="12700">
            <a:solidFill>
              <a:srgbClr val="8E6FB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ptos"/>
              <a:ea typeface="+mn-ea"/>
              <a:cs typeface="+mn-cs"/>
            </a:endParaRPr>
          </a:p>
        </p:txBody>
      </p:sp>
      <p:sp>
        <p:nvSpPr>
          <p:cNvPr id="36" name="Text 34"/>
          <p:cNvSpPr/>
          <p:nvPr/>
        </p:nvSpPr>
        <p:spPr>
          <a:xfrm>
            <a:off x="8961119" y="3660211"/>
            <a:ext cx="1783080" cy="1828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14324A"/>
                </a:solidFill>
                <a:effectLst/>
                <a:uLnTx/>
                <a:uFillTx/>
                <a:latin typeface="Aptos"/>
                <a:ea typeface="+mn-ea"/>
                <a:cs typeface="+mn-cs"/>
              </a:rPr>
              <a:t>LSTM</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37" name="Text 35"/>
          <p:cNvSpPr/>
          <p:nvPr/>
        </p:nvSpPr>
        <p:spPr>
          <a:xfrm>
            <a:off x="9036790" y="4320540"/>
            <a:ext cx="2011680" cy="161848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163347"/>
                </a:solidFill>
                <a:effectLst/>
                <a:uLnTx/>
                <a:uFillTx/>
                <a:latin typeface="Aptos"/>
                <a:ea typeface="+mn-ea"/>
                <a:cs typeface="+mn-cs"/>
              </a:rPr>
              <a:t>scale X → reshape to 3D</a:t>
            </a:r>
            <a:endParaRPr kumimoji="0" lang="en-US" b="0" i="0" u="none" strike="noStrike" kern="1200" cap="none" spc="0" normalizeH="0" baseline="0" noProof="0" dirty="0">
              <a:ln>
                <a:noFill/>
              </a:ln>
              <a:solidFill>
                <a:prstClr val="black"/>
              </a:solidFill>
              <a:effectLst/>
              <a:uLnTx/>
              <a:uFillTx/>
              <a:latin typeface="Apto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163347"/>
                </a:solidFill>
                <a:effectLst/>
                <a:uLnTx/>
                <a:uFillTx/>
                <a:latin typeface="Aptos"/>
                <a:ea typeface="+mn-ea"/>
                <a:cs typeface="+mn-cs"/>
              </a:rPr>
              <a:t>LSTM(32) → Dense(1)</a:t>
            </a:r>
            <a:endParaRPr kumimoji="0" lang="en-US" b="0" i="0" u="none" strike="noStrike" kern="1200" cap="none" spc="0" normalizeH="0" baseline="0" noProof="0" dirty="0">
              <a:ln>
                <a:noFill/>
              </a:ln>
              <a:solidFill>
                <a:prstClr val="black"/>
              </a:solidFill>
              <a:effectLst/>
              <a:uLnTx/>
              <a:uFillTx/>
              <a:latin typeface="Apto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163347"/>
                </a:solidFill>
                <a:effectLst/>
                <a:uLnTx/>
                <a:uFillTx/>
                <a:latin typeface="Aptos"/>
                <a:ea typeface="+mn-ea"/>
                <a:cs typeface="+mn-cs"/>
              </a:rPr>
              <a:t>early stopping on val_loss</a:t>
            </a:r>
            <a:endParaRPr kumimoji="0" lang="en-US" b="0" i="0" u="none" strike="noStrike" kern="1200" cap="none" spc="0" normalizeH="0" baseline="0" noProof="0" dirty="0">
              <a:ln>
                <a:noFill/>
              </a:ln>
              <a:solidFill>
                <a:prstClr val="black"/>
              </a:solidFill>
              <a:effectLst/>
              <a:uLnTx/>
              <a:uFillTx/>
              <a:latin typeface="Aptos"/>
              <a:ea typeface="+mn-ea"/>
              <a:cs typeface="+mn-cs"/>
            </a:endParaRPr>
          </a:p>
        </p:txBody>
      </p:sp>
      <p:sp>
        <p:nvSpPr>
          <p:cNvPr id="38" name="Slide Number Placeholder 0"/>
          <p:cNvSpPr>
            <a:spLocks noGrp="1"/>
          </p:cNvSpPr>
          <p:nvPr>
            <p:ph type="sldNum" sz="quarter" idx="4294967295"/>
          </p:nvPr>
        </p:nvSpPr>
        <p:spPr>
          <a:prstGeom prst="rect">
            <a:avLst/>
          </a:prstGeom>
          <a:extLst>
            <a:ext uri="{C572A759-6A51-4108-AA02-DFA0A04FC94B}">
              <ma14:wrappingTextBoxFlag xmlns="" xmlns:ma14="http://schemas.microsoft.com/office/mac/drawingml/2011/main" val="0"/>
            </a:ext>
          </a:extLst>
        </p:spPr>
        <p:txBody>
          <a:bodyPr/>
          <a:lstStyle>
            <a:lvl1pPr>
              <a:defRPr sz="800">
                <a:solidFill>
                  <a:srgbClr val="677482"/>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800" b="0" i="0" u="none" strike="noStrike" kern="1200" cap="none" spc="0" normalizeH="0" baseline="0" noProof="0">
                <a:ln>
                  <a:noFill/>
                </a:ln>
                <a:solidFill>
                  <a:srgbClr val="677482"/>
                </a:solidFill>
                <a:effectLst/>
                <a:uLnTx/>
                <a:uFillTx/>
                <a:latin typeface="Apto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800" b="0" i="0" u="none" strike="noStrike" kern="1200" cap="none" spc="0" normalizeH="0" baseline="0" noProof="0">
              <a:ln>
                <a:noFill/>
              </a:ln>
              <a:solidFill>
                <a:srgbClr val="677482"/>
              </a:solidFill>
              <a:effectLst/>
              <a:uLnTx/>
              <a:uFillTx/>
              <a:latin typeface="Aptos"/>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66928" y="219456"/>
            <a:ext cx="8412480"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03B53"/>
                </a:solidFill>
                <a:effectLst/>
                <a:uLnTx/>
                <a:uFillTx/>
                <a:latin typeface="Arial"/>
                <a:ea typeface="+mn-ea"/>
                <a:cs typeface="+mn-cs"/>
              </a:rPr>
              <a:t>Data preparation and feature engineering</a:t>
            </a:r>
            <a:endParaRPr kumimoji="0" lang="en-US" sz="2800" b="0" i="0" u="none" strike="noStrike" kern="1200" cap="none" spc="0" normalizeH="0" baseline="0" noProof="0" dirty="0">
              <a:ln>
                <a:noFill/>
              </a:ln>
              <a:solidFill>
                <a:prstClr val="black"/>
              </a:solidFill>
              <a:effectLst/>
              <a:uLnTx/>
              <a:uFillTx/>
              <a:latin typeface="Arial"/>
              <a:ea typeface="+mn-ea"/>
              <a:cs typeface="+mn-cs"/>
            </a:endParaRPr>
          </a:p>
        </p:txBody>
      </p:sp>
      <p:sp>
        <p:nvSpPr>
          <p:cNvPr id="4" name="Shape 2"/>
          <p:cNvSpPr/>
          <p:nvPr/>
        </p:nvSpPr>
        <p:spPr>
          <a:xfrm flipV="1">
            <a:off x="566928" y="730533"/>
            <a:ext cx="7004304" cy="110715"/>
          </a:xfrm>
          <a:prstGeom prst="rect">
            <a:avLst/>
          </a:prstGeom>
          <a:solidFill>
            <a:srgbClr val="1E8E8F"/>
          </a:solidFill>
          <a:ln w="12700">
            <a:solidFill>
              <a:srgbClr val="1E8E8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6" name="Text 4"/>
          <p:cNvSpPr/>
          <p:nvPr/>
        </p:nvSpPr>
        <p:spPr>
          <a:xfrm>
            <a:off x="649224" y="2208276"/>
            <a:ext cx="283464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103B53"/>
                </a:solidFill>
                <a:effectLst/>
                <a:uLnTx/>
                <a:uFillTx/>
                <a:latin typeface="Arial"/>
                <a:ea typeface="+mn-ea"/>
                <a:cs typeface="+mn-cs"/>
              </a:rPr>
              <a:t>What is being modeled?</a:t>
            </a:r>
            <a:endParaRPr kumimoji="0" lang="en-US" sz="1900" b="0" i="0" u="none" strike="noStrike" kern="1200" cap="none" spc="0" normalizeH="0" baseline="0" noProof="0" dirty="0">
              <a:ln>
                <a:noFill/>
              </a:ln>
              <a:solidFill>
                <a:prstClr val="black"/>
              </a:solidFill>
              <a:effectLst/>
              <a:uLnTx/>
              <a:uFillTx/>
              <a:latin typeface="Arial"/>
              <a:ea typeface="+mn-ea"/>
              <a:cs typeface="+mn-cs"/>
            </a:endParaRPr>
          </a:p>
        </p:txBody>
      </p:sp>
      <p:sp>
        <p:nvSpPr>
          <p:cNvPr id="7" name="Text 5"/>
          <p:cNvSpPr/>
          <p:nvPr/>
        </p:nvSpPr>
        <p:spPr>
          <a:xfrm>
            <a:off x="455676" y="2868929"/>
            <a:ext cx="3997452" cy="3258537"/>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dirty="0">
                <a:ln>
                  <a:noFill/>
                </a:ln>
                <a:solidFill>
                  <a:srgbClr val="1D2B36"/>
                </a:solidFill>
                <a:effectLst/>
                <a:uLnTx/>
                <a:uFillTx/>
                <a:latin typeface="Arial"/>
                <a:ea typeface="+mn-ea"/>
                <a:cs typeface="+mn-cs"/>
              </a:rPr>
              <a:t>• One station sheet: 8721604</a:t>
            </a:r>
            <a:endParaRPr kumimoji="0" lang="en-US" sz="17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dirty="0">
                <a:ln>
                  <a:noFill/>
                </a:ln>
                <a:solidFill>
                  <a:srgbClr val="1D2B36"/>
                </a:solidFill>
                <a:effectLst/>
                <a:uLnTx/>
                <a:uFillTx/>
                <a:latin typeface="Arial"/>
                <a:ea typeface="+mn-ea"/>
                <a:cs typeface="+mn-cs"/>
              </a:rPr>
              <a:t>• Raw input size: 4,018 rows × 80 columns</a:t>
            </a:r>
            <a:endParaRPr kumimoji="0" lang="en-US" sz="17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dirty="0">
                <a:ln>
                  <a:noFill/>
                </a:ln>
                <a:solidFill>
                  <a:srgbClr val="1D2B36"/>
                </a:solidFill>
                <a:effectLst/>
                <a:uLnTx/>
                <a:uFillTx/>
                <a:latin typeface="Arial"/>
                <a:ea typeface="+mn-ea"/>
                <a:cs typeface="+mn-cs"/>
              </a:rPr>
              <a:t>• Target variable: residualTide</a:t>
            </a:r>
            <a:endParaRPr kumimoji="0" lang="en-US" sz="17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dirty="0">
                <a:ln>
                  <a:noFill/>
                </a:ln>
                <a:solidFill>
                  <a:srgbClr val="1D2B36"/>
                </a:solidFill>
                <a:effectLst/>
                <a:uLnTx/>
                <a:uFillTx/>
                <a:latin typeface="Arial"/>
                <a:ea typeface="+mn-ea"/>
                <a:cs typeface="+mn-cs"/>
              </a:rPr>
              <a:t>• Lags added for Transport and CRW_SST</a:t>
            </a:r>
            <a:endParaRPr kumimoji="0" lang="en-US" sz="17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dirty="0">
                <a:ln>
                  <a:noFill/>
                </a:ln>
                <a:solidFill>
                  <a:srgbClr val="1D2B36"/>
                </a:solidFill>
                <a:effectLst/>
                <a:uLnTx/>
                <a:uFillTx/>
                <a:latin typeface="Arial"/>
                <a:ea typeface="+mn-ea"/>
                <a:cs typeface="+mn-cs"/>
              </a:rPr>
              <a:t>• Five previous steps for each lagged variable</a:t>
            </a:r>
            <a:endParaRPr kumimoji="0" lang="en-US" sz="17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dirty="0">
                <a:ln>
                  <a:noFill/>
                </a:ln>
                <a:solidFill>
                  <a:srgbClr val="1D2B36"/>
                </a:solidFill>
                <a:effectLst/>
                <a:uLnTx/>
                <a:uFillTx/>
                <a:latin typeface="Arial"/>
                <a:ea typeface="+mn-ea"/>
                <a:cs typeface="+mn-cs"/>
              </a:rPr>
              <a:t>• Final modeling table: 4,013 rows × 90 columns</a:t>
            </a:r>
            <a:endParaRPr kumimoji="0" lang="en-US" sz="17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dirty="0">
                <a:ln>
                  <a:noFill/>
                </a:ln>
                <a:solidFill>
                  <a:srgbClr val="1D2B36"/>
                </a:solidFill>
                <a:effectLst/>
                <a:uLnTx/>
                <a:uFillTx/>
                <a:latin typeface="Arial"/>
                <a:ea typeface="+mn-ea"/>
                <a:cs typeface="+mn-cs"/>
              </a:rPr>
              <a:t>• Predictors used in training: 87</a:t>
            </a:r>
            <a:endParaRPr kumimoji="0" lang="en-US" sz="1700" b="0" i="0" u="none" strike="noStrike" kern="1200" cap="none" spc="0" normalizeH="0" baseline="0" noProof="0" dirty="0">
              <a:ln>
                <a:noFill/>
              </a:ln>
              <a:solidFill>
                <a:prstClr val="black"/>
              </a:solidFill>
              <a:effectLst/>
              <a:uLnTx/>
              <a:uFillTx/>
              <a:latin typeface="Arial"/>
              <a:ea typeface="+mn-ea"/>
              <a:cs typeface="+mn-cs"/>
            </a:endParaRPr>
          </a:p>
        </p:txBody>
      </p:sp>
      <p:sp>
        <p:nvSpPr>
          <p:cNvPr id="10" name="Shape 7"/>
          <p:cNvSpPr/>
          <p:nvPr/>
        </p:nvSpPr>
        <p:spPr>
          <a:xfrm>
            <a:off x="4736592" y="832104"/>
            <a:ext cx="7004304" cy="3369564"/>
          </a:xfrm>
          <a:prstGeom prst="roundRect">
            <a:avLst>
              <a:gd name="adj" fmla="val 2540"/>
            </a:avLst>
          </a:prstGeom>
          <a:solidFill>
            <a:srgbClr val="FCFEFF"/>
          </a:solidFill>
          <a:ln w="12700">
            <a:solidFill>
              <a:srgbClr val="D7E1E6"/>
            </a:solidFill>
            <a:prstDash val="solid"/>
          </a:ln>
          <a:effectLst>
            <a:outerShdw blurRad="19050" dist="6350" dir="27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pic>
        <p:nvPicPr>
          <p:cNvPr id="11" name="Image 1" descr="/mnt/data/rebuild/notebook_assets/trim_cell14_out0.png"/>
          <p:cNvPicPr>
            <a:picLocks noChangeAspect="1"/>
          </p:cNvPicPr>
          <p:nvPr/>
        </p:nvPicPr>
        <p:blipFill>
          <a:blip r:embed="rId3"/>
          <a:stretch>
            <a:fillRect/>
          </a:stretch>
        </p:blipFill>
        <p:spPr>
          <a:xfrm>
            <a:off x="7246448" y="1013997"/>
            <a:ext cx="4110400" cy="3005777"/>
          </a:xfrm>
          <a:prstGeom prst="rect">
            <a:avLst/>
          </a:prstGeom>
        </p:spPr>
      </p:pic>
      <p:sp>
        <p:nvSpPr>
          <p:cNvPr id="12" name="Text 8"/>
          <p:cNvSpPr/>
          <p:nvPr/>
        </p:nvSpPr>
        <p:spPr>
          <a:xfrm>
            <a:off x="4987880" y="1645920"/>
            <a:ext cx="2062144" cy="178307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effectLst/>
                <a:uLnTx/>
                <a:uFillTx/>
                <a:latin typeface="Arial"/>
                <a:ea typeface="+mn-ea"/>
                <a:cs typeface="+mn-cs"/>
              </a:rPr>
              <a:t>Chronological split avoids letting future information leak into the training period.</a:t>
            </a:r>
          </a:p>
        </p:txBody>
      </p:sp>
      <p:sp>
        <p:nvSpPr>
          <p:cNvPr id="13" name="Shape 9"/>
          <p:cNvSpPr/>
          <p:nvPr/>
        </p:nvSpPr>
        <p:spPr>
          <a:xfrm>
            <a:off x="4681728" y="4507992"/>
            <a:ext cx="6903720" cy="2249424"/>
          </a:xfrm>
          <a:prstGeom prst="roundRect">
            <a:avLst>
              <a:gd name="adj" fmla="val 3252"/>
            </a:avLst>
          </a:prstGeom>
          <a:solidFill>
            <a:srgbClr val="EAF4F6"/>
          </a:solidFill>
          <a:ln w="12700">
            <a:solidFill>
              <a:srgbClr val="D7E1E6"/>
            </a:solidFill>
            <a:prstDash val="solid"/>
          </a:ln>
          <a:effectLst>
            <a:outerShdw blurRad="19050" dist="6350" dir="27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14" name="Text 10"/>
          <p:cNvSpPr/>
          <p:nvPr/>
        </p:nvSpPr>
        <p:spPr>
          <a:xfrm>
            <a:off x="4956048" y="4626864"/>
            <a:ext cx="5394960" cy="12801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03B53"/>
                </a:solidFill>
                <a:effectLst/>
                <a:uLnTx/>
                <a:uFillTx/>
                <a:latin typeface="Arial"/>
                <a:ea typeface="+mn-ea"/>
                <a:cs typeface="+mn-cs"/>
              </a:rPr>
              <a:t>Train/test periods used in the notebook</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5" name="Text 11"/>
          <p:cNvSpPr/>
          <p:nvPr/>
        </p:nvSpPr>
        <p:spPr>
          <a:xfrm>
            <a:off x="4956048" y="5061204"/>
            <a:ext cx="6126480" cy="1143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1D2B36"/>
                </a:solidFill>
                <a:effectLst/>
                <a:uLnTx/>
                <a:uFillTx/>
                <a:latin typeface="Arial"/>
                <a:ea typeface="+mn-ea"/>
                <a:cs typeface="+mn-cs"/>
              </a:rPr>
              <a:t>Training: 3,210 rows from 2010-01-06 to 2018-10-20</a:t>
            </a:r>
            <a:endParaRPr kumimoji="0" lang="en-US"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1D2B36"/>
                </a:solidFill>
                <a:effectLst/>
                <a:uLnTx/>
                <a:uFillTx/>
                <a:latin typeface="Arial"/>
                <a:ea typeface="+mn-ea"/>
                <a:cs typeface="+mn-cs"/>
              </a:rPr>
              <a:t>Testing: 803 rows from 2018-10-21 to 2020-12-31</a:t>
            </a:r>
            <a:endParaRPr kumimoji="0" lang="en-US"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1D2B36"/>
                </a:solidFill>
                <a:effectLst/>
                <a:uLnTx/>
                <a:uFillTx/>
                <a:latin typeface="Arial"/>
                <a:ea typeface="+mn-ea"/>
                <a:cs typeface="+mn-cs"/>
              </a:rPr>
              <a:t>Engineering implication: every model is judged on the same unseen period, so the comparison is operationally meaningful.</a:t>
            </a:r>
            <a:endParaRPr kumimoji="0" lang="en-US" b="0" i="0" u="none" strike="noStrike" kern="1200" cap="none" spc="0" normalizeH="0" baseline="0" noProof="0" dirty="0">
              <a:ln>
                <a:noFill/>
              </a:ln>
              <a:solidFill>
                <a:prstClr val="black"/>
              </a:solidFill>
              <a:effectLst/>
              <a:uLnTx/>
              <a:uFillTx/>
              <a:latin typeface="Arial"/>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66928" y="141732"/>
            <a:ext cx="8412480"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effectLst/>
                <a:uLnTx/>
                <a:uFillTx/>
                <a:latin typeface="Arial"/>
                <a:ea typeface="+mn-ea"/>
                <a:cs typeface="+mn-cs"/>
              </a:rPr>
              <a:t>How the models are trained</a:t>
            </a:r>
          </a:p>
        </p:txBody>
      </p:sp>
      <p:sp>
        <p:nvSpPr>
          <p:cNvPr id="3" name="Text 1"/>
          <p:cNvSpPr/>
          <p:nvPr/>
        </p:nvSpPr>
        <p:spPr>
          <a:xfrm>
            <a:off x="548640" y="606933"/>
            <a:ext cx="4882896"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5B6770"/>
                </a:solidFill>
                <a:effectLst/>
                <a:uLnTx/>
                <a:uFillTx/>
                <a:latin typeface="Arial"/>
                <a:ea typeface="+mn-ea"/>
                <a:cs typeface="+mn-cs"/>
              </a:rPr>
              <a:t>Three tree-based regressors are compared with one neural-network path.</a:t>
            </a:r>
            <a:endParaRPr kumimoji="0" lang="en-US" b="0" i="0" u="none" strike="noStrike" kern="1200" cap="none" spc="0" normalizeH="0" baseline="0" noProof="0" dirty="0">
              <a:ln>
                <a:noFill/>
              </a:ln>
              <a:solidFill>
                <a:prstClr val="black"/>
              </a:solidFill>
              <a:effectLst/>
              <a:uLnTx/>
              <a:uFillTx/>
              <a:latin typeface="Arial"/>
              <a:ea typeface="+mn-ea"/>
              <a:cs typeface="+mn-cs"/>
            </a:endParaRPr>
          </a:p>
        </p:txBody>
      </p:sp>
      <p:sp>
        <p:nvSpPr>
          <p:cNvPr id="4" name="Shape 2"/>
          <p:cNvSpPr/>
          <p:nvPr/>
        </p:nvSpPr>
        <p:spPr>
          <a:xfrm>
            <a:off x="566928" y="976122"/>
            <a:ext cx="5010912" cy="84582"/>
          </a:xfrm>
          <a:prstGeom prst="rect">
            <a:avLst/>
          </a:prstGeom>
          <a:solidFill>
            <a:srgbClr val="1E8E8F"/>
          </a:solidFill>
          <a:ln w="12700">
            <a:solidFill>
              <a:srgbClr val="1E8E8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pic>
        <p:nvPicPr>
          <p:cNvPr id="6" name="Image 0" descr="/mnt/data/rebuild/slide_assets/model_flow.png"/>
          <p:cNvPicPr>
            <a:picLocks noChangeAspect="1"/>
          </p:cNvPicPr>
          <p:nvPr/>
        </p:nvPicPr>
        <p:blipFill>
          <a:blip r:embed="rId3"/>
          <a:stretch>
            <a:fillRect/>
          </a:stretch>
        </p:blipFill>
        <p:spPr>
          <a:xfrm>
            <a:off x="566928" y="1092708"/>
            <a:ext cx="3351058" cy="5751576"/>
          </a:xfrm>
          <a:prstGeom prst="rect">
            <a:avLst/>
          </a:prstGeom>
          <a:solidFill>
            <a:srgbClr val="FFFF00"/>
          </a:solidFill>
        </p:spPr>
      </p:pic>
      <p:sp>
        <p:nvSpPr>
          <p:cNvPr id="7" name="Shape 4"/>
          <p:cNvSpPr/>
          <p:nvPr/>
        </p:nvSpPr>
        <p:spPr>
          <a:xfrm>
            <a:off x="5724144" y="461772"/>
            <a:ext cx="5989320" cy="2148840"/>
          </a:xfrm>
          <a:prstGeom prst="roundRect">
            <a:avLst>
              <a:gd name="adj" fmla="val 3404"/>
            </a:avLst>
          </a:prstGeom>
          <a:solidFill>
            <a:srgbClr val="EAF4F6"/>
          </a:solidFill>
          <a:ln w="12700">
            <a:solidFill>
              <a:srgbClr val="D7E1E6"/>
            </a:solidFill>
            <a:prstDash val="solid"/>
          </a:ln>
          <a:effectLst>
            <a:outerShdw blurRad="19050" dist="6350" dir="27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8" name="Text 5"/>
          <p:cNvSpPr/>
          <p:nvPr/>
        </p:nvSpPr>
        <p:spPr>
          <a:xfrm>
            <a:off x="5998464" y="699516"/>
            <a:ext cx="4608576" cy="36118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103B53"/>
                </a:solidFill>
                <a:effectLst/>
                <a:uLnTx/>
                <a:uFillTx/>
                <a:latin typeface="Arial"/>
                <a:ea typeface="+mn-ea"/>
                <a:cs typeface="+mn-cs"/>
              </a:rPr>
              <a:t>Shared rules for a fair comparison</a:t>
            </a:r>
            <a:endParaRPr kumimoji="0" lang="en-US" b="0" i="0" u="none" strike="noStrike" kern="1200" cap="none" spc="0" normalizeH="0" baseline="0" noProof="0" dirty="0">
              <a:ln>
                <a:noFill/>
              </a:ln>
              <a:solidFill>
                <a:prstClr val="black"/>
              </a:solidFill>
              <a:effectLst/>
              <a:uLnTx/>
              <a:uFillTx/>
              <a:latin typeface="Arial"/>
              <a:ea typeface="+mn-ea"/>
              <a:cs typeface="+mn-cs"/>
            </a:endParaRPr>
          </a:p>
        </p:txBody>
      </p:sp>
      <p:sp>
        <p:nvSpPr>
          <p:cNvPr id="9" name="Text 6"/>
          <p:cNvSpPr/>
          <p:nvPr/>
        </p:nvSpPr>
        <p:spPr>
          <a:xfrm>
            <a:off x="5925312" y="1207008"/>
            <a:ext cx="5715000" cy="11064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1D2B36"/>
                </a:solidFill>
                <a:effectLst/>
                <a:uLnTx/>
                <a:uFillTx/>
                <a:latin typeface="Arial"/>
                <a:ea typeface="+mn-ea"/>
                <a:cs typeface="+mn-cs"/>
              </a:rPr>
              <a:t>• Same target variable and same predictor set</a:t>
            </a:r>
            <a:endParaRPr kumimoji="0" lang="en-US"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1D2B36"/>
                </a:solidFill>
                <a:effectLst/>
                <a:uLnTx/>
                <a:uFillTx/>
                <a:latin typeface="Arial"/>
                <a:ea typeface="+mn-ea"/>
                <a:cs typeface="+mn-cs"/>
              </a:rPr>
              <a:t>• Same chronological train/test split</a:t>
            </a:r>
            <a:endParaRPr kumimoji="0" lang="en-US"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1D2B36"/>
                </a:solidFill>
                <a:effectLst/>
                <a:uLnTx/>
                <a:uFillTx/>
                <a:latin typeface="Arial"/>
                <a:ea typeface="+mn-ea"/>
                <a:cs typeface="+mn-cs"/>
              </a:rPr>
              <a:t>• Same holdout period for every prediction</a:t>
            </a:r>
            <a:endParaRPr kumimoji="0" lang="en-US"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1D2B36"/>
                </a:solidFill>
                <a:effectLst/>
                <a:uLnTx/>
                <a:uFillTx/>
                <a:latin typeface="Arial"/>
                <a:ea typeface="+mn-ea"/>
                <a:cs typeface="+mn-cs"/>
              </a:rPr>
              <a:t>• Same evaluation metrics: MAE, RMSE, R², and MSE</a:t>
            </a:r>
            <a:endParaRPr kumimoji="0" lang="en-US" b="0" i="0" u="none" strike="noStrike" kern="1200" cap="none" spc="0" normalizeH="0" baseline="0" noProof="0" dirty="0">
              <a:ln>
                <a:noFill/>
              </a:ln>
              <a:solidFill>
                <a:prstClr val="black"/>
              </a:solidFill>
              <a:effectLst/>
              <a:uLnTx/>
              <a:uFillTx/>
              <a:latin typeface="Arial"/>
              <a:ea typeface="+mn-ea"/>
              <a:cs typeface="+mn-cs"/>
            </a:endParaRPr>
          </a:p>
        </p:txBody>
      </p:sp>
      <p:sp>
        <p:nvSpPr>
          <p:cNvPr id="10" name="Shape 7"/>
          <p:cNvSpPr/>
          <p:nvPr/>
        </p:nvSpPr>
        <p:spPr>
          <a:xfrm>
            <a:off x="5687568" y="2798064"/>
            <a:ext cx="6227064" cy="1824228"/>
          </a:xfrm>
          <a:prstGeom prst="roundRect">
            <a:avLst>
              <a:gd name="adj" fmla="val 5333"/>
            </a:avLst>
          </a:prstGeom>
          <a:solidFill>
            <a:srgbClr val="FCFEFF"/>
          </a:solidFill>
          <a:ln w="12700">
            <a:solidFill>
              <a:srgbClr val="D7E1E6"/>
            </a:solidFill>
            <a:prstDash val="solid"/>
          </a:ln>
          <a:effectLst>
            <a:outerShdw blurRad="19050" dist="6350" dir="27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11" name="Text 8"/>
          <p:cNvSpPr/>
          <p:nvPr/>
        </p:nvSpPr>
        <p:spPr>
          <a:xfrm>
            <a:off x="5961888" y="3035807"/>
            <a:ext cx="2376742" cy="218907"/>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03B53"/>
                </a:solidFill>
                <a:effectLst/>
                <a:uLnTx/>
                <a:uFillTx/>
                <a:latin typeface="Arial"/>
                <a:ea typeface="+mn-ea"/>
                <a:cs typeface="+mn-cs"/>
              </a:rPr>
              <a:t>Tree models</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2" name="Text 9"/>
          <p:cNvSpPr/>
          <p:nvPr/>
        </p:nvSpPr>
        <p:spPr>
          <a:xfrm>
            <a:off x="5961888" y="3419856"/>
            <a:ext cx="5952744" cy="10972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1D2B36"/>
                </a:solidFill>
                <a:effectLst/>
                <a:uLnTx/>
                <a:uFillTx/>
                <a:latin typeface="Arial"/>
                <a:ea typeface="+mn-ea"/>
                <a:cs typeface="+mn-cs"/>
              </a:rPr>
              <a:t>Random Forest: 500 trees, depth 10</a:t>
            </a:r>
            <a:endParaRPr kumimoji="0" lang="en-US"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1D2B36"/>
                </a:solidFill>
                <a:effectLst/>
                <a:uLnTx/>
                <a:uFillTx/>
                <a:latin typeface="Arial"/>
                <a:ea typeface="+mn-ea"/>
                <a:cs typeface="+mn-cs"/>
              </a:rPr>
              <a:t>Gradient Boosting: 500 estimators, learning rate 0.01, depth 10</a:t>
            </a:r>
            <a:endParaRPr kumimoji="0" lang="en-US"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1D2B36"/>
                </a:solidFill>
                <a:effectLst/>
                <a:uLnTx/>
                <a:uFillTx/>
                <a:latin typeface="Arial"/>
                <a:ea typeface="+mn-ea"/>
                <a:cs typeface="+mn-cs"/>
              </a:rPr>
              <a:t>XGBoost: 300 trees, learning rate 0.05, depth 4, 90% row/column subsampling</a:t>
            </a:r>
            <a:endParaRPr kumimoji="0" lang="en-US" b="0" i="0" u="none" strike="noStrike" kern="1200" cap="none" spc="0" normalizeH="0" baseline="0" noProof="0" dirty="0">
              <a:ln>
                <a:noFill/>
              </a:ln>
              <a:solidFill>
                <a:prstClr val="black"/>
              </a:solidFill>
              <a:effectLst/>
              <a:uLnTx/>
              <a:uFillTx/>
              <a:latin typeface="Arial"/>
              <a:ea typeface="+mn-ea"/>
              <a:cs typeface="+mn-cs"/>
            </a:endParaRPr>
          </a:p>
        </p:txBody>
      </p:sp>
      <p:sp>
        <p:nvSpPr>
          <p:cNvPr id="13" name="Shape 10"/>
          <p:cNvSpPr/>
          <p:nvPr/>
        </p:nvSpPr>
        <p:spPr>
          <a:xfrm>
            <a:off x="5650992" y="4919472"/>
            <a:ext cx="5989320" cy="1572768"/>
          </a:xfrm>
          <a:prstGeom prst="roundRect">
            <a:avLst>
              <a:gd name="adj" fmla="val 4651"/>
            </a:avLst>
          </a:prstGeom>
          <a:solidFill>
            <a:srgbClr val="F5E7BF"/>
          </a:solidFill>
          <a:ln w="12700">
            <a:solidFill>
              <a:srgbClr val="E3C36D"/>
            </a:solidFill>
            <a:prstDash val="solid"/>
          </a:ln>
          <a:effectLst>
            <a:outerShdw blurRad="19050" dist="6350" dir="27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14" name="Text 11"/>
          <p:cNvSpPr/>
          <p:nvPr/>
        </p:nvSpPr>
        <p:spPr>
          <a:xfrm>
            <a:off x="5961888" y="4988052"/>
            <a:ext cx="3108960"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03B53"/>
                </a:solidFill>
                <a:effectLst/>
                <a:uLnTx/>
                <a:uFillTx/>
                <a:latin typeface="Arial"/>
                <a:ea typeface="+mn-ea"/>
                <a:cs typeface="+mn-cs"/>
              </a:rPr>
              <a:t>LSTM note</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5" name="Text 12"/>
          <p:cNvSpPr/>
          <p:nvPr/>
        </p:nvSpPr>
        <p:spPr>
          <a:xfrm>
            <a:off x="5961888" y="5308092"/>
            <a:ext cx="5522976" cy="9464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1D2B36"/>
                </a:solidFill>
                <a:effectLst/>
                <a:uLnTx/>
                <a:uFillTx/>
                <a:latin typeface="Arial"/>
                <a:ea typeface="+mn-ea"/>
                <a:cs typeface="+mn-cs"/>
              </a:rPr>
              <a:t>Inputs are standardized, reshaped to a 3D tensor, and sent into a small 32-unit LSTM with early stopping. This is a useful classroom baseline, but not a full sequence-to-sequence hydrologic setup.</a:t>
            </a:r>
            <a:endParaRPr kumimoji="0" lang="en-US" b="0" i="0" u="none" strike="noStrike" kern="1200" cap="none" spc="0" normalizeH="0" baseline="0" noProof="0" dirty="0">
              <a:ln>
                <a:noFill/>
              </a:ln>
              <a:solidFill>
                <a:prstClr val="black"/>
              </a:solidFill>
              <a:effectLst/>
              <a:uLnTx/>
              <a:uFillTx/>
              <a:latin typeface="Arial"/>
              <a:ea typeface="+mn-ea"/>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66928" y="219456"/>
            <a:ext cx="8412480"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effectLst/>
                <a:uLnTx/>
                <a:uFillTx/>
                <a:latin typeface="Arial"/>
                <a:ea typeface="+mn-ea"/>
                <a:cs typeface="+mn-cs"/>
              </a:rPr>
              <a:t>Held-out test results</a:t>
            </a:r>
            <a:endParaRPr kumimoji="0" lang="en-US" sz="2800" b="0" i="0" u="none" strike="noStrike" kern="1200" cap="none" spc="0" normalizeH="0" baseline="0" noProof="0" dirty="0">
              <a:ln>
                <a:noFill/>
              </a:ln>
              <a:effectLst/>
              <a:uLnTx/>
              <a:uFillTx/>
              <a:latin typeface="Arial"/>
              <a:ea typeface="+mn-ea"/>
              <a:cs typeface="+mn-cs"/>
            </a:endParaRPr>
          </a:p>
        </p:txBody>
      </p:sp>
      <p:sp>
        <p:nvSpPr>
          <p:cNvPr id="4" name="Shape 2"/>
          <p:cNvSpPr/>
          <p:nvPr/>
        </p:nvSpPr>
        <p:spPr>
          <a:xfrm>
            <a:off x="566928" y="841248"/>
            <a:ext cx="1417320" cy="54864"/>
          </a:xfrm>
          <a:prstGeom prst="rect">
            <a:avLst/>
          </a:prstGeom>
          <a:solidFill>
            <a:srgbClr val="1E8E8F"/>
          </a:solidFill>
          <a:ln w="12700">
            <a:solidFill>
              <a:srgbClr val="1E8E8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5" name="Shape 3"/>
          <p:cNvSpPr/>
          <p:nvPr/>
        </p:nvSpPr>
        <p:spPr>
          <a:xfrm>
            <a:off x="566928" y="1005840"/>
            <a:ext cx="11064240" cy="658368"/>
          </a:xfrm>
          <a:prstGeom prst="roundRect">
            <a:avLst>
              <a:gd name="adj" fmla="val 11111"/>
            </a:avLst>
          </a:prstGeom>
          <a:solidFill>
            <a:srgbClr val="F5E7BF"/>
          </a:solidFill>
          <a:ln w="12700">
            <a:solidFill>
              <a:srgbClr val="E3C36D"/>
            </a:solidFill>
            <a:prstDash val="solid"/>
          </a:ln>
          <a:effectLst>
            <a:outerShdw blurRad="19050" dist="6350" dir="27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6" name="Text 4"/>
          <p:cNvSpPr/>
          <p:nvPr/>
        </p:nvSpPr>
        <p:spPr>
          <a:xfrm>
            <a:off x="868680" y="1225296"/>
            <a:ext cx="10469880" cy="1828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03B53"/>
                </a:solidFill>
                <a:effectLst/>
                <a:uLnTx/>
                <a:uFillTx/>
                <a:latin typeface="Arial"/>
                <a:ea typeface="+mn-ea"/>
                <a:cs typeface="+mn-cs"/>
              </a:rPr>
              <a:t>Best held-out score: XGBoost   |   MAE 0.079   |   RMSE 0.097   |   R² 0.210</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7" name="Shape 5"/>
          <p:cNvSpPr/>
          <p:nvPr/>
        </p:nvSpPr>
        <p:spPr>
          <a:xfrm>
            <a:off x="365760" y="1810512"/>
            <a:ext cx="5367528" cy="2798064"/>
          </a:xfrm>
          <a:prstGeom prst="roundRect">
            <a:avLst>
              <a:gd name="adj" fmla="val 3137"/>
            </a:avLst>
          </a:prstGeom>
          <a:solidFill>
            <a:srgbClr val="FFFF00"/>
          </a:solidFill>
          <a:ln w="12700">
            <a:solidFill>
              <a:srgbClr val="D7E1E6"/>
            </a:solidFill>
            <a:prstDash val="solid"/>
          </a:ln>
          <a:effectLst>
            <a:outerShdw blurRad="19050" dist="6350" dir="27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pic>
        <p:nvPicPr>
          <p:cNvPr id="10" name="Image 1" descr="/mnt/data/rebuild/notebook_assets/trim_cell30_out0.png"/>
          <p:cNvPicPr>
            <a:picLocks noChangeAspect="1"/>
          </p:cNvPicPr>
          <p:nvPr/>
        </p:nvPicPr>
        <p:blipFill>
          <a:blip r:embed="rId3"/>
          <a:stretch>
            <a:fillRect/>
          </a:stretch>
        </p:blipFill>
        <p:spPr>
          <a:xfrm>
            <a:off x="5799645" y="1810512"/>
            <a:ext cx="6202873" cy="2130552"/>
          </a:xfrm>
          <a:prstGeom prst="rect">
            <a:avLst/>
          </a:prstGeom>
        </p:spPr>
      </p:pic>
      <p:sp>
        <p:nvSpPr>
          <p:cNvPr id="11" name="Shape 7"/>
          <p:cNvSpPr/>
          <p:nvPr/>
        </p:nvSpPr>
        <p:spPr>
          <a:xfrm>
            <a:off x="668474" y="4864608"/>
            <a:ext cx="2148840" cy="292608"/>
          </a:xfrm>
          <a:prstGeom prst="rect">
            <a:avLst/>
          </a:prstGeom>
          <a:solidFill>
            <a:srgbClr val="103B53"/>
          </a:solidFill>
          <a:ln w="12700">
            <a:solidFill>
              <a:srgbClr val="CBD7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a:ea typeface="+mn-ea"/>
              <a:cs typeface="+mn-cs"/>
            </a:endParaRPr>
          </a:p>
        </p:txBody>
      </p:sp>
      <p:sp>
        <p:nvSpPr>
          <p:cNvPr id="12" name="Text 8"/>
          <p:cNvSpPr/>
          <p:nvPr/>
        </p:nvSpPr>
        <p:spPr>
          <a:xfrm>
            <a:off x="668474" y="4892040"/>
            <a:ext cx="214884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FFFFFF"/>
                </a:solidFill>
                <a:effectLst/>
                <a:uLnTx/>
                <a:uFillTx/>
                <a:latin typeface="Arial"/>
                <a:ea typeface="+mn-ea"/>
                <a:cs typeface="+mn-cs"/>
              </a:rPr>
              <a:t>Model</a:t>
            </a:r>
            <a:endParaRPr kumimoji="0" lang="en-US" b="0" i="0" u="none" strike="noStrike" kern="1200" cap="none" spc="0" normalizeH="0" baseline="0" noProof="0" dirty="0">
              <a:ln>
                <a:noFill/>
              </a:ln>
              <a:solidFill>
                <a:prstClr val="black"/>
              </a:solidFill>
              <a:effectLst/>
              <a:uLnTx/>
              <a:uFillTx/>
              <a:latin typeface="Arial"/>
              <a:ea typeface="+mn-ea"/>
              <a:cs typeface="+mn-cs"/>
            </a:endParaRPr>
          </a:p>
        </p:txBody>
      </p:sp>
      <p:sp>
        <p:nvSpPr>
          <p:cNvPr id="13" name="Shape 9"/>
          <p:cNvSpPr/>
          <p:nvPr/>
        </p:nvSpPr>
        <p:spPr>
          <a:xfrm>
            <a:off x="2817314" y="4864608"/>
            <a:ext cx="731520" cy="292608"/>
          </a:xfrm>
          <a:prstGeom prst="rect">
            <a:avLst/>
          </a:prstGeom>
          <a:solidFill>
            <a:srgbClr val="103B53"/>
          </a:solidFill>
          <a:ln w="12700">
            <a:solidFill>
              <a:srgbClr val="CBD7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a:ea typeface="+mn-ea"/>
              <a:cs typeface="+mn-cs"/>
            </a:endParaRPr>
          </a:p>
        </p:txBody>
      </p:sp>
      <p:sp>
        <p:nvSpPr>
          <p:cNvPr id="14" name="Text 10"/>
          <p:cNvSpPr/>
          <p:nvPr/>
        </p:nvSpPr>
        <p:spPr>
          <a:xfrm>
            <a:off x="2817314" y="4892040"/>
            <a:ext cx="7315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FFFFFF"/>
                </a:solidFill>
                <a:effectLst/>
                <a:uLnTx/>
                <a:uFillTx/>
                <a:latin typeface="Arial"/>
                <a:ea typeface="+mn-ea"/>
                <a:cs typeface="+mn-cs"/>
              </a:rPr>
              <a:t>MAE</a:t>
            </a:r>
            <a:endParaRPr kumimoji="0" lang="en-US" b="0" i="0" u="none" strike="noStrike" kern="1200" cap="none" spc="0" normalizeH="0" baseline="0" noProof="0" dirty="0">
              <a:ln>
                <a:noFill/>
              </a:ln>
              <a:solidFill>
                <a:prstClr val="black"/>
              </a:solidFill>
              <a:effectLst/>
              <a:uLnTx/>
              <a:uFillTx/>
              <a:latin typeface="Arial"/>
              <a:ea typeface="+mn-ea"/>
              <a:cs typeface="+mn-cs"/>
            </a:endParaRPr>
          </a:p>
        </p:txBody>
      </p:sp>
      <p:sp>
        <p:nvSpPr>
          <p:cNvPr id="15" name="Shape 11"/>
          <p:cNvSpPr/>
          <p:nvPr/>
        </p:nvSpPr>
        <p:spPr>
          <a:xfrm>
            <a:off x="3548834" y="4864608"/>
            <a:ext cx="777240" cy="292608"/>
          </a:xfrm>
          <a:prstGeom prst="rect">
            <a:avLst/>
          </a:prstGeom>
          <a:solidFill>
            <a:srgbClr val="103B53"/>
          </a:solidFill>
          <a:ln w="12700">
            <a:solidFill>
              <a:srgbClr val="CBD7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a:ea typeface="+mn-ea"/>
              <a:cs typeface="+mn-cs"/>
            </a:endParaRPr>
          </a:p>
        </p:txBody>
      </p:sp>
      <p:sp>
        <p:nvSpPr>
          <p:cNvPr id="16" name="Text 12"/>
          <p:cNvSpPr/>
          <p:nvPr/>
        </p:nvSpPr>
        <p:spPr>
          <a:xfrm>
            <a:off x="3548834" y="4892040"/>
            <a:ext cx="77724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FFFFFF"/>
                </a:solidFill>
                <a:effectLst/>
                <a:uLnTx/>
                <a:uFillTx/>
                <a:latin typeface="Arial"/>
                <a:ea typeface="+mn-ea"/>
                <a:cs typeface="+mn-cs"/>
              </a:rPr>
              <a:t>RMSE</a:t>
            </a:r>
            <a:endParaRPr kumimoji="0" lang="en-US" b="0" i="0" u="none" strike="noStrike" kern="1200" cap="none" spc="0" normalizeH="0" baseline="0" noProof="0" dirty="0">
              <a:ln>
                <a:noFill/>
              </a:ln>
              <a:solidFill>
                <a:prstClr val="black"/>
              </a:solidFill>
              <a:effectLst/>
              <a:uLnTx/>
              <a:uFillTx/>
              <a:latin typeface="Arial"/>
              <a:ea typeface="+mn-ea"/>
              <a:cs typeface="+mn-cs"/>
            </a:endParaRPr>
          </a:p>
        </p:txBody>
      </p:sp>
      <p:sp>
        <p:nvSpPr>
          <p:cNvPr id="17" name="Shape 13"/>
          <p:cNvSpPr/>
          <p:nvPr/>
        </p:nvSpPr>
        <p:spPr>
          <a:xfrm>
            <a:off x="4326074" y="4864608"/>
            <a:ext cx="685800" cy="292608"/>
          </a:xfrm>
          <a:prstGeom prst="rect">
            <a:avLst/>
          </a:prstGeom>
          <a:solidFill>
            <a:srgbClr val="103B53"/>
          </a:solidFill>
          <a:ln w="12700">
            <a:solidFill>
              <a:srgbClr val="CBD7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a:ea typeface="+mn-ea"/>
              <a:cs typeface="+mn-cs"/>
            </a:endParaRPr>
          </a:p>
        </p:txBody>
      </p:sp>
      <p:sp>
        <p:nvSpPr>
          <p:cNvPr id="18" name="Text 14"/>
          <p:cNvSpPr/>
          <p:nvPr/>
        </p:nvSpPr>
        <p:spPr>
          <a:xfrm>
            <a:off x="4326074" y="4892040"/>
            <a:ext cx="68580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FFFFFF"/>
                </a:solidFill>
                <a:effectLst/>
                <a:uLnTx/>
                <a:uFillTx/>
                <a:latin typeface="Arial"/>
                <a:ea typeface="+mn-ea"/>
                <a:cs typeface="+mn-cs"/>
              </a:rPr>
              <a:t>R²</a:t>
            </a:r>
            <a:endParaRPr kumimoji="0" lang="en-US" b="0" i="0" u="none" strike="noStrike" kern="1200" cap="none" spc="0" normalizeH="0" baseline="0" noProof="0" dirty="0">
              <a:ln>
                <a:noFill/>
              </a:ln>
              <a:solidFill>
                <a:prstClr val="black"/>
              </a:solidFill>
              <a:effectLst/>
              <a:uLnTx/>
              <a:uFillTx/>
              <a:latin typeface="Arial"/>
              <a:ea typeface="+mn-ea"/>
              <a:cs typeface="+mn-cs"/>
            </a:endParaRPr>
          </a:p>
        </p:txBody>
      </p:sp>
      <p:sp>
        <p:nvSpPr>
          <p:cNvPr id="19" name="Shape 15"/>
          <p:cNvSpPr/>
          <p:nvPr/>
        </p:nvSpPr>
        <p:spPr>
          <a:xfrm>
            <a:off x="668474" y="5157216"/>
            <a:ext cx="2148840" cy="292608"/>
          </a:xfrm>
          <a:prstGeom prst="rect">
            <a:avLst/>
          </a:prstGeom>
          <a:solidFill>
            <a:srgbClr val="FFFFFF"/>
          </a:solidFill>
          <a:ln w="12700">
            <a:solidFill>
              <a:srgbClr val="CBD7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a:ea typeface="+mn-ea"/>
              <a:cs typeface="+mn-cs"/>
            </a:endParaRPr>
          </a:p>
        </p:txBody>
      </p:sp>
      <p:sp>
        <p:nvSpPr>
          <p:cNvPr id="20" name="Text 16"/>
          <p:cNvSpPr/>
          <p:nvPr/>
        </p:nvSpPr>
        <p:spPr>
          <a:xfrm>
            <a:off x="668474" y="5184648"/>
            <a:ext cx="214884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1D2B36"/>
                </a:solidFill>
                <a:effectLst/>
                <a:uLnTx/>
                <a:uFillTx/>
                <a:latin typeface="Arial"/>
                <a:ea typeface="+mn-ea"/>
                <a:cs typeface="+mn-cs"/>
              </a:rPr>
              <a:t>Random Forest</a:t>
            </a:r>
            <a:endParaRPr kumimoji="0" lang="en-US" b="0" i="0" u="none" strike="noStrike" kern="1200" cap="none" spc="0" normalizeH="0" baseline="0" noProof="0" dirty="0">
              <a:ln>
                <a:noFill/>
              </a:ln>
              <a:solidFill>
                <a:prstClr val="black"/>
              </a:solidFill>
              <a:effectLst/>
              <a:uLnTx/>
              <a:uFillTx/>
              <a:latin typeface="Arial"/>
              <a:ea typeface="+mn-ea"/>
              <a:cs typeface="+mn-cs"/>
            </a:endParaRPr>
          </a:p>
        </p:txBody>
      </p:sp>
      <p:sp>
        <p:nvSpPr>
          <p:cNvPr id="21" name="Shape 17"/>
          <p:cNvSpPr/>
          <p:nvPr/>
        </p:nvSpPr>
        <p:spPr>
          <a:xfrm>
            <a:off x="2817314" y="5157216"/>
            <a:ext cx="731520" cy="292608"/>
          </a:xfrm>
          <a:prstGeom prst="rect">
            <a:avLst/>
          </a:prstGeom>
          <a:solidFill>
            <a:srgbClr val="FFFFFF"/>
          </a:solidFill>
          <a:ln w="12700">
            <a:solidFill>
              <a:srgbClr val="CBD7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a:ea typeface="+mn-ea"/>
              <a:cs typeface="+mn-cs"/>
            </a:endParaRPr>
          </a:p>
        </p:txBody>
      </p:sp>
      <p:sp>
        <p:nvSpPr>
          <p:cNvPr id="22" name="Text 18"/>
          <p:cNvSpPr/>
          <p:nvPr/>
        </p:nvSpPr>
        <p:spPr>
          <a:xfrm>
            <a:off x="2817314" y="5184648"/>
            <a:ext cx="7315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1D2B36"/>
                </a:solidFill>
                <a:effectLst/>
                <a:uLnTx/>
                <a:uFillTx/>
                <a:latin typeface="Arial"/>
                <a:ea typeface="+mn-ea"/>
                <a:cs typeface="+mn-cs"/>
              </a:rPr>
              <a:t>0.081</a:t>
            </a:r>
            <a:endParaRPr kumimoji="0" lang="en-US" b="0" i="0" u="none" strike="noStrike" kern="1200" cap="none" spc="0" normalizeH="0" baseline="0" noProof="0" dirty="0">
              <a:ln>
                <a:noFill/>
              </a:ln>
              <a:solidFill>
                <a:prstClr val="black"/>
              </a:solidFill>
              <a:effectLst/>
              <a:uLnTx/>
              <a:uFillTx/>
              <a:latin typeface="Arial"/>
              <a:ea typeface="+mn-ea"/>
              <a:cs typeface="+mn-cs"/>
            </a:endParaRPr>
          </a:p>
        </p:txBody>
      </p:sp>
      <p:sp>
        <p:nvSpPr>
          <p:cNvPr id="23" name="Shape 19"/>
          <p:cNvSpPr/>
          <p:nvPr/>
        </p:nvSpPr>
        <p:spPr>
          <a:xfrm>
            <a:off x="3548834" y="5157216"/>
            <a:ext cx="777240" cy="292608"/>
          </a:xfrm>
          <a:prstGeom prst="rect">
            <a:avLst/>
          </a:prstGeom>
          <a:solidFill>
            <a:srgbClr val="FFFFFF"/>
          </a:solidFill>
          <a:ln w="12700">
            <a:solidFill>
              <a:srgbClr val="CBD7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a:ea typeface="+mn-ea"/>
              <a:cs typeface="+mn-cs"/>
            </a:endParaRPr>
          </a:p>
        </p:txBody>
      </p:sp>
      <p:sp>
        <p:nvSpPr>
          <p:cNvPr id="24" name="Text 20"/>
          <p:cNvSpPr/>
          <p:nvPr/>
        </p:nvSpPr>
        <p:spPr>
          <a:xfrm>
            <a:off x="3548834" y="5184648"/>
            <a:ext cx="77724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1D2B36"/>
                </a:solidFill>
                <a:effectLst/>
                <a:uLnTx/>
                <a:uFillTx/>
                <a:latin typeface="Arial"/>
                <a:ea typeface="+mn-ea"/>
                <a:cs typeface="+mn-cs"/>
              </a:rPr>
              <a:t>0.100</a:t>
            </a:r>
            <a:endParaRPr kumimoji="0" lang="en-US" b="0" i="0" u="none" strike="noStrike" kern="1200" cap="none" spc="0" normalizeH="0" baseline="0" noProof="0" dirty="0">
              <a:ln>
                <a:noFill/>
              </a:ln>
              <a:solidFill>
                <a:prstClr val="black"/>
              </a:solidFill>
              <a:effectLst/>
              <a:uLnTx/>
              <a:uFillTx/>
              <a:latin typeface="Arial"/>
              <a:ea typeface="+mn-ea"/>
              <a:cs typeface="+mn-cs"/>
            </a:endParaRPr>
          </a:p>
        </p:txBody>
      </p:sp>
      <p:sp>
        <p:nvSpPr>
          <p:cNvPr id="25" name="Shape 21"/>
          <p:cNvSpPr/>
          <p:nvPr/>
        </p:nvSpPr>
        <p:spPr>
          <a:xfrm>
            <a:off x="4326074" y="5157216"/>
            <a:ext cx="685800" cy="292608"/>
          </a:xfrm>
          <a:prstGeom prst="rect">
            <a:avLst/>
          </a:prstGeom>
          <a:solidFill>
            <a:srgbClr val="FFFFFF"/>
          </a:solidFill>
          <a:ln w="12700">
            <a:solidFill>
              <a:srgbClr val="CBD7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a:ea typeface="+mn-ea"/>
              <a:cs typeface="+mn-cs"/>
            </a:endParaRPr>
          </a:p>
        </p:txBody>
      </p:sp>
      <p:sp>
        <p:nvSpPr>
          <p:cNvPr id="26" name="Text 22"/>
          <p:cNvSpPr/>
          <p:nvPr/>
        </p:nvSpPr>
        <p:spPr>
          <a:xfrm>
            <a:off x="4326074" y="5184648"/>
            <a:ext cx="68580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1D2B36"/>
                </a:solidFill>
                <a:effectLst/>
                <a:uLnTx/>
                <a:uFillTx/>
                <a:latin typeface="Arial"/>
                <a:ea typeface="+mn-ea"/>
                <a:cs typeface="+mn-cs"/>
              </a:rPr>
              <a:t>0.165</a:t>
            </a:r>
            <a:endParaRPr kumimoji="0" lang="en-US" b="0" i="0" u="none" strike="noStrike" kern="1200" cap="none" spc="0" normalizeH="0" baseline="0" noProof="0" dirty="0">
              <a:ln>
                <a:noFill/>
              </a:ln>
              <a:solidFill>
                <a:prstClr val="black"/>
              </a:solidFill>
              <a:effectLst/>
              <a:uLnTx/>
              <a:uFillTx/>
              <a:latin typeface="Arial"/>
              <a:ea typeface="+mn-ea"/>
              <a:cs typeface="+mn-cs"/>
            </a:endParaRPr>
          </a:p>
        </p:txBody>
      </p:sp>
      <p:sp>
        <p:nvSpPr>
          <p:cNvPr id="27" name="Shape 23"/>
          <p:cNvSpPr/>
          <p:nvPr/>
        </p:nvSpPr>
        <p:spPr>
          <a:xfrm>
            <a:off x="668474" y="5449824"/>
            <a:ext cx="2148840" cy="292608"/>
          </a:xfrm>
          <a:prstGeom prst="rect">
            <a:avLst/>
          </a:prstGeom>
          <a:solidFill>
            <a:srgbClr val="FFFFFF"/>
          </a:solidFill>
          <a:ln w="12700">
            <a:solidFill>
              <a:srgbClr val="CBD7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a:ea typeface="+mn-ea"/>
              <a:cs typeface="+mn-cs"/>
            </a:endParaRPr>
          </a:p>
        </p:txBody>
      </p:sp>
      <p:sp>
        <p:nvSpPr>
          <p:cNvPr id="28" name="Text 24"/>
          <p:cNvSpPr/>
          <p:nvPr/>
        </p:nvSpPr>
        <p:spPr>
          <a:xfrm>
            <a:off x="668474" y="5477256"/>
            <a:ext cx="214884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1D2B36"/>
                </a:solidFill>
                <a:effectLst/>
                <a:uLnTx/>
                <a:uFillTx/>
                <a:latin typeface="Arial"/>
                <a:ea typeface="+mn-ea"/>
                <a:cs typeface="+mn-cs"/>
              </a:rPr>
              <a:t>Gradient Boosting</a:t>
            </a:r>
            <a:endParaRPr kumimoji="0" lang="en-US" b="0" i="0" u="none" strike="noStrike" kern="1200" cap="none" spc="0" normalizeH="0" baseline="0" noProof="0" dirty="0">
              <a:ln>
                <a:noFill/>
              </a:ln>
              <a:solidFill>
                <a:prstClr val="black"/>
              </a:solidFill>
              <a:effectLst/>
              <a:uLnTx/>
              <a:uFillTx/>
              <a:latin typeface="Arial"/>
              <a:ea typeface="+mn-ea"/>
              <a:cs typeface="+mn-cs"/>
            </a:endParaRPr>
          </a:p>
        </p:txBody>
      </p:sp>
      <p:sp>
        <p:nvSpPr>
          <p:cNvPr id="29" name="Shape 25"/>
          <p:cNvSpPr/>
          <p:nvPr/>
        </p:nvSpPr>
        <p:spPr>
          <a:xfrm>
            <a:off x="2817314" y="5449824"/>
            <a:ext cx="731520" cy="292608"/>
          </a:xfrm>
          <a:prstGeom prst="rect">
            <a:avLst/>
          </a:prstGeom>
          <a:solidFill>
            <a:srgbClr val="FFFFFF"/>
          </a:solidFill>
          <a:ln w="12700">
            <a:solidFill>
              <a:srgbClr val="CBD7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a:ea typeface="+mn-ea"/>
              <a:cs typeface="+mn-cs"/>
            </a:endParaRPr>
          </a:p>
        </p:txBody>
      </p:sp>
      <p:sp>
        <p:nvSpPr>
          <p:cNvPr id="30" name="Text 26"/>
          <p:cNvSpPr/>
          <p:nvPr/>
        </p:nvSpPr>
        <p:spPr>
          <a:xfrm>
            <a:off x="2817314" y="5477256"/>
            <a:ext cx="7315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1D2B36"/>
                </a:solidFill>
                <a:effectLst/>
                <a:uLnTx/>
                <a:uFillTx/>
                <a:latin typeface="Arial"/>
                <a:ea typeface="+mn-ea"/>
                <a:cs typeface="+mn-cs"/>
              </a:rPr>
              <a:t>0.083</a:t>
            </a:r>
            <a:endParaRPr kumimoji="0" lang="en-US" b="0" i="0" u="none" strike="noStrike" kern="1200" cap="none" spc="0" normalizeH="0" baseline="0" noProof="0" dirty="0">
              <a:ln>
                <a:noFill/>
              </a:ln>
              <a:solidFill>
                <a:prstClr val="black"/>
              </a:solidFill>
              <a:effectLst/>
              <a:uLnTx/>
              <a:uFillTx/>
              <a:latin typeface="Arial"/>
              <a:ea typeface="+mn-ea"/>
              <a:cs typeface="+mn-cs"/>
            </a:endParaRPr>
          </a:p>
        </p:txBody>
      </p:sp>
      <p:sp>
        <p:nvSpPr>
          <p:cNvPr id="31" name="Shape 27"/>
          <p:cNvSpPr/>
          <p:nvPr/>
        </p:nvSpPr>
        <p:spPr>
          <a:xfrm>
            <a:off x="3548834" y="5449824"/>
            <a:ext cx="777240" cy="292608"/>
          </a:xfrm>
          <a:prstGeom prst="rect">
            <a:avLst/>
          </a:prstGeom>
          <a:solidFill>
            <a:srgbClr val="FFFFFF"/>
          </a:solidFill>
          <a:ln w="12700">
            <a:solidFill>
              <a:srgbClr val="CBD7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a:ea typeface="+mn-ea"/>
              <a:cs typeface="+mn-cs"/>
            </a:endParaRPr>
          </a:p>
        </p:txBody>
      </p:sp>
      <p:sp>
        <p:nvSpPr>
          <p:cNvPr id="32" name="Text 28"/>
          <p:cNvSpPr/>
          <p:nvPr/>
        </p:nvSpPr>
        <p:spPr>
          <a:xfrm>
            <a:off x="3548834" y="5477256"/>
            <a:ext cx="77724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1D2B36"/>
                </a:solidFill>
                <a:effectLst/>
                <a:uLnTx/>
                <a:uFillTx/>
                <a:latin typeface="Arial"/>
                <a:ea typeface="+mn-ea"/>
                <a:cs typeface="+mn-cs"/>
              </a:rPr>
              <a:t>0.103</a:t>
            </a:r>
            <a:endParaRPr kumimoji="0" lang="en-US" b="0" i="0" u="none" strike="noStrike" kern="1200" cap="none" spc="0" normalizeH="0" baseline="0" noProof="0" dirty="0">
              <a:ln>
                <a:noFill/>
              </a:ln>
              <a:solidFill>
                <a:prstClr val="black"/>
              </a:solidFill>
              <a:effectLst/>
              <a:uLnTx/>
              <a:uFillTx/>
              <a:latin typeface="Arial"/>
              <a:ea typeface="+mn-ea"/>
              <a:cs typeface="+mn-cs"/>
            </a:endParaRPr>
          </a:p>
        </p:txBody>
      </p:sp>
      <p:sp>
        <p:nvSpPr>
          <p:cNvPr id="33" name="Shape 29"/>
          <p:cNvSpPr/>
          <p:nvPr/>
        </p:nvSpPr>
        <p:spPr>
          <a:xfrm>
            <a:off x="4326074" y="5449824"/>
            <a:ext cx="685800" cy="292608"/>
          </a:xfrm>
          <a:prstGeom prst="rect">
            <a:avLst/>
          </a:prstGeom>
          <a:solidFill>
            <a:srgbClr val="FFFFFF"/>
          </a:solidFill>
          <a:ln w="12700">
            <a:solidFill>
              <a:srgbClr val="CBD7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a:ea typeface="+mn-ea"/>
              <a:cs typeface="+mn-cs"/>
            </a:endParaRPr>
          </a:p>
        </p:txBody>
      </p:sp>
      <p:sp>
        <p:nvSpPr>
          <p:cNvPr id="34" name="Text 30"/>
          <p:cNvSpPr/>
          <p:nvPr/>
        </p:nvSpPr>
        <p:spPr>
          <a:xfrm>
            <a:off x="4326074" y="5477256"/>
            <a:ext cx="68580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1D2B36"/>
                </a:solidFill>
                <a:effectLst/>
                <a:uLnTx/>
                <a:uFillTx/>
                <a:latin typeface="Arial"/>
                <a:ea typeface="+mn-ea"/>
                <a:cs typeface="+mn-cs"/>
              </a:rPr>
              <a:t>0.106</a:t>
            </a:r>
            <a:endParaRPr kumimoji="0" lang="en-US" b="0" i="0" u="none" strike="noStrike" kern="1200" cap="none" spc="0" normalizeH="0" baseline="0" noProof="0" dirty="0">
              <a:ln>
                <a:noFill/>
              </a:ln>
              <a:solidFill>
                <a:prstClr val="black"/>
              </a:solidFill>
              <a:effectLst/>
              <a:uLnTx/>
              <a:uFillTx/>
              <a:latin typeface="Arial"/>
              <a:ea typeface="+mn-ea"/>
              <a:cs typeface="+mn-cs"/>
            </a:endParaRPr>
          </a:p>
        </p:txBody>
      </p:sp>
      <p:sp>
        <p:nvSpPr>
          <p:cNvPr id="35" name="Shape 31"/>
          <p:cNvSpPr/>
          <p:nvPr/>
        </p:nvSpPr>
        <p:spPr>
          <a:xfrm>
            <a:off x="668474" y="5742432"/>
            <a:ext cx="2148840" cy="292608"/>
          </a:xfrm>
          <a:prstGeom prst="rect">
            <a:avLst/>
          </a:prstGeom>
          <a:solidFill>
            <a:srgbClr val="FFFFFF"/>
          </a:solidFill>
          <a:ln w="12700">
            <a:solidFill>
              <a:srgbClr val="CBD7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a:ea typeface="+mn-ea"/>
              <a:cs typeface="+mn-cs"/>
            </a:endParaRPr>
          </a:p>
        </p:txBody>
      </p:sp>
      <p:sp>
        <p:nvSpPr>
          <p:cNvPr id="36" name="Text 32"/>
          <p:cNvSpPr/>
          <p:nvPr/>
        </p:nvSpPr>
        <p:spPr>
          <a:xfrm>
            <a:off x="668474" y="5769864"/>
            <a:ext cx="214884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1D2B36"/>
                </a:solidFill>
                <a:effectLst/>
                <a:uLnTx/>
                <a:uFillTx/>
                <a:latin typeface="Arial"/>
                <a:ea typeface="+mn-ea"/>
                <a:cs typeface="+mn-cs"/>
              </a:rPr>
              <a:t>XGBoost</a:t>
            </a:r>
            <a:endParaRPr kumimoji="0" lang="en-US" b="0" i="0" u="none" strike="noStrike" kern="1200" cap="none" spc="0" normalizeH="0" baseline="0" noProof="0" dirty="0">
              <a:ln>
                <a:noFill/>
              </a:ln>
              <a:solidFill>
                <a:prstClr val="black"/>
              </a:solidFill>
              <a:effectLst/>
              <a:uLnTx/>
              <a:uFillTx/>
              <a:latin typeface="Arial"/>
              <a:ea typeface="+mn-ea"/>
              <a:cs typeface="+mn-cs"/>
            </a:endParaRPr>
          </a:p>
        </p:txBody>
      </p:sp>
      <p:sp>
        <p:nvSpPr>
          <p:cNvPr id="37" name="Shape 33"/>
          <p:cNvSpPr/>
          <p:nvPr/>
        </p:nvSpPr>
        <p:spPr>
          <a:xfrm>
            <a:off x="2817314" y="5742432"/>
            <a:ext cx="731520" cy="292608"/>
          </a:xfrm>
          <a:prstGeom prst="rect">
            <a:avLst/>
          </a:prstGeom>
          <a:solidFill>
            <a:srgbClr val="FFFFFF"/>
          </a:solidFill>
          <a:ln w="12700">
            <a:solidFill>
              <a:srgbClr val="CBD7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a:ea typeface="+mn-ea"/>
              <a:cs typeface="+mn-cs"/>
            </a:endParaRPr>
          </a:p>
        </p:txBody>
      </p:sp>
      <p:sp>
        <p:nvSpPr>
          <p:cNvPr id="38" name="Text 34"/>
          <p:cNvSpPr/>
          <p:nvPr/>
        </p:nvSpPr>
        <p:spPr>
          <a:xfrm>
            <a:off x="2817314" y="5769864"/>
            <a:ext cx="7315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1D2B36"/>
                </a:solidFill>
                <a:effectLst/>
                <a:uLnTx/>
                <a:uFillTx/>
                <a:latin typeface="Arial"/>
                <a:ea typeface="+mn-ea"/>
                <a:cs typeface="+mn-cs"/>
              </a:rPr>
              <a:t>0.079</a:t>
            </a:r>
            <a:endParaRPr kumimoji="0" lang="en-US" b="0" i="0" u="none" strike="noStrike" kern="1200" cap="none" spc="0" normalizeH="0" baseline="0" noProof="0" dirty="0">
              <a:ln>
                <a:noFill/>
              </a:ln>
              <a:solidFill>
                <a:prstClr val="black"/>
              </a:solidFill>
              <a:effectLst/>
              <a:uLnTx/>
              <a:uFillTx/>
              <a:latin typeface="Arial"/>
              <a:ea typeface="+mn-ea"/>
              <a:cs typeface="+mn-cs"/>
            </a:endParaRPr>
          </a:p>
        </p:txBody>
      </p:sp>
      <p:sp>
        <p:nvSpPr>
          <p:cNvPr id="39" name="Shape 35"/>
          <p:cNvSpPr/>
          <p:nvPr/>
        </p:nvSpPr>
        <p:spPr>
          <a:xfrm>
            <a:off x="3548834" y="5742432"/>
            <a:ext cx="777240" cy="292608"/>
          </a:xfrm>
          <a:prstGeom prst="rect">
            <a:avLst/>
          </a:prstGeom>
          <a:solidFill>
            <a:srgbClr val="FFFFFF"/>
          </a:solidFill>
          <a:ln w="12700">
            <a:solidFill>
              <a:srgbClr val="CBD7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a:ea typeface="+mn-ea"/>
              <a:cs typeface="+mn-cs"/>
            </a:endParaRPr>
          </a:p>
        </p:txBody>
      </p:sp>
      <p:sp>
        <p:nvSpPr>
          <p:cNvPr id="40" name="Text 36"/>
          <p:cNvSpPr/>
          <p:nvPr/>
        </p:nvSpPr>
        <p:spPr>
          <a:xfrm>
            <a:off x="3548834" y="5769864"/>
            <a:ext cx="77724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1D2B36"/>
                </a:solidFill>
                <a:effectLst/>
                <a:uLnTx/>
                <a:uFillTx/>
                <a:latin typeface="Arial"/>
                <a:ea typeface="+mn-ea"/>
                <a:cs typeface="+mn-cs"/>
              </a:rPr>
              <a:t>0.097</a:t>
            </a:r>
            <a:endParaRPr kumimoji="0" lang="en-US" b="0" i="0" u="none" strike="noStrike" kern="1200" cap="none" spc="0" normalizeH="0" baseline="0" noProof="0" dirty="0">
              <a:ln>
                <a:noFill/>
              </a:ln>
              <a:solidFill>
                <a:prstClr val="black"/>
              </a:solidFill>
              <a:effectLst/>
              <a:uLnTx/>
              <a:uFillTx/>
              <a:latin typeface="Arial"/>
              <a:ea typeface="+mn-ea"/>
              <a:cs typeface="+mn-cs"/>
            </a:endParaRPr>
          </a:p>
        </p:txBody>
      </p:sp>
      <p:sp>
        <p:nvSpPr>
          <p:cNvPr id="41" name="Shape 37"/>
          <p:cNvSpPr/>
          <p:nvPr/>
        </p:nvSpPr>
        <p:spPr>
          <a:xfrm>
            <a:off x="4326074" y="5742432"/>
            <a:ext cx="685800" cy="292608"/>
          </a:xfrm>
          <a:prstGeom prst="rect">
            <a:avLst/>
          </a:prstGeom>
          <a:solidFill>
            <a:srgbClr val="FFFFFF"/>
          </a:solidFill>
          <a:ln w="12700">
            <a:solidFill>
              <a:srgbClr val="CBD7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a:ea typeface="+mn-ea"/>
              <a:cs typeface="+mn-cs"/>
            </a:endParaRPr>
          </a:p>
        </p:txBody>
      </p:sp>
      <p:sp>
        <p:nvSpPr>
          <p:cNvPr id="42" name="Text 38"/>
          <p:cNvSpPr/>
          <p:nvPr/>
        </p:nvSpPr>
        <p:spPr>
          <a:xfrm>
            <a:off x="4326074" y="5769864"/>
            <a:ext cx="68580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1D2B36"/>
                </a:solidFill>
                <a:effectLst/>
                <a:uLnTx/>
                <a:uFillTx/>
                <a:latin typeface="Arial"/>
                <a:ea typeface="+mn-ea"/>
                <a:cs typeface="+mn-cs"/>
              </a:rPr>
              <a:t>0.210</a:t>
            </a:r>
            <a:endParaRPr kumimoji="0" lang="en-US" b="0" i="0" u="none" strike="noStrike" kern="1200" cap="none" spc="0" normalizeH="0" baseline="0" noProof="0" dirty="0">
              <a:ln>
                <a:noFill/>
              </a:ln>
              <a:solidFill>
                <a:prstClr val="black"/>
              </a:solidFill>
              <a:effectLst/>
              <a:uLnTx/>
              <a:uFillTx/>
              <a:latin typeface="Arial"/>
              <a:ea typeface="+mn-ea"/>
              <a:cs typeface="+mn-cs"/>
            </a:endParaRPr>
          </a:p>
        </p:txBody>
      </p:sp>
      <p:sp>
        <p:nvSpPr>
          <p:cNvPr id="43" name="Shape 39"/>
          <p:cNvSpPr/>
          <p:nvPr/>
        </p:nvSpPr>
        <p:spPr>
          <a:xfrm>
            <a:off x="668474" y="6035040"/>
            <a:ext cx="2148840" cy="292608"/>
          </a:xfrm>
          <a:prstGeom prst="rect">
            <a:avLst/>
          </a:prstGeom>
          <a:solidFill>
            <a:srgbClr val="FFFFFF"/>
          </a:solidFill>
          <a:ln w="12700">
            <a:solidFill>
              <a:srgbClr val="CBD7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a:ea typeface="+mn-ea"/>
              <a:cs typeface="+mn-cs"/>
            </a:endParaRPr>
          </a:p>
        </p:txBody>
      </p:sp>
      <p:sp>
        <p:nvSpPr>
          <p:cNvPr id="44" name="Text 40"/>
          <p:cNvSpPr/>
          <p:nvPr/>
        </p:nvSpPr>
        <p:spPr>
          <a:xfrm>
            <a:off x="668474" y="6062472"/>
            <a:ext cx="214884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1D2B36"/>
                </a:solidFill>
                <a:effectLst/>
                <a:uLnTx/>
                <a:uFillTx/>
                <a:latin typeface="Arial"/>
                <a:ea typeface="+mn-ea"/>
                <a:cs typeface="+mn-cs"/>
              </a:rPr>
              <a:t>LSTM</a:t>
            </a:r>
            <a:endParaRPr kumimoji="0" lang="en-US" b="0" i="0" u="none" strike="noStrike" kern="1200" cap="none" spc="0" normalizeH="0" baseline="0" noProof="0" dirty="0">
              <a:ln>
                <a:noFill/>
              </a:ln>
              <a:solidFill>
                <a:prstClr val="black"/>
              </a:solidFill>
              <a:effectLst/>
              <a:uLnTx/>
              <a:uFillTx/>
              <a:latin typeface="Arial"/>
              <a:ea typeface="+mn-ea"/>
              <a:cs typeface="+mn-cs"/>
            </a:endParaRPr>
          </a:p>
        </p:txBody>
      </p:sp>
      <p:sp>
        <p:nvSpPr>
          <p:cNvPr id="45" name="Shape 41"/>
          <p:cNvSpPr/>
          <p:nvPr/>
        </p:nvSpPr>
        <p:spPr>
          <a:xfrm>
            <a:off x="2817314" y="6035040"/>
            <a:ext cx="731520" cy="292608"/>
          </a:xfrm>
          <a:prstGeom prst="rect">
            <a:avLst/>
          </a:prstGeom>
          <a:solidFill>
            <a:srgbClr val="FFFFFF"/>
          </a:solidFill>
          <a:ln w="12700">
            <a:solidFill>
              <a:srgbClr val="CBD7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a:ea typeface="+mn-ea"/>
              <a:cs typeface="+mn-cs"/>
            </a:endParaRPr>
          </a:p>
        </p:txBody>
      </p:sp>
      <p:sp>
        <p:nvSpPr>
          <p:cNvPr id="46" name="Text 42"/>
          <p:cNvSpPr/>
          <p:nvPr/>
        </p:nvSpPr>
        <p:spPr>
          <a:xfrm>
            <a:off x="2817314" y="6062472"/>
            <a:ext cx="7315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1D2B36"/>
                </a:solidFill>
                <a:effectLst/>
                <a:uLnTx/>
                <a:uFillTx/>
                <a:latin typeface="Arial"/>
                <a:ea typeface="+mn-ea"/>
                <a:cs typeface="+mn-cs"/>
              </a:rPr>
              <a:t>0.097</a:t>
            </a:r>
            <a:endParaRPr kumimoji="0" lang="en-US" b="0" i="0" u="none" strike="noStrike" kern="1200" cap="none" spc="0" normalizeH="0" baseline="0" noProof="0" dirty="0">
              <a:ln>
                <a:noFill/>
              </a:ln>
              <a:solidFill>
                <a:prstClr val="black"/>
              </a:solidFill>
              <a:effectLst/>
              <a:uLnTx/>
              <a:uFillTx/>
              <a:latin typeface="Arial"/>
              <a:ea typeface="+mn-ea"/>
              <a:cs typeface="+mn-cs"/>
            </a:endParaRPr>
          </a:p>
        </p:txBody>
      </p:sp>
      <p:sp>
        <p:nvSpPr>
          <p:cNvPr id="47" name="Shape 43"/>
          <p:cNvSpPr/>
          <p:nvPr/>
        </p:nvSpPr>
        <p:spPr>
          <a:xfrm>
            <a:off x="3548834" y="6035040"/>
            <a:ext cx="777240" cy="292608"/>
          </a:xfrm>
          <a:prstGeom prst="rect">
            <a:avLst/>
          </a:prstGeom>
          <a:solidFill>
            <a:srgbClr val="FFFFFF"/>
          </a:solidFill>
          <a:ln w="12700">
            <a:solidFill>
              <a:srgbClr val="CBD7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a:ea typeface="+mn-ea"/>
              <a:cs typeface="+mn-cs"/>
            </a:endParaRPr>
          </a:p>
        </p:txBody>
      </p:sp>
      <p:sp>
        <p:nvSpPr>
          <p:cNvPr id="48" name="Text 44"/>
          <p:cNvSpPr/>
          <p:nvPr/>
        </p:nvSpPr>
        <p:spPr>
          <a:xfrm>
            <a:off x="3548834" y="6062472"/>
            <a:ext cx="77724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1D2B36"/>
                </a:solidFill>
                <a:effectLst/>
                <a:uLnTx/>
                <a:uFillTx/>
                <a:latin typeface="Arial"/>
                <a:ea typeface="+mn-ea"/>
                <a:cs typeface="+mn-cs"/>
              </a:rPr>
              <a:t>0.123</a:t>
            </a:r>
            <a:endParaRPr kumimoji="0" lang="en-US" b="0" i="0" u="none" strike="noStrike" kern="1200" cap="none" spc="0" normalizeH="0" baseline="0" noProof="0" dirty="0">
              <a:ln>
                <a:noFill/>
              </a:ln>
              <a:solidFill>
                <a:prstClr val="black"/>
              </a:solidFill>
              <a:effectLst/>
              <a:uLnTx/>
              <a:uFillTx/>
              <a:latin typeface="Arial"/>
              <a:ea typeface="+mn-ea"/>
              <a:cs typeface="+mn-cs"/>
            </a:endParaRPr>
          </a:p>
        </p:txBody>
      </p:sp>
      <p:sp>
        <p:nvSpPr>
          <p:cNvPr id="49" name="Shape 45"/>
          <p:cNvSpPr/>
          <p:nvPr/>
        </p:nvSpPr>
        <p:spPr>
          <a:xfrm>
            <a:off x="4326074" y="6035040"/>
            <a:ext cx="685800" cy="292608"/>
          </a:xfrm>
          <a:prstGeom prst="rect">
            <a:avLst/>
          </a:prstGeom>
          <a:solidFill>
            <a:srgbClr val="FFFFFF"/>
          </a:solidFill>
          <a:ln w="12700">
            <a:solidFill>
              <a:srgbClr val="CBD7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a:ea typeface="+mn-ea"/>
              <a:cs typeface="+mn-cs"/>
            </a:endParaRPr>
          </a:p>
        </p:txBody>
      </p:sp>
      <p:sp>
        <p:nvSpPr>
          <p:cNvPr id="50" name="Text 46"/>
          <p:cNvSpPr/>
          <p:nvPr/>
        </p:nvSpPr>
        <p:spPr>
          <a:xfrm>
            <a:off x="4326074" y="6062472"/>
            <a:ext cx="68580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1D2B36"/>
                </a:solidFill>
                <a:effectLst/>
                <a:uLnTx/>
                <a:uFillTx/>
                <a:latin typeface="Arial"/>
                <a:ea typeface="+mn-ea"/>
                <a:cs typeface="+mn-cs"/>
              </a:rPr>
              <a:t>-0.263</a:t>
            </a:r>
            <a:endParaRPr kumimoji="0" lang="en-US" b="0" i="0" u="none" strike="noStrike" kern="1200" cap="none" spc="0" normalizeH="0" baseline="0" noProof="0" dirty="0">
              <a:ln>
                <a:noFill/>
              </a:ln>
              <a:solidFill>
                <a:prstClr val="black"/>
              </a:solidFill>
              <a:effectLst/>
              <a:uLnTx/>
              <a:uFillTx/>
              <a:latin typeface="Arial"/>
              <a:ea typeface="+mn-ea"/>
              <a:cs typeface="+mn-cs"/>
            </a:endParaRPr>
          </a:p>
        </p:txBody>
      </p:sp>
      <p:sp>
        <p:nvSpPr>
          <p:cNvPr id="51" name="Shape 47"/>
          <p:cNvSpPr/>
          <p:nvPr/>
        </p:nvSpPr>
        <p:spPr>
          <a:xfrm>
            <a:off x="5650992" y="4462272"/>
            <a:ext cx="6351526" cy="2240280"/>
          </a:xfrm>
          <a:prstGeom prst="roundRect">
            <a:avLst>
              <a:gd name="adj" fmla="val 4651"/>
            </a:avLst>
          </a:prstGeom>
          <a:solidFill>
            <a:srgbClr val="EAF4F6"/>
          </a:solidFill>
          <a:ln w="12700">
            <a:solidFill>
              <a:srgbClr val="D7E1E6"/>
            </a:solidFill>
            <a:prstDash val="solid"/>
          </a:ln>
          <a:effectLst>
            <a:outerShdw blurRad="19050" dist="6350" dir="27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52" name="Text 48"/>
          <p:cNvSpPr/>
          <p:nvPr/>
        </p:nvSpPr>
        <p:spPr>
          <a:xfrm>
            <a:off x="5925312" y="4192524"/>
            <a:ext cx="2194560"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03B53"/>
                </a:solidFill>
                <a:effectLst/>
                <a:uLnTx/>
                <a:uFillTx/>
                <a:latin typeface="Arial"/>
                <a:ea typeface="+mn-ea"/>
                <a:cs typeface="+mn-cs"/>
              </a:rPr>
              <a:t>Interpretation</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53" name="Text 49"/>
          <p:cNvSpPr/>
          <p:nvPr/>
        </p:nvSpPr>
        <p:spPr>
          <a:xfrm>
            <a:off x="5925312" y="4608576"/>
            <a:ext cx="5900928" cy="19842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1D2B36"/>
                </a:solidFill>
                <a:effectLst/>
                <a:uLnTx/>
                <a:uFillTx/>
                <a:latin typeface="Arial"/>
                <a:ea typeface="+mn-ea"/>
                <a:cs typeface="+mn-cs"/>
              </a:rPr>
              <a:t>• Tree-based methods beat the current LSTM setup on the same holdout period.</a:t>
            </a:r>
            <a:endParaRPr kumimoji="0" lang="en-US"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1D2B36"/>
                </a:solidFill>
                <a:effectLst/>
                <a:uLnTx/>
                <a:uFillTx/>
                <a:latin typeface="Arial"/>
                <a:ea typeface="+mn-ea"/>
                <a:cs typeface="+mn-cs"/>
              </a:rPr>
              <a:t>• XGBoost gives the lowest MAE and RMSE and the highest R².</a:t>
            </a:r>
            <a:endParaRPr kumimoji="0" lang="en-US"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1D2B36"/>
                </a:solidFill>
                <a:effectLst/>
                <a:uLnTx/>
                <a:uFillTx/>
                <a:latin typeface="Arial"/>
                <a:ea typeface="+mn-ea"/>
                <a:cs typeface="+mn-cs"/>
              </a:rPr>
              <a:t>• The time-series overlay shows where each model misses peaks, not just average error.</a:t>
            </a:r>
            <a:endParaRPr kumimoji="0" lang="en-US" b="0" i="0" u="none" strike="noStrike" kern="1200" cap="none" spc="0" normalizeH="0" baseline="0" noProof="0" dirty="0">
              <a:ln>
                <a:noFill/>
              </a:ln>
              <a:solidFill>
                <a:prstClr val="black"/>
              </a:solidFill>
              <a:effectLst/>
              <a:uLnTx/>
              <a:uFillTx/>
              <a:latin typeface="Arial"/>
              <a:ea typeface="+mn-ea"/>
              <a:cs typeface="+mn-cs"/>
            </a:endParaRPr>
          </a:p>
        </p:txBody>
      </p:sp>
      <p:pic>
        <p:nvPicPr>
          <p:cNvPr id="55" name="Picture 54">
            <a:extLst>
              <a:ext uri="{FF2B5EF4-FFF2-40B4-BE49-F238E27FC236}">
                <a16:creationId xmlns:a16="http://schemas.microsoft.com/office/drawing/2014/main" id="{D8D058D9-C82E-6250-22E6-55A1BEE11D40}"/>
              </a:ext>
            </a:extLst>
          </p:cNvPr>
          <p:cNvPicPr>
            <a:picLocks noChangeAspect="1"/>
          </p:cNvPicPr>
          <p:nvPr/>
        </p:nvPicPr>
        <p:blipFill>
          <a:blip r:embed="rId4"/>
          <a:stretch>
            <a:fillRect/>
          </a:stretch>
        </p:blipFill>
        <p:spPr>
          <a:xfrm>
            <a:off x="432118" y="1891119"/>
            <a:ext cx="5178592" cy="257115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42CEE1E-5DF3-5FEE-704F-89868A8823CC}"/>
              </a:ext>
            </a:extLst>
          </p:cNvPr>
          <p:cNvPicPr>
            <a:picLocks noChangeAspect="1"/>
          </p:cNvPicPr>
          <p:nvPr/>
        </p:nvPicPr>
        <p:blipFill>
          <a:blip r:embed="rId2"/>
          <a:stretch>
            <a:fillRect/>
          </a:stretch>
        </p:blipFill>
        <p:spPr>
          <a:xfrm>
            <a:off x="2380731" y="104311"/>
            <a:ext cx="7430537" cy="6649378"/>
          </a:xfrm>
          <a:prstGeom prst="rect">
            <a:avLst/>
          </a:prstGeom>
        </p:spPr>
      </p:pic>
    </p:spTree>
    <p:extLst>
      <p:ext uri="{BB962C8B-B14F-4D97-AF65-F5344CB8AC3E}">
        <p14:creationId xmlns:p14="http://schemas.microsoft.com/office/powerpoint/2010/main" val="25651309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66928" y="219456"/>
            <a:ext cx="8412480"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effectLst/>
                <a:uLnTx/>
                <a:uFillTx/>
                <a:latin typeface="Arial"/>
                <a:ea typeface="+mn-ea"/>
                <a:cs typeface="+mn-cs"/>
              </a:rPr>
              <a:t>Engineering takeaways</a:t>
            </a:r>
            <a:endParaRPr kumimoji="0" lang="en-US" sz="2800" b="0" i="0" u="none" strike="noStrike" kern="1200" cap="none" spc="0" normalizeH="0" baseline="0" noProof="0" dirty="0">
              <a:ln>
                <a:noFill/>
              </a:ln>
              <a:effectLst/>
              <a:uLnTx/>
              <a:uFillTx/>
              <a:latin typeface="Arial"/>
              <a:ea typeface="+mn-ea"/>
              <a:cs typeface="+mn-cs"/>
            </a:endParaRPr>
          </a:p>
        </p:txBody>
      </p:sp>
      <p:sp>
        <p:nvSpPr>
          <p:cNvPr id="3" name="Text 1"/>
          <p:cNvSpPr/>
          <p:nvPr/>
        </p:nvSpPr>
        <p:spPr>
          <a:xfrm>
            <a:off x="566928" y="603504"/>
            <a:ext cx="10789920"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5B6770"/>
                </a:solidFill>
                <a:effectLst/>
                <a:uLnTx/>
                <a:uFillTx/>
                <a:latin typeface="Arial"/>
                <a:ea typeface="+mn-ea"/>
                <a:cs typeface="+mn-cs"/>
              </a:rPr>
              <a:t>What the notebook suggests and how to adapt it for another station or study.</a:t>
            </a:r>
            <a:endParaRPr kumimoji="0" lang="en-US" b="0" i="0" u="none" strike="noStrike" kern="1200" cap="none" spc="0" normalizeH="0" baseline="0" noProof="0" dirty="0">
              <a:ln>
                <a:noFill/>
              </a:ln>
              <a:solidFill>
                <a:prstClr val="black"/>
              </a:solidFill>
              <a:effectLst/>
              <a:uLnTx/>
              <a:uFillTx/>
              <a:latin typeface="Arial"/>
              <a:ea typeface="+mn-ea"/>
              <a:cs typeface="+mn-cs"/>
            </a:endParaRPr>
          </a:p>
        </p:txBody>
      </p:sp>
      <p:sp>
        <p:nvSpPr>
          <p:cNvPr id="4" name="Shape 2"/>
          <p:cNvSpPr/>
          <p:nvPr/>
        </p:nvSpPr>
        <p:spPr>
          <a:xfrm>
            <a:off x="566928" y="841248"/>
            <a:ext cx="7787640" cy="100584"/>
          </a:xfrm>
          <a:prstGeom prst="rect">
            <a:avLst/>
          </a:prstGeom>
          <a:solidFill>
            <a:srgbClr val="1E8E8F"/>
          </a:solidFill>
          <a:ln w="12700">
            <a:solidFill>
              <a:srgbClr val="1E8E8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7" name="Shape 4"/>
          <p:cNvSpPr/>
          <p:nvPr/>
        </p:nvSpPr>
        <p:spPr>
          <a:xfrm>
            <a:off x="8083296" y="1078992"/>
            <a:ext cx="3959352" cy="4389120"/>
          </a:xfrm>
          <a:prstGeom prst="roundRect">
            <a:avLst>
              <a:gd name="adj" fmla="val 3265"/>
            </a:avLst>
          </a:prstGeom>
          <a:solidFill>
            <a:srgbClr val="F5E7BF"/>
          </a:solidFill>
          <a:ln w="12700">
            <a:solidFill>
              <a:srgbClr val="E3C36D"/>
            </a:solidFill>
            <a:prstDash val="solid"/>
          </a:ln>
          <a:effectLst>
            <a:outerShdw blurRad="19050" dist="6350" dir="27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8" name="Text 5"/>
          <p:cNvSpPr/>
          <p:nvPr/>
        </p:nvSpPr>
        <p:spPr>
          <a:xfrm>
            <a:off x="8467344" y="1389888"/>
            <a:ext cx="4389120"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03B53"/>
                </a:solidFill>
                <a:effectLst/>
                <a:uLnTx/>
                <a:uFillTx/>
                <a:latin typeface="Arial"/>
                <a:ea typeface="+mn-ea"/>
                <a:cs typeface="+mn-cs"/>
              </a:rPr>
              <a:t>Why this matters in practice</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9" name="Text 6"/>
          <p:cNvSpPr/>
          <p:nvPr/>
        </p:nvSpPr>
        <p:spPr>
          <a:xfrm>
            <a:off x="8354568" y="1280160"/>
            <a:ext cx="3270504" cy="3849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b="0" i="0" u="none" strike="noStrike" kern="1200" cap="none" spc="0" normalizeH="0" baseline="0" noProof="0" dirty="0">
                <a:ln>
                  <a:noFill/>
                </a:ln>
                <a:solidFill>
                  <a:srgbClr val="1D2B36"/>
                </a:solidFill>
                <a:effectLst/>
                <a:uLnTx/>
                <a:uFillTx/>
                <a:latin typeface="Arial"/>
                <a:ea typeface="+mn-ea"/>
                <a:cs typeface="+mn-cs"/>
              </a:rPr>
              <a:t>• Transport is the dominant signal in the best-performing model.</a:t>
            </a:r>
            <a:endParaRPr kumimoji="0" lang="en-US"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b="0" i="0" u="none" strike="noStrike" kern="1200" cap="none" spc="0" normalizeH="0" baseline="0" noProof="0" dirty="0">
                <a:ln>
                  <a:noFill/>
                </a:ln>
                <a:solidFill>
                  <a:srgbClr val="1D2B36"/>
                </a:solidFill>
                <a:effectLst/>
                <a:uLnTx/>
                <a:uFillTx/>
                <a:latin typeface="Arial"/>
                <a:ea typeface="+mn-ea"/>
                <a:cs typeface="+mn-cs"/>
              </a:rPr>
              <a:t>• A recent transport lag also matters strongly, supporting a short-memory interpretation.</a:t>
            </a:r>
            <a:endParaRPr kumimoji="0" lang="en-US"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b="0" i="0" u="none" strike="noStrike" kern="1200" cap="none" spc="0" normalizeH="0" baseline="0" noProof="0" dirty="0">
                <a:ln>
                  <a:noFill/>
                </a:ln>
                <a:solidFill>
                  <a:srgbClr val="1D2B36"/>
                </a:solidFill>
                <a:effectLst/>
                <a:uLnTx/>
                <a:uFillTx/>
                <a:latin typeface="Arial"/>
                <a:ea typeface="+mn-ea"/>
                <a:cs typeface="+mn-cs"/>
              </a:rPr>
              <a:t>• Meteorological and SST-related variables still contribute, but less than transport.</a:t>
            </a:r>
            <a:endParaRPr kumimoji="0" lang="en-US" b="0" i="0" u="none" strike="noStrike" kern="1200" cap="none" spc="0" normalizeH="0" baseline="0" noProof="0" dirty="0">
              <a:ln>
                <a:noFill/>
              </a:ln>
              <a:solidFill>
                <a:prstClr val="black"/>
              </a:solidFill>
              <a:effectLst/>
              <a:uLnTx/>
              <a:uFillTx/>
              <a:latin typeface="Arial"/>
              <a:ea typeface="+mn-ea"/>
              <a:cs typeface="+mn-cs"/>
            </a:endParaRPr>
          </a:p>
        </p:txBody>
      </p:sp>
      <p:pic>
        <p:nvPicPr>
          <p:cNvPr id="14" name="Picture 13">
            <a:extLst>
              <a:ext uri="{FF2B5EF4-FFF2-40B4-BE49-F238E27FC236}">
                <a16:creationId xmlns:a16="http://schemas.microsoft.com/office/drawing/2014/main" id="{60AC3984-EBF6-EB57-FE1F-F80671E1B87B}"/>
              </a:ext>
            </a:extLst>
          </p:cNvPr>
          <p:cNvPicPr>
            <a:picLocks noChangeAspect="1"/>
          </p:cNvPicPr>
          <p:nvPr/>
        </p:nvPicPr>
        <p:blipFill>
          <a:blip r:embed="rId3"/>
          <a:stretch>
            <a:fillRect/>
          </a:stretch>
        </p:blipFill>
        <p:spPr>
          <a:xfrm>
            <a:off x="358905" y="1280160"/>
            <a:ext cx="7658879" cy="472744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22325CD-12AA-CB21-1207-D780E2CD692C}"/>
              </a:ext>
            </a:extLst>
          </p:cNvPr>
          <p:cNvSpPr txBox="1"/>
          <p:nvPr/>
        </p:nvSpPr>
        <p:spPr>
          <a:xfrm>
            <a:off x="519168" y="745990"/>
            <a:ext cx="11333615" cy="1714380"/>
          </a:xfrm>
          <a:prstGeom prst="rect">
            <a:avLst/>
          </a:prstGeom>
          <a:noFill/>
        </p:spPr>
        <p:txBody>
          <a:bodyPr wrap="square" rtlCol="0">
            <a:spAutoFit/>
          </a:bodyPr>
          <a:lstStyle/>
          <a:p>
            <a:pPr marL="457200" indent="-457200">
              <a:lnSpc>
                <a:spcPct val="150000"/>
              </a:lnSpc>
              <a:buFont typeface="Wingdings" panose="05000000000000000000" pitchFamily="2" charset="2"/>
              <a:buChar char="§"/>
            </a:pPr>
            <a:r>
              <a:rPr lang="en-US" sz="1800" dirty="0">
                <a:effectLst/>
                <a:ea typeface="Calibri" panose="020F0502020204030204" pitchFamily="34" charset="0"/>
                <a:cs typeface="Times New Roman" panose="02020603050405020304" pitchFamily="18" charset="0"/>
              </a:rPr>
              <a:t>Sea levels along many coastal regions of the United States coast are rising faster than the global average. </a:t>
            </a:r>
          </a:p>
          <a:p>
            <a:pPr marL="457200" indent="-457200">
              <a:lnSpc>
                <a:spcPct val="150000"/>
              </a:lnSpc>
              <a:buFont typeface="Wingdings" panose="05000000000000000000" pitchFamily="2" charset="2"/>
              <a:buChar char="§"/>
            </a:pPr>
            <a:r>
              <a:rPr lang="en-US" dirty="0">
                <a:ea typeface="Calibri" panose="020F0502020204030204" pitchFamily="34" charset="0"/>
                <a:cs typeface="Times New Roman" panose="02020603050405020304" pitchFamily="18" charset="0"/>
              </a:rPr>
              <a:t>L</a:t>
            </a:r>
            <a:r>
              <a:rPr lang="en-US" sz="1800" dirty="0">
                <a:effectLst/>
                <a:ea typeface="Calibri" panose="020F0502020204030204" pitchFamily="34" charset="0"/>
                <a:cs typeface="Times New Roman" panose="02020603050405020304" pitchFamily="18" charset="0"/>
              </a:rPr>
              <a:t>argest increases along the eastern gulf and southeastern parts of the country.</a:t>
            </a:r>
          </a:p>
          <a:p>
            <a:pPr marL="457200" indent="-457200">
              <a:lnSpc>
                <a:spcPct val="150000"/>
              </a:lnSpc>
              <a:buFont typeface="Wingdings" panose="05000000000000000000" pitchFamily="2" charset="2"/>
              <a:buChar char="§"/>
            </a:pPr>
            <a:r>
              <a:rPr lang="en-US" sz="1800" dirty="0">
                <a:effectLst/>
                <a:ea typeface="Calibri" panose="020F0502020204030204" pitchFamily="34" charset="0"/>
                <a:cs typeface="Times New Roman" panose="02020603050405020304" pitchFamily="18" charset="0"/>
              </a:rPr>
              <a:t>Machine learning techniques are computationally more efficient than dynamical modeling tools.</a:t>
            </a:r>
          </a:p>
          <a:p>
            <a:pPr>
              <a:lnSpc>
                <a:spcPct val="150000"/>
              </a:lnSpc>
            </a:pPr>
            <a:r>
              <a:rPr lang="en-US" sz="1600" b="1" dirty="0">
                <a:solidFill>
                  <a:schemeClr val="accent1"/>
                </a:solidFill>
                <a:cs typeface="Times New Roman" panose="02020603050405020304" pitchFamily="18" charset="0"/>
              </a:rPr>
              <a:t>Past applications of machine learning for predicting sea level variability</a:t>
            </a:r>
            <a:endParaRPr lang="en-US" sz="1600" b="1" dirty="0">
              <a:solidFill>
                <a:schemeClr val="accent1"/>
              </a:solidFill>
            </a:endParaRPr>
          </a:p>
        </p:txBody>
      </p:sp>
      <p:sp>
        <p:nvSpPr>
          <p:cNvPr id="2" name="TextBox 1">
            <a:extLst>
              <a:ext uri="{FF2B5EF4-FFF2-40B4-BE49-F238E27FC236}">
                <a16:creationId xmlns:a16="http://schemas.microsoft.com/office/drawing/2014/main" id="{10AF48AD-2C0B-2815-85EF-FECCC6667A0F}"/>
              </a:ext>
            </a:extLst>
          </p:cNvPr>
          <p:cNvSpPr txBox="1"/>
          <p:nvPr/>
        </p:nvSpPr>
        <p:spPr>
          <a:xfrm>
            <a:off x="609600" y="4494"/>
            <a:ext cx="10972800" cy="707886"/>
          </a:xfrm>
          <a:prstGeom prst="rect">
            <a:avLst/>
          </a:prstGeom>
          <a:noFill/>
        </p:spPr>
        <p:txBody>
          <a:bodyPr wrap="square" rtlCol="0">
            <a:spAutoFit/>
          </a:bodyPr>
          <a:lstStyle/>
          <a:p>
            <a:r>
              <a:rPr lang="en-US" sz="4000" b="1" dirty="0"/>
              <a:t>Complete Study </a:t>
            </a:r>
            <a:r>
              <a:rPr lang="en-US" sz="2800" b="1" dirty="0"/>
              <a:t>(in progress)</a:t>
            </a:r>
          </a:p>
        </p:txBody>
      </p:sp>
      <p:cxnSp>
        <p:nvCxnSpPr>
          <p:cNvPr id="8" name="Straight Connector 7">
            <a:extLst>
              <a:ext uri="{FF2B5EF4-FFF2-40B4-BE49-F238E27FC236}">
                <a16:creationId xmlns:a16="http://schemas.microsoft.com/office/drawing/2014/main" id="{FE5FECEC-977E-9681-89D0-88A38458B0B3}"/>
              </a:ext>
            </a:extLst>
          </p:cNvPr>
          <p:cNvCxnSpPr/>
          <p:nvPr/>
        </p:nvCxnSpPr>
        <p:spPr>
          <a:xfrm>
            <a:off x="609600" y="724906"/>
            <a:ext cx="10972800" cy="0"/>
          </a:xfrm>
          <a:prstGeom prst="line">
            <a:avLst/>
          </a:prstGeom>
          <a:ln w="28575">
            <a:solidFill>
              <a:srgbClr val="FFC000"/>
            </a:solidFill>
          </a:ln>
        </p:spPr>
        <p:style>
          <a:lnRef idx="3">
            <a:schemeClr val="accent2"/>
          </a:lnRef>
          <a:fillRef idx="0">
            <a:schemeClr val="accent2"/>
          </a:fillRef>
          <a:effectRef idx="2">
            <a:schemeClr val="accent2"/>
          </a:effectRef>
          <a:fontRef idx="minor">
            <a:schemeClr val="tx1"/>
          </a:fontRef>
        </p:style>
      </p:cxnSp>
      <p:sp>
        <p:nvSpPr>
          <p:cNvPr id="3" name="Slide Number Placeholder 2">
            <a:extLst>
              <a:ext uri="{FF2B5EF4-FFF2-40B4-BE49-F238E27FC236}">
                <a16:creationId xmlns:a16="http://schemas.microsoft.com/office/drawing/2014/main" id="{1D7AA05C-9D5A-2B90-7249-3A1398B949A2}"/>
              </a:ext>
            </a:extLst>
          </p:cNvPr>
          <p:cNvSpPr>
            <a:spLocks noGrp="1"/>
          </p:cNvSpPr>
          <p:nvPr>
            <p:ph type="sldNum" sz="quarter" idx="12"/>
          </p:nvPr>
        </p:nvSpPr>
        <p:spPr>
          <a:xfrm>
            <a:off x="11735844" y="6480856"/>
            <a:ext cx="456156" cy="365125"/>
          </a:xfrm>
        </p:spPr>
        <p:txBody>
          <a:bodyPr/>
          <a:lstStyle/>
          <a:p>
            <a:fld id="{DFDF98CC-160E-494C-8C3C-8CDC5FA257DE}" type="slidenum">
              <a:rPr lang="en-US" smtClean="0"/>
              <a:t>11</a:t>
            </a:fld>
            <a:endParaRPr lang="en-US" dirty="0"/>
          </a:p>
        </p:txBody>
      </p:sp>
      <p:graphicFrame>
        <p:nvGraphicFramePr>
          <p:cNvPr id="4" name="Table 3">
            <a:extLst>
              <a:ext uri="{FF2B5EF4-FFF2-40B4-BE49-F238E27FC236}">
                <a16:creationId xmlns:a16="http://schemas.microsoft.com/office/drawing/2014/main" id="{951B18AE-67A0-864B-0446-071E7912BC97}"/>
              </a:ext>
            </a:extLst>
          </p:cNvPr>
          <p:cNvGraphicFramePr>
            <a:graphicFrameLocks noGrp="1"/>
          </p:cNvGraphicFramePr>
          <p:nvPr>
            <p:extLst>
              <p:ext uri="{D42A27DB-BD31-4B8C-83A1-F6EECF244321}">
                <p14:modId xmlns:p14="http://schemas.microsoft.com/office/powerpoint/2010/main" val="1457562196"/>
              </p:ext>
            </p:extLst>
          </p:nvPr>
        </p:nvGraphicFramePr>
        <p:xfrm>
          <a:off x="403481" y="2402081"/>
          <a:ext cx="10972800" cy="4261338"/>
        </p:xfrm>
        <a:graphic>
          <a:graphicData uri="http://schemas.openxmlformats.org/drawingml/2006/table">
            <a:tbl>
              <a:tblPr firstRow="1" bandRow="1">
                <a:tableStyleId>{5C22544A-7EE6-4342-B048-85BDC9FD1C3A}</a:tableStyleId>
              </a:tblPr>
              <a:tblGrid>
                <a:gridCol w="1617204">
                  <a:extLst>
                    <a:ext uri="{9D8B030D-6E8A-4147-A177-3AD203B41FA5}">
                      <a16:colId xmlns:a16="http://schemas.microsoft.com/office/drawing/2014/main" val="3857788906"/>
                    </a:ext>
                  </a:extLst>
                </a:gridCol>
                <a:gridCol w="2010809">
                  <a:extLst>
                    <a:ext uri="{9D8B030D-6E8A-4147-A177-3AD203B41FA5}">
                      <a16:colId xmlns:a16="http://schemas.microsoft.com/office/drawing/2014/main" val="215820813"/>
                    </a:ext>
                  </a:extLst>
                </a:gridCol>
                <a:gridCol w="7344787">
                  <a:extLst>
                    <a:ext uri="{9D8B030D-6E8A-4147-A177-3AD203B41FA5}">
                      <a16:colId xmlns:a16="http://schemas.microsoft.com/office/drawing/2014/main" val="552555911"/>
                    </a:ext>
                  </a:extLst>
                </a:gridCol>
              </a:tblGrid>
              <a:tr h="283423">
                <a:tc>
                  <a:txBody>
                    <a:bodyPr/>
                    <a:lstStyle/>
                    <a:p>
                      <a:r>
                        <a:rPr lang="en-US" sz="1300" dirty="0">
                          <a:latin typeface="+mn-lt"/>
                        </a:rPr>
                        <a:t>Approach</a:t>
                      </a:r>
                    </a:p>
                  </a:txBody>
                  <a:tcPr/>
                </a:tc>
                <a:tc>
                  <a:txBody>
                    <a:bodyPr/>
                    <a:lstStyle/>
                    <a:p>
                      <a:pPr algn="l"/>
                      <a:r>
                        <a:rPr lang="en-US" sz="1300" dirty="0">
                          <a:latin typeface="+mn-lt"/>
                        </a:rPr>
                        <a:t>Previous Work</a:t>
                      </a:r>
                    </a:p>
                  </a:txBody>
                  <a:tcPr/>
                </a:tc>
                <a:tc>
                  <a:txBody>
                    <a:bodyPr/>
                    <a:lstStyle/>
                    <a:p>
                      <a:r>
                        <a:rPr lang="en-US" sz="1300" dirty="0">
                          <a:latin typeface="+mn-lt"/>
                        </a:rPr>
                        <a:t>Method</a:t>
                      </a:r>
                    </a:p>
                  </a:txBody>
                  <a:tcPr/>
                </a:tc>
                <a:extLst>
                  <a:ext uri="{0D108BD9-81ED-4DB2-BD59-A6C34878D82A}">
                    <a16:rowId xmlns:a16="http://schemas.microsoft.com/office/drawing/2014/main" val="3914215242"/>
                  </a:ext>
                </a:extLst>
              </a:tr>
              <a:tr h="283423">
                <a:tc rowSpan="5">
                  <a:txBody>
                    <a:bodyPr/>
                    <a:lstStyle/>
                    <a:p>
                      <a:r>
                        <a:rPr lang="en-US" sz="1300" b="1" dirty="0">
                          <a:latin typeface="+mn-lt"/>
                        </a:rPr>
                        <a:t>Using lagged data</a:t>
                      </a:r>
                    </a:p>
                  </a:txBody>
                  <a:tcPr/>
                </a:tc>
                <a:tc>
                  <a:txBody>
                    <a:bodyPr/>
                    <a:lstStyle/>
                    <a:p>
                      <a:pPr algn="l"/>
                      <a:r>
                        <a:rPr lang="en-US" sz="1300" dirty="0" err="1">
                          <a:effectLst/>
                          <a:latin typeface="+mn-lt"/>
                          <a:ea typeface="Calibri" panose="020F0502020204030204" pitchFamily="34" charset="0"/>
                          <a:cs typeface="Times New Roman" panose="02020603050405020304" pitchFamily="18" charset="0"/>
                        </a:rPr>
                        <a:t>Makarynskyy</a:t>
                      </a:r>
                      <a:r>
                        <a:rPr lang="en-US" sz="1300" dirty="0">
                          <a:effectLst/>
                          <a:latin typeface="+mn-lt"/>
                          <a:ea typeface="Calibri" panose="020F0502020204030204" pitchFamily="34" charset="0"/>
                          <a:cs typeface="Times New Roman" panose="02020603050405020304" pitchFamily="18" charset="0"/>
                        </a:rPr>
                        <a:t> et al. (2004)</a:t>
                      </a:r>
                      <a:endParaRPr lang="en-US" sz="1300" dirty="0">
                        <a:latin typeface="+mn-lt"/>
                      </a:endParaRPr>
                    </a:p>
                  </a:txBody>
                  <a:tcPr/>
                </a:tc>
                <a:tc>
                  <a:txBody>
                    <a:bodyPr/>
                    <a:lstStyle/>
                    <a:p>
                      <a:r>
                        <a:rPr lang="en-US" sz="1300" dirty="0">
                          <a:latin typeface="+mn-lt"/>
                        </a:rPr>
                        <a:t>Artificial Neural Networks (ANNs)</a:t>
                      </a:r>
                    </a:p>
                  </a:txBody>
                  <a:tcPr/>
                </a:tc>
                <a:extLst>
                  <a:ext uri="{0D108BD9-81ED-4DB2-BD59-A6C34878D82A}">
                    <a16:rowId xmlns:a16="http://schemas.microsoft.com/office/drawing/2014/main" val="3531437076"/>
                  </a:ext>
                </a:extLst>
              </a:tr>
              <a:tr h="283423">
                <a:tc vMerge="1">
                  <a:txBody>
                    <a:bodyPr/>
                    <a:lstStyle/>
                    <a:p>
                      <a:endParaRPr lang="en-US" dirty="0"/>
                    </a:p>
                  </a:txBody>
                  <a:tcPr/>
                </a:tc>
                <a:tc>
                  <a:txBody>
                    <a:bodyPr/>
                    <a:lstStyle/>
                    <a:p>
                      <a:pPr algn="l"/>
                      <a:r>
                        <a:rPr lang="en-US" sz="1300" dirty="0" err="1">
                          <a:effectLst/>
                          <a:latin typeface="+mn-lt"/>
                          <a:ea typeface="Calibri" panose="020F0502020204030204" pitchFamily="34" charset="0"/>
                          <a:cs typeface="Times New Roman" panose="02020603050405020304" pitchFamily="18" charset="0"/>
                        </a:rPr>
                        <a:t>Ghorbani</a:t>
                      </a:r>
                      <a:r>
                        <a:rPr lang="en-US" sz="1300" dirty="0">
                          <a:effectLst/>
                          <a:latin typeface="+mn-lt"/>
                          <a:ea typeface="Calibri" panose="020F0502020204030204" pitchFamily="34" charset="0"/>
                          <a:cs typeface="Times New Roman" panose="02020603050405020304" pitchFamily="18" charset="0"/>
                        </a:rPr>
                        <a:t> et al. (2010)</a:t>
                      </a:r>
                      <a:endParaRPr lang="en-US" sz="1300" dirty="0">
                        <a:latin typeface="+mn-lt"/>
                      </a:endParaRPr>
                    </a:p>
                  </a:txBody>
                  <a:tcPr/>
                </a:tc>
                <a:tc>
                  <a:txBody>
                    <a:bodyPr/>
                    <a:lstStyle/>
                    <a:p>
                      <a:r>
                        <a:rPr lang="en-US" sz="1300" dirty="0">
                          <a:latin typeface="+mn-lt"/>
                        </a:rPr>
                        <a:t>Genetic Programming (GP) and ANNs</a:t>
                      </a:r>
                    </a:p>
                  </a:txBody>
                  <a:tcPr/>
                </a:tc>
                <a:extLst>
                  <a:ext uri="{0D108BD9-81ED-4DB2-BD59-A6C34878D82A}">
                    <a16:rowId xmlns:a16="http://schemas.microsoft.com/office/drawing/2014/main" val="2586429264"/>
                  </a:ext>
                </a:extLst>
              </a:tr>
              <a:tr h="481818">
                <a:tc vMerge="1">
                  <a:txBody>
                    <a:bodyPr/>
                    <a:lstStyle/>
                    <a:p>
                      <a:endParaRPr lang="en-US" dirty="0"/>
                    </a:p>
                  </a:txBody>
                  <a:tcPr/>
                </a:tc>
                <a:tc>
                  <a:txBody>
                    <a:bodyPr/>
                    <a:lstStyle/>
                    <a:p>
                      <a:pPr algn="l"/>
                      <a:r>
                        <a:rPr lang="en-US" sz="1300" dirty="0" err="1">
                          <a:effectLst/>
                          <a:latin typeface="+mn-lt"/>
                          <a:ea typeface="Calibri" panose="020F0502020204030204" pitchFamily="34" charset="0"/>
                          <a:cs typeface="Times New Roman" panose="02020603050405020304" pitchFamily="18" charset="0"/>
                        </a:rPr>
                        <a:t>Kaloop</a:t>
                      </a:r>
                      <a:r>
                        <a:rPr lang="en-US" sz="1300" dirty="0">
                          <a:effectLst/>
                          <a:latin typeface="+mn-lt"/>
                          <a:ea typeface="Calibri" panose="020F0502020204030204" pitchFamily="34" charset="0"/>
                          <a:cs typeface="Times New Roman" panose="02020603050405020304" pitchFamily="18" charset="0"/>
                        </a:rPr>
                        <a:t> et al. (2017)</a:t>
                      </a:r>
                      <a:endParaRPr lang="en-US" sz="1300" dirty="0">
                        <a:latin typeface="+mn-lt"/>
                      </a:endParaRPr>
                    </a:p>
                  </a:txBody>
                  <a:tcPr/>
                </a:tc>
                <a:tc>
                  <a:txBody>
                    <a:bodyPr/>
                    <a:lstStyle/>
                    <a:p>
                      <a:r>
                        <a:rPr lang="en-US" sz="1300" dirty="0">
                          <a:latin typeface="+mn-lt"/>
                        </a:rPr>
                        <a:t>Wavelet Neural Networks (WNNs) and  Adaptive Neuro Fuzzy Inference System (ANFIS)</a:t>
                      </a:r>
                    </a:p>
                  </a:txBody>
                  <a:tcPr/>
                </a:tc>
                <a:extLst>
                  <a:ext uri="{0D108BD9-81ED-4DB2-BD59-A6C34878D82A}">
                    <a16:rowId xmlns:a16="http://schemas.microsoft.com/office/drawing/2014/main" val="1457340578"/>
                  </a:ext>
                </a:extLst>
              </a:tr>
              <a:tr h="484671">
                <a:tc vMerge="1">
                  <a:txBody>
                    <a:bodyPr/>
                    <a:lstStyle/>
                    <a:p>
                      <a:endParaRPr lang="en-US" dirty="0"/>
                    </a:p>
                  </a:txBody>
                  <a:tcPr/>
                </a:tc>
                <a:tc>
                  <a:txBody>
                    <a:bodyPr/>
                    <a:lstStyle/>
                    <a:p>
                      <a:pPr algn="l"/>
                      <a:r>
                        <a:rPr lang="en-US" sz="1300" dirty="0" err="1">
                          <a:effectLst/>
                          <a:latin typeface="+mn-lt"/>
                          <a:ea typeface="Calibri" panose="020F0502020204030204" pitchFamily="34" charset="0"/>
                          <a:cs typeface="Times New Roman" panose="02020603050405020304" pitchFamily="18" charset="0"/>
                        </a:rPr>
                        <a:t>Hazrin</a:t>
                      </a:r>
                      <a:r>
                        <a:rPr lang="en-US" sz="1300" dirty="0">
                          <a:effectLst/>
                          <a:latin typeface="+mn-lt"/>
                          <a:ea typeface="Calibri" panose="020F0502020204030204" pitchFamily="34" charset="0"/>
                          <a:cs typeface="Times New Roman" panose="02020603050405020304" pitchFamily="18" charset="0"/>
                        </a:rPr>
                        <a:t> et al. (2023)</a:t>
                      </a:r>
                      <a:endParaRPr lang="en-US" sz="1300" dirty="0">
                        <a:latin typeface="+mn-lt"/>
                      </a:endParaRPr>
                    </a:p>
                  </a:txBody>
                  <a:tcPr/>
                </a:tc>
                <a:tc>
                  <a:txBody>
                    <a:bodyPr/>
                    <a:lstStyle/>
                    <a:p>
                      <a:r>
                        <a:rPr lang="en-US" sz="1300" dirty="0">
                          <a:latin typeface="+mn-lt"/>
                        </a:rPr>
                        <a:t>Linear Regression, Support Vector Machines (SVMs), Wavelet Hybrid Support Vector Machine (WSVM), Ensemble Regression, ANNs, Gaussian Process Regression (GPR)</a:t>
                      </a:r>
                    </a:p>
                  </a:txBody>
                  <a:tcPr/>
                </a:tc>
                <a:extLst>
                  <a:ext uri="{0D108BD9-81ED-4DB2-BD59-A6C34878D82A}">
                    <a16:rowId xmlns:a16="http://schemas.microsoft.com/office/drawing/2014/main" val="2055387658"/>
                  </a:ext>
                </a:extLst>
              </a:tr>
              <a:tr h="481818">
                <a:tc vMerge="1">
                  <a:txBody>
                    <a:bodyPr/>
                    <a:lstStyle/>
                    <a:p>
                      <a:endParaRPr lang="en-US" dirty="0"/>
                    </a:p>
                  </a:txBody>
                  <a:tcPr/>
                </a:tc>
                <a:tc>
                  <a:txBody>
                    <a:bodyPr/>
                    <a:lstStyle/>
                    <a:p>
                      <a:pPr algn="l"/>
                      <a:r>
                        <a:rPr lang="en-US" sz="1300" dirty="0">
                          <a:effectLst/>
                          <a:latin typeface="+mn-lt"/>
                          <a:ea typeface="Calibri" panose="020F0502020204030204" pitchFamily="34" charset="0"/>
                          <a:cs typeface="Times New Roman" panose="02020603050405020304" pitchFamily="18" charset="0"/>
                        </a:rPr>
                        <a:t>Li et al. (2024)</a:t>
                      </a:r>
                      <a:endParaRPr lang="en-US" sz="1300" dirty="0">
                        <a:latin typeface="+mn-lt"/>
                      </a:endParaRPr>
                    </a:p>
                  </a:txBody>
                  <a:tcPr/>
                </a:tc>
                <a:tc>
                  <a:txBody>
                    <a:bodyPr/>
                    <a:lstStyle/>
                    <a:p>
                      <a:r>
                        <a:rPr lang="en-US" sz="1300" dirty="0">
                          <a:latin typeface="+mn-lt"/>
                        </a:rPr>
                        <a:t>Convolutional Neural Network Bidirectional Long Short-Term Memory (CNN </a:t>
                      </a:r>
                      <a:r>
                        <a:rPr lang="en-US" sz="1300" dirty="0" err="1">
                          <a:latin typeface="+mn-lt"/>
                        </a:rPr>
                        <a:t>BiLSTM</a:t>
                      </a:r>
                      <a:r>
                        <a:rPr lang="en-US" sz="1300" dirty="0">
                          <a:latin typeface="+mn-lt"/>
                        </a:rPr>
                        <a:t>) and </a:t>
                      </a:r>
                      <a:r>
                        <a:rPr lang="en-US" sz="1300" dirty="0" err="1">
                          <a:latin typeface="+mn-lt"/>
                        </a:rPr>
                        <a:t>cauchy</a:t>
                      </a:r>
                      <a:r>
                        <a:rPr lang="en-US" sz="1300" dirty="0">
                          <a:latin typeface="+mn-lt"/>
                        </a:rPr>
                        <a:t> version of the sparrow search algorithm (SCSSA) </a:t>
                      </a:r>
                      <a:r>
                        <a:rPr lang="en-US" sz="1300" dirty="0" err="1">
                          <a:latin typeface="+mn-lt"/>
                        </a:rPr>
                        <a:t>CNNBiLSTM</a:t>
                      </a:r>
                      <a:endParaRPr lang="en-US" sz="1300" dirty="0">
                        <a:latin typeface="+mn-lt"/>
                      </a:endParaRPr>
                    </a:p>
                  </a:txBody>
                  <a:tcPr/>
                </a:tc>
                <a:extLst>
                  <a:ext uri="{0D108BD9-81ED-4DB2-BD59-A6C34878D82A}">
                    <a16:rowId xmlns:a16="http://schemas.microsoft.com/office/drawing/2014/main" val="2143116685"/>
                  </a:ext>
                </a:extLst>
              </a:tr>
              <a:tr h="481818">
                <a:tc rowSpan="6">
                  <a:txBody>
                    <a:bodyPr/>
                    <a:lstStyle/>
                    <a:p>
                      <a:r>
                        <a:rPr lang="en-US" sz="1300" b="1" dirty="0">
                          <a:latin typeface="+mn-lt"/>
                        </a:rPr>
                        <a:t>Using oceanic or atmospheric variables</a:t>
                      </a:r>
                    </a:p>
                  </a:txBody>
                  <a:tcPr/>
                </a:tc>
                <a:tc>
                  <a:txBody>
                    <a:bodyPr/>
                    <a:lstStyle/>
                    <a:p>
                      <a:pPr algn="l"/>
                      <a:r>
                        <a:rPr lang="en-US" sz="1300" dirty="0">
                          <a:effectLst/>
                          <a:latin typeface="+mn-lt"/>
                          <a:ea typeface="Calibri" panose="020F0502020204030204" pitchFamily="34" charset="0"/>
                          <a:cs typeface="Times New Roman" panose="02020603050405020304" pitchFamily="18" charset="0"/>
                        </a:rPr>
                        <a:t>Muslim et al. (2020)</a:t>
                      </a:r>
                      <a:endParaRPr lang="en-US" sz="1300" dirty="0">
                        <a:latin typeface="+mn-lt"/>
                      </a:endParaRPr>
                    </a:p>
                  </a:txBody>
                  <a:tcPr/>
                </a:tc>
                <a:tc>
                  <a:txBody>
                    <a:bodyPr/>
                    <a:lstStyle/>
                    <a:p>
                      <a:r>
                        <a:rPr lang="en-US" sz="1300" dirty="0">
                          <a:latin typeface="+mn-lt"/>
                        </a:rPr>
                        <a:t>Multilayer perceptron neural network (MLP-ANN) and an adaptive neuro-fuzzy inference system (ANFIS)</a:t>
                      </a:r>
                    </a:p>
                  </a:txBody>
                  <a:tcPr/>
                </a:tc>
                <a:extLst>
                  <a:ext uri="{0D108BD9-81ED-4DB2-BD59-A6C34878D82A}">
                    <a16:rowId xmlns:a16="http://schemas.microsoft.com/office/drawing/2014/main" val="4292194075"/>
                  </a:ext>
                </a:extLst>
              </a:tr>
              <a:tr h="283423">
                <a:tc vMerge="1">
                  <a:txBody>
                    <a:bodyPr/>
                    <a:lstStyle/>
                    <a:p>
                      <a:endParaRPr lang="en-US" dirty="0"/>
                    </a:p>
                  </a:txBody>
                  <a:tcPr/>
                </a:tc>
                <a:tc>
                  <a:txBody>
                    <a:bodyPr/>
                    <a:lstStyle/>
                    <a:p>
                      <a:pPr algn="l"/>
                      <a:r>
                        <a:rPr lang="en-US" sz="1300" dirty="0" err="1">
                          <a:effectLst/>
                          <a:latin typeface="+mn-lt"/>
                          <a:ea typeface="Calibri" panose="020F0502020204030204" pitchFamily="34" charset="0"/>
                          <a:cs typeface="Times New Roman" panose="02020603050405020304" pitchFamily="18" charset="0"/>
                        </a:rPr>
                        <a:t>Sithara</a:t>
                      </a:r>
                      <a:r>
                        <a:rPr lang="en-US" sz="1300" dirty="0">
                          <a:effectLst/>
                          <a:latin typeface="+mn-lt"/>
                          <a:ea typeface="Calibri" panose="020F0502020204030204" pitchFamily="34" charset="0"/>
                          <a:cs typeface="Times New Roman" panose="02020603050405020304" pitchFamily="18" charset="0"/>
                        </a:rPr>
                        <a:t> et al. (2020)</a:t>
                      </a:r>
                      <a:endParaRPr lang="en-US" sz="1300" dirty="0">
                        <a:latin typeface="+mn-lt"/>
                      </a:endParaRPr>
                    </a:p>
                  </a:txBody>
                  <a:tcPr/>
                </a:tc>
                <a:tc>
                  <a:txBody>
                    <a:bodyPr/>
                    <a:lstStyle/>
                    <a:p>
                      <a:r>
                        <a:rPr lang="en-US" sz="1300" dirty="0">
                          <a:latin typeface="+mn-lt"/>
                        </a:rPr>
                        <a:t>SVMs and WSVMs</a:t>
                      </a:r>
                    </a:p>
                  </a:txBody>
                  <a:tcPr/>
                </a:tc>
                <a:extLst>
                  <a:ext uri="{0D108BD9-81ED-4DB2-BD59-A6C34878D82A}">
                    <a16:rowId xmlns:a16="http://schemas.microsoft.com/office/drawing/2014/main" val="1038462719"/>
                  </a:ext>
                </a:extLst>
              </a:tr>
              <a:tr h="283423">
                <a:tc vMerge="1">
                  <a:txBody>
                    <a:bodyPr/>
                    <a:lstStyle/>
                    <a:p>
                      <a:endParaRPr lang="en-US" dirty="0"/>
                    </a:p>
                  </a:txBody>
                  <a:tcPr/>
                </a:tc>
                <a:tc>
                  <a:txBody>
                    <a:bodyPr/>
                    <a:lstStyle/>
                    <a:p>
                      <a:pPr algn="l"/>
                      <a:r>
                        <a:rPr lang="en-US" sz="1300" dirty="0">
                          <a:effectLst/>
                          <a:latin typeface="+mn-lt"/>
                          <a:ea typeface="Calibri" panose="020F0502020204030204" pitchFamily="34" charset="0"/>
                          <a:cs typeface="Times New Roman" panose="02020603050405020304" pitchFamily="18" charset="0"/>
                        </a:rPr>
                        <a:t>Ishida et al. (2020)</a:t>
                      </a:r>
                      <a:endParaRPr lang="en-US" sz="1300" dirty="0">
                        <a:latin typeface="+mn-lt"/>
                      </a:endParaRPr>
                    </a:p>
                  </a:txBody>
                  <a:tcPr/>
                </a:tc>
                <a:tc>
                  <a:txBody>
                    <a:bodyPr/>
                    <a:lstStyle/>
                    <a:p>
                      <a:r>
                        <a:rPr lang="en-US" sz="1300" dirty="0">
                          <a:latin typeface="+mn-lt"/>
                        </a:rPr>
                        <a:t>LSTMs</a:t>
                      </a:r>
                    </a:p>
                  </a:txBody>
                  <a:tcPr/>
                </a:tc>
                <a:extLst>
                  <a:ext uri="{0D108BD9-81ED-4DB2-BD59-A6C34878D82A}">
                    <a16:rowId xmlns:a16="http://schemas.microsoft.com/office/drawing/2014/main" val="1946356769"/>
                  </a:ext>
                </a:extLst>
              </a:tr>
              <a:tr h="283423">
                <a:tc vMerge="1">
                  <a:txBody>
                    <a:bodyPr/>
                    <a:lstStyle/>
                    <a:p>
                      <a:endParaRPr lang="en-US" dirty="0"/>
                    </a:p>
                  </a:txBody>
                  <a:tcPr/>
                </a:tc>
                <a:tc>
                  <a:txBody>
                    <a:bodyPr/>
                    <a:lstStyle/>
                    <a:p>
                      <a:pPr algn="l"/>
                      <a:r>
                        <a:rPr lang="en-US" sz="1300" dirty="0">
                          <a:effectLst/>
                          <a:latin typeface="+mn-lt"/>
                          <a:ea typeface="Calibri" panose="020F0502020204030204" pitchFamily="34" charset="0"/>
                          <a:cs typeface="Times New Roman" panose="02020603050405020304" pitchFamily="18" charset="0"/>
                        </a:rPr>
                        <a:t>Nieves et al. (2021)</a:t>
                      </a:r>
                      <a:endParaRPr lang="en-US" sz="1300" dirty="0">
                        <a:latin typeface="+mn-lt"/>
                      </a:endParaRPr>
                    </a:p>
                  </a:txBody>
                  <a:tcPr/>
                </a:tc>
                <a:tc>
                  <a:txBody>
                    <a:bodyPr/>
                    <a:lstStyle/>
                    <a:p>
                      <a:r>
                        <a:rPr lang="en-US" sz="1300" dirty="0">
                          <a:latin typeface="+mn-lt"/>
                        </a:rPr>
                        <a:t>GPR and Recurrent Neural Networks (RNNs)</a:t>
                      </a:r>
                    </a:p>
                  </a:txBody>
                  <a:tcPr/>
                </a:tc>
                <a:extLst>
                  <a:ext uri="{0D108BD9-81ED-4DB2-BD59-A6C34878D82A}">
                    <a16:rowId xmlns:a16="http://schemas.microsoft.com/office/drawing/2014/main" val="2238123906"/>
                  </a:ext>
                </a:extLst>
              </a:tr>
              <a:tr h="283423">
                <a:tc vMerge="1">
                  <a:txBody>
                    <a:bodyPr/>
                    <a:lstStyle/>
                    <a:p>
                      <a:endParaRPr lang="en-US" dirty="0"/>
                    </a:p>
                  </a:txBody>
                  <a:tcPr/>
                </a:tc>
                <a:tc>
                  <a:txBody>
                    <a:bodyPr/>
                    <a:lstStyle/>
                    <a:p>
                      <a:pPr algn="l"/>
                      <a:r>
                        <a:rPr lang="en-US" sz="1300" dirty="0">
                          <a:effectLst/>
                          <a:latin typeface="+mn-lt"/>
                          <a:ea typeface="Calibri" panose="020F0502020204030204" pitchFamily="34" charset="0"/>
                          <a:cs typeface="Times New Roman" panose="02020603050405020304" pitchFamily="18" charset="0"/>
                        </a:rPr>
                        <a:t>Tur et al. (2021)</a:t>
                      </a:r>
                      <a:endParaRPr lang="en-US" sz="1300" dirty="0">
                        <a:latin typeface="+mn-lt"/>
                      </a:endParaRPr>
                    </a:p>
                  </a:txBody>
                  <a:tcPr/>
                </a:tc>
                <a:tc>
                  <a:txBody>
                    <a:bodyPr/>
                    <a:lstStyle/>
                    <a:p>
                      <a:r>
                        <a:rPr lang="en-US" sz="1300" dirty="0">
                          <a:latin typeface="+mn-lt"/>
                        </a:rPr>
                        <a:t>Multiple Linear Regression and ANFIS</a:t>
                      </a:r>
                    </a:p>
                  </a:txBody>
                  <a:tcPr/>
                </a:tc>
                <a:extLst>
                  <a:ext uri="{0D108BD9-81ED-4DB2-BD59-A6C34878D82A}">
                    <a16:rowId xmlns:a16="http://schemas.microsoft.com/office/drawing/2014/main" val="992178341"/>
                  </a:ext>
                </a:extLst>
              </a:tr>
              <a:tr h="283423">
                <a:tc vMerge="1">
                  <a:txBody>
                    <a:bodyPr/>
                    <a:lstStyle/>
                    <a:p>
                      <a:endParaRPr lang="en-US" dirty="0"/>
                    </a:p>
                  </a:txBody>
                  <a:tcPr/>
                </a:tc>
                <a:tc>
                  <a:txBody>
                    <a:bodyPr/>
                    <a:lstStyle/>
                    <a:p>
                      <a:pPr algn="l"/>
                      <a:r>
                        <a:rPr lang="en-US" sz="1300" dirty="0" err="1">
                          <a:effectLst/>
                          <a:latin typeface="+mn-lt"/>
                          <a:ea typeface="Calibri" panose="020F0502020204030204" pitchFamily="34" charset="0"/>
                          <a:cs typeface="Times New Roman" panose="02020603050405020304" pitchFamily="18" charset="0"/>
                        </a:rPr>
                        <a:t>Radin</a:t>
                      </a:r>
                      <a:r>
                        <a:rPr lang="en-US" sz="1300" dirty="0">
                          <a:effectLst/>
                          <a:latin typeface="+mn-lt"/>
                          <a:ea typeface="Calibri" panose="020F0502020204030204" pitchFamily="34" charset="0"/>
                          <a:cs typeface="Times New Roman" panose="02020603050405020304" pitchFamily="18" charset="0"/>
                        </a:rPr>
                        <a:t> and Nieves (2021)</a:t>
                      </a:r>
                      <a:endParaRPr lang="en-US" sz="1300" dirty="0">
                        <a:latin typeface="+mn-lt"/>
                      </a:endParaRPr>
                    </a:p>
                  </a:txBody>
                  <a:tcPr/>
                </a:tc>
                <a:tc>
                  <a:txBody>
                    <a:bodyPr/>
                    <a:lstStyle/>
                    <a:p>
                      <a:r>
                        <a:rPr lang="en-US" sz="1300" dirty="0">
                          <a:latin typeface="+mn-lt"/>
                        </a:rPr>
                        <a:t>Gated Recurrent Unit Recurrent Neural Networks  (GRU RNNs)</a:t>
                      </a:r>
                    </a:p>
                  </a:txBody>
                  <a:tcPr/>
                </a:tc>
                <a:extLst>
                  <a:ext uri="{0D108BD9-81ED-4DB2-BD59-A6C34878D82A}">
                    <a16:rowId xmlns:a16="http://schemas.microsoft.com/office/drawing/2014/main" val="3298237079"/>
                  </a:ext>
                </a:extLst>
              </a:tr>
            </a:tbl>
          </a:graphicData>
        </a:graphic>
      </p:graphicFrame>
    </p:spTree>
    <p:extLst>
      <p:ext uri="{BB962C8B-B14F-4D97-AF65-F5344CB8AC3E}">
        <p14:creationId xmlns:p14="http://schemas.microsoft.com/office/powerpoint/2010/main" val="21871195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AD7EF63-B18C-7ADE-0153-0D8DAB244D70}"/>
              </a:ext>
            </a:extLst>
          </p:cNvPr>
          <p:cNvSpPr>
            <a:spLocks noGrp="1"/>
          </p:cNvSpPr>
          <p:nvPr>
            <p:ph type="sldNum" sz="quarter" idx="12"/>
          </p:nvPr>
        </p:nvSpPr>
        <p:spPr>
          <a:xfrm>
            <a:off x="11731752" y="6531062"/>
            <a:ext cx="395330" cy="326938"/>
          </a:xfrm>
        </p:spPr>
        <p:txBody>
          <a:bodyPr/>
          <a:lstStyle/>
          <a:p>
            <a:fld id="{DFDF98CC-160E-494C-8C3C-8CDC5FA257DE}" type="slidenum">
              <a:rPr lang="en-US" smtClean="0"/>
              <a:t>12</a:t>
            </a:fld>
            <a:endParaRPr lang="en-US" dirty="0"/>
          </a:p>
        </p:txBody>
      </p:sp>
      <p:sp>
        <p:nvSpPr>
          <p:cNvPr id="7" name="TextBox 6">
            <a:extLst>
              <a:ext uri="{FF2B5EF4-FFF2-40B4-BE49-F238E27FC236}">
                <a16:creationId xmlns:a16="http://schemas.microsoft.com/office/drawing/2014/main" id="{10AF48AD-2C0B-2815-85EF-FECCC6667A0F}"/>
              </a:ext>
            </a:extLst>
          </p:cNvPr>
          <p:cNvSpPr txBox="1"/>
          <p:nvPr/>
        </p:nvSpPr>
        <p:spPr>
          <a:xfrm>
            <a:off x="557407" y="183145"/>
            <a:ext cx="10972800" cy="707886"/>
          </a:xfrm>
          <a:prstGeom prst="rect">
            <a:avLst/>
          </a:prstGeom>
          <a:noFill/>
        </p:spPr>
        <p:txBody>
          <a:bodyPr wrap="square" rtlCol="0">
            <a:spAutoFit/>
          </a:bodyPr>
          <a:lstStyle/>
          <a:p>
            <a:r>
              <a:rPr lang="en-US" sz="4000" b="1" dirty="0"/>
              <a:t>DATA SOURCES</a:t>
            </a:r>
          </a:p>
        </p:txBody>
      </p:sp>
      <p:cxnSp>
        <p:nvCxnSpPr>
          <p:cNvPr id="9" name="Straight Connector 8">
            <a:extLst>
              <a:ext uri="{FF2B5EF4-FFF2-40B4-BE49-F238E27FC236}">
                <a16:creationId xmlns:a16="http://schemas.microsoft.com/office/drawing/2014/main" id="{711FC6BF-01AA-7156-192A-615EB0A080F5}"/>
              </a:ext>
            </a:extLst>
          </p:cNvPr>
          <p:cNvCxnSpPr/>
          <p:nvPr/>
        </p:nvCxnSpPr>
        <p:spPr>
          <a:xfrm>
            <a:off x="557407" y="935218"/>
            <a:ext cx="10972800" cy="0"/>
          </a:xfrm>
          <a:prstGeom prst="line">
            <a:avLst/>
          </a:prstGeom>
          <a:ln w="28575">
            <a:solidFill>
              <a:srgbClr val="FFC000"/>
            </a:solidFill>
          </a:ln>
        </p:spPr>
        <p:style>
          <a:lnRef idx="3">
            <a:schemeClr val="accent2"/>
          </a:lnRef>
          <a:fillRef idx="0">
            <a:schemeClr val="accent2"/>
          </a:fillRef>
          <a:effectRef idx="2">
            <a:schemeClr val="accent2"/>
          </a:effectRef>
          <a:fontRef idx="minor">
            <a:schemeClr val="tx1"/>
          </a:fontRef>
        </p:style>
      </p:cxnSp>
      <p:graphicFrame>
        <p:nvGraphicFramePr>
          <p:cNvPr id="10" name="Table 9">
            <a:extLst>
              <a:ext uri="{FF2B5EF4-FFF2-40B4-BE49-F238E27FC236}">
                <a16:creationId xmlns:a16="http://schemas.microsoft.com/office/drawing/2014/main" id="{0A0B59AA-EE08-FE62-65F2-2F24FB4E352F}"/>
              </a:ext>
            </a:extLst>
          </p:cNvPr>
          <p:cNvGraphicFramePr>
            <a:graphicFrameLocks noGrp="1"/>
          </p:cNvGraphicFramePr>
          <p:nvPr>
            <p:extLst>
              <p:ext uri="{D42A27DB-BD31-4B8C-83A1-F6EECF244321}">
                <p14:modId xmlns:p14="http://schemas.microsoft.com/office/powerpoint/2010/main" val="3613488751"/>
              </p:ext>
            </p:extLst>
          </p:nvPr>
        </p:nvGraphicFramePr>
        <p:xfrm>
          <a:off x="4866361" y="1151723"/>
          <a:ext cx="6663846" cy="1463040"/>
        </p:xfrm>
        <a:graphic>
          <a:graphicData uri="http://schemas.openxmlformats.org/drawingml/2006/table">
            <a:tbl>
              <a:tblPr firstRow="1" firstCol="1" bandRow="1">
                <a:tableStyleId>{3B4B98B0-60AC-42C2-AFA5-B58CD77FA1E5}</a:tableStyleId>
              </a:tblPr>
              <a:tblGrid>
                <a:gridCol w="1924057">
                  <a:extLst>
                    <a:ext uri="{9D8B030D-6E8A-4147-A177-3AD203B41FA5}">
                      <a16:colId xmlns:a16="http://schemas.microsoft.com/office/drawing/2014/main" val="344834736"/>
                    </a:ext>
                  </a:extLst>
                </a:gridCol>
                <a:gridCol w="2360362">
                  <a:extLst>
                    <a:ext uri="{9D8B030D-6E8A-4147-A177-3AD203B41FA5}">
                      <a16:colId xmlns:a16="http://schemas.microsoft.com/office/drawing/2014/main" val="1796835431"/>
                    </a:ext>
                  </a:extLst>
                </a:gridCol>
                <a:gridCol w="1435615">
                  <a:extLst>
                    <a:ext uri="{9D8B030D-6E8A-4147-A177-3AD203B41FA5}">
                      <a16:colId xmlns:a16="http://schemas.microsoft.com/office/drawing/2014/main" val="3424524379"/>
                    </a:ext>
                  </a:extLst>
                </a:gridCol>
                <a:gridCol w="943812">
                  <a:extLst>
                    <a:ext uri="{9D8B030D-6E8A-4147-A177-3AD203B41FA5}">
                      <a16:colId xmlns:a16="http://schemas.microsoft.com/office/drawing/2014/main" val="1795665082"/>
                    </a:ext>
                  </a:extLst>
                </a:gridCol>
              </a:tblGrid>
              <a:tr h="182880">
                <a:tc>
                  <a:txBody>
                    <a:bodyPr/>
                    <a:lstStyle/>
                    <a:p>
                      <a:pPr marL="0" marR="0">
                        <a:lnSpc>
                          <a:spcPct val="100000"/>
                        </a:lnSpc>
                        <a:spcBef>
                          <a:spcPts val="0"/>
                        </a:spcBef>
                        <a:spcAft>
                          <a:spcPts val="0"/>
                        </a:spcAft>
                      </a:pPr>
                      <a:r>
                        <a:rPr lang="en-US" sz="1200" kern="0" dirty="0">
                          <a:effectLst/>
                          <a:latin typeface="+mn-lt"/>
                        </a:rPr>
                        <a:t>Data</a:t>
                      </a:r>
                      <a:endParaRPr lang="en-US" sz="1200" kern="100" dirty="0">
                        <a:effectLst/>
                        <a:latin typeface="+mn-lt"/>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0000"/>
                        </a:lnSpc>
                        <a:spcBef>
                          <a:spcPts val="0"/>
                        </a:spcBef>
                        <a:spcAft>
                          <a:spcPts val="0"/>
                        </a:spcAft>
                      </a:pPr>
                      <a:r>
                        <a:rPr lang="en-US" sz="1200" kern="0" dirty="0">
                          <a:effectLst/>
                          <a:latin typeface="+mn-lt"/>
                        </a:rPr>
                        <a:t>Source</a:t>
                      </a:r>
                      <a:endParaRPr lang="en-US" sz="1200" kern="100" dirty="0">
                        <a:effectLst/>
                        <a:latin typeface="+mn-lt"/>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0000"/>
                        </a:lnSpc>
                        <a:spcBef>
                          <a:spcPts val="0"/>
                        </a:spcBef>
                        <a:spcAft>
                          <a:spcPts val="0"/>
                        </a:spcAft>
                      </a:pPr>
                      <a:r>
                        <a:rPr lang="en-US" sz="1200" kern="100" dirty="0">
                          <a:effectLst/>
                          <a:latin typeface="+mn-lt"/>
                          <a:ea typeface="Calibri" panose="020F0502020204030204" pitchFamily="34" charset="0"/>
                          <a:cs typeface="Times New Roman" panose="02020603050405020304" pitchFamily="18" charset="0"/>
                        </a:rPr>
                        <a:t>Spatial Resolution</a:t>
                      </a:r>
                    </a:p>
                  </a:txBody>
                  <a:tcPr marL="68580" marR="68580" marT="0" marB="0" anchor="b"/>
                </a:tc>
                <a:tc>
                  <a:txBody>
                    <a:bodyPr/>
                    <a:lstStyle/>
                    <a:p>
                      <a:pPr marL="0" marR="0" algn="ctr">
                        <a:lnSpc>
                          <a:spcPct val="100000"/>
                        </a:lnSpc>
                        <a:spcBef>
                          <a:spcPts val="0"/>
                        </a:spcBef>
                        <a:spcAft>
                          <a:spcPts val="0"/>
                        </a:spcAft>
                      </a:pPr>
                      <a:r>
                        <a:rPr lang="en-US" sz="1200" kern="0" dirty="0">
                          <a:effectLst/>
                          <a:latin typeface="+mn-lt"/>
                        </a:rPr>
                        <a:t> Timestep</a:t>
                      </a:r>
                      <a:endParaRPr lang="en-US" sz="1200" kern="100" dirty="0">
                        <a:effectLst/>
                        <a:latin typeface="+mn-lt"/>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582157138"/>
                  </a:ext>
                </a:extLst>
              </a:tr>
              <a:tr h="182880">
                <a:tc>
                  <a:txBody>
                    <a:bodyPr/>
                    <a:lstStyle/>
                    <a:p>
                      <a:pPr marL="0" marR="0">
                        <a:lnSpc>
                          <a:spcPct val="100000"/>
                        </a:lnSpc>
                        <a:spcBef>
                          <a:spcPts val="0"/>
                        </a:spcBef>
                        <a:spcAft>
                          <a:spcPts val="0"/>
                        </a:spcAft>
                      </a:pPr>
                      <a:r>
                        <a:rPr lang="en-US" sz="1200" b="0" kern="0">
                          <a:effectLst/>
                          <a:latin typeface="+mn-lt"/>
                        </a:rPr>
                        <a:t>Sea Level &amp; Tide</a:t>
                      </a:r>
                      <a:endParaRPr lang="en-US" sz="1200" b="0" kern="10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0000"/>
                        </a:lnSpc>
                        <a:spcBef>
                          <a:spcPts val="0"/>
                        </a:spcBef>
                        <a:spcAft>
                          <a:spcPts val="0"/>
                        </a:spcAft>
                      </a:pPr>
                      <a:r>
                        <a:rPr lang="en-US" sz="1200" kern="0" dirty="0">
                          <a:effectLst/>
                          <a:latin typeface="+mn-lt"/>
                        </a:rPr>
                        <a:t>NOAA Tides and Currents</a:t>
                      </a:r>
                      <a:endParaRPr lang="en-US" sz="1200" kern="100" dirty="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0000"/>
                        </a:lnSpc>
                        <a:spcBef>
                          <a:spcPts val="0"/>
                        </a:spcBef>
                        <a:spcAft>
                          <a:spcPts val="0"/>
                        </a:spcAft>
                      </a:pPr>
                      <a:r>
                        <a:rPr lang="en-US" sz="1200" kern="100" dirty="0">
                          <a:effectLst/>
                          <a:latin typeface="+mn-lt"/>
                          <a:ea typeface="Calibri" panose="020F0502020204030204" pitchFamily="34" charset="0"/>
                          <a:cs typeface="Times New Roman" panose="02020603050405020304" pitchFamily="18" charset="0"/>
                        </a:rPr>
                        <a:t>Point</a:t>
                      </a:r>
                    </a:p>
                  </a:txBody>
                  <a:tcPr marL="68580" marR="68580" marT="0" marB="0" anchor="b"/>
                </a:tc>
                <a:tc>
                  <a:txBody>
                    <a:bodyPr/>
                    <a:lstStyle/>
                    <a:p>
                      <a:pPr marL="0" marR="0" algn="ctr">
                        <a:lnSpc>
                          <a:spcPct val="100000"/>
                        </a:lnSpc>
                        <a:spcBef>
                          <a:spcPts val="0"/>
                        </a:spcBef>
                        <a:spcAft>
                          <a:spcPts val="0"/>
                        </a:spcAft>
                      </a:pPr>
                      <a:r>
                        <a:rPr lang="en-US" sz="1200" kern="0">
                          <a:effectLst/>
                          <a:latin typeface="+mn-lt"/>
                        </a:rPr>
                        <a:t>Hourly</a:t>
                      </a:r>
                      <a:endParaRPr lang="en-US" sz="1200" kern="100">
                        <a:effectLst/>
                        <a:latin typeface="+mn-lt"/>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4132803756"/>
                  </a:ext>
                </a:extLst>
              </a:tr>
              <a:tr h="182880">
                <a:tc>
                  <a:txBody>
                    <a:bodyPr/>
                    <a:lstStyle/>
                    <a:p>
                      <a:pPr marL="0" marR="0">
                        <a:lnSpc>
                          <a:spcPct val="100000"/>
                        </a:lnSpc>
                        <a:spcBef>
                          <a:spcPts val="0"/>
                        </a:spcBef>
                        <a:spcAft>
                          <a:spcPts val="0"/>
                        </a:spcAft>
                      </a:pPr>
                      <a:r>
                        <a:rPr lang="en-US" sz="1200" b="0" kern="0">
                          <a:effectLst/>
                          <a:latin typeface="+mn-lt"/>
                        </a:rPr>
                        <a:t>Sea Level Pressure</a:t>
                      </a:r>
                      <a:endParaRPr lang="en-US" sz="1200" b="0" kern="10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0000"/>
                        </a:lnSpc>
                        <a:spcBef>
                          <a:spcPts val="0"/>
                        </a:spcBef>
                        <a:spcAft>
                          <a:spcPts val="0"/>
                        </a:spcAft>
                      </a:pPr>
                      <a:r>
                        <a:rPr lang="en-US" sz="1200" kern="0" dirty="0">
                          <a:effectLst/>
                          <a:latin typeface="+mn-lt"/>
                        </a:rPr>
                        <a:t>ERA5</a:t>
                      </a:r>
                      <a:endParaRPr lang="en-US" sz="1200" kern="100" dirty="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0000"/>
                        </a:lnSpc>
                        <a:spcBef>
                          <a:spcPts val="0"/>
                        </a:spcBef>
                        <a:spcAft>
                          <a:spcPts val="0"/>
                        </a:spcAft>
                      </a:pPr>
                      <a:r>
                        <a:rPr lang="en-US" sz="1200" dirty="0">
                          <a:latin typeface="+mn-lt"/>
                          <a:cs typeface="Times New Roman" panose="02020603050405020304" pitchFamily="18" charset="0"/>
                        </a:rPr>
                        <a:t>0.25</a:t>
                      </a:r>
                      <a:r>
                        <a:rPr lang="en-US" sz="1200" baseline="30000" dirty="0">
                          <a:latin typeface="+mn-lt"/>
                          <a:cs typeface="Times New Roman" panose="02020603050405020304" pitchFamily="18" charset="0"/>
                        </a:rPr>
                        <a:t>o </a:t>
                      </a:r>
                      <a:r>
                        <a:rPr lang="en-US" sz="1200" dirty="0">
                          <a:latin typeface="+mn-lt"/>
                          <a:cs typeface="Times New Roman" panose="02020603050405020304" pitchFamily="18" charset="0"/>
                        </a:rPr>
                        <a:t>x 0.25</a:t>
                      </a:r>
                      <a:r>
                        <a:rPr lang="en-US" sz="1200" baseline="30000" dirty="0">
                          <a:latin typeface="+mn-lt"/>
                          <a:cs typeface="Times New Roman" panose="02020603050405020304" pitchFamily="18" charset="0"/>
                        </a:rPr>
                        <a:t>o</a:t>
                      </a:r>
                      <a:r>
                        <a:rPr lang="en-US" sz="1200" dirty="0">
                          <a:latin typeface="+mn-lt"/>
                          <a:cs typeface="Times New Roman" panose="02020603050405020304" pitchFamily="18" charset="0"/>
                        </a:rPr>
                        <a:t> </a:t>
                      </a:r>
                      <a:endParaRPr lang="en-US" sz="1200" kern="100" dirty="0">
                        <a:effectLst/>
                        <a:latin typeface="+mn-lt"/>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0000"/>
                        </a:lnSpc>
                        <a:spcBef>
                          <a:spcPts val="0"/>
                        </a:spcBef>
                        <a:spcAft>
                          <a:spcPts val="0"/>
                        </a:spcAft>
                      </a:pPr>
                      <a:r>
                        <a:rPr lang="en-US" sz="1200" kern="0">
                          <a:effectLst/>
                          <a:latin typeface="+mn-lt"/>
                        </a:rPr>
                        <a:t>Hourly</a:t>
                      </a:r>
                      <a:endParaRPr lang="en-US" sz="1200" kern="100">
                        <a:effectLst/>
                        <a:latin typeface="+mn-lt"/>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11612784"/>
                  </a:ext>
                </a:extLst>
              </a:tr>
              <a:tr h="182880">
                <a:tc>
                  <a:txBody>
                    <a:bodyPr/>
                    <a:lstStyle/>
                    <a:p>
                      <a:pPr marL="0" marR="0">
                        <a:lnSpc>
                          <a:spcPct val="100000"/>
                        </a:lnSpc>
                        <a:spcBef>
                          <a:spcPts val="0"/>
                        </a:spcBef>
                        <a:spcAft>
                          <a:spcPts val="0"/>
                        </a:spcAft>
                      </a:pPr>
                      <a:r>
                        <a:rPr lang="en-US" sz="1200" b="0" kern="0" dirty="0">
                          <a:effectLst/>
                          <a:latin typeface="+mn-lt"/>
                        </a:rPr>
                        <a:t>Zonal (u10) and Meridional (v10) Winds</a:t>
                      </a:r>
                      <a:endParaRPr lang="en-US" sz="1200" b="0" kern="100" dirty="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0000"/>
                        </a:lnSpc>
                        <a:spcBef>
                          <a:spcPts val="0"/>
                        </a:spcBef>
                        <a:spcAft>
                          <a:spcPts val="0"/>
                        </a:spcAft>
                      </a:pPr>
                      <a:r>
                        <a:rPr lang="en-US" sz="1200" kern="0" dirty="0">
                          <a:effectLst/>
                          <a:latin typeface="+mn-lt"/>
                        </a:rPr>
                        <a:t>ERA5</a:t>
                      </a:r>
                      <a:endParaRPr lang="en-US" sz="1200" kern="100" dirty="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latin typeface="+mn-lt"/>
                          <a:cs typeface="Times New Roman" panose="02020603050405020304" pitchFamily="18" charset="0"/>
                        </a:rPr>
                        <a:t>0.25</a:t>
                      </a:r>
                      <a:r>
                        <a:rPr lang="en-US" sz="1200" baseline="30000" dirty="0">
                          <a:latin typeface="+mn-lt"/>
                          <a:cs typeface="Times New Roman" panose="02020603050405020304" pitchFamily="18" charset="0"/>
                        </a:rPr>
                        <a:t>o </a:t>
                      </a:r>
                      <a:r>
                        <a:rPr lang="en-US" sz="1200" dirty="0">
                          <a:latin typeface="+mn-lt"/>
                          <a:cs typeface="Times New Roman" panose="02020603050405020304" pitchFamily="18" charset="0"/>
                        </a:rPr>
                        <a:t>x 0.25</a:t>
                      </a:r>
                      <a:r>
                        <a:rPr lang="en-US" sz="1200" baseline="30000" dirty="0">
                          <a:latin typeface="+mn-lt"/>
                          <a:cs typeface="Times New Roman" panose="02020603050405020304" pitchFamily="18" charset="0"/>
                        </a:rPr>
                        <a:t>o</a:t>
                      </a:r>
                      <a:endParaRPr lang="en-US" sz="1200" kern="100" dirty="0">
                        <a:effectLst/>
                        <a:latin typeface="+mn-lt"/>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0000"/>
                        </a:lnSpc>
                        <a:spcBef>
                          <a:spcPts val="0"/>
                        </a:spcBef>
                        <a:spcAft>
                          <a:spcPts val="0"/>
                        </a:spcAft>
                      </a:pPr>
                      <a:r>
                        <a:rPr lang="en-US" sz="1200" kern="0">
                          <a:effectLst/>
                          <a:latin typeface="+mn-lt"/>
                        </a:rPr>
                        <a:t>Hourly</a:t>
                      </a:r>
                      <a:endParaRPr lang="en-US" sz="1200" kern="100">
                        <a:effectLst/>
                        <a:latin typeface="+mn-lt"/>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595518465"/>
                  </a:ext>
                </a:extLst>
              </a:tr>
              <a:tr h="182880">
                <a:tc>
                  <a:txBody>
                    <a:bodyPr/>
                    <a:lstStyle/>
                    <a:p>
                      <a:pPr marL="0" marR="0">
                        <a:lnSpc>
                          <a:spcPct val="100000"/>
                        </a:lnSpc>
                        <a:spcBef>
                          <a:spcPts val="0"/>
                        </a:spcBef>
                        <a:spcAft>
                          <a:spcPts val="0"/>
                        </a:spcAft>
                      </a:pPr>
                      <a:r>
                        <a:rPr lang="en-US" sz="1200" b="0" kern="0">
                          <a:effectLst/>
                          <a:latin typeface="+mn-lt"/>
                        </a:rPr>
                        <a:t>Sea Surface Temperature</a:t>
                      </a:r>
                      <a:endParaRPr lang="en-US" sz="1200" b="0" kern="10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0000"/>
                        </a:lnSpc>
                        <a:spcBef>
                          <a:spcPts val="0"/>
                        </a:spcBef>
                        <a:spcAft>
                          <a:spcPts val="0"/>
                        </a:spcAft>
                      </a:pPr>
                      <a:r>
                        <a:rPr lang="en-US" sz="1200" kern="0" dirty="0">
                          <a:effectLst/>
                          <a:latin typeface="+mn-lt"/>
                        </a:rPr>
                        <a:t>NOAA Coral Reef Watch</a:t>
                      </a:r>
                      <a:endParaRPr lang="en-US" sz="1200" kern="100" dirty="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0000"/>
                        </a:lnSpc>
                        <a:spcBef>
                          <a:spcPts val="0"/>
                        </a:spcBef>
                        <a:spcAft>
                          <a:spcPts val="0"/>
                        </a:spcAft>
                      </a:pPr>
                      <a:r>
                        <a:rPr lang="en-US" sz="1200" kern="100" dirty="0">
                          <a:effectLst/>
                          <a:latin typeface="+mn-lt"/>
                          <a:ea typeface="Calibri" panose="020F0502020204030204" pitchFamily="34" charset="0"/>
                          <a:cs typeface="Times New Roman" panose="02020603050405020304" pitchFamily="18" charset="0"/>
                        </a:rPr>
                        <a:t>5 km x 5 km</a:t>
                      </a:r>
                    </a:p>
                  </a:txBody>
                  <a:tcPr marL="68580" marR="68580" marT="0" marB="0" anchor="b"/>
                </a:tc>
                <a:tc>
                  <a:txBody>
                    <a:bodyPr/>
                    <a:lstStyle/>
                    <a:p>
                      <a:pPr marL="0" marR="0" algn="ctr">
                        <a:lnSpc>
                          <a:spcPct val="100000"/>
                        </a:lnSpc>
                        <a:spcBef>
                          <a:spcPts val="0"/>
                        </a:spcBef>
                        <a:spcAft>
                          <a:spcPts val="0"/>
                        </a:spcAft>
                      </a:pPr>
                      <a:r>
                        <a:rPr lang="en-US" sz="1200" kern="0">
                          <a:effectLst/>
                          <a:latin typeface="+mn-lt"/>
                        </a:rPr>
                        <a:t>Daily</a:t>
                      </a:r>
                      <a:endParaRPr lang="en-US" sz="1200" kern="100">
                        <a:effectLst/>
                        <a:latin typeface="+mn-lt"/>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442054108"/>
                  </a:ext>
                </a:extLst>
              </a:tr>
              <a:tr h="182880">
                <a:tc>
                  <a:txBody>
                    <a:bodyPr/>
                    <a:lstStyle/>
                    <a:p>
                      <a:pPr marL="0" marR="0">
                        <a:lnSpc>
                          <a:spcPct val="100000"/>
                        </a:lnSpc>
                        <a:spcBef>
                          <a:spcPts val="0"/>
                        </a:spcBef>
                        <a:spcAft>
                          <a:spcPts val="0"/>
                        </a:spcAft>
                      </a:pPr>
                      <a:r>
                        <a:rPr lang="en-US" sz="1200" b="0" kern="0" dirty="0">
                          <a:effectLst/>
                          <a:latin typeface="+mn-lt"/>
                        </a:rPr>
                        <a:t>Florida Current</a:t>
                      </a:r>
                      <a:endParaRPr lang="en-US" sz="1200" b="0" kern="100" dirty="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0000"/>
                        </a:lnSpc>
                        <a:spcBef>
                          <a:spcPts val="0"/>
                        </a:spcBef>
                        <a:spcAft>
                          <a:spcPts val="0"/>
                        </a:spcAft>
                      </a:pPr>
                      <a:r>
                        <a:rPr lang="en-US" sz="1200" kern="0" dirty="0">
                          <a:effectLst/>
                          <a:latin typeface="+mn-lt"/>
                        </a:rPr>
                        <a:t>NOAA's Atlantic Oceanographic and Meteorological Laboratory</a:t>
                      </a:r>
                      <a:endParaRPr lang="en-US" sz="1200" kern="100" dirty="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0000"/>
                        </a:lnSpc>
                        <a:spcBef>
                          <a:spcPts val="0"/>
                        </a:spcBef>
                        <a:spcAft>
                          <a:spcPts val="0"/>
                        </a:spcAft>
                      </a:pPr>
                      <a:r>
                        <a:rPr lang="en-US" sz="1200" kern="100" dirty="0">
                          <a:effectLst/>
                          <a:latin typeface="+mn-lt"/>
                          <a:ea typeface="Calibri" panose="020F0502020204030204" pitchFamily="34" charset="0"/>
                          <a:cs typeface="Times New Roman" panose="02020603050405020304" pitchFamily="18" charset="0"/>
                        </a:rPr>
                        <a:t>Point</a:t>
                      </a:r>
                    </a:p>
                  </a:txBody>
                  <a:tcPr marL="68580" marR="68580" marT="0" marB="0" anchor="b"/>
                </a:tc>
                <a:tc>
                  <a:txBody>
                    <a:bodyPr/>
                    <a:lstStyle/>
                    <a:p>
                      <a:pPr marL="0" marR="0" algn="ctr">
                        <a:lnSpc>
                          <a:spcPct val="100000"/>
                        </a:lnSpc>
                        <a:spcBef>
                          <a:spcPts val="0"/>
                        </a:spcBef>
                        <a:spcAft>
                          <a:spcPts val="0"/>
                        </a:spcAft>
                      </a:pPr>
                      <a:r>
                        <a:rPr lang="en-US" sz="1200" kern="0" dirty="0">
                          <a:effectLst/>
                          <a:latin typeface="+mn-lt"/>
                        </a:rPr>
                        <a:t>Daily</a:t>
                      </a:r>
                      <a:endParaRPr lang="en-US" sz="1200" kern="100" dirty="0">
                        <a:effectLst/>
                        <a:latin typeface="+mn-lt"/>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976874913"/>
                  </a:ext>
                </a:extLst>
              </a:tr>
            </a:tbl>
          </a:graphicData>
        </a:graphic>
      </p:graphicFrame>
      <p:pic>
        <p:nvPicPr>
          <p:cNvPr id="11" name="Picture 10" descr="A map of the united states&#10;&#10;Description automatically generated">
            <a:extLst>
              <a:ext uri="{FF2B5EF4-FFF2-40B4-BE49-F238E27FC236}">
                <a16:creationId xmlns:a16="http://schemas.microsoft.com/office/drawing/2014/main" id="{FDE2518D-2276-951D-5D30-E263D11C63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1410" y="1046655"/>
            <a:ext cx="4532101" cy="5486400"/>
          </a:xfrm>
          <a:prstGeom prst="rect">
            <a:avLst/>
          </a:prstGeom>
        </p:spPr>
      </p:pic>
      <p:pic>
        <p:nvPicPr>
          <p:cNvPr id="12" name="Picture 11" descr="A screenshot of a phone&#10;&#10;Description automatically generated">
            <a:extLst>
              <a:ext uri="{FF2B5EF4-FFF2-40B4-BE49-F238E27FC236}">
                <a16:creationId xmlns:a16="http://schemas.microsoft.com/office/drawing/2014/main" id="{70EF5E8C-A32C-7F30-DA20-E1867F1D5E48}"/>
              </a:ext>
            </a:extLst>
          </p:cNvPr>
          <p:cNvPicPr>
            <a:picLocks noChangeAspect="1"/>
          </p:cNvPicPr>
          <p:nvPr/>
        </p:nvPicPr>
        <p:blipFill>
          <a:blip r:embed="rId4">
            <a:extLst>
              <a:ext uri="{28A0092B-C50C-407E-A947-70E740481C1C}">
                <a14:useLocalDpi xmlns:a14="http://schemas.microsoft.com/office/drawing/2010/main" val="0"/>
              </a:ext>
            </a:extLst>
          </a:blip>
          <a:srcRect b="24277"/>
          <a:stretch/>
        </p:blipFill>
        <p:spPr>
          <a:xfrm>
            <a:off x="4901530" y="2875455"/>
            <a:ext cx="3226391" cy="3657600"/>
          </a:xfrm>
          <a:prstGeom prst="rect">
            <a:avLst/>
          </a:prstGeom>
        </p:spPr>
      </p:pic>
    </p:spTree>
    <p:extLst>
      <p:ext uri="{BB962C8B-B14F-4D97-AF65-F5344CB8AC3E}">
        <p14:creationId xmlns:p14="http://schemas.microsoft.com/office/powerpoint/2010/main" val="23836614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86492ED9-1DE7-5FBE-0052-99EB09B4DA20}"/>
              </a:ext>
            </a:extLst>
          </p:cNvPr>
          <p:cNvSpPr>
            <a:spLocks noGrp="1"/>
          </p:cNvSpPr>
          <p:nvPr>
            <p:ph type="sldNum" sz="quarter" idx="12"/>
          </p:nvPr>
        </p:nvSpPr>
        <p:spPr>
          <a:xfrm>
            <a:off x="11582401" y="6342453"/>
            <a:ext cx="518160" cy="365125"/>
          </a:xfrm>
        </p:spPr>
        <p:txBody>
          <a:bodyPr/>
          <a:lstStyle/>
          <a:p>
            <a:fld id="{DFDF98CC-160E-494C-8C3C-8CDC5FA257DE}" type="slidenum">
              <a:rPr lang="en-US" smtClean="0"/>
              <a:t>13</a:t>
            </a:fld>
            <a:endParaRPr lang="en-US" dirty="0"/>
          </a:p>
        </p:txBody>
      </p:sp>
      <p:sp>
        <p:nvSpPr>
          <p:cNvPr id="7" name="TextBox 6">
            <a:extLst>
              <a:ext uri="{FF2B5EF4-FFF2-40B4-BE49-F238E27FC236}">
                <a16:creationId xmlns:a16="http://schemas.microsoft.com/office/drawing/2014/main" id="{10AF48AD-2C0B-2815-85EF-FECCC6667A0F}"/>
              </a:ext>
            </a:extLst>
          </p:cNvPr>
          <p:cNvSpPr txBox="1"/>
          <p:nvPr/>
        </p:nvSpPr>
        <p:spPr>
          <a:xfrm>
            <a:off x="537743" y="254764"/>
            <a:ext cx="10972800" cy="707886"/>
          </a:xfrm>
          <a:prstGeom prst="rect">
            <a:avLst/>
          </a:prstGeom>
          <a:noFill/>
        </p:spPr>
        <p:txBody>
          <a:bodyPr wrap="square" rtlCol="0">
            <a:spAutoFit/>
          </a:bodyPr>
          <a:lstStyle/>
          <a:p>
            <a:r>
              <a:rPr lang="en-US" sz="4000" b="1" dirty="0"/>
              <a:t>RESULTS</a:t>
            </a:r>
          </a:p>
        </p:txBody>
      </p:sp>
      <p:cxnSp>
        <p:nvCxnSpPr>
          <p:cNvPr id="10" name="Straight Connector 9">
            <a:extLst>
              <a:ext uri="{FF2B5EF4-FFF2-40B4-BE49-F238E27FC236}">
                <a16:creationId xmlns:a16="http://schemas.microsoft.com/office/drawing/2014/main" id="{047BC7FF-9C8C-2B04-A56B-4D898123B196}"/>
              </a:ext>
            </a:extLst>
          </p:cNvPr>
          <p:cNvCxnSpPr/>
          <p:nvPr/>
        </p:nvCxnSpPr>
        <p:spPr>
          <a:xfrm>
            <a:off x="609600" y="962650"/>
            <a:ext cx="10972800" cy="0"/>
          </a:xfrm>
          <a:prstGeom prst="line">
            <a:avLst/>
          </a:prstGeom>
          <a:ln w="28575">
            <a:solidFill>
              <a:srgbClr val="FFC000"/>
            </a:solidFill>
          </a:ln>
        </p:spPr>
        <p:style>
          <a:lnRef idx="3">
            <a:schemeClr val="accent2"/>
          </a:lnRef>
          <a:fillRef idx="0">
            <a:schemeClr val="accent2"/>
          </a:fillRef>
          <a:effectRef idx="2">
            <a:schemeClr val="accent2"/>
          </a:effectRef>
          <a:fontRef idx="minor">
            <a:schemeClr val="tx1"/>
          </a:fontRef>
        </p:style>
      </p:cxnSp>
      <p:graphicFrame>
        <p:nvGraphicFramePr>
          <p:cNvPr id="11" name="Table 10">
            <a:extLst>
              <a:ext uri="{FF2B5EF4-FFF2-40B4-BE49-F238E27FC236}">
                <a16:creationId xmlns:a16="http://schemas.microsoft.com/office/drawing/2014/main" id="{0CC7F478-C128-0640-AFA5-367BE59E1168}"/>
              </a:ext>
            </a:extLst>
          </p:cNvPr>
          <p:cNvGraphicFramePr>
            <a:graphicFrameLocks noGrp="1"/>
          </p:cNvGraphicFramePr>
          <p:nvPr>
            <p:extLst>
              <p:ext uri="{D42A27DB-BD31-4B8C-83A1-F6EECF244321}">
                <p14:modId xmlns:p14="http://schemas.microsoft.com/office/powerpoint/2010/main" val="218532725"/>
              </p:ext>
            </p:extLst>
          </p:nvPr>
        </p:nvGraphicFramePr>
        <p:xfrm>
          <a:off x="1919166" y="1032183"/>
          <a:ext cx="8209955" cy="5413403"/>
        </p:xfrm>
        <a:graphic>
          <a:graphicData uri="http://schemas.openxmlformats.org/drawingml/2006/table">
            <a:tbl>
              <a:tblPr firstRow="1" firstCol="1" bandRow="1">
                <a:tableStyleId>{3B4B98B0-60AC-42C2-AFA5-B58CD77FA1E5}</a:tableStyleId>
              </a:tblPr>
              <a:tblGrid>
                <a:gridCol w="1473877">
                  <a:extLst>
                    <a:ext uri="{9D8B030D-6E8A-4147-A177-3AD203B41FA5}">
                      <a16:colId xmlns:a16="http://schemas.microsoft.com/office/drawing/2014/main" val="462700275"/>
                    </a:ext>
                  </a:extLst>
                </a:gridCol>
                <a:gridCol w="1809493">
                  <a:extLst>
                    <a:ext uri="{9D8B030D-6E8A-4147-A177-3AD203B41FA5}">
                      <a16:colId xmlns:a16="http://schemas.microsoft.com/office/drawing/2014/main" val="1099898952"/>
                    </a:ext>
                  </a:extLst>
                </a:gridCol>
                <a:gridCol w="1239900">
                  <a:extLst>
                    <a:ext uri="{9D8B030D-6E8A-4147-A177-3AD203B41FA5}">
                      <a16:colId xmlns:a16="http://schemas.microsoft.com/office/drawing/2014/main" val="1900444246"/>
                    </a:ext>
                  </a:extLst>
                </a:gridCol>
                <a:gridCol w="537029">
                  <a:extLst>
                    <a:ext uri="{9D8B030D-6E8A-4147-A177-3AD203B41FA5}">
                      <a16:colId xmlns:a16="http://schemas.microsoft.com/office/drawing/2014/main" val="2915584168"/>
                    </a:ext>
                  </a:extLst>
                </a:gridCol>
                <a:gridCol w="612054">
                  <a:extLst>
                    <a:ext uri="{9D8B030D-6E8A-4147-A177-3AD203B41FA5}">
                      <a16:colId xmlns:a16="http://schemas.microsoft.com/office/drawing/2014/main" val="3894224275"/>
                    </a:ext>
                  </a:extLst>
                </a:gridCol>
                <a:gridCol w="503462">
                  <a:extLst>
                    <a:ext uri="{9D8B030D-6E8A-4147-A177-3AD203B41FA5}">
                      <a16:colId xmlns:a16="http://schemas.microsoft.com/office/drawing/2014/main" val="2731024253"/>
                    </a:ext>
                  </a:extLst>
                </a:gridCol>
                <a:gridCol w="260664">
                  <a:extLst>
                    <a:ext uri="{9D8B030D-6E8A-4147-A177-3AD203B41FA5}">
                      <a16:colId xmlns:a16="http://schemas.microsoft.com/office/drawing/2014/main" val="1266344812"/>
                    </a:ext>
                  </a:extLst>
                </a:gridCol>
                <a:gridCol w="198648">
                  <a:extLst>
                    <a:ext uri="{9D8B030D-6E8A-4147-A177-3AD203B41FA5}">
                      <a16:colId xmlns:a16="http://schemas.microsoft.com/office/drawing/2014/main" val="3521063278"/>
                    </a:ext>
                  </a:extLst>
                </a:gridCol>
                <a:gridCol w="198648">
                  <a:extLst>
                    <a:ext uri="{9D8B030D-6E8A-4147-A177-3AD203B41FA5}">
                      <a16:colId xmlns:a16="http://schemas.microsoft.com/office/drawing/2014/main" val="1783033133"/>
                    </a:ext>
                  </a:extLst>
                </a:gridCol>
                <a:gridCol w="612054">
                  <a:extLst>
                    <a:ext uri="{9D8B030D-6E8A-4147-A177-3AD203B41FA5}">
                      <a16:colId xmlns:a16="http://schemas.microsoft.com/office/drawing/2014/main" val="39109631"/>
                    </a:ext>
                  </a:extLst>
                </a:gridCol>
                <a:gridCol w="503462">
                  <a:extLst>
                    <a:ext uri="{9D8B030D-6E8A-4147-A177-3AD203B41FA5}">
                      <a16:colId xmlns:a16="http://schemas.microsoft.com/office/drawing/2014/main" val="498734131"/>
                    </a:ext>
                  </a:extLst>
                </a:gridCol>
                <a:gridCol w="260664">
                  <a:extLst>
                    <a:ext uri="{9D8B030D-6E8A-4147-A177-3AD203B41FA5}">
                      <a16:colId xmlns:a16="http://schemas.microsoft.com/office/drawing/2014/main" val="399114256"/>
                    </a:ext>
                  </a:extLst>
                </a:gridCol>
              </a:tblGrid>
              <a:tr h="94578">
                <a:tc>
                  <a:txBody>
                    <a:bodyPr/>
                    <a:lstStyle/>
                    <a:p>
                      <a:pPr>
                        <a:lnSpc>
                          <a:spcPct val="100000"/>
                        </a:lnSpc>
                      </a:pPr>
                      <a:endParaRPr lang="en-US" sz="1200" kern="100" dirty="0">
                        <a:effectLst/>
                        <a:latin typeface="+mn-lt"/>
                        <a:cs typeface="Calibri" panose="020F0502020204030204" pitchFamily="34" charset="0"/>
                      </a:endParaRPr>
                    </a:p>
                  </a:txBody>
                  <a:tcPr marL="0" marR="0" marT="0" marB="0" anchor="b">
                    <a:lnL>
                      <a:noFill/>
                    </a:lnL>
                    <a:lnR>
                      <a:noFill/>
                    </a:lnR>
                    <a:lnT w="12700" cap="flat" cmpd="sng" algn="ctr">
                      <a:solidFill>
                        <a:srgbClr val="0067B4"/>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a:lnSpc>
                          <a:spcPct val="100000"/>
                        </a:lnSpc>
                        <a:spcBef>
                          <a:spcPts val="0"/>
                        </a:spcBef>
                        <a:spcAft>
                          <a:spcPts val="0"/>
                        </a:spcAft>
                      </a:pPr>
                      <a:r>
                        <a:rPr lang="en-US" sz="1200" b="1" kern="0">
                          <a:solidFill>
                            <a:srgbClr val="000000"/>
                          </a:solidFill>
                          <a:effectLst/>
                          <a:latin typeface="+mn-lt"/>
                        </a:rPr>
                        <a:t> </a:t>
                      </a:r>
                      <a:endParaRPr lang="en-US" sz="1200" kern="100">
                        <a:effectLst/>
                        <a:latin typeface="+mn-lt"/>
                        <a:ea typeface="Calibri" panose="020F0502020204030204" pitchFamily="34" charset="0"/>
                        <a:cs typeface="Calibri" panose="020F0502020204030204" pitchFamily="34" charset="0"/>
                      </a:endParaRPr>
                    </a:p>
                  </a:txBody>
                  <a:tcPr marL="0" marR="0" marT="0" marB="0">
                    <a:lnL>
                      <a:noFill/>
                    </a:lnL>
                    <a:lnR>
                      <a:noFill/>
                    </a:lnR>
                    <a:lnT w="12700" cap="flat" cmpd="sng" algn="ctr">
                      <a:solidFill>
                        <a:srgbClr val="0067B4"/>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just">
                        <a:lnSpc>
                          <a:spcPct val="100000"/>
                        </a:lnSpc>
                        <a:spcBef>
                          <a:spcPts val="0"/>
                        </a:spcBef>
                        <a:spcAft>
                          <a:spcPts val="0"/>
                        </a:spcAft>
                      </a:pPr>
                      <a:r>
                        <a:rPr lang="en-US" sz="1200" b="1" kern="0" dirty="0">
                          <a:solidFill>
                            <a:srgbClr val="000000"/>
                          </a:solidFill>
                          <a:effectLst/>
                          <a:latin typeface="+mn-lt"/>
                        </a:rPr>
                        <a:t> </a:t>
                      </a:r>
                      <a:endParaRPr lang="en-US" sz="1200" kern="100" dirty="0">
                        <a:effectLst/>
                        <a:latin typeface="+mn-lt"/>
                        <a:ea typeface="Calibri" panose="020F0502020204030204" pitchFamily="34" charset="0"/>
                        <a:cs typeface="Calibri" panose="020F0502020204030204" pitchFamily="34" charset="0"/>
                      </a:endParaRPr>
                    </a:p>
                  </a:txBody>
                  <a:tcPr marL="0" marR="0" marT="0" marB="0">
                    <a:lnL>
                      <a:noFill/>
                    </a:lnL>
                    <a:lnR>
                      <a:noFill/>
                    </a:lnR>
                    <a:lnT w="12700" cap="flat" cmpd="sng" algn="ctr">
                      <a:solidFill>
                        <a:srgbClr val="0067B4"/>
                      </a:solidFill>
                      <a:prstDash val="solid"/>
                      <a:round/>
                      <a:headEnd type="none" w="med" len="med"/>
                      <a:tailEnd type="none" w="med" len="med"/>
                    </a:lnT>
                    <a:lnB w="12700" cmpd="sng">
                      <a:noFill/>
                    </a:lnB>
                    <a:lnTlToBr w="12700" cmpd="sng">
                      <a:noFill/>
                      <a:prstDash val="solid"/>
                    </a:lnTlToBr>
                    <a:lnBlToTr w="12700" cmpd="sng">
                      <a:noFill/>
                      <a:prstDash val="solid"/>
                    </a:lnBlToTr>
                  </a:tcPr>
                </a:tc>
                <a:tc gridSpan="3">
                  <a:txBody>
                    <a:bodyPr/>
                    <a:lstStyle/>
                    <a:p>
                      <a:pPr marL="0" marR="0" algn="ctr">
                        <a:lnSpc>
                          <a:spcPct val="100000"/>
                        </a:lnSpc>
                        <a:spcBef>
                          <a:spcPts val="0"/>
                        </a:spcBef>
                        <a:spcAft>
                          <a:spcPts val="0"/>
                        </a:spcAft>
                      </a:pPr>
                      <a:r>
                        <a:rPr lang="en-US" sz="1200" b="1" kern="0" dirty="0">
                          <a:solidFill>
                            <a:srgbClr val="000000"/>
                          </a:solidFill>
                          <a:effectLst/>
                          <a:latin typeface="+mn-lt"/>
                        </a:rPr>
                        <a:t>Case 1</a:t>
                      </a:r>
                      <a:endParaRPr lang="en-US" sz="1200" kern="100" dirty="0">
                        <a:effectLst/>
                        <a:latin typeface="+mn-lt"/>
                        <a:ea typeface="Calibri" panose="020F0502020204030204" pitchFamily="34" charset="0"/>
                        <a:cs typeface="Calibri" panose="020F0502020204030204" pitchFamily="34" charset="0"/>
                      </a:endParaRPr>
                    </a:p>
                  </a:txBody>
                  <a:tcPr marL="0" marR="0" marT="0" marB="0">
                    <a:lnL>
                      <a:noFill/>
                    </a:lnL>
                    <a:lnR>
                      <a:noFill/>
                    </a:lnR>
                    <a:lnT w="12700" cap="flat" cmpd="sng" algn="ctr">
                      <a:solidFill>
                        <a:srgbClr val="0067B4"/>
                      </a:solidFill>
                      <a:prstDash val="solid"/>
                      <a:round/>
                      <a:headEnd type="none" w="med" len="med"/>
                      <a:tailEnd type="none" w="med" len="med"/>
                    </a:lnT>
                    <a:lnB w="12700" cap="flat" cmpd="sng" algn="ctr">
                      <a:solidFill>
                        <a:srgbClr val="0067B4"/>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tc>
                <a:tc hMerge="1">
                  <a:txBody>
                    <a:bodyPr/>
                    <a:lstStyle/>
                    <a:p>
                      <a:endParaRPr lang="en-US"/>
                    </a:p>
                  </a:txBody>
                  <a:tcPr/>
                </a:tc>
                <a:tc gridSpan="2">
                  <a:txBody>
                    <a:bodyPr/>
                    <a:lstStyle/>
                    <a:p>
                      <a:pPr marL="0" marR="0" algn="ctr">
                        <a:lnSpc>
                          <a:spcPct val="100000"/>
                        </a:lnSpc>
                        <a:spcBef>
                          <a:spcPts val="0"/>
                        </a:spcBef>
                        <a:spcAft>
                          <a:spcPts val="0"/>
                        </a:spcAft>
                      </a:pPr>
                      <a:r>
                        <a:rPr lang="en-US" sz="1200" b="1" kern="0" dirty="0">
                          <a:solidFill>
                            <a:srgbClr val="000000"/>
                          </a:solidFill>
                          <a:effectLst/>
                          <a:latin typeface="+mn-lt"/>
                        </a:rPr>
                        <a:t> </a:t>
                      </a:r>
                      <a:endParaRPr lang="en-US" sz="1200" kern="100" dirty="0">
                        <a:effectLst/>
                        <a:latin typeface="+mn-lt"/>
                        <a:ea typeface="Calibri" panose="020F0502020204030204" pitchFamily="34" charset="0"/>
                        <a:cs typeface="Calibri" panose="020F0502020204030204" pitchFamily="34" charset="0"/>
                      </a:endParaRPr>
                    </a:p>
                  </a:txBody>
                  <a:tcPr marL="0" marR="0" marT="0" marB="0">
                    <a:lnL>
                      <a:noFill/>
                    </a:lnL>
                    <a:lnR>
                      <a:noFill/>
                    </a:lnR>
                    <a:lnT w="12700" cap="flat" cmpd="sng" algn="ctr">
                      <a:solidFill>
                        <a:srgbClr val="0067B4"/>
                      </a:solidFill>
                      <a:prstDash val="solid"/>
                      <a:round/>
                      <a:headEnd type="none" w="med" len="med"/>
                      <a:tailEnd type="none" w="med" len="med"/>
                    </a:lnT>
                    <a:lnB w="12700" cmpd="sng">
                      <a:noFill/>
                    </a:lnB>
                    <a:lnTlToBr w="12700" cmpd="sng">
                      <a:noFill/>
                      <a:prstDash val="solid"/>
                    </a:lnTlToBr>
                    <a:lnBlToTr w="12700" cmpd="sng">
                      <a:noFill/>
                      <a:prstDash val="solid"/>
                    </a:lnBlToTr>
                  </a:tcPr>
                </a:tc>
                <a:tc hMerge="1">
                  <a:txBody>
                    <a:bodyPr/>
                    <a:lstStyle/>
                    <a:p>
                      <a:endParaRPr lang="en-US"/>
                    </a:p>
                  </a:txBody>
                  <a:tcPr/>
                </a:tc>
                <a:tc gridSpan="3">
                  <a:txBody>
                    <a:bodyPr/>
                    <a:lstStyle/>
                    <a:p>
                      <a:pPr marL="0" marR="0" algn="ctr">
                        <a:lnSpc>
                          <a:spcPct val="100000"/>
                        </a:lnSpc>
                        <a:spcBef>
                          <a:spcPts val="0"/>
                        </a:spcBef>
                        <a:spcAft>
                          <a:spcPts val="0"/>
                        </a:spcAft>
                      </a:pPr>
                      <a:r>
                        <a:rPr lang="en-US" sz="1200" b="1" kern="0" dirty="0">
                          <a:solidFill>
                            <a:srgbClr val="000000"/>
                          </a:solidFill>
                          <a:effectLst/>
                          <a:latin typeface="+mn-lt"/>
                        </a:rPr>
                        <a:t>Case 2</a:t>
                      </a:r>
                      <a:endParaRPr lang="en-US" sz="1200" kern="100" dirty="0">
                        <a:effectLst/>
                        <a:latin typeface="+mn-lt"/>
                        <a:ea typeface="Calibri" panose="020F0502020204030204" pitchFamily="34" charset="0"/>
                        <a:cs typeface="Calibri" panose="020F0502020204030204" pitchFamily="34" charset="0"/>
                      </a:endParaRPr>
                    </a:p>
                  </a:txBody>
                  <a:tcPr marL="0" marR="0" marT="0" marB="0">
                    <a:lnL>
                      <a:noFill/>
                    </a:lnL>
                    <a:lnR>
                      <a:noFill/>
                    </a:lnR>
                    <a:lnT w="12700" cap="flat" cmpd="sng" algn="ctr">
                      <a:solidFill>
                        <a:srgbClr val="0067B4"/>
                      </a:solidFill>
                      <a:prstDash val="solid"/>
                      <a:round/>
                      <a:headEnd type="none" w="med" len="med"/>
                      <a:tailEnd type="none" w="med" len="med"/>
                    </a:lnT>
                    <a:lnB w="12700" cap="flat" cmpd="sng" algn="ctr">
                      <a:solidFill>
                        <a:srgbClr val="0067B4"/>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tc>
                <a:tc hMerge="1">
                  <a:txBody>
                    <a:bodyPr/>
                    <a:lstStyle/>
                    <a:p>
                      <a:endParaRPr lang="en-US"/>
                    </a:p>
                  </a:txBody>
                  <a:tcPr/>
                </a:tc>
                <a:tc>
                  <a:txBody>
                    <a:bodyPr/>
                    <a:lstStyle/>
                    <a:p>
                      <a:pPr marL="0" marR="0" algn="ctr">
                        <a:lnSpc>
                          <a:spcPct val="100000"/>
                        </a:lnSpc>
                        <a:spcBef>
                          <a:spcPts val="0"/>
                        </a:spcBef>
                        <a:spcAft>
                          <a:spcPts val="0"/>
                        </a:spcAft>
                      </a:pPr>
                      <a:r>
                        <a:rPr lang="en-US" sz="1200" b="1" kern="0">
                          <a:solidFill>
                            <a:srgbClr val="000000"/>
                          </a:solidFill>
                          <a:effectLst/>
                          <a:latin typeface="+mn-lt"/>
                        </a:rPr>
                        <a:t> </a:t>
                      </a:r>
                      <a:endParaRPr lang="en-US" sz="1200" kern="100">
                        <a:effectLst/>
                        <a:latin typeface="+mn-lt"/>
                        <a:ea typeface="Calibri" panose="020F0502020204030204" pitchFamily="34" charset="0"/>
                        <a:cs typeface="Calibri" panose="020F0502020204030204" pitchFamily="34" charset="0"/>
                      </a:endParaRPr>
                    </a:p>
                  </a:txBody>
                  <a:tcPr marL="0" marR="0" marT="0" marB="0">
                    <a:lnL>
                      <a:noFill/>
                    </a:lnL>
                    <a:lnR>
                      <a:noFill/>
                    </a:lnR>
                    <a:lnT w="12700" cap="flat" cmpd="sng" algn="ctr">
                      <a:solidFill>
                        <a:srgbClr val="0067B4"/>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91221725"/>
                  </a:ext>
                </a:extLst>
              </a:tr>
              <a:tr h="369069">
                <a:tc>
                  <a:txBody>
                    <a:bodyPr/>
                    <a:lstStyle/>
                    <a:p>
                      <a:pPr marL="0" marR="0" algn="ctr">
                        <a:lnSpc>
                          <a:spcPct val="100000"/>
                        </a:lnSpc>
                        <a:spcBef>
                          <a:spcPts val="0"/>
                        </a:spcBef>
                        <a:spcAft>
                          <a:spcPts val="0"/>
                        </a:spcAft>
                      </a:pPr>
                      <a:r>
                        <a:rPr lang="en-US" sz="1200" b="1" kern="0" dirty="0">
                          <a:solidFill>
                            <a:srgbClr val="000000"/>
                          </a:solidFill>
                          <a:effectLst/>
                          <a:latin typeface="+mn-lt"/>
                        </a:rPr>
                        <a:t>Station</a:t>
                      </a:r>
                      <a:endParaRPr lang="en-US" sz="1200" kern="100" dirty="0">
                        <a:effectLst/>
                        <a:latin typeface="+mn-lt"/>
                        <a:ea typeface="Calibri" panose="020F0502020204030204" pitchFamily="34" charset="0"/>
                        <a:cs typeface="Calibri" panose="020F0502020204030204" pitchFamily="34" charset="0"/>
                      </a:endParaRPr>
                    </a:p>
                  </a:txBody>
                  <a:tcPr marL="0" marR="0" marT="0" marB="0" anchor="ctr">
                    <a:lnT w="12700" cmpd="sng">
                      <a:noFill/>
                    </a:lnT>
                    <a:lnB w="12700" cap="flat" cmpd="sng" algn="ctr">
                      <a:solidFill>
                        <a:srgbClr val="0067B4"/>
                      </a:solidFill>
                      <a:prstDash val="solid"/>
                      <a:round/>
                      <a:headEnd type="none" w="med" len="med"/>
                      <a:tailEnd type="none" w="med" len="med"/>
                    </a:lnB>
                    <a:noFill/>
                  </a:tcPr>
                </a:tc>
                <a:tc>
                  <a:txBody>
                    <a:bodyPr/>
                    <a:lstStyle/>
                    <a:p>
                      <a:pPr marL="0" marR="0" algn="l">
                        <a:lnSpc>
                          <a:spcPct val="100000"/>
                        </a:lnSpc>
                        <a:spcBef>
                          <a:spcPts val="0"/>
                        </a:spcBef>
                        <a:spcAft>
                          <a:spcPts val="0"/>
                        </a:spcAft>
                      </a:pPr>
                      <a:r>
                        <a:rPr lang="en-US" sz="1200" b="1" kern="0" dirty="0">
                          <a:solidFill>
                            <a:srgbClr val="000000"/>
                          </a:solidFill>
                          <a:effectLst/>
                          <a:latin typeface="+mn-lt"/>
                        </a:rPr>
                        <a:t>Station Name</a:t>
                      </a:r>
                      <a:endParaRPr lang="en-US" sz="1200" kern="100" dirty="0">
                        <a:effectLst/>
                        <a:latin typeface="+mn-lt"/>
                        <a:ea typeface="Calibri" panose="020F0502020204030204" pitchFamily="34" charset="0"/>
                        <a:cs typeface="Calibri" panose="020F0502020204030204" pitchFamily="34" charset="0"/>
                      </a:endParaRPr>
                    </a:p>
                  </a:txBody>
                  <a:tcPr marL="0" marR="0" marT="0" marB="0" anchor="ctr">
                    <a:lnT w="12700" cmpd="sng">
                      <a:noFill/>
                    </a:lnT>
                    <a:lnB w="12700" cap="flat" cmpd="sng" algn="ctr">
                      <a:solidFill>
                        <a:srgbClr val="0067B4"/>
                      </a:solidFill>
                      <a:prstDash val="solid"/>
                      <a:round/>
                      <a:headEnd type="none" w="med" len="med"/>
                      <a:tailEnd type="none" w="med" len="med"/>
                    </a:lnB>
                    <a:noFill/>
                  </a:tcPr>
                </a:tc>
                <a:tc>
                  <a:txBody>
                    <a:bodyPr/>
                    <a:lstStyle/>
                    <a:p>
                      <a:pPr marL="0" marR="0" algn="ctr">
                        <a:lnSpc>
                          <a:spcPct val="100000"/>
                        </a:lnSpc>
                        <a:spcBef>
                          <a:spcPts val="0"/>
                        </a:spcBef>
                        <a:spcAft>
                          <a:spcPts val="0"/>
                        </a:spcAft>
                      </a:pPr>
                      <a:r>
                        <a:rPr lang="en-US" sz="1200" b="1" kern="0" dirty="0">
                          <a:solidFill>
                            <a:srgbClr val="000000"/>
                          </a:solidFill>
                          <a:effectLst/>
                          <a:latin typeface="+mn-lt"/>
                        </a:rPr>
                        <a:t>Record Length</a:t>
                      </a:r>
                      <a:r>
                        <a:rPr lang="en-US" sz="1200" b="0" kern="100" dirty="0">
                          <a:solidFill>
                            <a:schemeClr val="tx1"/>
                          </a:solidFill>
                          <a:effectLst/>
                          <a:latin typeface="+mn-lt"/>
                        </a:rPr>
                        <a:t> </a:t>
                      </a:r>
                      <a:r>
                        <a:rPr lang="en-US" sz="1200" b="1" kern="0" dirty="0">
                          <a:solidFill>
                            <a:srgbClr val="000000"/>
                          </a:solidFill>
                          <a:effectLst/>
                          <a:latin typeface="+mn-lt"/>
                        </a:rPr>
                        <a:t>[days]</a:t>
                      </a:r>
                      <a:endParaRPr lang="en-US" sz="1200" kern="100" dirty="0">
                        <a:effectLst/>
                        <a:latin typeface="+mn-lt"/>
                        <a:ea typeface="Calibri" panose="020F0502020204030204" pitchFamily="34" charset="0"/>
                        <a:cs typeface="Calibri" panose="020F0502020204030204" pitchFamily="34" charset="0"/>
                      </a:endParaRPr>
                    </a:p>
                  </a:txBody>
                  <a:tcPr marL="0" marR="0" marT="0" marB="0" anchor="ctr">
                    <a:lnT w="12700" cmpd="sng">
                      <a:noFill/>
                    </a:lnT>
                    <a:lnB w="12700" cap="flat" cmpd="sng" algn="ctr">
                      <a:solidFill>
                        <a:srgbClr val="0067B4"/>
                      </a:solidFill>
                      <a:prstDash val="solid"/>
                      <a:round/>
                      <a:headEnd type="none" w="med" len="med"/>
                      <a:tailEnd type="none" w="med" len="med"/>
                    </a:lnB>
                    <a:noFill/>
                  </a:tcPr>
                </a:tc>
                <a:tc>
                  <a:txBody>
                    <a:bodyPr/>
                    <a:lstStyle/>
                    <a:p>
                      <a:pPr marL="0" marR="0" algn="ctr">
                        <a:lnSpc>
                          <a:spcPct val="100000"/>
                        </a:lnSpc>
                        <a:spcBef>
                          <a:spcPts val="0"/>
                        </a:spcBef>
                        <a:spcAft>
                          <a:spcPts val="0"/>
                        </a:spcAft>
                      </a:pPr>
                      <a:r>
                        <a:rPr lang="en-US" sz="1200" b="1" kern="0" dirty="0">
                          <a:solidFill>
                            <a:srgbClr val="000000"/>
                          </a:solidFill>
                          <a:effectLst/>
                          <a:latin typeface="+mn-lt"/>
                        </a:rPr>
                        <a:t>MAE </a:t>
                      </a:r>
                      <a:endParaRPr lang="en-US" sz="1200" kern="100" dirty="0">
                        <a:effectLst/>
                        <a:latin typeface="+mn-lt"/>
                      </a:endParaRPr>
                    </a:p>
                    <a:p>
                      <a:pPr marL="0" marR="0" algn="ctr">
                        <a:lnSpc>
                          <a:spcPct val="100000"/>
                        </a:lnSpc>
                        <a:spcBef>
                          <a:spcPts val="0"/>
                        </a:spcBef>
                        <a:spcAft>
                          <a:spcPts val="0"/>
                        </a:spcAft>
                      </a:pPr>
                      <a:r>
                        <a:rPr lang="en-US" sz="1200" b="1" kern="0" dirty="0">
                          <a:solidFill>
                            <a:srgbClr val="000000"/>
                          </a:solidFill>
                          <a:effectLst/>
                          <a:latin typeface="+mn-lt"/>
                        </a:rPr>
                        <a:t>[cm]</a:t>
                      </a:r>
                      <a:endParaRPr lang="en-US" sz="1200" kern="100" dirty="0">
                        <a:effectLst/>
                        <a:latin typeface="+mn-lt"/>
                        <a:ea typeface="Calibri" panose="020F0502020204030204" pitchFamily="34" charset="0"/>
                        <a:cs typeface="Calibri" panose="020F0502020204030204" pitchFamily="34" charset="0"/>
                      </a:endParaRPr>
                    </a:p>
                  </a:txBody>
                  <a:tcPr marL="0" marR="0" marT="0" marB="0" anchor="ctr">
                    <a:lnT w="12700" cap="flat" cmpd="sng" algn="ctr">
                      <a:solidFill>
                        <a:srgbClr val="0067B4"/>
                      </a:solidFill>
                      <a:prstDash val="solid"/>
                      <a:round/>
                      <a:headEnd type="none" w="med" len="med"/>
                      <a:tailEnd type="none" w="med" len="med"/>
                    </a:lnT>
                    <a:lnB w="12700" cap="flat" cmpd="sng" algn="ctr">
                      <a:solidFill>
                        <a:srgbClr val="0067B4"/>
                      </a:solidFill>
                      <a:prstDash val="solid"/>
                      <a:round/>
                      <a:headEnd type="none" w="med" len="med"/>
                      <a:tailEnd type="none" w="med" len="med"/>
                    </a:lnB>
                    <a:noFill/>
                  </a:tcPr>
                </a:tc>
                <a:tc>
                  <a:txBody>
                    <a:bodyPr/>
                    <a:lstStyle/>
                    <a:p>
                      <a:pPr marL="0" marR="0" algn="ctr">
                        <a:lnSpc>
                          <a:spcPct val="100000"/>
                        </a:lnSpc>
                        <a:spcBef>
                          <a:spcPts val="0"/>
                        </a:spcBef>
                        <a:spcAft>
                          <a:spcPts val="0"/>
                        </a:spcAft>
                      </a:pPr>
                      <a:r>
                        <a:rPr lang="en-US" sz="1200" b="1" kern="0" dirty="0">
                          <a:solidFill>
                            <a:srgbClr val="000000"/>
                          </a:solidFill>
                          <a:effectLst/>
                          <a:latin typeface="+mn-lt"/>
                        </a:rPr>
                        <a:t>RMSE</a:t>
                      </a:r>
                      <a:endParaRPr lang="en-US" sz="1200" kern="100" dirty="0">
                        <a:effectLst/>
                        <a:latin typeface="+mn-lt"/>
                      </a:endParaRPr>
                    </a:p>
                    <a:p>
                      <a:pPr marL="0" marR="0" algn="ctr">
                        <a:lnSpc>
                          <a:spcPct val="100000"/>
                        </a:lnSpc>
                        <a:spcBef>
                          <a:spcPts val="0"/>
                        </a:spcBef>
                        <a:spcAft>
                          <a:spcPts val="0"/>
                        </a:spcAft>
                      </a:pPr>
                      <a:r>
                        <a:rPr lang="en-US" sz="1200" b="1" kern="0" dirty="0">
                          <a:solidFill>
                            <a:srgbClr val="000000"/>
                          </a:solidFill>
                          <a:effectLst/>
                          <a:latin typeface="+mn-lt"/>
                        </a:rPr>
                        <a:t>[cm]</a:t>
                      </a:r>
                      <a:endParaRPr lang="en-US" sz="1200" kern="100" dirty="0">
                        <a:effectLst/>
                        <a:latin typeface="+mn-lt"/>
                        <a:ea typeface="Calibri" panose="020F0502020204030204" pitchFamily="34" charset="0"/>
                        <a:cs typeface="Calibri" panose="020F0502020204030204" pitchFamily="34" charset="0"/>
                      </a:endParaRPr>
                    </a:p>
                  </a:txBody>
                  <a:tcPr marL="0" marR="0" marT="0" marB="0" anchor="ctr">
                    <a:lnT w="12700" cap="flat" cmpd="sng" algn="ctr">
                      <a:solidFill>
                        <a:srgbClr val="0067B4"/>
                      </a:solidFill>
                      <a:prstDash val="solid"/>
                      <a:round/>
                      <a:headEnd type="none" w="med" len="med"/>
                      <a:tailEnd type="none" w="med" len="med"/>
                    </a:lnT>
                    <a:lnB w="12700" cap="flat" cmpd="sng" algn="ctr">
                      <a:solidFill>
                        <a:srgbClr val="0067B4"/>
                      </a:solidFill>
                      <a:prstDash val="solid"/>
                      <a:round/>
                      <a:headEnd type="none" w="med" len="med"/>
                      <a:tailEnd type="none" w="med" len="med"/>
                    </a:lnB>
                    <a:noFill/>
                  </a:tcPr>
                </a:tc>
                <a:tc>
                  <a:txBody>
                    <a:bodyPr/>
                    <a:lstStyle/>
                    <a:p>
                      <a:pPr marL="0" marR="0" algn="ctr">
                        <a:lnSpc>
                          <a:spcPct val="100000"/>
                        </a:lnSpc>
                        <a:spcBef>
                          <a:spcPts val="0"/>
                        </a:spcBef>
                        <a:spcAft>
                          <a:spcPts val="0"/>
                        </a:spcAft>
                      </a:pPr>
                      <a:r>
                        <a:rPr lang="en-US" sz="1200" b="1" kern="0" dirty="0">
                          <a:solidFill>
                            <a:srgbClr val="000000"/>
                          </a:solidFill>
                          <a:effectLst/>
                          <a:latin typeface="+mn-lt"/>
                        </a:rPr>
                        <a:t>R</a:t>
                      </a:r>
                      <a:r>
                        <a:rPr lang="en-US" sz="1200" b="1" kern="0" baseline="30000" dirty="0">
                          <a:solidFill>
                            <a:srgbClr val="000000"/>
                          </a:solidFill>
                          <a:effectLst/>
                          <a:latin typeface="+mn-lt"/>
                        </a:rPr>
                        <a:t>2</a:t>
                      </a:r>
                      <a:endParaRPr lang="en-US" sz="1200" kern="100" dirty="0">
                        <a:effectLst/>
                        <a:latin typeface="+mn-lt"/>
                        <a:ea typeface="Calibri" panose="020F0502020204030204" pitchFamily="34" charset="0"/>
                        <a:cs typeface="Calibri" panose="020F0502020204030204" pitchFamily="34" charset="0"/>
                      </a:endParaRPr>
                    </a:p>
                  </a:txBody>
                  <a:tcPr marL="0" marR="0" marT="0" marB="0" anchor="ctr">
                    <a:lnT w="12700" cap="flat" cmpd="sng" algn="ctr">
                      <a:solidFill>
                        <a:srgbClr val="0067B4"/>
                      </a:solidFill>
                      <a:prstDash val="solid"/>
                      <a:round/>
                      <a:headEnd type="none" w="med" len="med"/>
                      <a:tailEnd type="none" w="med" len="med"/>
                    </a:lnT>
                    <a:lnB w="12700" cap="flat" cmpd="sng" algn="ctr">
                      <a:solidFill>
                        <a:srgbClr val="0067B4"/>
                      </a:solidFill>
                      <a:prstDash val="solid"/>
                      <a:round/>
                      <a:headEnd type="none" w="med" len="med"/>
                      <a:tailEnd type="none" w="med" len="med"/>
                    </a:lnB>
                    <a:noFill/>
                  </a:tcPr>
                </a:tc>
                <a:tc>
                  <a:txBody>
                    <a:bodyPr/>
                    <a:lstStyle/>
                    <a:p>
                      <a:pPr marL="0" marR="0" algn="ctr">
                        <a:lnSpc>
                          <a:spcPct val="100000"/>
                        </a:lnSpc>
                        <a:spcBef>
                          <a:spcPts val="0"/>
                        </a:spcBef>
                        <a:spcAft>
                          <a:spcPts val="0"/>
                        </a:spcAft>
                      </a:pPr>
                      <a:r>
                        <a:rPr lang="en-US" sz="1200" b="1" kern="0" dirty="0">
                          <a:solidFill>
                            <a:srgbClr val="000000"/>
                          </a:solidFill>
                          <a:effectLst/>
                          <a:latin typeface="+mn-lt"/>
                        </a:rPr>
                        <a:t> </a:t>
                      </a:r>
                      <a:endParaRPr lang="en-US" sz="1200" kern="100" dirty="0">
                        <a:effectLst/>
                        <a:latin typeface="+mn-lt"/>
                        <a:ea typeface="Calibri" panose="020F0502020204030204" pitchFamily="34" charset="0"/>
                        <a:cs typeface="Calibri" panose="020F0502020204030204" pitchFamily="34" charset="0"/>
                      </a:endParaRPr>
                    </a:p>
                  </a:txBody>
                  <a:tcPr marL="0" marR="0" marT="0" marB="0" anchor="ctr">
                    <a:lnT w="12700" cmpd="sng">
                      <a:noFill/>
                    </a:lnT>
                    <a:lnB w="12700" cap="flat" cmpd="sng" algn="ctr">
                      <a:solidFill>
                        <a:srgbClr val="0067B4"/>
                      </a:solidFill>
                      <a:prstDash val="solid"/>
                      <a:round/>
                      <a:headEnd type="none" w="med" len="med"/>
                      <a:tailEnd type="none" w="med" len="med"/>
                    </a:lnB>
                    <a:noFill/>
                  </a:tcPr>
                </a:tc>
                <a:tc gridSpan="2">
                  <a:txBody>
                    <a:bodyPr/>
                    <a:lstStyle/>
                    <a:p>
                      <a:pPr marL="0" marR="0" algn="ctr">
                        <a:lnSpc>
                          <a:spcPct val="100000"/>
                        </a:lnSpc>
                        <a:spcBef>
                          <a:spcPts val="0"/>
                        </a:spcBef>
                        <a:spcAft>
                          <a:spcPts val="0"/>
                        </a:spcAft>
                      </a:pPr>
                      <a:r>
                        <a:rPr lang="en-US" sz="1200" b="1" kern="0" dirty="0">
                          <a:solidFill>
                            <a:srgbClr val="000000"/>
                          </a:solidFill>
                          <a:effectLst/>
                          <a:latin typeface="+mn-lt"/>
                        </a:rPr>
                        <a:t>MAE</a:t>
                      </a:r>
                      <a:endParaRPr lang="en-US" sz="1200" kern="100" dirty="0">
                        <a:effectLst/>
                        <a:latin typeface="+mn-lt"/>
                      </a:endParaRPr>
                    </a:p>
                    <a:p>
                      <a:pPr marL="0" marR="0" algn="ctr">
                        <a:lnSpc>
                          <a:spcPct val="100000"/>
                        </a:lnSpc>
                        <a:spcBef>
                          <a:spcPts val="0"/>
                        </a:spcBef>
                        <a:spcAft>
                          <a:spcPts val="0"/>
                        </a:spcAft>
                      </a:pPr>
                      <a:r>
                        <a:rPr lang="en-US" sz="1200" b="1" kern="0" dirty="0">
                          <a:solidFill>
                            <a:srgbClr val="000000"/>
                          </a:solidFill>
                          <a:effectLst/>
                          <a:latin typeface="+mn-lt"/>
                        </a:rPr>
                        <a:t>[cm]</a:t>
                      </a:r>
                      <a:endParaRPr lang="en-US" sz="1200" kern="100" dirty="0">
                        <a:effectLst/>
                        <a:latin typeface="+mn-lt"/>
                        <a:ea typeface="Calibri" panose="020F0502020204030204" pitchFamily="34" charset="0"/>
                        <a:cs typeface="Calibri" panose="020F0502020204030204" pitchFamily="34" charset="0"/>
                      </a:endParaRPr>
                    </a:p>
                  </a:txBody>
                  <a:tcPr marL="0" marR="0" marT="0" marB="0" anchor="ctr">
                    <a:lnT w="12700" cmpd="sng">
                      <a:noFill/>
                    </a:lnT>
                    <a:lnB w="12700" cap="flat" cmpd="sng" algn="ctr">
                      <a:solidFill>
                        <a:srgbClr val="0067B4"/>
                      </a:solidFill>
                      <a:prstDash val="solid"/>
                      <a:round/>
                      <a:headEnd type="none" w="med" len="med"/>
                      <a:tailEnd type="none" w="med" len="med"/>
                    </a:lnB>
                    <a:noFill/>
                  </a:tcPr>
                </a:tc>
                <a:tc hMerge="1">
                  <a:txBody>
                    <a:bodyPr/>
                    <a:lstStyle/>
                    <a:p>
                      <a:endParaRPr lang="en-US"/>
                    </a:p>
                  </a:txBody>
                  <a:tcPr/>
                </a:tc>
                <a:tc>
                  <a:txBody>
                    <a:bodyPr/>
                    <a:lstStyle/>
                    <a:p>
                      <a:pPr marL="0" marR="0" algn="ctr">
                        <a:lnSpc>
                          <a:spcPct val="100000"/>
                        </a:lnSpc>
                        <a:spcBef>
                          <a:spcPts val="0"/>
                        </a:spcBef>
                        <a:spcAft>
                          <a:spcPts val="0"/>
                        </a:spcAft>
                      </a:pPr>
                      <a:r>
                        <a:rPr lang="en-US" sz="1200" b="1" kern="0" dirty="0">
                          <a:solidFill>
                            <a:srgbClr val="000000"/>
                          </a:solidFill>
                          <a:effectLst/>
                          <a:latin typeface="+mn-lt"/>
                        </a:rPr>
                        <a:t>RMSE</a:t>
                      </a:r>
                      <a:endParaRPr lang="en-US" sz="1200" kern="100" dirty="0">
                        <a:effectLst/>
                        <a:latin typeface="+mn-lt"/>
                      </a:endParaRPr>
                    </a:p>
                    <a:p>
                      <a:pPr marL="0" marR="0" algn="ctr">
                        <a:lnSpc>
                          <a:spcPct val="100000"/>
                        </a:lnSpc>
                        <a:spcBef>
                          <a:spcPts val="0"/>
                        </a:spcBef>
                        <a:spcAft>
                          <a:spcPts val="0"/>
                        </a:spcAft>
                      </a:pPr>
                      <a:r>
                        <a:rPr lang="en-US" sz="1200" b="1" kern="0" dirty="0">
                          <a:solidFill>
                            <a:srgbClr val="000000"/>
                          </a:solidFill>
                          <a:effectLst/>
                          <a:latin typeface="+mn-lt"/>
                        </a:rPr>
                        <a:t>[cm]</a:t>
                      </a:r>
                      <a:endParaRPr lang="en-US" sz="1200" kern="100" dirty="0">
                        <a:effectLst/>
                        <a:latin typeface="+mn-lt"/>
                        <a:ea typeface="Calibri" panose="020F0502020204030204" pitchFamily="34" charset="0"/>
                        <a:cs typeface="Calibri" panose="020F0502020204030204" pitchFamily="34" charset="0"/>
                      </a:endParaRPr>
                    </a:p>
                  </a:txBody>
                  <a:tcPr marL="0" marR="0" marT="0" marB="0" anchor="ctr">
                    <a:lnT w="12700" cap="flat" cmpd="sng" algn="ctr">
                      <a:solidFill>
                        <a:srgbClr val="0067B4"/>
                      </a:solidFill>
                      <a:prstDash val="solid"/>
                      <a:round/>
                      <a:headEnd type="none" w="med" len="med"/>
                      <a:tailEnd type="none" w="med" len="med"/>
                    </a:lnT>
                    <a:lnB w="12700" cap="flat" cmpd="sng" algn="ctr">
                      <a:solidFill>
                        <a:srgbClr val="0067B4"/>
                      </a:solidFill>
                      <a:prstDash val="solid"/>
                      <a:round/>
                      <a:headEnd type="none" w="med" len="med"/>
                      <a:tailEnd type="none" w="med" len="med"/>
                    </a:lnB>
                    <a:noFill/>
                  </a:tcPr>
                </a:tc>
                <a:tc>
                  <a:txBody>
                    <a:bodyPr/>
                    <a:lstStyle/>
                    <a:p>
                      <a:pPr marL="0" marR="0" algn="ctr">
                        <a:lnSpc>
                          <a:spcPct val="100000"/>
                        </a:lnSpc>
                        <a:spcBef>
                          <a:spcPts val="0"/>
                        </a:spcBef>
                        <a:spcAft>
                          <a:spcPts val="0"/>
                        </a:spcAft>
                      </a:pPr>
                      <a:r>
                        <a:rPr lang="en-US" sz="1200" b="1" kern="0" dirty="0">
                          <a:solidFill>
                            <a:srgbClr val="000000"/>
                          </a:solidFill>
                          <a:effectLst/>
                          <a:latin typeface="+mn-lt"/>
                        </a:rPr>
                        <a:t>R</a:t>
                      </a:r>
                      <a:r>
                        <a:rPr lang="en-US" sz="1200" b="1" kern="0" baseline="30000" dirty="0">
                          <a:solidFill>
                            <a:srgbClr val="000000"/>
                          </a:solidFill>
                          <a:effectLst/>
                          <a:latin typeface="+mn-lt"/>
                        </a:rPr>
                        <a:t>2</a:t>
                      </a:r>
                      <a:endParaRPr lang="en-US" sz="1200" kern="100" dirty="0">
                        <a:effectLst/>
                        <a:latin typeface="+mn-lt"/>
                        <a:ea typeface="Calibri" panose="020F0502020204030204" pitchFamily="34" charset="0"/>
                        <a:cs typeface="Calibri" panose="020F0502020204030204" pitchFamily="34" charset="0"/>
                      </a:endParaRPr>
                    </a:p>
                  </a:txBody>
                  <a:tcPr marL="0" marR="0" marT="0" marB="0" anchor="ctr">
                    <a:lnT w="12700" cap="flat" cmpd="sng" algn="ctr">
                      <a:solidFill>
                        <a:srgbClr val="0067B4"/>
                      </a:solidFill>
                      <a:prstDash val="solid"/>
                      <a:round/>
                      <a:headEnd type="none" w="med" len="med"/>
                      <a:tailEnd type="none" w="med" len="med"/>
                    </a:lnT>
                    <a:lnB w="12700" cap="flat" cmpd="sng" algn="ctr">
                      <a:solidFill>
                        <a:srgbClr val="0067B4"/>
                      </a:solidFill>
                      <a:prstDash val="solid"/>
                      <a:round/>
                      <a:headEnd type="none" w="med" len="med"/>
                      <a:tailEnd type="none" w="med" len="med"/>
                    </a:lnB>
                    <a:noFill/>
                  </a:tcPr>
                </a:tc>
                <a:tc>
                  <a:txBody>
                    <a:bodyPr/>
                    <a:lstStyle/>
                    <a:p>
                      <a:pPr marL="0" marR="0" algn="ctr">
                        <a:lnSpc>
                          <a:spcPct val="100000"/>
                        </a:lnSpc>
                        <a:spcBef>
                          <a:spcPts val="0"/>
                        </a:spcBef>
                        <a:spcAft>
                          <a:spcPts val="0"/>
                        </a:spcAft>
                      </a:pPr>
                      <a:r>
                        <a:rPr lang="en-US" sz="1200" b="1" kern="0" dirty="0">
                          <a:solidFill>
                            <a:srgbClr val="000000"/>
                          </a:solidFill>
                          <a:effectLst/>
                          <a:latin typeface="+mn-lt"/>
                        </a:rPr>
                        <a:t> </a:t>
                      </a:r>
                      <a:endParaRPr lang="en-US" sz="1200" kern="100" dirty="0">
                        <a:effectLst/>
                        <a:latin typeface="+mn-lt"/>
                        <a:ea typeface="Calibri" panose="020F0502020204030204" pitchFamily="34" charset="0"/>
                        <a:cs typeface="Calibri" panose="020F0502020204030204" pitchFamily="34" charset="0"/>
                      </a:endParaRPr>
                    </a:p>
                  </a:txBody>
                  <a:tcPr marL="0" marR="0" marT="0" marB="0" anchor="ctr">
                    <a:lnT w="12700" cmpd="sng">
                      <a:noFill/>
                    </a:lnT>
                    <a:lnB w="12700" cap="flat" cmpd="sng" algn="ctr">
                      <a:solidFill>
                        <a:srgbClr val="0067B4"/>
                      </a:solidFill>
                      <a:prstDash val="solid"/>
                      <a:round/>
                      <a:headEnd type="none" w="med" len="med"/>
                      <a:tailEnd type="none" w="med" len="med"/>
                    </a:lnB>
                    <a:noFill/>
                  </a:tcPr>
                </a:tc>
                <a:extLst>
                  <a:ext uri="{0D108BD9-81ED-4DB2-BD59-A6C34878D82A}">
                    <a16:rowId xmlns:a16="http://schemas.microsoft.com/office/drawing/2014/main" val="473374010"/>
                  </a:ext>
                </a:extLst>
              </a:tr>
              <a:tr h="255866">
                <a:tc>
                  <a:txBody>
                    <a:bodyPr/>
                    <a:lstStyle/>
                    <a:p>
                      <a:pPr marL="0" marR="0" algn="ctr">
                        <a:lnSpc>
                          <a:spcPct val="100000"/>
                        </a:lnSpc>
                        <a:spcBef>
                          <a:spcPts val="0"/>
                        </a:spcBef>
                        <a:spcAft>
                          <a:spcPts val="0"/>
                        </a:spcAft>
                      </a:pPr>
                      <a:r>
                        <a:rPr lang="en-US" sz="1200" b="0" kern="0" dirty="0">
                          <a:solidFill>
                            <a:srgbClr val="000000"/>
                          </a:solidFill>
                          <a:effectLst/>
                          <a:latin typeface="+mn-lt"/>
                        </a:rPr>
                        <a:t>8652587</a:t>
                      </a:r>
                      <a:endParaRPr lang="en-US" sz="1200" b="0" kern="100" dirty="0">
                        <a:effectLst/>
                        <a:latin typeface="+mn-lt"/>
                        <a:ea typeface="Calibri" panose="020F0502020204030204" pitchFamily="34" charset="0"/>
                        <a:cs typeface="Calibri" panose="020F0502020204030204" pitchFamily="34" charset="0"/>
                      </a:endParaRPr>
                    </a:p>
                  </a:txBody>
                  <a:tcPr marL="0" marR="0" marT="0" marB="0" anchor="ctr">
                    <a:lnT w="12700" cap="flat" cmpd="sng" algn="ctr">
                      <a:solidFill>
                        <a:srgbClr val="0067B4"/>
                      </a:solidFill>
                      <a:prstDash val="solid"/>
                      <a:round/>
                      <a:headEnd type="none" w="med" len="med"/>
                      <a:tailEnd type="none" w="med" len="med"/>
                    </a:lnT>
                  </a:tcPr>
                </a:tc>
                <a:tc>
                  <a:txBody>
                    <a:bodyPr/>
                    <a:lstStyle/>
                    <a:p>
                      <a:pPr marL="0" marR="0" algn="l">
                        <a:lnSpc>
                          <a:spcPct val="100000"/>
                        </a:lnSpc>
                        <a:spcBef>
                          <a:spcPts val="0"/>
                        </a:spcBef>
                        <a:spcAft>
                          <a:spcPts val="0"/>
                        </a:spcAft>
                      </a:pPr>
                      <a:r>
                        <a:rPr lang="en-US" sz="1200" kern="0" dirty="0">
                          <a:solidFill>
                            <a:srgbClr val="000000"/>
                          </a:solidFill>
                          <a:effectLst/>
                          <a:latin typeface="+mn-lt"/>
                        </a:rPr>
                        <a:t>Oregon Inlet Marina</a:t>
                      </a:r>
                      <a:endParaRPr lang="en-US" sz="1200" kern="100" dirty="0">
                        <a:effectLst/>
                        <a:latin typeface="+mn-lt"/>
                        <a:ea typeface="Calibri" panose="020F0502020204030204" pitchFamily="34" charset="0"/>
                        <a:cs typeface="Calibri" panose="020F0502020204030204" pitchFamily="34" charset="0"/>
                      </a:endParaRPr>
                    </a:p>
                  </a:txBody>
                  <a:tcPr marL="0" marR="0" marT="0" marB="0" anchor="ctr">
                    <a:lnT w="12700" cap="flat" cmpd="sng" algn="ctr">
                      <a:solidFill>
                        <a:srgbClr val="0067B4"/>
                      </a:solidFill>
                      <a:prstDash val="solid"/>
                      <a:round/>
                      <a:headEnd type="none" w="med" len="med"/>
                      <a:tailEnd type="none" w="med" len="med"/>
                    </a:lnT>
                  </a:tcPr>
                </a:tc>
                <a:tc>
                  <a:txBody>
                    <a:bodyPr/>
                    <a:lstStyle/>
                    <a:p>
                      <a:pPr marL="0" marR="0" algn="ctr">
                        <a:lnSpc>
                          <a:spcPct val="100000"/>
                        </a:lnSpc>
                        <a:spcBef>
                          <a:spcPts val="0"/>
                        </a:spcBef>
                        <a:spcAft>
                          <a:spcPts val="0"/>
                        </a:spcAft>
                      </a:pPr>
                      <a:r>
                        <a:rPr lang="en-US" sz="1200" kern="0">
                          <a:solidFill>
                            <a:srgbClr val="000000"/>
                          </a:solidFill>
                          <a:effectLst/>
                          <a:latin typeface="+mn-lt"/>
                        </a:rPr>
                        <a:t>7547</a:t>
                      </a:r>
                      <a:endParaRPr lang="en-US" sz="1200" kern="100">
                        <a:effectLst/>
                        <a:latin typeface="+mn-lt"/>
                        <a:ea typeface="Calibri" panose="020F0502020204030204" pitchFamily="34" charset="0"/>
                        <a:cs typeface="Calibri" panose="020F0502020204030204" pitchFamily="34" charset="0"/>
                      </a:endParaRPr>
                    </a:p>
                  </a:txBody>
                  <a:tcPr marL="0" marR="0" marT="0" marB="0" anchor="ctr">
                    <a:lnT w="12700" cap="flat" cmpd="sng" algn="ctr">
                      <a:solidFill>
                        <a:srgbClr val="0067B4"/>
                      </a:solidFill>
                      <a:prstDash val="solid"/>
                      <a:round/>
                      <a:headEnd type="none" w="med" len="med"/>
                      <a:tailEnd type="none" w="med" len="med"/>
                    </a:lnT>
                  </a:tcPr>
                </a:tc>
                <a:tc>
                  <a:txBody>
                    <a:bodyPr/>
                    <a:lstStyle/>
                    <a:p>
                      <a:pPr algn="ctr" fontAlgn="b">
                        <a:lnSpc>
                          <a:spcPct val="100000"/>
                        </a:lnSpc>
                      </a:pPr>
                      <a:r>
                        <a:rPr lang="en-US" sz="1200" b="0" u="none" strike="noStrike" dirty="0">
                          <a:solidFill>
                            <a:srgbClr val="000000"/>
                          </a:solidFill>
                          <a:effectLst/>
                          <a:latin typeface="+mn-lt"/>
                        </a:rPr>
                        <a:t>7.26</a:t>
                      </a:r>
                      <a:endParaRPr lang="en-US" sz="1200" b="0" i="0" u="none" strike="noStrike" dirty="0">
                        <a:solidFill>
                          <a:srgbClr val="000000"/>
                        </a:solidFill>
                        <a:effectLst/>
                        <a:latin typeface="+mn-lt"/>
                        <a:cs typeface="Calibri" panose="020F0502020204030204" pitchFamily="34" charset="0"/>
                      </a:endParaRPr>
                    </a:p>
                  </a:txBody>
                  <a:tcPr marL="0" marR="0" marT="0" marB="0" anchor="ctr">
                    <a:lnT w="12700" cap="flat" cmpd="sng" algn="ctr">
                      <a:solidFill>
                        <a:srgbClr val="0067B4"/>
                      </a:solidFill>
                      <a:prstDash val="solid"/>
                      <a:round/>
                      <a:headEnd type="none" w="med" len="med"/>
                      <a:tailEnd type="none" w="med" len="med"/>
                    </a:lnT>
                  </a:tcPr>
                </a:tc>
                <a:tc>
                  <a:txBody>
                    <a:bodyPr/>
                    <a:lstStyle/>
                    <a:p>
                      <a:pPr algn="ctr" fontAlgn="b">
                        <a:lnSpc>
                          <a:spcPct val="100000"/>
                        </a:lnSpc>
                      </a:pPr>
                      <a:r>
                        <a:rPr lang="en-US" sz="1200" b="0" u="none" strike="noStrike">
                          <a:solidFill>
                            <a:srgbClr val="000000"/>
                          </a:solidFill>
                          <a:effectLst/>
                          <a:latin typeface="+mn-lt"/>
                        </a:rPr>
                        <a:t>9.44</a:t>
                      </a:r>
                      <a:endParaRPr lang="en-US" sz="1200" b="0" i="0" u="none" strike="noStrike">
                        <a:solidFill>
                          <a:srgbClr val="000000"/>
                        </a:solidFill>
                        <a:effectLst/>
                        <a:latin typeface="+mn-lt"/>
                        <a:cs typeface="Calibri" panose="020F0502020204030204" pitchFamily="34" charset="0"/>
                      </a:endParaRPr>
                    </a:p>
                  </a:txBody>
                  <a:tcPr marL="0" marR="0" marT="0" marB="0" anchor="ctr">
                    <a:lnT w="12700" cap="flat" cmpd="sng" algn="ctr">
                      <a:solidFill>
                        <a:srgbClr val="0067B4"/>
                      </a:solidFill>
                      <a:prstDash val="solid"/>
                      <a:round/>
                      <a:headEnd type="none" w="med" len="med"/>
                      <a:tailEnd type="none" w="med" len="med"/>
                    </a:lnT>
                  </a:tcPr>
                </a:tc>
                <a:tc>
                  <a:txBody>
                    <a:bodyPr/>
                    <a:lstStyle/>
                    <a:p>
                      <a:pPr algn="ctr" fontAlgn="b">
                        <a:lnSpc>
                          <a:spcPct val="100000"/>
                        </a:lnSpc>
                      </a:pPr>
                      <a:r>
                        <a:rPr lang="en-US" sz="1200" b="0" u="none" strike="noStrike" dirty="0">
                          <a:solidFill>
                            <a:srgbClr val="000000"/>
                          </a:solidFill>
                          <a:effectLst/>
                          <a:latin typeface="+mn-lt"/>
                        </a:rPr>
                        <a:t>0.56</a:t>
                      </a:r>
                      <a:endParaRPr lang="en-US" sz="1200" b="0" i="0" u="none" strike="noStrike" dirty="0">
                        <a:solidFill>
                          <a:srgbClr val="000000"/>
                        </a:solidFill>
                        <a:effectLst/>
                        <a:latin typeface="+mn-lt"/>
                        <a:cs typeface="Calibri" panose="020F0502020204030204" pitchFamily="34" charset="0"/>
                      </a:endParaRPr>
                    </a:p>
                  </a:txBody>
                  <a:tcPr marL="0" marR="0" marT="0" marB="0" anchor="ctr">
                    <a:lnT w="12700" cap="flat" cmpd="sng" algn="ctr">
                      <a:solidFill>
                        <a:srgbClr val="0067B4"/>
                      </a:solidFill>
                      <a:prstDash val="solid"/>
                      <a:round/>
                      <a:headEnd type="none" w="med" len="med"/>
                      <a:tailEnd type="none" w="med" len="med"/>
                    </a:lnT>
                  </a:tcPr>
                </a:tc>
                <a:tc>
                  <a:txBody>
                    <a:bodyPr/>
                    <a:lstStyle/>
                    <a:p>
                      <a:pPr marL="0" marR="0" algn="ctr">
                        <a:lnSpc>
                          <a:spcPct val="100000"/>
                        </a:lnSpc>
                        <a:spcBef>
                          <a:spcPts val="0"/>
                        </a:spcBef>
                        <a:spcAft>
                          <a:spcPts val="0"/>
                        </a:spcAft>
                      </a:pPr>
                      <a:r>
                        <a:rPr lang="en-US" sz="1200" kern="0">
                          <a:solidFill>
                            <a:srgbClr val="000000"/>
                          </a:solidFill>
                          <a:effectLst/>
                          <a:latin typeface="+mn-lt"/>
                        </a:rPr>
                        <a:t> </a:t>
                      </a:r>
                      <a:endParaRPr lang="en-US" sz="1200" kern="100">
                        <a:effectLst/>
                        <a:latin typeface="+mn-lt"/>
                        <a:ea typeface="Calibri" panose="020F0502020204030204" pitchFamily="34" charset="0"/>
                        <a:cs typeface="Calibri" panose="020F0502020204030204" pitchFamily="34" charset="0"/>
                      </a:endParaRPr>
                    </a:p>
                  </a:txBody>
                  <a:tcPr marL="0" marR="0" marT="0" marB="0" anchor="ctr">
                    <a:lnT w="12700" cap="flat" cmpd="sng" algn="ctr">
                      <a:solidFill>
                        <a:srgbClr val="0067B4"/>
                      </a:solidFill>
                      <a:prstDash val="solid"/>
                      <a:round/>
                      <a:headEnd type="none" w="med" len="med"/>
                      <a:tailEnd type="none" w="med" len="med"/>
                    </a:lnT>
                  </a:tcPr>
                </a:tc>
                <a:tc gridSpan="2">
                  <a:txBody>
                    <a:bodyPr/>
                    <a:lstStyle/>
                    <a:p>
                      <a:pPr marL="0" marR="0" algn="ctr">
                        <a:lnSpc>
                          <a:spcPct val="100000"/>
                        </a:lnSpc>
                        <a:spcBef>
                          <a:spcPts val="0"/>
                        </a:spcBef>
                        <a:spcAft>
                          <a:spcPts val="0"/>
                        </a:spcAft>
                      </a:pPr>
                      <a:r>
                        <a:rPr lang="en-US" sz="1200" kern="100" dirty="0">
                          <a:solidFill>
                            <a:srgbClr val="000000"/>
                          </a:solidFill>
                          <a:effectLst/>
                          <a:latin typeface="+mn-lt"/>
                        </a:rPr>
                        <a:t>7.13</a:t>
                      </a:r>
                      <a:endParaRPr lang="en-US" sz="1200" kern="100" dirty="0">
                        <a:effectLst/>
                        <a:latin typeface="+mn-lt"/>
                        <a:ea typeface="Calibri" panose="020F0502020204030204" pitchFamily="34" charset="0"/>
                        <a:cs typeface="Calibri" panose="020F0502020204030204" pitchFamily="34" charset="0"/>
                      </a:endParaRPr>
                    </a:p>
                  </a:txBody>
                  <a:tcPr marL="0" marR="0" marT="0" marB="0" anchor="ctr">
                    <a:lnT w="12700" cap="flat" cmpd="sng" algn="ctr">
                      <a:solidFill>
                        <a:srgbClr val="0067B4"/>
                      </a:solidFill>
                      <a:prstDash val="solid"/>
                      <a:round/>
                      <a:headEnd type="none" w="med" len="med"/>
                      <a:tailEnd type="none" w="med" len="med"/>
                    </a:lnT>
                  </a:tcPr>
                </a:tc>
                <a:tc hMerge="1">
                  <a:txBody>
                    <a:bodyPr/>
                    <a:lstStyle/>
                    <a:p>
                      <a:endParaRPr lang="en-US"/>
                    </a:p>
                  </a:txBody>
                  <a:tcPr/>
                </a:tc>
                <a:tc>
                  <a:txBody>
                    <a:bodyPr/>
                    <a:lstStyle/>
                    <a:p>
                      <a:pPr marL="0" marR="0" algn="ctr">
                        <a:lnSpc>
                          <a:spcPct val="100000"/>
                        </a:lnSpc>
                        <a:spcBef>
                          <a:spcPts val="0"/>
                        </a:spcBef>
                        <a:spcAft>
                          <a:spcPts val="0"/>
                        </a:spcAft>
                      </a:pPr>
                      <a:r>
                        <a:rPr lang="en-US" sz="1200" kern="100">
                          <a:solidFill>
                            <a:srgbClr val="000000"/>
                          </a:solidFill>
                          <a:effectLst/>
                          <a:latin typeface="+mn-lt"/>
                        </a:rPr>
                        <a:t>9.22</a:t>
                      </a:r>
                      <a:endParaRPr lang="en-US" sz="1200" kern="100">
                        <a:effectLst/>
                        <a:latin typeface="+mn-lt"/>
                        <a:ea typeface="Calibri" panose="020F0502020204030204" pitchFamily="34" charset="0"/>
                        <a:cs typeface="Calibri" panose="020F0502020204030204" pitchFamily="34" charset="0"/>
                      </a:endParaRPr>
                    </a:p>
                  </a:txBody>
                  <a:tcPr marL="0" marR="0" marT="0" marB="0" anchor="ctr">
                    <a:lnT w="12700" cap="flat" cmpd="sng" algn="ctr">
                      <a:solidFill>
                        <a:srgbClr val="0067B4"/>
                      </a:solidFill>
                      <a:prstDash val="solid"/>
                      <a:round/>
                      <a:headEnd type="none" w="med" len="med"/>
                      <a:tailEnd type="none" w="med" len="med"/>
                    </a:lnT>
                  </a:tcPr>
                </a:tc>
                <a:tc>
                  <a:txBody>
                    <a:bodyPr/>
                    <a:lstStyle/>
                    <a:p>
                      <a:pPr marL="0" marR="0" algn="ctr">
                        <a:lnSpc>
                          <a:spcPct val="100000"/>
                        </a:lnSpc>
                        <a:spcBef>
                          <a:spcPts val="0"/>
                        </a:spcBef>
                        <a:spcAft>
                          <a:spcPts val="0"/>
                        </a:spcAft>
                      </a:pPr>
                      <a:r>
                        <a:rPr lang="en-US" sz="1200" kern="100">
                          <a:solidFill>
                            <a:srgbClr val="000000"/>
                          </a:solidFill>
                          <a:effectLst/>
                          <a:latin typeface="+mn-lt"/>
                        </a:rPr>
                        <a:t>0.58</a:t>
                      </a:r>
                      <a:endParaRPr lang="en-US" sz="1200" kern="100">
                        <a:effectLst/>
                        <a:latin typeface="+mn-lt"/>
                        <a:ea typeface="Calibri" panose="020F0502020204030204" pitchFamily="34" charset="0"/>
                        <a:cs typeface="Calibri" panose="020F0502020204030204" pitchFamily="34" charset="0"/>
                      </a:endParaRPr>
                    </a:p>
                  </a:txBody>
                  <a:tcPr marL="0" marR="0" marT="0" marB="0" anchor="ctr">
                    <a:lnT w="12700" cap="flat" cmpd="sng" algn="ctr">
                      <a:solidFill>
                        <a:srgbClr val="0067B4"/>
                      </a:solidFill>
                      <a:prstDash val="solid"/>
                      <a:round/>
                      <a:headEnd type="none" w="med" len="med"/>
                      <a:tailEnd type="none" w="med" len="med"/>
                    </a:lnT>
                  </a:tcPr>
                </a:tc>
                <a:tc>
                  <a:txBody>
                    <a:bodyPr/>
                    <a:lstStyle/>
                    <a:p>
                      <a:pPr marL="0" marR="0" algn="ctr">
                        <a:lnSpc>
                          <a:spcPct val="100000"/>
                        </a:lnSpc>
                        <a:spcBef>
                          <a:spcPts val="0"/>
                        </a:spcBef>
                        <a:spcAft>
                          <a:spcPts val="0"/>
                        </a:spcAft>
                      </a:pPr>
                      <a:r>
                        <a:rPr lang="en-US" sz="1200" kern="100">
                          <a:solidFill>
                            <a:srgbClr val="000000"/>
                          </a:solidFill>
                          <a:effectLst/>
                          <a:latin typeface="+mn-lt"/>
                        </a:rPr>
                        <a:t> </a:t>
                      </a:r>
                      <a:endParaRPr lang="en-US" sz="1200" kern="100">
                        <a:effectLst/>
                        <a:latin typeface="+mn-lt"/>
                        <a:ea typeface="Calibri" panose="020F0502020204030204" pitchFamily="34" charset="0"/>
                        <a:cs typeface="Calibri" panose="020F0502020204030204" pitchFamily="34" charset="0"/>
                      </a:endParaRPr>
                    </a:p>
                  </a:txBody>
                  <a:tcPr marL="0" marR="0" marT="0" marB="0" anchor="ctr">
                    <a:lnT w="12700" cap="flat" cmpd="sng" algn="ctr">
                      <a:solidFill>
                        <a:srgbClr val="0067B4"/>
                      </a:solidFill>
                      <a:prstDash val="solid"/>
                      <a:round/>
                      <a:headEnd type="none" w="med" len="med"/>
                      <a:tailEnd type="none" w="med" len="med"/>
                    </a:lnT>
                  </a:tcPr>
                </a:tc>
                <a:extLst>
                  <a:ext uri="{0D108BD9-81ED-4DB2-BD59-A6C34878D82A}">
                    <a16:rowId xmlns:a16="http://schemas.microsoft.com/office/drawing/2014/main" val="324406553"/>
                  </a:ext>
                </a:extLst>
              </a:tr>
              <a:tr h="255866">
                <a:tc>
                  <a:txBody>
                    <a:bodyPr/>
                    <a:lstStyle/>
                    <a:p>
                      <a:pPr marL="0" marR="0" algn="ctr">
                        <a:lnSpc>
                          <a:spcPct val="100000"/>
                        </a:lnSpc>
                        <a:spcBef>
                          <a:spcPts val="0"/>
                        </a:spcBef>
                        <a:spcAft>
                          <a:spcPts val="0"/>
                        </a:spcAft>
                      </a:pPr>
                      <a:r>
                        <a:rPr lang="en-US" sz="1200" b="0" kern="0" dirty="0">
                          <a:solidFill>
                            <a:srgbClr val="000000"/>
                          </a:solidFill>
                          <a:effectLst/>
                          <a:latin typeface="+mn-lt"/>
                        </a:rPr>
                        <a:t>8656483</a:t>
                      </a:r>
                      <a:endParaRPr lang="en-US" sz="1200" b="0" kern="100" dirty="0">
                        <a:effectLst/>
                        <a:latin typeface="+mn-lt"/>
                        <a:ea typeface="Calibri" panose="020F0502020204030204" pitchFamily="34" charset="0"/>
                        <a:cs typeface="Calibri" panose="020F0502020204030204" pitchFamily="34" charset="0"/>
                      </a:endParaRPr>
                    </a:p>
                  </a:txBody>
                  <a:tcPr marL="0" marR="0" marT="0" marB="0" anchor="ctr"/>
                </a:tc>
                <a:tc>
                  <a:txBody>
                    <a:bodyPr/>
                    <a:lstStyle/>
                    <a:p>
                      <a:pPr marL="0" marR="0" algn="l">
                        <a:lnSpc>
                          <a:spcPct val="100000"/>
                        </a:lnSpc>
                        <a:spcBef>
                          <a:spcPts val="0"/>
                        </a:spcBef>
                        <a:spcAft>
                          <a:spcPts val="0"/>
                        </a:spcAft>
                      </a:pPr>
                      <a:r>
                        <a:rPr lang="en-US" sz="1200" kern="0" dirty="0">
                          <a:solidFill>
                            <a:srgbClr val="000000"/>
                          </a:solidFill>
                          <a:effectLst/>
                          <a:latin typeface="+mn-lt"/>
                        </a:rPr>
                        <a:t>Beaufort, Duke Marine Lab</a:t>
                      </a:r>
                      <a:endParaRPr lang="en-US" sz="1200" kern="100" dirty="0">
                        <a:effectLst/>
                        <a:latin typeface="+mn-lt"/>
                        <a:ea typeface="Calibri" panose="020F0502020204030204" pitchFamily="34" charset="0"/>
                        <a:cs typeface="Calibri" panose="020F0502020204030204" pitchFamily="34" charset="0"/>
                      </a:endParaRPr>
                    </a:p>
                  </a:txBody>
                  <a:tcPr marL="0" marR="0" marT="0" marB="0" anchor="ctr"/>
                </a:tc>
                <a:tc>
                  <a:txBody>
                    <a:bodyPr/>
                    <a:lstStyle/>
                    <a:p>
                      <a:pPr marL="0" marR="0" algn="ctr">
                        <a:lnSpc>
                          <a:spcPct val="100000"/>
                        </a:lnSpc>
                        <a:spcBef>
                          <a:spcPts val="0"/>
                        </a:spcBef>
                        <a:spcAft>
                          <a:spcPts val="0"/>
                        </a:spcAft>
                      </a:pPr>
                      <a:r>
                        <a:rPr lang="en-US" sz="1200" kern="0">
                          <a:solidFill>
                            <a:srgbClr val="000000"/>
                          </a:solidFill>
                          <a:effectLst/>
                          <a:latin typeface="+mn-lt"/>
                        </a:rPr>
                        <a:t>7596</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tc>
                  <a:txBody>
                    <a:bodyPr/>
                    <a:lstStyle/>
                    <a:p>
                      <a:pPr algn="ctr" fontAlgn="b">
                        <a:lnSpc>
                          <a:spcPct val="100000"/>
                        </a:lnSpc>
                      </a:pPr>
                      <a:r>
                        <a:rPr lang="en-US" sz="1200" b="0" u="none" strike="noStrike" dirty="0">
                          <a:solidFill>
                            <a:srgbClr val="000000"/>
                          </a:solidFill>
                          <a:effectLst/>
                          <a:latin typeface="+mn-lt"/>
                        </a:rPr>
                        <a:t>6.60</a:t>
                      </a:r>
                      <a:endParaRPr lang="en-US" sz="1200" b="0" i="0" u="none" strike="noStrike" dirty="0">
                        <a:solidFill>
                          <a:srgbClr val="000000"/>
                        </a:solidFill>
                        <a:effectLst/>
                        <a:latin typeface="+mn-lt"/>
                        <a:cs typeface="Calibri" panose="020F0502020204030204" pitchFamily="34" charset="0"/>
                      </a:endParaRPr>
                    </a:p>
                  </a:txBody>
                  <a:tcPr marL="0" marR="0" marT="0" marB="0" anchor="ctr"/>
                </a:tc>
                <a:tc>
                  <a:txBody>
                    <a:bodyPr/>
                    <a:lstStyle/>
                    <a:p>
                      <a:pPr algn="ctr" fontAlgn="b">
                        <a:lnSpc>
                          <a:spcPct val="100000"/>
                        </a:lnSpc>
                      </a:pPr>
                      <a:r>
                        <a:rPr lang="en-US" sz="1200" b="0" u="none" strike="noStrike">
                          <a:solidFill>
                            <a:srgbClr val="000000"/>
                          </a:solidFill>
                          <a:effectLst/>
                          <a:latin typeface="+mn-lt"/>
                        </a:rPr>
                        <a:t>8.46</a:t>
                      </a:r>
                      <a:endParaRPr lang="en-US" sz="1200" b="0" i="0" u="none" strike="noStrike">
                        <a:solidFill>
                          <a:srgbClr val="000000"/>
                        </a:solidFill>
                        <a:effectLst/>
                        <a:latin typeface="+mn-lt"/>
                        <a:cs typeface="Calibri" panose="020F0502020204030204" pitchFamily="34" charset="0"/>
                      </a:endParaRPr>
                    </a:p>
                  </a:txBody>
                  <a:tcPr marL="0" marR="0" marT="0" marB="0" anchor="ctr"/>
                </a:tc>
                <a:tc>
                  <a:txBody>
                    <a:bodyPr/>
                    <a:lstStyle/>
                    <a:p>
                      <a:pPr algn="ctr" fontAlgn="b">
                        <a:lnSpc>
                          <a:spcPct val="100000"/>
                        </a:lnSpc>
                      </a:pPr>
                      <a:r>
                        <a:rPr lang="en-US" sz="1200" b="0" u="none" strike="noStrike">
                          <a:solidFill>
                            <a:srgbClr val="000000"/>
                          </a:solidFill>
                          <a:effectLst/>
                          <a:latin typeface="+mn-lt"/>
                        </a:rPr>
                        <a:t>0.60</a:t>
                      </a:r>
                      <a:endParaRPr lang="en-US" sz="1200" b="0" i="0" u="none" strike="noStrike">
                        <a:solidFill>
                          <a:srgbClr val="000000"/>
                        </a:solidFill>
                        <a:effectLst/>
                        <a:latin typeface="+mn-lt"/>
                        <a:cs typeface="Calibri" panose="020F0502020204030204" pitchFamily="34" charset="0"/>
                      </a:endParaRPr>
                    </a:p>
                  </a:txBody>
                  <a:tcPr marL="0" marR="0" marT="0" marB="0" anchor="ctr"/>
                </a:tc>
                <a:tc>
                  <a:txBody>
                    <a:bodyPr/>
                    <a:lstStyle/>
                    <a:p>
                      <a:pPr marL="0" marR="0" algn="ctr">
                        <a:lnSpc>
                          <a:spcPct val="100000"/>
                        </a:lnSpc>
                        <a:spcBef>
                          <a:spcPts val="0"/>
                        </a:spcBef>
                        <a:spcAft>
                          <a:spcPts val="0"/>
                        </a:spcAft>
                      </a:pPr>
                      <a:r>
                        <a:rPr lang="en-US" sz="1200" kern="0">
                          <a:solidFill>
                            <a:srgbClr val="000000"/>
                          </a:solidFill>
                          <a:effectLst/>
                          <a:latin typeface="+mn-lt"/>
                        </a:rPr>
                        <a:t> </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tc gridSpan="2">
                  <a:txBody>
                    <a:bodyPr/>
                    <a:lstStyle/>
                    <a:p>
                      <a:pPr marL="0" marR="0" algn="ctr">
                        <a:lnSpc>
                          <a:spcPct val="100000"/>
                        </a:lnSpc>
                        <a:spcBef>
                          <a:spcPts val="0"/>
                        </a:spcBef>
                        <a:spcAft>
                          <a:spcPts val="0"/>
                        </a:spcAft>
                      </a:pPr>
                      <a:r>
                        <a:rPr lang="en-US" sz="1200" kern="100">
                          <a:solidFill>
                            <a:srgbClr val="000000"/>
                          </a:solidFill>
                          <a:effectLst/>
                          <a:latin typeface="+mn-lt"/>
                        </a:rPr>
                        <a:t>6.40</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tc hMerge="1">
                  <a:txBody>
                    <a:bodyPr/>
                    <a:lstStyle/>
                    <a:p>
                      <a:endParaRPr lang="en-US"/>
                    </a:p>
                  </a:txBody>
                  <a:tcPr/>
                </a:tc>
                <a:tc>
                  <a:txBody>
                    <a:bodyPr/>
                    <a:lstStyle/>
                    <a:p>
                      <a:pPr marL="0" marR="0" algn="ctr">
                        <a:lnSpc>
                          <a:spcPct val="100000"/>
                        </a:lnSpc>
                        <a:spcBef>
                          <a:spcPts val="0"/>
                        </a:spcBef>
                        <a:spcAft>
                          <a:spcPts val="0"/>
                        </a:spcAft>
                      </a:pPr>
                      <a:r>
                        <a:rPr lang="en-US" sz="1200" kern="100" dirty="0">
                          <a:solidFill>
                            <a:srgbClr val="000000"/>
                          </a:solidFill>
                          <a:effectLst/>
                          <a:latin typeface="+mn-lt"/>
                        </a:rPr>
                        <a:t>8.38</a:t>
                      </a:r>
                      <a:endParaRPr lang="en-US" sz="1200" kern="100" dirty="0">
                        <a:effectLst/>
                        <a:latin typeface="+mn-lt"/>
                        <a:ea typeface="Calibri" panose="020F0502020204030204" pitchFamily="34" charset="0"/>
                        <a:cs typeface="Calibri" panose="020F0502020204030204" pitchFamily="34" charset="0"/>
                      </a:endParaRPr>
                    </a:p>
                  </a:txBody>
                  <a:tcPr marL="0" marR="0" marT="0" marB="0" anchor="ctr"/>
                </a:tc>
                <a:tc>
                  <a:txBody>
                    <a:bodyPr/>
                    <a:lstStyle/>
                    <a:p>
                      <a:pPr marL="0" marR="0" algn="ctr">
                        <a:lnSpc>
                          <a:spcPct val="100000"/>
                        </a:lnSpc>
                        <a:spcBef>
                          <a:spcPts val="0"/>
                        </a:spcBef>
                        <a:spcAft>
                          <a:spcPts val="0"/>
                        </a:spcAft>
                      </a:pPr>
                      <a:r>
                        <a:rPr lang="en-US" sz="1200" kern="100">
                          <a:solidFill>
                            <a:srgbClr val="000000"/>
                          </a:solidFill>
                          <a:effectLst/>
                          <a:latin typeface="+mn-lt"/>
                        </a:rPr>
                        <a:t>0.60</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tc>
                  <a:txBody>
                    <a:bodyPr/>
                    <a:lstStyle/>
                    <a:p>
                      <a:pPr marL="0" marR="0" algn="ctr">
                        <a:lnSpc>
                          <a:spcPct val="100000"/>
                        </a:lnSpc>
                        <a:spcBef>
                          <a:spcPts val="0"/>
                        </a:spcBef>
                        <a:spcAft>
                          <a:spcPts val="0"/>
                        </a:spcAft>
                      </a:pPr>
                      <a:r>
                        <a:rPr lang="en-US" sz="1200" kern="100">
                          <a:solidFill>
                            <a:srgbClr val="000000"/>
                          </a:solidFill>
                          <a:effectLst/>
                          <a:latin typeface="+mn-lt"/>
                        </a:rPr>
                        <a:t> </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extLst>
                  <a:ext uri="{0D108BD9-81ED-4DB2-BD59-A6C34878D82A}">
                    <a16:rowId xmlns:a16="http://schemas.microsoft.com/office/drawing/2014/main" val="3813665868"/>
                  </a:ext>
                </a:extLst>
              </a:tr>
              <a:tr h="255866">
                <a:tc>
                  <a:txBody>
                    <a:bodyPr/>
                    <a:lstStyle/>
                    <a:p>
                      <a:pPr marL="0" marR="0" algn="ctr">
                        <a:lnSpc>
                          <a:spcPct val="100000"/>
                        </a:lnSpc>
                        <a:spcBef>
                          <a:spcPts val="0"/>
                        </a:spcBef>
                        <a:spcAft>
                          <a:spcPts val="0"/>
                        </a:spcAft>
                      </a:pPr>
                      <a:r>
                        <a:rPr lang="en-US" sz="1200" b="0" kern="0">
                          <a:solidFill>
                            <a:srgbClr val="000000"/>
                          </a:solidFill>
                          <a:effectLst/>
                          <a:latin typeface="+mn-lt"/>
                        </a:rPr>
                        <a:t>8665530</a:t>
                      </a:r>
                      <a:endParaRPr lang="en-US" sz="1200" b="0" kern="100">
                        <a:effectLst/>
                        <a:latin typeface="+mn-lt"/>
                        <a:ea typeface="Calibri" panose="020F0502020204030204" pitchFamily="34" charset="0"/>
                        <a:cs typeface="Calibri" panose="020F0502020204030204" pitchFamily="34" charset="0"/>
                      </a:endParaRPr>
                    </a:p>
                  </a:txBody>
                  <a:tcPr marL="0" marR="0" marT="0" marB="0" anchor="ctr"/>
                </a:tc>
                <a:tc>
                  <a:txBody>
                    <a:bodyPr/>
                    <a:lstStyle/>
                    <a:p>
                      <a:pPr marL="0" marR="0" algn="l">
                        <a:lnSpc>
                          <a:spcPct val="100000"/>
                        </a:lnSpc>
                        <a:spcBef>
                          <a:spcPts val="0"/>
                        </a:spcBef>
                        <a:spcAft>
                          <a:spcPts val="0"/>
                        </a:spcAft>
                      </a:pPr>
                      <a:r>
                        <a:rPr lang="en-US" sz="1200" kern="0" dirty="0">
                          <a:solidFill>
                            <a:srgbClr val="000000"/>
                          </a:solidFill>
                          <a:effectLst/>
                          <a:latin typeface="+mn-lt"/>
                        </a:rPr>
                        <a:t>Charleston</a:t>
                      </a:r>
                      <a:endParaRPr lang="en-US" sz="1200" kern="100" dirty="0">
                        <a:effectLst/>
                        <a:latin typeface="+mn-lt"/>
                        <a:ea typeface="Calibri" panose="020F0502020204030204" pitchFamily="34" charset="0"/>
                        <a:cs typeface="Calibri" panose="020F0502020204030204" pitchFamily="34" charset="0"/>
                      </a:endParaRPr>
                    </a:p>
                  </a:txBody>
                  <a:tcPr marL="0" marR="0" marT="0" marB="0" anchor="ctr"/>
                </a:tc>
                <a:tc>
                  <a:txBody>
                    <a:bodyPr/>
                    <a:lstStyle/>
                    <a:p>
                      <a:pPr marL="0" marR="0" algn="ctr">
                        <a:lnSpc>
                          <a:spcPct val="100000"/>
                        </a:lnSpc>
                        <a:spcBef>
                          <a:spcPts val="0"/>
                        </a:spcBef>
                        <a:spcAft>
                          <a:spcPts val="0"/>
                        </a:spcAft>
                      </a:pPr>
                      <a:r>
                        <a:rPr lang="en-US" sz="1200" kern="0" dirty="0">
                          <a:solidFill>
                            <a:srgbClr val="000000"/>
                          </a:solidFill>
                          <a:effectLst/>
                          <a:latin typeface="+mn-lt"/>
                        </a:rPr>
                        <a:t>7596</a:t>
                      </a:r>
                      <a:endParaRPr lang="en-US" sz="1200" kern="100" dirty="0">
                        <a:effectLst/>
                        <a:latin typeface="+mn-lt"/>
                        <a:ea typeface="Calibri" panose="020F0502020204030204" pitchFamily="34" charset="0"/>
                        <a:cs typeface="Calibri" panose="020F0502020204030204" pitchFamily="34" charset="0"/>
                      </a:endParaRPr>
                    </a:p>
                  </a:txBody>
                  <a:tcPr marL="0" marR="0" marT="0" marB="0" anchor="ctr"/>
                </a:tc>
                <a:tc>
                  <a:txBody>
                    <a:bodyPr/>
                    <a:lstStyle/>
                    <a:p>
                      <a:pPr algn="ctr" fontAlgn="b">
                        <a:lnSpc>
                          <a:spcPct val="100000"/>
                        </a:lnSpc>
                      </a:pPr>
                      <a:r>
                        <a:rPr lang="en-US" sz="1200" b="0" u="none" strike="noStrike">
                          <a:solidFill>
                            <a:srgbClr val="000000"/>
                          </a:solidFill>
                          <a:effectLst/>
                          <a:latin typeface="+mn-lt"/>
                        </a:rPr>
                        <a:t>8.16</a:t>
                      </a:r>
                      <a:endParaRPr lang="en-US" sz="1200" b="0" i="0" u="none" strike="noStrike">
                        <a:solidFill>
                          <a:srgbClr val="000000"/>
                        </a:solidFill>
                        <a:effectLst/>
                        <a:latin typeface="+mn-lt"/>
                        <a:cs typeface="Calibri" panose="020F0502020204030204" pitchFamily="34" charset="0"/>
                      </a:endParaRPr>
                    </a:p>
                  </a:txBody>
                  <a:tcPr marL="0" marR="0" marT="0" marB="0" anchor="ctr"/>
                </a:tc>
                <a:tc>
                  <a:txBody>
                    <a:bodyPr/>
                    <a:lstStyle/>
                    <a:p>
                      <a:pPr algn="ctr" fontAlgn="b">
                        <a:lnSpc>
                          <a:spcPct val="100000"/>
                        </a:lnSpc>
                      </a:pPr>
                      <a:r>
                        <a:rPr lang="en-US" sz="1200" b="0" u="none" strike="noStrike">
                          <a:solidFill>
                            <a:srgbClr val="000000"/>
                          </a:solidFill>
                          <a:effectLst/>
                          <a:latin typeface="+mn-lt"/>
                        </a:rPr>
                        <a:t>10.72</a:t>
                      </a:r>
                      <a:endParaRPr lang="en-US" sz="1200" b="0" i="0" u="none" strike="noStrike">
                        <a:solidFill>
                          <a:srgbClr val="000000"/>
                        </a:solidFill>
                        <a:effectLst/>
                        <a:latin typeface="+mn-lt"/>
                        <a:cs typeface="Calibri" panose="020F0502020204030204" pitchFamily="34" charset="0"/>
                      </a:endParaRPr>
                    </a:p>
                  </a:txBody>
                  <a:tcPr marL="0" marR="0" marT="0" marB="0" anchor="ctr"/>
                </a:tc>
                <a:tc>
                  <a:txBody>
                    <a:bodyPr/>
                    <a:lstStyle/>
                    <a:p>
                      <a:pPr algn="ctr" fontAlgn="b">
                        <a:lnSpc>
                          <a:spcPct val="100000"/>
                        </a:lnSpc>
                      </a:pPr>
                      <a:r>
                        <a:rPr lang="en-US" sz="1200" b="0" u="none" strike="noStrike" dirty="0">
                          <a:solidFill>
                            <a:srgbClr val="000000"/>
                          </a:solidFill>
                          <a:effectLst/>
                          <a:latin typeface="+mn-lt"/>
                        </a:rPr>
                        <a:t>0.53</a:t>
                      </a:r>
                      <a:endParaRPr lang="en-US" sz="1200" b="0" i="0" u="none" strike="noStrike" dirty="0">
                        <a:solidFill>
                          <a:srgbClr val="000000"/>
                        </a:solidFill>
                        <a:effectLst/>
                        <a:latin typeface="+mn-lt"/>
                        <a:cs typeface="Calibri" panose="020F0502020204030204" pitchFamily="34" charset="0"/>
                      </a:endParaRPr>
                    </a:p>
                  </a:txBody>
                  <a:tcPr marL="0" marR="0" marT="0" marB="0" anchor="ctr"/>
                </a:tc>
                <a:tc>
                  <a:txBody>
                    <a:bodyPr/>
                    <a:lstStyle/>
                    <a:p>
                      <a:pPr marL="0" marR="0" algn="ctr">
                        <a:lnSpc>
                          <a:spcPct val="100000"/>
                        </a:lnSpc>
                        <a:spcBef>
                          <a:spcPts val="0"/>
                        </a:spcBef>
                        <a:spcAft>
                          <a:spcPts val="0"/>
                        </a:spcAft>
                      </a:pPr>
                      <a:r>
                        <a:rPr lang="en-US" sz="1200" kern="0">
                          <a:solidFill>
                            <a:srgbClr val="000000"/>
                          </a:solidFill>
                          <a:effectLst/>
                          <a:latin typeface="+mn-lt"/>
                        </a:rPr>
                        <a:t> </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tc gridSpan="2">
                  <a:txBody>
                    <a:bodyPr/>
                    <a:lstStyle/>
                    <a:p>
                      <a:pPr marL="0" marR="0" algn="ctr">
                        <a:lnSpc>
                          <a:spcPct val="100000"/>
                        </a:lnSpc>
                        <a:spcBef>
                          <a:spcPts val="0"/>
                        </a:spcBef>
                        <a:spcAft>
                          <a:spcPts val="0"/>
                        </a:spcAft>
                      </a:pPr>
                      <a:r>
                        <a:rPr lang="en-US" sz="1200" kern="100">
                          <a:solidFill>
                            <a:srgbClr val="000000"/>
                          </a:solidFill>
                          <a:effectLst/>
                          <a:latin typeface="+mn-lt"/>
                        </a:rPr>
                        <a:t>8.25</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tc hMerge="1">
                  <a:txBody>
                    <a:bodyPr/>
                    <a:lstStyle/>
                    <a:p>
                      <a:endParaRPr lang="en-US"/>
                    </a:p>
                  </a:txBody>
                  <a:tcPr/>
                </a:tc>
                <a:tc>
                  <a:txBody>
                    <a:bodyPr/>
                    <a:lstStyle/>
                    <a:p>
                      <a:pPr marL="0" marR="0" algn="ctr">
                        <a:lnSpc>
                          <a:spcPct val="100000"/>
                        </a:lnSpc>
                        <a:spcBef>
                          <a:spcPts val="0"/>
                        </a:spcBef>
                        <a:spcAft>
                          <a:spcPts val="0"/>
                        </a:spcAft>
                      </a:pPr>
                      <a:r>
                        <a:rPr lang="en-US" sz="1200" kern="100" dirty="0">
                          <a:solidFill>
                            <a:srgbClr val="000000"/>
                          </a:solidFill>
                          <a:effectLst/>
                          <a:latin typeface="+mn-lt"/>
                        </a:rPr>
                        <a:t>10.76</a:t>
                      </a:r>
                      <a:endParaRPr lang="en-US" sz="1200" kern="100" dirty="0">
                        <a:effectLst/>
                        <a:latin typeface="+mn-lt"/>
                        <a:ea typeface="Calibri" panose="020F0502020204030204" pitchFamily="34" charset="0"/>
                        <a:cs typeface="Calibri" panose="020F0502020204030204" pitchFamily="34" charset="0"/>
                      </a:endParaRPr>
                    </a:p>
                  </a:txBody>
                  <a:tcPr marL="0" marR="0" marT="0" marB="0" anchor="ctr"/>
                </a:tc>
                <a:tc>
                  <a:txBody>
                    <a:bodyPr/>
                    <a:lstStyle/>
                    <a:p>
                      <a:pPr marL="0" marR="0" algn="ctr">
                        <a:lnSpc>
                          <a:spcPct val="100000"/>
                        </a:lnSpc>
                        <a:spcBef>
                          <a:spcPts val="0"/>
                        </a:spcBef>
                        <a:spcAft>
                          <a:spcPts val="0"/>
                        </a:spcAft>
                      </a:pPr>
                      <a:r>
                        <a:rPr lang="en-US" sz="1200" kern="100">
                          <a:solidFill>
                            <a:srgbClr val="000000"/>
                          </a:solidFill>
                          <a:effectLst/>
                          <a:latin typeface="+mn-lt"/>
                        </a:rPr>
                        <a:t>0.52</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tc>
                  <a:txBody>
                    <a:bodyPr/>
                    <a:lstStyle/>
                    <a:p>
                      <a:pPr marL="0" marR="0" algn="ctr">
                        <a:lnSpc>
                          <a:spcPct val="100000"/>
                        </a:lnSpc>
                        <a:spcBef>
                          <a:spcPts val="0"/>
                        </a:spcBef>
                        <a:spcAft>
                          <a:spcPts val="0"/>
                        </a:spcAft>
                      </a:pPr>
                      <a:r>
                        <a:rPr lang="en-US" sz="1200" kern="100">
                          <a:solidFill>
                            <a:srgbClr val="000000"/>
                          </a:solidFill>
                          <a:effectLst/>
                          <a:latin typeface="+mn-lt"/>
                        </a:rPr>
                        <a:t> </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extLst>
                  <a:ext uri="{0D108BD9-81ED-4DB2-BD59-A6C34878D82A}">
                    <a16:rowId xmlns:a16="http://schemas.microsoft.com/office/drawing/2014/main" val="1886852852"/>
                  </a:ext>
                </a:extLst>
              </a:tr>
              <a:tr h="255866">
                <a:tc>
                  <a:txBody>
                    <a:bodyPr/>
                    <a:lstStyle/>
                    <a:p>
                      <a:pPr marL="0" marR="0" algn="ctr">
                        <a:lnSpc>
                          <a:spcPct val="100000"/>
                        </a:lnSpc>
                        <a:spcBef>
                          <a:spcPts val="0"/>
                        </a:spcBef>
                        <a:spcAft>
                          <a:spcPts val="0"/>
                        </a:spcAft>
                      </a:pPr>
                      <a:r>
                        <a:rPr lang="en-US" sz="1200" b="0" kern="0" dirty="0">
                          <a:solidFill>
                            <a:srgbClr val="000000"/>
                          </a:solidFill>
                          <a:effectLst/>
                          <a:latin typeface="+mn-lt"/>
                        </a:rPr>
                        <a:t>8670870</a:t>
                      </a:r>
                      <a:endParaRPr lang="en-US" sz="1200" b="0" kern="100" dirty="0">
                        <a:effectLst/>
                        <a:latin typeface="+mn-lt"/>
                        <a:ea typeface="Calibri" panose="020F0502020204030204" pitchFamily="34" charset="0"/>
                        <a:cs typeface="Calibri" panose="020F0502020204030204" pitchFamily="34" charset="0"/>
                      </a:endParaRPr>
                    </a:p>
                  </a:txBody>
                  <a:tcPr marL="0" marR="0" marT="0" marB="0" anchor="ctr"/>
                </a:tc>
                <a:tc>
                  <a:txBody>
                    <a:bodyPr/>
                    <a:lstStyle/>
                    <a:p>
                      <a:pPr marL="0" marR="0" algn="l">
                        <a:lnSpc>
                          <a:spcPct val="100000"/>
                        </a:lnSpc>
                        <a:spcBef>
                          <a:spcPts val="0"/>
                        </a:spcBef>
                        <a:spcAft>
                          <a:spcPts val="0"/>
                        </a:spcAft>
                      </a:pPr>
                      <a:r>
                        <a:rPr lang="en-US" sz="1200" kern="0" dirty="0">
                          <a:solidFill>
                            <a:srgbClr val="000000"/>
                          </a:solidFill>
                          <a:effectLst/>
                          <a:latin typeface="+mn-lt"/>
                        </a:rPr>
                        <a:t>Fort Pulaski</a:t>
                      </a:r>
                      <a:endParaRPr lang="en-US" sz="1200" kern="100" dirty="0">
                        <a:effectLst/>
                        <a:latin typeface="+mn-lt"/>
                        <a:ea typeface="Calibri" panose="020F0502020204030204" pitchFamily="34" charset="0"/>
                        <a:cs typeface="Calibri" panose="020F0502020204030204" pitchFamily="34" charset="0"/>
                      </a:endParaRPr>
                    </a:p>
                  </a:txBody>
                  <a:tcPr marL="0" marR="0" marT="0" marB="0" anchor="ctr"/>
                </a:tc>
                <a:tc>
                  <a:txBody>
                    <a:bodyPr/>
                    <a:lstStyle/>
                    <a:p>
                      <a:pPr marL="0" marR="0" algn="ctr">
                        <a:lnSpc>
                          <a:spcPct val="100000"/>
                        </a:lnSpc>
                        <a:spcBef>
                          <a:spcPts val="0"/>
                        </a:spcBef>
                        <a:spcAft>
                          <a:spcPts val="0"/>
                        </a:spcAft>
                      </a:pPr>
                      <a:r>
                        <a:rPr lang="en-US" sz="1200" kern="0" dirty="0">
                          <a:solidFill>
                            <a:srgbClr val="000000"/>
                          </a:solidFill>
                          <a:effectLst/>
                          <a:latin typeface="+mn-lt"/>
                        </a:rPr>
                        <a:t>7559</a:t>
                      </a:r>
                      <a:endParaRPr lang="en-US" sz="1200" kern="100" dirty="0">
                        <a:effectLst/>
                        <a:latin typeface="+mn-lt"/>
                        <a:ea typeface="Calibri" panose="020F0502020204030204" pitchFamily="34" charset="0"/>
                        <a:cs typeface="Calibri" panose="020F0502020204030204" pitchFamily="34" charset="0"/>
                      </a:endParaRPr>
                    </a:p>
                  </a:txBody>
                  <a:tcPr marL="0" marR="0" marT="0" marB="0" anchor="ctr"/>
                </a:tc>
                <a:tc>
                  <a:txBody>
                    <a:bodyPr/>
                    <a:lstStyle/>
                    <a:p>
                      <a:pPr algn="ctr" fontAlgn="b">
                        <a:lnSpc>
                          <a:spcPct val="100000"/>
                        </a:lnSpc>
                      </a:pPr>
                      <a:r>
                        <a:rPr lang="en-US" sz="1200" b="0" u="none" strike="noStrike">
                          <a:solidFill>
                            <a:srgbClr val="000000"/>
                          </a:solidFill>
                          <a:effectLst/>
                          <a:latin typeface="+mn-lt"/>
                        </a:rPr>
                        <a:t>8.77</a:t>
                      </a:r>
                      <a:endParaRPr lang="en-US" sz="1200" b="0" i="0" u="none" strike="noStrike">
                        <a:solidFill>
                          <a:srgbClr val="000000"/>
                        </a:solidFill>
                        <a:effectLst/>
                        <a:latin typeface="+mn-lt"/>
                        <a:cs typeface="Calibri" panose="020F0502020204030204" pitchFamily="34" charset="0"/>
                      </a:endParaRPr>
                    </a:p>
                  </a:txBody>
                  <a:tcPr marL="0" marR="0" marT="0" marB="0" anchor="ctr"/>
                </a:tc>
                <a:tc>
                  <a:txBody>
                    <a:bodyPr/>
                    <a:lstStyle/>
                    <a:p>
                      <a:pPr algn="ctr" fontAlgn="b">
                        <a:lnSpc>
                          <a:spcPct val="100000"/>
                        </a:lnSpc>
                      </a:pPr>
                      <a:r>
                        <a:rPr lang="en-US" sz="1200" b="0" u="none" strike="noStrike">
                          <a:solidFill>
                            <a:srgbClr val="000000"/>
                          </a:solidFill>
                          <a:effectLst/>
                          <a:latin typeface="+mn-lt"/>
                        </a:rPr>
                        <a:t>11.45</a:t>
                      </a:r>
                      <a:endParaRPr lang="en-US" sz="1200" b="0" i="0" u="none" strike="noStrike">
                        <a:solidFill>
                          <a:srgbClr val="000000"/>
                        </a:solidFill>
                        <a:effectLst/>
                        <a:latin typeface="+mn-lt"/>
                        <a:cs typeface="Calibri" panose="020F0502020204030204" pitchFamily="34" charset="0"/>
                      </a:endParaRPr>
                    </a:p>
                  </a:txBody>
                  <a:tcPr marL="0" marR="0" marT="0" marB="0" anchor="ctr"/>
                </a:tc>
                <a:tc>
                  <a:txBody>
                    <a:bodyPr/>
                    <a:lstStyle/>
                    <a:p>
                      <a:pPr algn="ctr" fontAlgn="b">
                        <a:lnSpc>
                          <a:spcPct val="100000"/>
                        </a:lnSpc>
                      </a:pPr>
                      <a:r>
                        <a:rPr lang="en-US" sz="1200" b="0" u="none" strike="noStrike" dirty="0">
                          <a:solidFill>
                            <a:srgbClr val="000000"/>
                          </a:solidFill>
                          <a:effectLst/>
                          <a:latin typeface="+mn-lt"/>
                        </a:rPr>
                        <a:t>0.54</a:t>
                      </a:r>
                      <a:endParaRPr lang="en-US" sz="1200" b="0" i="0" u="none" strike="noStrike" dirty="0">
                        <a:solidFill>
                          <a:srgbClr val="000000"/>
                        </a:solidFill>
                        <a:effectLst/>
                        <a:latin typeface="+mn-lt"/>
                        <a:cs typeface="Calibri" panose="020F0502020204030204" pitchFamily="34" charset="0"/>
                      </a:endParaRPr>
                    </a:p>
                  </a:txBody>
                  <a:tcPr marL="0" marR="0" marT="0" marB="0" anchor="ctr"/>
                </a:tc>
                <a:tc>
                  <a:txBody>
                    <a:bodyPr/>
                    <a:lstStyle/>
                    <a:p>
                      <a:pPr marL="0" marR="0" algn="ctr">
                        <a:lnSpc>
                          <a:spcPct val="100000"/>
                        </a:lnSpc>
                        <a:spcBef>
                          <a:spcPts val="0"/>
                        </a:spcBef>
                        <a:spcAft>
                          <a:spcPts val="0"/>
                        </a:spcAft>
                      </a:pPr>
                      <a:r>
                        <a:rPr lang="en-US" sz="1200" kern="0">
                          <a:solidFill>
                            <a:srgbClr val="000000"/>
                          </a:solidFill>
                          <a:effectLst/>
                          <a:latin typeface="+mn-lt"/>
                        </a:rPr>
                        <a:t> </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tc gridSpan="2">
                  <a:txBody>
                    <a:bodyPr/>
                    <a:lstStyle/>
                    <a:p>
                      <a:pPr marL="0" marR="0" algn="ctr">
                        <a:lnSpc>
                          <a:spcPct val="100000"/>
                        </a:lnSpc>
                        <a:spcBef>
                          <a:spcPts val="0"/>
                        </a:spcBef>
                        <a:spcAft>
                          <a:spcPts val="0"/>
                        </a:spcAft>
                      </a:pPr>
                      <a:r>
                        <a:rPr lang="en-US" sz="1200" kern="100">
                          <a:solidFill>
                            <a:srgbClr val="000000"/>
                          </a:solidFill>
                          <a:effectLst/>
                          <a:latin typeface="+mn-lt"/>
                        </a:rPr>
                        <a:t>8.67</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tc hMerge="1">
                  <a:txBody>
                    <a:bodyPr/>
                    <a:lstStyle/>
                    <a:p>
                      <a:endParaRPr lang="en-US"/>
                    </a:p>
                  </a:txBody>
                  <a:tcPr/>
                </a:tc>
                <a:tc>
                  <a:txBody>
                    <a:bodyPr/>
                    <a:lstStyle/>
                    <a:p>
                      <a:pPr marL="0" marR="0" algn="ctr">
                        <a:lnSpc>
                          <a:spcPct val="100000"/>
                        </a:lnSpc>
                        <a:spcBef>
                          <a:spcPts val="0"/>
                        </a:spcBef>
                        <a:spcAft>
                          <a:spcPts val="0"/>
                        </a:spcAft>
                      </a:pPr>
                      <a:r>
                        <a:rPr lang="en-US" sz="1200" kern="100">
                          <a:solidFill>
                            <a:srgbClr val="000000"/>
                          </a:solidFill>
                          <a:effectLst/>
                          <a:latin typeface="+mn-lt"/>
                        </a:rPr>
                        <a:t>11.24</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tc>
                  <a:txBody>
                    <a:bodyPr/>
                    <a:lstStyle/>
                    <a:p>
                      <a:pPr marL="0" marR="0" algn="ctr">
                        <a:lnSpc>
                          <a:spcPct val="100000"/>
                        </a:lnSpc>
                        <a:spcBef>
                          <a:spcPts val="0"/>
                        </a:spcBef>
                        <a:spcAft>
                          <a:spcPts val="0"/>
                        </a:spcAft>
                      </a:pPr>
                      <a:r>
                        <a:rPr lang="en-US" sz="1200" kern="100" dirty="0">
                          <a:solidFill>
                            <a:srgbClr val="000000"/>
                          </a:solidFill>
                          <a:effectLst/>
                          <a:latin typeface="+mn-lt"/>
                        </a:rPr>
                        <a:t>0.56</a:t>
                      </a:r>
                      <a:endParaRPr lang="en-US" sz="1200" kern="100" dirty="0">
                        <a:effectLst/>
                        <a:latin typeface="+mn-lt"/>
                        <a:ea typeface="Calibri" panose="020F0502020204030204" pitchFamily="34" charset="0"/>
                        <a:cs typeface="Calibri" panose="020F0502020204030204" pitchFamily="34" charset="0"/>
                      </a:endParaRPr>
                    </a:p>
                  </a:txBody>
                  <a:tcPr marL="0" marR="0" marT="0" marB="0" anchor="ctr"/>
                </a:tc>
                <a:tc>
                  <a:txBody>
                    <a:bodyPr/>
                    <a:lstStyle/>
                    <a:p>
                      <a:pPr marL="0" marR="0" algn="ctr">
                        <a:lnSpc>
                          <a:spcPct val="100000"/>
                        </a:lnSpc>
                        <a:spcBef>
                          <a:spcPts val="0"/>
                        </a:spcBef>
                        <a:spcAft>
                          <a:spcPts val="0"/>
                        </a:spcAft>
                      </a:pPr>
                      <a:r>
                        <a:rPr lang="en-US" sz="1200" kern="100">
                          <a:solidFill>
                            <a:srgbClr val="000000"/>
                          </a:solidFill>
                          <a:effectLst/>
                          <a:latin typeface="+mn-lt"/>
                        </a:rPr>
                        <a:t> </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extLst>
                  <a:ext uri="{0D108BD9-81ED-4DB2-BD59-A6C34878D82A}">
                    <a16:rowId xmlns:a16="http://schemas.microsoft.com/office/drawing/2014/main" val="1975764947"/>
                  </a:ext>
                </a:extLst>
              </a:tr>
              <a:tr h="255866">
                <a:tc>
                  <a:txBody>
                    <a:bodyPr/>
                    <a:lstStyle/>
                    <a:p>
                      <a:pPr marL="0" marR="0" algn="ctr">
                        <a:lnSpc>
                          <a:spcPct val="100000"/>
                        </a:lnSpc>
                        <a:spcBef>
                          <a:spcPts val="0"/>
                        </a:spcBef>
                        <a:spcAft>
                          <a:spcPts val="0"/>
                        </a:spcAft>
                      </a:pPr>
                      <a:r>
                        <a:rPr lang="en-US" sz="1200" b="0" kern="0">
                          <a:solidFill>
                            <a:srgbClr val="000000"/>
                          </a:solidFill>
                          <a:effectLst/>
                          <a:latin typeface="+mn-lt"/>
                        </a:rPr>
                        <a:t>8720030</a:t>
                      </a:r>
                      <a:endParaRPr lang="en-US" sz="1200" b="0" kern="100">
                        <a:effectLst/>
                        <a:latin typeface="+mn-lt"/>
                        <a:ea typeface="Calibri" panose="020F0502020204030204" pitchFamily="34" charset="0"/>
                        <a:cs typeface="Calibri" panose="020F0502020204030204" pitchFamily="34" charset="0"/>
                      </a:endParaRPr>
                    </a:p>
                  </a:txBody>
                  <a:tcPr marL="0" marR="0" marT="0" marB="0" anchor="ctr"/>
                </a:tc>
                <a:tc>
                  <a:txBody>
                    <a:bodyPr/>
                    <a:lstStyle/>
                    <a:p>
                      <a:pPr marL="0" marR="0" algn="l">
                        <a:lnSpc>
                          <a:spcPct val="100000"/>
                        </a:lnSpc>
                        <a:spcBef>
                          <a:spcPts val="0"/>
                        </a:spcBef>
                        <a:spcAft>
                          <a:spcPts val="0"/>
                        </a:spcAft>
                      </a:pPr>
                      <a:r>
                        <a:rPr lang="en-US" sz="1200" kern="0" dirty="0">
                          <a:solidFill>
                            <a:srgbClr val="000000"/>
                          </a:solidFill>
                          <a:effectLst/>
                          <a:latin typeface="+mn-lt"/>
                        </a:rPr>
                        <a:t>Fernandina Beach</a:t>
                      </a:r>
                      <a:endParaRPr lang="en-US" sz="1200" kern="100" dirty="0">
                        <a:effectLst/>
                        <a:latin typeface="+mn-lt"/>
                        <a:ea typeface="Calibri" panose="020F0502020204030204" pitchFamily="34" charset="0"/>
                        <a:cs typeface="Calibri" panose="020F0502020204030204" pitchFamily="34" charset="0"/>
                      </a:endParaRPr>
                    </a:p>
                  </a:txBody>
                  <a:tcPr marL="0" marR="0" marT="0" marB="0" anchor="ctr"/>
                </a:tc>
                <a:tc>
                  <a:txBody>
                    <a:bodyPr/>
                    <a:lstStyle/>
                    <a:p>
                      <a:pPr marL="0" marR="0" algn="ctr">
                        <a:lnSpc>
                          <a:spcPct val="100000"/>
                        </a:lnSpc>
                        <a:spcBef>
                          <a:spcPts val="0"/>
                        </a:spcBef>
                        <a:spcAft>
                          <a:spcPts val="0"/>
                        </a:spcAft>
                      </a:pPr>
                      <a:r>
                        <a:rPr lang="en-US" sz="1200" kern="0">
                          <a:solidFill>
                            <a:srgbClr val="000000"/>
                          </a:solidFill>
                          <a:effectLst/>
                          <a:latin typeface="+mn-lt"/>
                        </a:rPr>
                        <a:t>7293</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tc>
                  <a:txBody>
                    <a:bodyPr/>
                    <a:lstStyle/>
                    <a:p>
                      <a:pPr algn="ctr" fontAlgn="b">
                        <a:lnSpc>
                          <a:spcPct val="100000"/>
                        </a:lnSpc>
                      </a:pPr>
                      <a:r>
                        <a:rPr lang="en-US" sz="1200" b="0" u="none" strike="noStrike">
                          <a:solidFill>
                            <a:srgbClr val="000000"/>
                          </a:solidFill>
                          <a:effectLst/>
                          <a:latin typeface="+mn-lt"/>
                        </a:rPr>
                        <a:t>9.00</a:t>
                      </a:r>
                      <a:endParaRPr lang="en-US" sz="1200" b="0" i="0" u="none" strike="noStrike">
                        <a:solidFill>
                          <a:srgbClr val="000000"/>
                        </a:solidFill>
                        <a:effectLst/>
                        <a:latin typeface="+mn-lt"/>
                        <a:cs typeface="Calibri" panose="020F0502020204030204" pitchFamily="34" charset="0"/>
                      </a:endParaRPr>
                    </a:p>
                  </a:txBody>
                  <a:tcPr marL="0" marR="0" marT="0" marB="0" anchor="ctr"/>
                </a:tc>
                <a:tc>
                  <a:txBody>
                    <a:bodyPr/>
                    <a:lstStyle/>
                    <a:p>
                      <a:pPr algn="ctr" fontAlgn="b">
                        <a:lnSpc>
                          <a:spcPct val="100000"/>
                        </a:lnSpc>
                      </a:pPr>
                      <a:r>
                        <a:rPr lang="en-US" sz="1200" b="0" u="none" strike="noStrike">
                          <a:solidFill>
                            <a:srgbClr val="000000"/>
                          </a:solidFill>
                          <a:effectLst/>
                          <a:latin typeface="+mn-lt"/>
                        </a:rPr>
                        <a:t>11.92</a:t>
                      </a:r>
                      <a:endParaRPr lang="en-US" sz="1200" b="0" i="0" u="none" strike="noStrike">
                        <a:solidFill>
                          <a:srgbClr val="000000"/>
                        </a:solidFill>
                        <a:effectLst/>
                        <a:latin typeface="+mn-lt"/>
                        <a:cs typeface="Calibri" panose="020F0502020204030204" pitchFamily="34" charset="0"/>
                      </a:endParaRPr>
                    </a:p>
                  </a:txBody>
                  <a:tcPr marL="0" marR="0" marT="0" marB="0" anchor="ctr"/>
                </a:tc>
                <a:tc>
                  <a:txBody>
                    <a:bodyPr/>
                    <a:lstStyle/>
                    <a:p>
                      <a:pPr algn="ctr" fontAlgn="b">
                        <a:lnSpc>
                          <a:spcPct val="100000"/>
                        </a:lnSpc>
                      </a:pPr>
                      <a:r>
                        <a:rPr lang="en-US" sz="1200" b="0" u="none" strike="noStrike">
                          <a:solidFill>
                            <a:srgbClr val="000000"/>
                          </a:solidFill>
                          <a:effectLst/>
                          <a:latin typeface="+mn-lt"/>
                        </a:rPr>
                        <a:t>0.56</a:t>
                      </a:r>
                      <a:endParaRPr lang="en-US" sz="1200" b="0" i="0" u="none" strike="noStrike">
                        <a:solidFill>
                          <a:srgbClr val="000000"/>
                        </a:solidFill>
                        <a:effectLst/>
                        <a:latin typeface="+mn-lt"/>
                        <a:cs typeface="Calibri" panose="020F0502020204030204" pitchFamily="34" charset="0"/>
                      </a:endParaRPr>
                    </a:p>
                  </a:txBody>
                  <a:tcPr marL="0" marR="0" marT="0" marB="0" anchor="ctr"/>
                </a:tc>
                <a:tc>
                  <a:txBody>
                    <a:bodyPr/>
                    <a:lstStyle/>
                    <a:p>
                      <a:pPr marL="0" marR="0" algn="ctr">
                        <a:lnSpc>
                          <a:spcPct val="100000"/>
                        </a:lnSpc>
                        <a:spcBef>
                          <a:spcPts val="0"/>
                        </a:spcBef>
                        <a:spcAft>
                          <a:spcPts val="0"/>
                        </a:spcAft>
                      </a:pPr>
                      <a:r>
                        <a:rPr lang="en-US" sz="1200" kern="0">
                          <a:solidFill>
                            <a:srgbClr val="000000"/>
                          </a:solidFill>
                          <a:effectLst/>
                          <a:latin typeface="+mn-lt"/>
                        </a:rPr>
                        <a:t> </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tc gridSpan="2">
                  <a:txBody>
                    <a:bodyPr/>
                    <a:lstStyle/>
                    <a:p>
                      <a:pPr marL="0" marR="0" algn="ctr">
                        <a:lnSpc>
                          <a:spcPct val="100000"/>
                        </a:lnSpc>
                        <a:spcBef>
                          <a:spcPts val="0"/>
                        </a:spcBef>
                        <a:spcAft>
                          <a:spcPts val="0"/>
                        </a:spcAft>
                      </a:pPr>
                      <a:r>
                        <a:rPr lang="en-US" sz="1200" kern="100">
                          <a:solidFill>
                            <a:srgbClr val="000000"/>
                          </a:solidFill>
                          <a:effectLst/>
                          <a:latin typeface="+mn-lt"/>
                        </a:rPr>
                        <a:t>8.75</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tc hMerge="1">
                  <a:txBody>
                    <a:bodyPr/>
                    <a:lstStyle/>
                    <a:p>
                      <a:endParaRPr lang="en-US"/>
                    </a:p>
                  </a:txBody>
                  <a:tcPr/>
                </a:tc>
                <a:tc>
                  <a:txBody>
                    <a:bodyPr/>
                    <a:lstStyle/>
                    <a:p>
                      <a:pPr marL="0" marR="0" algn="ctr">
                        <a:lnSpc>
                          <a:spcPct val="100000"/>
                        </a:lnSpc>
                        <a:spcBef>
                          <a:spcPts val="0"/>
                        </a:spcBef>
                        <a:spcAft>
                          <a:spcPts val="0"/>
                        </a:spcAft>
                      </a:pPr>
                      <a:r>
                        <a:rPr lang="en-US" sz="1200" kern="100">
                          <a:solidFill>
                            <a:srgbClr val="000000"/>
                          </a:solidFill>
                          <a:effectLst/>
                          <a:latin typeface="+mn-lt"/>
                        </a:rPr>
                        <a:t>11.46</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tc>
                  <a:txBody>
                    <a:bodyPr/>
                    <a:lstStyle/>
                    <a:p>
                      <a:pPr marL="0" marR="0" algn="ctr">
                        <a:lnSpc>
                          <a:spcPct val="100000"/>
                        </a:lnSpc>
                        <a:spcBef>
                          <a:spcPts val="0"/>
                        </a:spcBef>
                        <a:spcAft>
                          <a:spcPts val="0"/>
                        </a:spcAft>
                      </a:pPr>
                      <a:r>
                        <a:rPr lang="en-US" sz="1200" kern="100" dirty="0">
                          <a:solidFill>
                            <a:srgbClr val="000000"/>
                          </a:solidFill>
                          <a:effectLst/>
                          <a:latin typeface="+mn-lt"/>
                        </a:rPr>
                        <a:t>0.60</a:t>
                      </a:r>
                      <a:endParaRPr lang="en-US" sz="1200" kern="100" dirty="0">
                        <a:effectLst/>
                        <a:latin typeface="+mn-lt"/>
                        <a:ea typeface="Calibri" panose="020F0502020204030204" pitchFamily="34" charset="0"/>
                        <a:cs typeface="Calibri" panose="020F0502020204030204" pitchFamily="34" charset="0"/>
                      </a:endParaRPr>
                    </a:p>
                  </a:txBody>
                  <a:tcPr marL="0" marR="0" marT="0" marB="0" anchor="ctr"/>
                </a:tc>
                <a:tc>
                  <a:txBody>
                    <a:bodyPr/>
                    <a:lstStyle/>
                    <a:p>
                      <a:pPr marL="0" marR="0" algn="ctr">
                        <a:lnSpc>
                          <a:spcPct val="100000"/>
                        </a:lnSpc>
                        <a:spcBef>
                          <a:spcPts val="0"/>
                        </a:spcBef>
                        <a:spcAft>
                          <a:spcPts val="0"/>
                        </a:spcAft>
                      </a:pPr>
                      <a:r>
                        <a:rPr lang="en-US" sz="1200" kern="100">
                          <a:solidFill>
                            <a:srgbClr val="000000"/>
                          </a:solidFill>
                          <a:effectLst/>
                          <a:latin typeface="+mn-lt"/>
                        </a:rPr>
                        <a:t> </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extLst>
                  <a:ext uri="{0D108BD9-81ED-4DB2-BD59-A6C34878D82A}">
                    <a16:rowId xmlns:a16="http://schemas.microsoft.com/office/drawing/2014/main" val="832513003"/>
                  </a:ext>
                </a:extLst>
              </a:tr>
              <a:tr h="255866">
                <a:tc>
                  <a:txBody>
                    <a:bodyPr/>
                    <a:lstStyle/>
                    <a:p>
                      <a:pPr marL="0" marR="0" algn="ctr">
                        <a:lnSpc>
                          <a:spcPct val="100000"/>
                        </a:lnSpc>
                        <a:spcBef>
                          <a:spcPts val="0"/>
                        </a:spcBef>
                        <a:spcAft>
                          <a:spcPts val="0"/>
                        </a:spcAft>
                      </a:pPr>
                      <a:r>
                        <a:rPr lang="en-US" sz="1200" b="0" kern="0" dirty="0">
                          <a:solidFill>
                            <a:srgbClr val="000000"/>
                          </a:solidFill>
                          <a:effectLst/>
                          <a:latin typeface="+mn-lt"/>
                        </a:rPr>
                        <a:t>8720218</a:t>
                      </a:r>
                      <a:endParaRPr lang="en-US" sz="1200" b="0" kern="100" dirty="0">
                        <a:effectLst/>
                        <a:latin typeface="+mn-lt"/>
                        <a:ea typeface="Calibri" panose="020F0502020204030204" pitchFamily="34" charset="0"/>
                        <a:cs typeface="Calibri" panose="020F0502020204030204" pitchFamily="34" charset="0"/>
                      </a:endParaRPr>
                    </a:p>
                  </a:txBody>
                  <a:tcPr marL="0" marR="0" marT="0" marB="0" anchor="ctr"/>
                </a:tc>
                <a:tc>
                  <a:txBody>
                    <a:bodyPr/>
                    <a:lstStyle/>
                    <a:p>
                      <a:pPr marL="0" marR="0" algn="l">
                        <a:lnSpc>
                          <a:spcPct val="100000"/>
                        </a:lnSpc>
                        <a:spcBef>
                          <a:spcPts val="0"/>
                        </a:spcBef>
                        <a:spcAft>
                          <a:spcPts val="0"/>
                        </a:spcAft>
                      </a:pPr>
                      <a:r>
                        <a:rPr lang="en-US" sz="1200" kern="0" dirty="0">
                          <a:solidFill>
                            <a:srgbClr val="000000"/>
                          </a:solidFill>
                          <a:effectLst/>
                          <a:latin typeface="+mn-lt"/>
                        </a:rPr>
                        <a:t>Mayport (Bar Pilots Dock)</a:t>
                      </a:r>
                      <a:endParaRPr lang="en-US" sz="1200" kern="100" dirty="0">
                        <a:effectLst/>
                        <a:latin typeface="+mn-lt"/>
                        <a:ea typeface="Calibri" panose="020F0502020204030204" pitchFamily="34" charset="0"/>
                        <a:cs typeface="Calibri" panose="020F0502020204030204" pitchFamily="34" charset="0"/>
                      </a:endParaRPr>
                    </a:p>
                  </a:txBody>
                  <a:tcPr marL="0" marR="0" marT="0" marB="0" anchor="ctr"/>
                </a:tc>
                <a:tc>
                  <a:txBody>
                    <a:bodyPr/>
                    <a:lstStyle/>
                    <a:p>
                      <a:pPr marL="0" marR="0" algn="ctr">
                        <a:lnSpc>
                          <a:spcPct val="100000"/>
                        </a:lnSpc>
                        <a:spcBef>
                          <a:spcPts val="0"/>
                        </a:spcBef>
                        <a:spcAft>
                          <a:spcPts val="0"/>
                        </a:spcAft>
                      </a:pPr>
                      <a:r>
                        <a:rPr lang="en-US" sz="1200" kern="0" dirty="0">
                          <a:solidFill>
                            <a:srgbClr val="000000"/>
                          </a:solidFill>
                          <a:effectLst/>
                          <a:latin typeface="+mn-lt"/>
                        </a:rPr>
                        <a:t>6701</a:t>
                      </a:r>
                      <a:endParaRPr lang="en-US" sz="1200" kern="100" dirty="0">
                        <a:effectLst/>
                        <a:latin typeface="+mn-lt"/>
                        <a:ea typeface="Calibri" panose="020F0502020204030204" pitchFamily="34" charset="0"/>
                        <a:cs typeface="Calibri" panose="020F0502020204030204" pitchFamily="34" charset="0"/>
                      </a:endParaRPr>
                    </a:p>
                  </a:txBody>
                  <a:tcPr marL="0" marR="0" marT="0" marB="0" anchor="ctr"/>
                </a:tc>
                <a:tc>
                  <a:txBody>
                    <a:bodyPr/>
                    <a:lstStyle/>
                    <a:p>
                      <a:pPr algn="ctr" fontAlgn="b">
                        <a:lnSpc>
                          <a:spcPct val="100000"/>
                        </a:lnSpc>
                      </a:pPr>
                      <a:r>
                        <a:rPr lang="en-US" sz="1200" b="0" u="none" strike="noStrike">
                          <a:solidFill>
                            <a:srgbClr val="000000"/>
                          </a:solidFill>
                          <a:effectLst/>
                          <a:latin typeface="+mn-lt"/>
                        </a:rPr>
                        <a:t>8.32</a:t>
                      </a:r>
                      <a:endParaRPr lang="en-US" sz="1200" b="0" i="0" u="none" strike="noStrike">
                        <a:solidFill>
                          <a:srgbClr val="000000"/>
                        </a:solidFill>
                        <a:effectLst/>
                        <a:latin typeface="+mn-lt"/>
                        <a:cs typeface="Calibri" panose="020F0502020204030204" pitchFamily="34" charset="0"/>
                      </a:endParaRPr>
                    </a:p>
                  </a:txBody>
                  <a:tcPr marL="0" marR="0" marT="0" marB="0" anchor="ctr"/>
                </a:tc>
                <a:tc>
                  <a:txBody>
                    <a:bodyPr/>
                    <a:lstStyle/>
                    <a:p>
                      <a:pPr algn="ctr" fontAlgn="b">
                        <a:lnSpc>
                          <a:spcPct val="100000"/>
                        </a:lnSpc>
                      </a:pPr>
                      <a:r>
                        <a:rPr lang="en-US" sz="1200" b="0" u="none" strike="noStrike">
                          <a:solidFill>
                            <a:srgbClr val="000000"/>
                          </a:solidFill>
                          <a:effectLst/>
                          <a:latin typeface="+mn-lt"/>
                        </a:rPr>
                        <a:t>10.76</a:t>
                      </a:r>
                      <a:endParaRPr lang="en-US" sz="1200" b="0" i="0" u="none" strike="noStrike">
                        <a:solidFill>
                          <a:srgbClr val="000000"/>
                        </a:solidFill>
                        <a:effectLst/>
                        <a:latin typeface="+mn-lt"/>
                        <a:cs typeface="Calibri" panose="020F0502020204030204" pitchFamily="34" charset="0"/>
                      </a:endParaRPr>
                    </a:p>
                  </a:txBody>
                  <a:tcPr marL="0" marR="0" marT="0" marB="0" anchor="ctr"/>
                </a:tc>
                <a:tc>
                  <a:txBody>
                    <a:bodyPr/>
                    <a:lstStyle/>
                    <a:p>
                      <a:pPr algn="ctr" fontAlgn="b">
                        <a:lnSpc>
                          <a:spcPct val="100000"/>
                        </a:lnSpc>
                      </a:pPr>
                      <a:r>
                        <a:rPr lang="en-US" sz="1200" b="0" u="none" strike="noStrike" dirty="0">
                          <a:solidFill>
                            <a:srgbClr val="000000"/>
                          </a:solidFill>
                          <a:effectLst/>
                          <a:latin typeface="+mn-lt"/>
                        </a:rPr>
                        <a:t>0.62</a:t>
                      </a:r>
                      <a:endParaRPr lang="en-US" sz="1200" b="0" i="0" u="none" strike="noStrike" dirty="0">
                        <a:solidFill>
                          <a:srgbClr val="000000"/>
                        </a:solidFill>
                        <a:effectLst/>
                        <a:latin typeface="+mn-lt"/>
                        <a:cs typeface="Calibri" panose="020F0502020204030204" pitchFamily="34" charset="0"/>
                      </a:endParaRPr>
                    </a:p>
                  </a:txBody>
                  <a:tcPr marL="0" marR="0" marT="0" marB="0" anchor="ctr"/>
                </a:tc>
                <a:tc>
                  <a:txBody>
                    <a:bodyPr/>
                    <a:lstStyle/>
                    <a:p>
                      <a:pPr marL="0" marR="0" algn="ctr">
                        <a:lnSpc>
                          <a:spcPct val="100000"/>
                        </a:lnSpc>
                        <a:spcBef>
                          <a:spcPts val="0"/>
                        </a:spcBef>
                        <a:spcAft>
                          <a:spcPts val="0"/>
                        </a:spcAft>
                      </a:pPr>
                      <a:r>
                        <a:rPr lang="en-US" sz="1200" kern="0">
                          <a:solidFill>
                            <a:srgbClr val="000000"/>
                          </a:solidFill>
                          <a:effectLst/>
                          <a:latin typeface="+mn-lt"/>
                        </a:rPr>
                        <a:t> </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tc gridSpan="2">
                  <a:txBody>
                    <a:bodyPr/>
                    <a:lstStyle/>
                    <a:p>
                      <a:pPr marL="0" marR="0" algn="ctr">
                        <a:lnSpc>
                          <a:spcPct val="100000"/>
                        </a:lnSpc>
                        <a:spcBef>
                          <a:spcPts val="0"/>
                        </a:spcBef>
                        <a:spcAft>
                          <a:spcPts val="0"/>
                        </a:spcAft>
                      </a:pPr>
                      <a:r>
                        <a:rPr lang="en-US" sz="1200" kern="100">
                          <a:solidFill>
                            <a:srgbClr val="000000"/>
                          </a:solidFill>
                          <a:effectLst/>
                          <a:latin typeface="+mn-lt"/>
                        </a:rPr>
                        <a:t>8.14</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tc hMerge="1">
                  <a:txBody>
                    <a:bodyPr/>
                    <a:lstStyle/>
                    <a:p>
                      <a:endParaRPr lang="en-US"/>
                    </a:p>
                  </a:txBody>
                  <a:tcPr/>
                </a:tc>
                <a:tc>
                  <a:txBody>
                    <a:bodyPr/>
                    <a:lstStyle/>
                    <a:p>
                      <a:pPr marL="0" marR="0" algn="ctr">
                        <a:lnSpc>
                          <a:spcPct val="100000"/>
                        </a:lnSpc>
                        <a:spcBef>
                          <a:spcPts val="0"/>
                        </a:spcBef>
                        <a:spcAft>
                          <a:spcPts val="0"/>
                        </a:spcAft>
                      </a:pPr>
                      <a:r>
                        <a:rPr lang="en-US" sz="1200" kern="100" dirty="0">
                          <a:solidFill>
                            <a:srgbClr val="000000"/>
                          </a:solidFill>
                          <a:effectLst/>
                          <a:latin typeface="+mn-lt"/>
                        </a:rPr>
                        <a:t>10.39</a:t>
                      </a:r>
                      <a:endParaRPr lang="en-US" sz="1200" kern="100" dirty="0">
                        <a:effectLst/>
                        <a:latin typeface="+mn-lt"/>
                        <a:ea typeface="Calibri" panose="020F0502020204030204" pitchFamily="34" charset="0"/>
                        <a:cs typeface="Calibri" panose="020F0502020204030204" pitchFamily="34" charset="0"/>
                      </a:endParaRPr>
                    </a:p>
                  </a:txBody>
                  <a:tcPr marL="0" marR="0" marT="0" marB="0" anchor="ctr"/>
                </a:tc>
                <a:tc>
                  <a:txBody>
                    <a:bodyPr/>
                    <a:lstStyle/>
                    <a:p>
                      <a:pPr marL="0" marR="0" algn="ctr">
                        <a:lnSpc>
                          <a:spcPct val="100000"/>
                        </a:lnSpc>
                        <a:spcBef>
                          <a:spcPts val="0"/>
                        </a:spcBef>
                        <a:spcAft>
                          <a:spcPts val="0"/>
                        </a:spcAft>
                      </a:pPr>
                      <a:r>
                        <a:rPr lang="en-US" sz="1200" kern="100" dirty="0">
                          <a:solidFill>
                            <a:srgbClr val="000000"/>
                          </a:solidFill>
                          <a:effectLst/>
                          <a:latin typeface="+mn-lt"/>
                        </a:rPr>
                        <a:t>0.64</a:t>
                      </a:r>
                      <a:endParaRPr lang="en-US" sz="1200" kern="100" dirty="0">
                        <a:effectLst/>
                        <a:latin typeface="+mn-lt"/>
                        <a:ea typeface="Calibri" panose="020F0502020204030204" pitchFamily="34" charset="0"/>
                        <a:cs typeface="Calibri" panose="020F0502020204030204" pitchFamily="34" charset="0"/>
                      </a:endParaRPr>
                    </a:p>
                  </a:txBody>
                  <a:tcPr marL="0" marR="0" marT="0" marB="0" anchor="ctr"/>
                </a:tc>
                <a:tc>
                  <a:txBody>
                    <a:bodyPr/>
                    <a:lstStyle/>
                    <a:p>
                      <a:pPr marL="0" marR="0" algn="ctr">
                        <a:lnSpc>
                          <a:spcPct val="100000"/>
                        </a:lnSpc>
                        <a:spcBef>
                          <a:spcPts val="0"/>
                        </a:spcBef>
                        <a:spcAft>
                          <a:spcPts val="0"/>
                        </a:spcAft>
                      </a:pPr>
                      <a:r>
                        <a:rPr lang="en-US" sz="1200" kern="100">
                          <a:solidFill>
                            <a:srgbClr val="000000"/>
                          </a:solidFill>
                          <a:effectLst/>
                          <a:latin typeface="+mn-lt"/>
                        </a:rPr>
                        <a:t> </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extLst>
                  <a:ext uri="{0D108BD9-81ED-4DB2-BD59-A6C34878D82A}">
                    <a16:rowId xmlns:a16="http://schemas.microsoft.com/office/drawing/2014/main" val="211725030"/>
                  </a:ext>
                </a:extLst>
              </a:tr>
              <a:tr h="255866">
                <a:tc>
                  <a:txBody>
                    <a:bodyPr/>
                    <a:lstStyle/>
                    <a:p>
                      <a:pPr marL="0" marR="0" algn="ctr">
                        <a:lnSpc>
                          <a:spcPct val="100000"/>
                        </a:lnSpc>
                        <a:spcBef>
                          <a:spcPts val="0"/>
                        </a:spcBef>
                        <a:spcAft>
                          <a:spcPts val="0"/>
                        </a:spcAft>
                      </a:pPr>
                      <a:r>
                        <a:rPr lang="en-US" sz="1200" b="0" kern="0">
                          <a:solidFill>
                            <a:srgbClr val="000000"/>
                          </a:solidFill>
                          <a:effectLst/>
                          <a:latin typeface="+mn-lt"/>
                        </a:rPr>
                        <a:t>8721604</a:t>
                      </a:r>
                      <a:endParaRPr lang="en-US" sz="1200" b="0" kern="100">
                        <a:effectLst/>
                        <a:latin typeface="+mn-lt"/>
                        <a:ea typeface="Calibri" panose="020F0502020204030204" pitchFamily="34" charset="0"/>
                        <a:cs typeface="Calibri" panose="020F0502020204030204" pitchFamily="34" charset="0"/>
                      </a:endParaRPr>
                    </a:p>
                  </a:txBody>
                  <a:tcPr marL="0" marR="0" marT="0" marB="0" anchor="ctr"/>
                </a:tc>
                <a:tc>
                  <a:txBody>
                    <a:bodyPr/>
                    <a:lstStyle/>
                    <a:p>
                      <a:pPr marL="0" marR="0" algn="l">
                        <a:lnSpc>
                          <a:spcPct val="100000"/>
                        </a:lnSpc>
                        <a:spcBef>
                          <a:spcPts val="0"/>
                        </a:spcBef>
                        <a:spcAft>
                          <a:spcPts val="0"/>
                        </a:spcAft>
                      </a:pPr>
                      <a:r>
                        <a:rPr lang="en-US" sz="1200" kern="0" dirty="0">
                          <a:solidFill>
                            <a:srgbClr val="000000"/>
                          </a:solidFill>
                          <a:effectLst/>
                          <a:latin typeface="+mn-lt"/>
                        </a:rPr>
                        <a:t>Trident Pier, Port Canaveral</a:t>
                      </a:r>
                      <a:endParaRPr lang="en-US" sz="1200" kern="100" dirty="0">
                        <a:effectLst/>
                        <a:latin typeface="+mn-lt"/>
                        <a:ea typeface="Calibri" panose="020F0502020204030204" pitchFamily="34" charset="0"/>
                        <a:cs typeface="Calibri" panose="020F0502020204030204" pitchFamily="34" charset="0"/>
                      </a:endParaRPr>
                    </a:p>
                  </a:txBody>
                  <a:tcPr marL="0" marR="0" marT="0" marB="0" anchor="ctr"/>
                </a:tc>
                <a:tc>
                  <a:txBody>
                    <a:bodyPr/>
                    <a:lstStyle/>
                    <a:p>
                      <a:pPr marL="0" marR="0" algn="ctr">
                        <a:lnSpc>
                          <a:spcPct val="100000"/>
                        </a:lnSpc>
                        <a:spcBef>
                          <a:spcPts val="0"/>
                        </a:spcBef>
                        <a:spcAft>
                          <a:spcPts val="0"/>
                        </a:spcAft>
                      </a:pPr>
                      <a:r>
                        <a:rPr lang="en-US" sz="1200" kern="0" dirty="0">
                          <a:solidFill>
                            <a:srgbClr val="000000"/>
                          </a:solidFill>
                          <a:effectLst/>
                          <a:latin typeface="+mn-lt"/>
                        </a:rPr>
                        <a:t>7498</a:t>
                      </a:r>
                      <a:endParaRPr lang="en-US" sz="1200" kern="100" dirty="0">
                        <a:effectLst/>
                        <a:latin typeface="+mn-lt"/>
                        <a:ea typeface="Calibri" panose="020F0502020204030204" pitchFamily="34" charset="0"/>
                        <a:cs typeface="Calibri" panose="020F0502020204030204" pitchFamily="34" charset="0"/>
                      </a:endParaRPr>
                    </a:p>
                  </a:txBody>
                  <a:tcPr marL="0" marR="0" marT="0" marB="0" anchor="ctr"/>
                </a:tc>
                <a:tc>
                  <a:txBody>
                    <a:bodyPr/>
                    <a:lstStyle/>
                    <a:p>
                      <a:pPr algn="ctr" fontAlgn="b">
                        <a:lnSpc>
                          <a:spcPct val="100000"/>
                        </a:lnSpc>
                      </a:pPr>
                      <a:r>
                        <a:rPr lang="en-US" sz="1200" b="0" u="none" strike="noStrike">
                          <a:solidFill>
                            <a:srgbClr val="000000"/>
                          </a:solidFill>
                          <a:effectLst/>
                          <a:latin typeface="+mn-lt"/>
                        </a:rPr>
                        <a:t>6.30</a:t>
                      </a:r>
                      <a:endParaRPr lang="en-US" sz="1200" b="0" i="0" u="none" strike="noStrike">
                        <a:solidFill>
                          <a:srgbClr val="000000"/>
                        </a:solidFill>
                        <a:effectLst/>
                        <a:latin typeface="+mn-lt"/>
                        <a:cs typeface="Calibri" panose="020F0502020204030204" pitchFamily="34" charset="0"/>
                      </a:endParaRPr>
                    </a:p>
                  </a:txBody>
                  <a:tcPr marL="0" marR="0" marT="0" marB="0" anchor="ctr"/>
                </a:tc>
                <a:tc>
                  <a:txBody>
                    <a:bodyPr/>
                    <a:lstStyle/>
                    <a:p>
                      <a:pPr algn="ctr" fontAlgn="b">
                        <a:lnSpc>
                          <a:spcPct val="100000"/>
                        </a:lnSpc>
                      </a:pPr>
                      <a:r>
                        <a:rPr lang="en-US" sz="1200" b="0" u="none" strike="noStrike">
                          <a:solidFill>
                            <a:srgbClr val="000000"/>
                          </a:solidFill>
                          <a:effectLst/>
                          <a:latin typeface="+mn-lt"/>
                        </a:rPr>
                        <a:t>8.00</a:t>
                      </a:r>
                      <a:endParaRPr lang="en-US" sz="1200" b="0" i="0" u="none" strike="noStrike">
                        <a:solidFill>
                          <a:srgbClr val="000000"/>
                        </a:solidFill>
                        <a:effectLst/>
                        <a:latin typeface="+mn-lt"/>
                        <a:cs typeface="Calibri" panose="020F0502020204030204" pitchFamily="34" charset="0"/>
                      </a:endParaRPr>
                    </a:p>
                  </a:txBody>
                  <a:tcPr marL="0" marR="0" marT="0" marB="0" anchor="ctr"/>
                </a:tc>
                <a:tc>
                  <a:txBody>
                    <a:bodyPr/>
                    <a:lstStyle/>
                    <a:p>
                      <a:pPr algn="ctr" fontAlgn="b">
                        <a:lnSpc>
                          <a:spcPct val="100000"/>
                        </a:lnSpc>
                      </a:pPr>
                      <a:r>
                        <a:rPr lang="en-US" sz="1200" b="0" u="none" strike="noStrike" dirty="0">
                          <a:solidFill>
                            <a:srgbClr val="000000"/>
                          </a:solidFill>
                          <a:effectLst/>
                          <a:latin typeface="+mn-lt"/>
                        </a:rPr>
                        <a:t>0.69</a:t>
                      </a:r>
                      <a:endParaRPr lang="en-US" sz="1200" b="0" i="0" u="none" strike="noStrike" dirty="0">
                        <a:solidFill>
                          <a:srgbClr val="000000"/>
                        </a:solidFill>
                        <a:effectLst/>
                        <a:latin typeface="+mn-lt"/>
                        <a:cs typeface="Calibri" panose="020F0502020204030204" pitchFamily="34" charset="0"/>
                      </a:endParaRPr>
                    </a:p>
                  </a:txBody>
                  <a:tcPr marL="0" marR="0" marT="0" marB="0" anchor="ctr"/>
                </a:tc>
                <a:tc>
                  <a:txBody>
                    <a:bodyPr/>
                    <a:lstStyle/>
                    <a:p>
                      <a:pPr marL="0" marR="0" algn="ctr">
                        <a:lnSpc>
                          <a:spcPct val="100000"/>
                        </a:lnSpc>
                        <a:spcBef>
                          <a:spcPts val="0"/>
                        </a:spcBef>
                        <a:spcAft>
                          <a:spcPts val="0"/>
                        </a:spcAft>
                      </a:pPr>
                      <a:r>
                        <a:rPr lang="en-US" sz="1200" kern="0">
                          <a:solidFill>
                            <a:srgbClr val="000000"/>
                          </a:solidFill>
                          <a:effectLst/>
                          <a:latin typeface="+mn-lt"/>
                        </a:rPr>
                        <a:t> </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tc gridSpan="2">
                  <a:txBody>
                    <a:bodyPr/>
                    <a:lstStyle/>
                    <a:p>
                      <a:pPr marL="0" marR="0" algn="ctr">
                        <a:lnSpc>
                          <a:spcPct val="100000"/>
                        </a:lnSpc>
                        <a:spcBef>
                          <a:spcPts val="0"/>
                        </a:spcBef>
                        <a:spcAft>
                          <a:spcPts val="0"/>
                        </a:spcAft>
                      </a:pPr>
                      <a:r>
                        <a:rPr lang="en-US" sz="1200" kern="100">
                          <a:solidFill>
                            <a:srgbClr val="000000"/>
                          </a:solidFill>
                          <a:effectLst/>
                          <a:latin typeface="+mn-lt"/>
                        </a:rPr>
                        <a:t>6.12</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tc hMerge="1">
                  <a:txBody>
                    <a:bodyPr/>
                    <a:lstStyle/>
                    <a:p>
                      <a:endParaRPr lang="en-US"/>
                    </a:p>
                  </a:txBody>
                  <a:tcPr/>
                </a:tc>
                <a:tc>
                  <a:txBody>
                    <a:bodyPr/>
                    <a:lstStyle/>
                    <a:p>
                      <a:pPr marL="0" marR="0" algn="ctr">
                        <a:lnSpc>
                          <a:spcPct val="100000"/>
                        </a:lnSpc>
                        <a:spcBef>
                          <a:spcPts val="0"/>
                        </a:spcBef>
                        <a:spcAft>
                          <a:spcPts val="0"/>
                        </a:spcAft>
                      </a:pPr>
                      <a:r>
                        <a:rPr lang="en-US" sz="1200" kern="100">
                          <a:solidFill>
                            <a:srgbClr val="000000"/>
                          </a:solidFill>
                          <a:effectLst/>
                          <a:latin typeface="+mn-lt"/>
                        </a:rPr>
                        <a:t>7.77</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tc>
                  <a:txBody>
                    <a:bodyPr/>
                    <a:lstStyle/>
                    <a:p>
                      <a:pPr marL="0" marR="0" algn="ctr">
                        <a:lnSpc>
                          <a:spcPct val="100000"/>
                        </a:lnSpc>
                        <a:spcBef>
                          <a:spcPts val="0"/>
                        </a:spcBef>
                        <a:spcAft>
                          <a:spcPts val="0"/>
                        </a:spcAft>
                      </a:pPr>
                      <a:r>
                        <a:rPr lang="en-US" sz="1200" kern="100">
                          <a:solidFill>
                            <a:srgbClr val="000000"/>
                          </a:solidFill>
                          <a:effectLst/>
                          <a:latin typeface="+mn-lt"/>
                        </a:rPr>
                        <a:t>0.70</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tc>
                  <a:txBody>
                    <a:bodyPr/>
                    <a:lstStyle/>
                    <a:p>
                      <a:pPr marL="0" marR="0" algn="ctr">
                        <a:lnSpc>
                          <a:spcPct val="100000"/>
                        </a:lnSpc>
                        <a:spcBef>
                          <a:spcPts val="0"/>
                        </a:spcBef>
                        <a:spcAft>
                          <a:spcPts val="0"/>
                        </a:spcAft>
                      </a:pPr>
                      <a:r>
                        <a:rPr lang="en-US" sz="1200" kern="100">
                          <a:solidFill>
                            <a:srgbClr val="000000"/>
                          </a:solidFill>
                          <a:effectLst/>
                          <a:latin typeface="+mn-lt"/>
                        </a:rPr>
                        <a:t> </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extLst>
                  <a:ext uri="{0D108BD9-81ED-4DB2-BD59-A6C34878D82A}">
                    <a16:rowId xmlns:a16="http://schemas.microsoft.com/office/drawing/2014/main" val="4022830774"/>
                  </a:ext>
                </a:extLst>
              </a:tr>
              <a:tr h="255866">
                <a:tc>
                  <a:txBody>
                    <a:bodyPr/>
                    <a:lstStyle/>
                    <a:p>
                      <a:pPr marL="0" marR="0" algn="ctr">
                        <a:lnSpc>
                          <a:spcPct val="100000"/>
                        </a:lnSpc>
                        <a:spcBef>
                          <a:spcPts val="0"/>
                        </a:spcBef>
                        <a:spcAft>
                          <a:spcPts val="0"/>
                        </a:spcAft>
                      </a:pPr>
                      <a:r>
                        <a:rPr lang="en-US" sz="1200" b="0" kern="0">
                          <a:solidFill>
                            <a:srgbClr val="000000"/>
                          </a:solidFill>
                          <a:effectLst/>
                          <a:latin typeface="+mn-lt"/>
                        </a:rPr>
                        <a:t>8723214</a:t>
                      </a:r>
                      <a:endParaRPr lang="en-US" sz="1200" b="0" kern="100">
                        <a:effectLst/>
                        <a:latin typeface="+mn-lt"/>
                        <a:ea typeface="Calibri" panose="020F0502020204030204" pitchFamily="34" charset="0"/>
                        <a:cs typeface="Calibri" panose="020F0502020204030204" pitchFamily="34" charset="0"/>
                      </a:endParaRPr>
                    </a:p>
                  </a:txBody>
                  <a:tcPr marL="0" marR="0" marT="0" marB="0" anchor="ctr"/>
                </a:tc>
                <a:tc>
                  <a:txBody>
                    <a:bodyPr/>
                    <a:lstStyle/>
                    <a:p>
                      <a:pPr marL="0" marR="0" algn="l">
                        <a:lnSpc>
                          <a:spcPct val="100000"/>
                        </a:lnSpc>
                        <a:spcBef>
                          <a:spcPts val="0"/>
                        </a:spcBef>
                        <a:spcAft>
                          <a:spcPts val="0"/>
                        </a:spcAft>
                      </a:pPr>
                      <a:r>
                        <a:rPr lang="en-US" sz="1200" kern="0" dirty="0">
                          <a:solidFill>
                            <a:srgbClr val="000000"/>
                          </a:solidFill>
                          <a:effectLst/>
                          <a:latin typeface="+mn-lt"/>
                        </a:rPr>
                        <a:t>Virginia Key, Biscayne Bay</a:t>
                      </a:r>
                      <a:endParaRPr lang="en-US" sz="1200" kern="100" dirty="0">
                        <a:effectLst/>
                        <a:latin typeface="+mn-lt"/>
                        <a:ea typeface="Calibri" panose="020F0502020204030204" pitchFamily="34" charset="0"/>
                        <a:cs typeface="Calibri" panose="020F0502020204030204" pitchFamily="34" charset="0"/>
                      </a:endParaRPr>
                    </a:p>
                  </a:txBody>
                  <a:tcPr marL="0" marR="0" marT="0" marB="0" anchor="ctr"/>
                </a:tc>
                <a:tc>
                  <a:txBody>
                    <a:bodyPr/>
                    <a:lstStyle/>
                    <a:p>
                      <a:pPr marL="0" marR="0" algn="ctr">
                        <a:lnSpc>
                          <a:spcPct val="100000"/>
                        </a:lnSpc>
                        <a:spcBef>
                          <a:spcPts val="0"/>
                        </a:spcBef>
                        <a:spcAft>
                          <a:spcPts val="0"/>
                        </a:spcAft>
                      </a:pPr>
                      <a:r>
                        <a:rPr lang="en-US" sz="1200" kern="0">
                          <a:solidFill>
                            <a:srgbClr val="000000"/>
                          </a:solidFill>
                          <a:effectLst/>
                          <a:latin typeface="+mn-lt"/>
                        </a:rPr>
                        <a:t>7554</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tc>
                  <a:txBody>
                    <a:bodyPr/>
                    <a:lstStyle/>
                    <a:p>
                      <a:pPr algn="ctr" fontAlgn="b">
                        <a:lnSpc>
                          <a:spcPct val="100000"/>
                        </a:lnSpc>
                      </a:pPr>
                      <a:r>
                        <a:rPr lang="en-US" sz="1200" b="0" u="none" strike="noStrike">
                          <a:solidFill>
                            <a:srgbClr val="000000"/>
                          </a:solidFill>
                          <a:effectLst/>
                          <a:latin typeface="+mn-lt"/>
                        </a:rPr>
                        <a:t>5.40</a:t>
                      </a:r>
                      <a:endParaRPr lang="en-US" sz="1200" b="0" i="0" u="none" strike="noStrike">
                        <a:solidFill>
                          <a:srgbClr val="000000"/>
                        </a:solidFill>
                        <a:effectLst/>
                        <a:latin typeface="+mn-lt"/>
                        <a:cs typeface="Calibri" panose="020F0502020204030204" pitchFamily="34" charset="0"/>
                      </a:endParaRPr>
                    </a:p>
                  </a:txBody>
                  <a:tcPr marL="0" marR="0" marT="0" marB="0" anchor="ctr"/>
                </a:tc>
                <a:tc>
                  <a:txBody>
                    <a:bodyPr/>
                    <a:lstStyle/>
                    <a:p>
                      <a:pPr algn="ctr" fontAlgn="b">
                        <a:lnSpc>
                          <a:spcPct val="100000"/>
                        </a:lnSpc>
                      </a:pPr>
                      <a:r>
                        <a:rPr lang="en-US" sz="1200" b="0" u="none" strike="noStrike">
                          <a:solidFill>
                            <a:srgbClr val="000000"/>
                          </a:solidFill>
                          <a:effectLst/>
                          <a:latin typeface="+mn-lt"/>
                        </a:rPr>
                        <a:t>6.74</a:t>
                      </a:r>
                      <a:endParaRPr lang="en-US" sz="1200" b="0" i="0" u="none" strike="noStrike">
                        <a:solidFill>
                          <a:srgbClr val="000000"/>
                        </a:solidFill>
                        <a:effectLst/>
                        <a:latin typeface="+mn-lt"/>
                        <a:cs typeface="Calibri" panose="020F0502020204030204" pitchFamily="34" charset="0"/>
                      </a:endParaRPr>
                    </a:p>
                  </a:txBody>
                  <a:tcPr marL="0" marR="0" marT="0" marB="0" anchor="ctr"/>
                </a:tc>
                <a:tc>
                  <a:txBody>
                    <a:bodyPr/>
                    <a:lstStyle/>
                    <a:p>
                      <a:pPr algn="ctr" fontAlgn="b">
                        <a:lnSpc>
                          <a:spcPct val="100000"/>
                        </a:lnSpc>
                      </a:pPr>
                      <a:r>
                        <a:rPr lang="en-US" sz="1200" b="0" u="none" strike="noStrike" dirty="0">
                          <a:solidFill>
                            <a:srgbClr val="000000"/>
                          </a:solidFill>
                          <a:effectLst/>
                          <a:latin typeface="+mn-lt"/>
                        </a:rPr>
                        <a:t>0.60</a:t>
                      </a:r>
                      <a:endParaRPr lang="en-US" sz="1200" b="0" i="0" u="none" strike="noStrike" dirty="0">
                        <a:solidFill>
                          <a:srgbClr val="000000"/>
                        </a:solidFill>
                        <a:effectLst/>
                        <a:latin typeface="+mn-lt"/>
                        <a:cs typeface="Calibri" panose="020F0502020204030204" pitchFamily="34" charset="0"/>
                      </a:endParaRPr>
                    </a:p>
                  </a:txBody>
                  <a:tcPr marL="0" marR="0" marT="0" marB="0" anchor="ctr"/>
                </a:tc>
                <a:tc>
                  <a:txBody>
                    <a:bodyPr/>
                    <a:lstStyle/>
                    <a:p>
                      <a:pPr marL="0" marR="0" algn="ctr">
                        <a:lnSpc>
                          <a:spcPct val="100000"/>
                        </a:lnSpc>
                        <a:spcBef>
                          <a:spcPts val="0"/>
                        </a:spcBef>
                        <a:spcAft>
                          <a:spcPts val="0"/>
                        </a:spcAft>
                      </a:pPr>
                      <a:r>
                        <a:rPr lang="en-US" sz="1200" kern="0" dirty="0">
                          <a:solidFill>
                            <a:srgbClr val="000000"/>
                          </a:solidFill>
                          <a:effectLst/>
                          <a:latin typeface="+mn-lt"/>
                        </a:rPr>
                        <a:t> </a:t>
                      </a:r>
                      <a:endParaRPr lang="en-US" sz="1200" kern="100" dirty="0">
                        <a:effectLst/>
                        <a:latin typeface="+mn-lt"/>
                        <a:ea typeface="Calibri" panose="020F0502020204030204" pitchFamily="34" charset="0"/>
                        <a:cs typeface="Calibri" panose="020F0502020204030204" pitchFamily="34" charset="0"/>
                      </a:endParaRPr>
                    </a:p>
                  </a:txBody>
                  <a:tcPr marL="0" marR="0" marT="0" marB="0" anchor="ctr"/>
                </a:tc>
                <a:tc gridSpan="2">
                  <a:txBody>
                    <a:bodyPr/>
                    <a:lstStyle/>
                    <a:p>
                      <a:pPr marL="0" marR="0" algn="ctr">
                        <a:lnSpc>
                          <a:spcPct val="100000"/>
                        </a:lnSpc>
                        <a:spcBef>
                          <a:spcPts val="0"/>
                        </a:spcBef>
                        <a:spcAft>
                          <a:spcPts val="0"/>
                        </a:spcAft>
                      </a:pPr>
                      <a:r>
                        <a:rPr lang="en-US" sz="1200" kern="100" dirty="0">
                          <a:solidFill>
                            <a:srgbClr val="000000"/>
                          </a:solidFill>
                          <a:effectLst/>
                          <a:latin typeface="+mn-lt"/>
                        </a:rPr>
                        <a:t>5.44</a:t>
                      </a:r>
                      <a:endParaRPr lang="en-US" sz="1200" kern="100" dirty="0">
                        <a:effectLst/>
                        <a:latin typeface="+mn-lt"/>
                        <a:ea typeface="Calibri" panose="020F0502020204030204" pitchFamily="34" charset="0"/>
                        <a:cs typeface="Calibri" panose="020F0502020204030204" pitchFamily="34" charset="0"/>
                      </a:endParaRPr>
                    </a:p>
                  </a:txBody>
                  <a:tcPr marL="0" marR="0" marT="0" marB="0" anchor="ctr"/>
                </a:tc>
                <a:tc hMerge="1">
                  <a:txBody>
                    <a:bodyPr/>
                    <a:lstStyle/>
                    <a:p>
                      <a:endParaRPr lang="en-US"/>
                    </a:p>
                  </a:txBody>
                  <a:tcPr/>
                </a:tc>
                <a:tc>
                  <a:txBody>
                    <a:bodyPr/>
                    <a:lstStyle/>
                    <a:p>
                      <a:pPr marL="0" marR="0" algn="ctr">
                        <a:lnSpc>
                          <a:spcPct val="100000"/>
                        </a:lnSpc>
                        <a:spcBef>
                          <a:spcPts val="0"/>
                        </a:spcBef>
                        <a:spcAft>
                          <a:spcPts val="0"/>
                        </a:spcAft>
                      </a:pPr>
                      <a:r>
                        <a:rPr lang="en-US" sz="1200" kern="100" dirty="0">
                          <a:solidFill>
                            <a:srgbClr val="000000"/>
                          </a:solidFill>
                          <a:effectLst/>
                          <a:latin typeface="+mn-lt"/>
                        </a:rPr>
                        <a:t>6.79</a:t>
                      </a:r>
                      <a:endParaRPr lang="en-US" sz="1200" kern="100" dirty="0">
                        <a:effectLst/>
                        <a:latin typeface="+mn-lt"/>
                        <a:ea typeface="Calibri" panose="020F0502020204030204" pitchFamily="34" charset="0"/>
                        <a:cs typeface="Calibri" panose="020F0502020204030204" pitchFamily="34" charset="0"/>
                      </a:endParaRPr>
                    </a:p>
                  </a:txBody>
                  <a:tcPr marL="0" marR="0" marT="0" marB="0" anchor="ctr"/>
                </a:tc>
                <a:tc>
                  <a:txBody>
                    <a:bodyPr/>
                    <a:lstStyle/>
                    <a:p>
                      <a:pPr marL="0" marR="0" algn="ctr">
                        <a:lnSpc>
                          <a:spcPct val="100000"/>
                        </a:lnSpc>
                        <a:spcBef>
                          <a:spcPts val="0"/>
                        </a:spcBef>
                        <a:spcAft>
                          <a:spcPts val="0"/>
                        </a:spcAft>
                      </a:pPr>
                      <a:r>
                        <a:rPr lang="en-US" sz="1200" kern="100" dirty="0">
                          <a:solidFill>
                            <a:srgbClr val="000000"/>
                          </a:solidFill>
                          <a:effectLst/>
                          <a:latin typeface="+mn-lt"/>
                        </a:rPr>
                        <a:t>0.66</a:t>
                      </a:r>
                      <a:endParaRPr lang="en-US" sz="1200" kern="100" dirty="0">
                        <a:effectLst/>
                        <a:latin typeface="+mn-lt"/>
                        <a:ea typeface="Calibri" panose="020F0502020204030204" pitchFamily="34" charset="0"/>
                        <a:cs typeface="Calibri" panose="020F0502020204030204" pitchFamily="34" charset="0"/>
                      </a:endParaRPr>
                    </a:p>
                  </a:txBody>
                  <a:tcPr marL="0" marR="0" marT="0" marB="0" anchor="ctr"/>
                </a:tc>
                <a:tc>
                  <a:txBody>
                    <a:bodyPr/>
                    <a:lstStyle/>
                    <a:p>
                      <a:pPr marL="0" marR="0" algn="ctr">
                        <a:lnSpc>
                          <a:spcPct val="100000"/>
                        </a:lnSpc>
                        <a:spcBef>
                          <a:spcPts val="0"/>
                        </a:spcBef>
                        <a:spcAft>
                          <a:spcPts val="0"/>
                        </a:spcAft>
                      </a:pPr>
                      <a:r>
                        <a:rPr lang="en-US" sz="1200" kern="100">
                          <a:solidFill>
                            <a:srgbClr val="000000"/>
                          </a:solidFill>
                          <a:effectLst/>
                          <a:latin typeface="+mn-lt"/>
                        </a:rPr>
                        <a:t> </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extLst>
                  <a:ext uri="{0D108BD9-81ED-4DB2-BD59-A6C34878D82A}">
                    <a16:rowId xmlns:a16="http://schemas.microsoft.com/office/drawing/2014/main" val="4171201965"/>
                  </a:ext>
                </a:extLst>
              </a:tr>
              <a:tr h="255866">
                <a:tc>
                  <a:txBody>
                    <a:bodyPr/>
                    <a:lstStyle/>
                    <a:p>
                      <a:pPr marL="0" marR="0" algn="ctr">
                        <a:lnSpc>
                          <a:spcPct val="100000"/>
                        </a:lnSpc>
                        <a:spcBef>
                          <a:spcPts val="0"/>
                        </a:spcBef>
                        <a:spcAft>
                          <a:spcPts val="0"/>
                        </a:spcAft>
                      </a:pPr>
                      <a:r>
                        <a:rPr lang="en-US" sz="1200" b="0" kern="0">
                          <a:solidFill>
                            <a:srgbClr val="000000"/>
                          </a:solidFill>
                          <a:effectLst/>
                          <a:latin typeface="+mn-lt"/>
                        </a:rPr>
                        <a:t>8723970</a:t>
                      </a:r>
                      <a:endParaRPr lang="en-US" sz="1200" b="0" kern="100">
                        <a:effectLst/>
                        <a:latin typeface="+mn-lt"/>
                        <a:ea typeface="Calibri" panose="020F0502020204030204" pitchFamily="34" charset="0"/>
                        <a:cs typeface="Calibri" panose="020F0502020204030204" pitchFamily="34" charset="0"/>
                      </a:endParaRPr>
                    </a:p>
                  </a:txBody>
                  <a:tcPr marL="0" marR="0" marT="0" marB="0" anchor="ctr"/>
                </a:tc>
                <a:tc>
                  <a:txBody>
                    <a:bodyPr/>
                    <a:lstStyle/>
                    <a:p>
                      <a:pPr marL="0" marR="0" algn="l">
                        <a:lnSpc>
                          <a:spcPct val="100000"/>
                        </a:lnSpc>
                        <a:spcBef>
                          <a:spcPts val="0"/>
                        </a:spcBef>
                        <a:spcAft>
                          <a:spcPts val="0"/>
                        </a:spcAft>
                      </a:pPr>
                      <a:r>
                        <a:rPr lang="en-US" sz="1200" kern="0" dirty="0">
                          <a:solidFill>
                            <a:srgbClr val="000000"/>
                          </a:solidFill>
                          <a:effectLst/>
                          <a:latin typeface="+mn-lt"/>
                        </a:rPr>
                        <a:t>Vaca Key, Florida Bay</a:t>
                      </a:r>
                      <a:endParaRPr lang="en-US" sz="1200" kern="100" dirty="0">
                        <a:effectLst/>
                        <a:latin typeface="+mn-lt"/>
                        <a:ea typeface="Calibri" panose="020F0502020204030204" pitchFamily="34" charset="0"/>
                        <a:cs typeface="Calibri" panose="020F0502020204030204" pitchFamily="34" charset="0"/>
                      </a:endParaRPr>
                    </a:p>
                  </a:txBody>
                  <a:tcPr marL="0" marR="0" marT="0" marB="0" anchor="ctr"/>
                </a:tc>
                <a:tc>
                  <a:txBody>
                    <a:bodyPr/>
                    <a:lstStyle/>
                    <a:p>
                      <a:pPr marL="0" marR="0" algn="ctr">
                        <a:lnSpc>
                          <a:spcPct val="100000"/>
                        </a:lnSpc>
                        <a:spcBef>
                          <a:spcPts val="0"/>
                        </a:spcBef>
                        <a:spcAft>
                          <a:spcPts val="0"/>
                        </a:spcAft>
                      </a:pPr>
                      <a:r>
                        <a:rPr lang="en-US" sz="1200" kern="0">
                          <a:solidFill>
                            <a:srgbClr val="000000"/>
                          </a:solidFill>
                          <a:effectLst/>
                          <a:latin typeface="+mn-lt"/>
                        </a:rPr>
                        <a:t>7437</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tc>
                  <a:txBody>
                    <a:bodyPr/>
                    <a:lstStyle/>
                    <a:p>
                      <a:pPr algn="ctr" fontAlgn="b">
                        <a:lnSpc>
                          <a:spcPct val="100000"/>
                        </a:lnSpc>
                      </a:pPr>
                      <a:r>
                        <a:rPr lang="en-US" sz="1200" b="0" u="none" strike="noStrike">
                          <a:solidFill>
                            <a:srgbClr val="000000"/>
                          </a:solidFill>
                          <a:effectLst/>
                          <a:latin typeface="+mn-lt"/>
                        </a:rPr>
                        <a:t>4.33</a:t>
                      </a:r>
                      <a:endParaRPr lang="en-US" sz="1200" b="0" i="0" u="none" strike="noStrike">
                        <a:solidFill>
                          <a:srgbClr val="000000"/>
                        </a:solidFill>
                        <a:effectLst/>
                        <a:latin typeface="+mn-lt"/>
                        <a:cs typeface="Calibri" panose="020F0502020204030204" pitchFamily="34" charset="0"/>
                      </a:endParaRPr>
                    </a:p>
                  </a:txBody>
                  <a:tcPr marL="0" marR="0" marT="0" marB="0" anchor="ctr"/>
                </a:tc>
                <a:tc>
                  <a:txBody>
                    <a:bodyPr/>
                    <a:lstStyle/>
                    <a:p>
                      <a:pPr algn="ctr" fontAlgn="b">
                        <a:lnSpc>
                          <a:spcPct val="100000"/>
                        </a:lnSpc>
                      </a:pPr>
                      <a:r>
                        <a:rPr lang="en-US" sz="1200" b="0" u="none" strike="noStrike">
                          <a:solidFill>
                            <a:srgbClr val="000000"/>
                          </a:solidFill>
                          <a:effectLst/>
                          <a:latin typeface="+mn-lt"/>
                        </a:rPr>
                        <a:t>5.40</a:t>
                      </a:r>
                      <a:endParaRPr lang="en-US" sz="1200" b="0" i="0" u="none" strike="noStrike">
                        <a:solidFill>
                          <a:srgbClr val="000000"/>
                        </a:solidFill>
                        <a:effectLst/>
                        <a:latin typeface="+mn-lt"/>
                        <a:cs typeface="Calibri" panose="020F0502020204030204" pitchFamily="34" charset="0"/>
                      </a:endParaRPr>
                    </a:p>
                  </a:txBody>
                  <a:tcPr marL="0" marR="0" marT="0" marB="0" anchor="ctr"/>
                </a:tc>
                <a:tc>
                  <a:txBody>
                    <a:bodyPr/>
                    <a:lstStyle/>
                    <a:p>
                      <a:pPr algn="ctr" fontAlgn="b">
                        <a:lnSpc>
                          <a:spcPct val="100000"/>
                        </a:lnSpc>
                      </a:pPr>
                      <a:r>
                        <a:rPr lang="en-US" sz="1200" b="0" u="none" strike="noStrike" dirty="0">
                          <a:solidFill>
                            <a:srgbClr val="000000"/>
                          </a:solidFill>
                          <a:effectLst/>
                          <a:latin typeface="+mn-lt"/>
                        </a:rPr>
                        <a:t>0.66</a:t>
                      </a:r>
                      <a:endParaRPr lang="en-US" sz="1200" b="0" i="0" u="none" strike="noStrike" dirty="0">
                        <a:solidFill>
                          <a:srgbClr val="000000"/>
                        </a:solidFill>
                        <a:effectLst/>
                        <a:latin typeface="+mn-lt"/>
                        <a:cs typeface="Calibri" panose="020F0502020204030204" pitchFamily="34" charset="0"/>
                      </a:endParaRPr>
                    </a:p>
                  </a:txBody>
                  <a:tcPr marL="0" marR="0" marT="0" marB="0" anchor="ctr"/>
                </a:tc>
                <a:tc>
                  <a:txBody>
                    <a:bodyPr/>
                    <a:lstStyle/>
                    <a:p>
                      <a:pPr marL="0" marR="0" algn="ctr">
                        <a:lnSpc>
                          <a:spcPct val="100000"/>
                        </a:lnSpc>
                        <a:spcBef>
                          <a:spcPts val="0"/>
                        </a:spcBef>
                        <a:spcAft>
                          <a:spcPts val="0"/>
                        </a:spcAft>
                      </a:pPr>
                      <a:r>
                        <a:rPr lang="en-US" sz="1200" kern="0">
                          <a:solidFill>
                            <a:srgbClr val="000000"/>
                          </a:solidFill>
                          <a:effectLst/>
                          <a:latin typeface="+mn-lt"/>
                        </a:rPr>
                        <a:t> </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tc gridSpan="2">
                  <a:txBody>
                    <a:bodyPr/>
                    <a:lstStyle/>
                    <a:p>
                      <a:pPr marL="0" marR="0" algn="ctr">
                        <a:lnSpc>
                          <a:spcPct val="100000"/>
                        </a:lnSpc>
                        <a:spcBef>
                          <a:spcPts val="0"/>
                        </a:spcBef>
                        <a:spcAft>
                          <a:spcPts val="0"/>
                        </a:spcAft>
                      </a:pPr>
                      <a:r>
                        <a:rPr lang="en-US" sz="1200" kern="100">
                          <a:solidFill>
                            <a:srgbClr val="000000"/>
                          </a:solidFill>
                          <a:effectLst/>
                          <a:latin typeface="+mn-lt"/>
                        </a:rPr>
                        <a:t>4.45</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tc hMerge="1">
                  <a:txBody>
                    <a:bodyPr/>
                    <a:lstStyle/>
                    <a:p>
                      <a:endParaRPr lang="en-US"/>
                    </a:p>
                  </a:txBody>
                  <a:tcPr/>
                </a:tc>
                <a:tc>
                  <a:txBody>
                    <a:bodyPr/>
                    <a:lstStyle/>
                    <a:p>
                      <a:pPr marL="0" marR="0" algn="ctr">
                        <a:lnSpc>
                          <a:spcPct val="100000"/>
                        </a:lnSpc>
                        <a:spcBef>
                          <a:spcPts val="0"/>
                        </a:spcBef>
                        <a:spcAft>
                          <a:spcPts val="0"/>
                        </a:spcAft>
                      </a:pPr>
                      <a:r>
                        <a:rPr lang="en-US" sz="1200" kern="100">
                          <a:solidFill>
                            <a:srgbClr val="000000"/>
                          </a:solidFill>
                          <a:effectLst/>
                          <a:latin typeface="+mn-lt"/>
                        </a:rPr>
                        <a:t>5.62</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tc>
                  <a:txBody>
                    <a:bodyPr/>
                    <a:lstStyle/>
                    <a:p>
                      <a:pPr marL="0" marR="0" algn="ctr">
                        <a:lnSpc>
                          <a:spcPct val="100000"/>
                        </a:lnSpc>
                        <a:spcBef>
                          <a:spcPts val="0"/>
                        </a:spcBef>
                        <a:spcAft>
                          <a:spcPts val="0"/>
                        </a:spcAft>
                      </a:pPr>
                      <a:r>
                        <a:rPr lang="en-US" sz="1200" kern="100">
                          <a:solidFill>
                            <a:srgbClr val="000000"/>
                          </a:solidFill>
                          <a:effectLst/>
                          <a:latin typeface="+mn-lt"/>
                        </a:rPr>
                        <a:t>0.69</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tc>
                  <a:txBody>
                    <a:bodyPr/>
                    <a:lstStyle/>
                    <a:p>
                      <a:pPr marL="0" marR="0" algn="ctr">
                        <a:lnSpc>
                          <a:spcPct val="100000"/>
                        </a:lnSpc>
                        <a:spcBef>
                          <a:spcPts val="0"/>
                        </a:spcBef>
                        <a:spcAft>
                          <a:spcPts val="0"/>
                        </a:spcAft>
                      </a:pPr>
                      <a:r>
                        <a:rPr lang="en-US" sz="1200" kern="100">
                          <a:solidFill>
                            <a:srgbClr val="000000"/>
                          </a:solidFill>
                          <a:effectLst/>
                          <a:latin typeface="+mn-lt"/>
                        </a:rPr>
                        <a:t> </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extLst>
                  <a:ext uri="{0D108BD9-81ED-4DB2-BD59-A6C34878D82A}">
                    <a16:rowId xmlns:a16="http://schemas.microsoft.com/office/drawing/2014/main" val="3111734910"/>
                  </a:ext>
                </a:extLst>
              </a:tr>
              <a:tr h="255866">
                <a:tc>
                  <a:txBody>
                    <a:bodyPr/>
                    <a:lstStyle/>
                    <a:p>
                      <a:pPr marL="0" marR="0" algn="ctr">
                        <a:lnSpc>
                          <a:spcPct val="100000"/>
                        </a:lnSpc>
                        <a:spcBef>
                          <a:spcPts val="0"/>
                        </a:spcBef>
                        <a:spcAft>
                          <a:spcPts val="0"/>
                        </a:spcAft>
                      </a:pPr>
                      <a:r>
                        <a:rPr lang="en-US" sz="1200" b="0" kern="0">
                          <a:solidFill>
                            <a:srgbClr val="000000"/>
                          </a:solidFill>
                          <a:effectLst/>
                          <a:latin typeface="+mn-lt"/>
                        </a:rPr>
                        <a:t>8724580</a:t>
                      </a:r>
                      <a:endParaRPr lang="en-US" sz="1200" b="0" kern="100">
                        <a:effectLst/>
                        <a:latin typeface="+mn-lt"/>
                        <a:ea typeface="Calibri" panose="020F0502020204030204" pitchFamily="34" charset="0"/>
                        <a:cs typeface="Calibri" panose="020F0502020204030204" pitchFamily="34" charset="0"/>
                      </a:endParaRPr>
                    </a:p>
                  </a:txBody>
                  <a:tcPr marL="0" marR="0" marT="0" marB="0" anchor="ctr"/>
                </a:tc>
                <a:tc>
                  <a:txBody>
                    <a:bodyPr/>
                    <a:lstStyle/>
                    <a:p>
                      <a:pPr marL="0" marR="0" algn="l">
                        <a:lnSpc>
                          <a:spcPct val="100000"/>
                        </a:lnSpc>
                        <a:spcBef>
                          <a:spcPts val="0"/>
                        </a:spcBef>
                        <a:spcAft>
                          <a:spcPts val="0"/>
                        </a:spcAft>
                      </a:pPr>
                      <a:r>
                        <a:rPr lang="en-US" sz="1200" kern="0" dirty="0">
                          <a:solidFill>
                            <a:srgbClr val="000000"/>
                          </a:solidFill>
                          <a:effectLst/>
                          <a:latin typeface="+mn-lt"/>
                        </a:rPr>
                        <a:t>Key West</a:t>
                      </a:r>
                      <a:endParaRPr lang="en-US" sz="1200" kern="100" dirty="0">
                        <a:effectLst/>
                        <a:latin typeface="+mn-lt"/>
                        <a:ea typeface="Calibri" panose="020F0502020204030204" pitchFamily="34" charset="0"/>
                        <a:cs typeface="Calibri" panose="020F0502020204030204" pitchFamily="34" charset="0"/>
                      </a:endParaRPr>
                    </a:p>
                  </a:txBody>
                  <a:tcPr marL="0" marR="0" marT="0" marB="0" anchor="ctr"/>
                </a:tc>
                <a:tc>
                  <a:txBody>
                    <a:bodyPr/>
                    <a:lstStyle/>
                    <a:p>
                      <a:pPr marL="0" marR="0" algn="ctr">
                        <a:lnSpc>
                          <a:spcPct val="100000"/>
                        </a:lnSpc>
                        <a:spcBef>
                          <a:spcPts val="0"/>
                        </a:spcBef>
                        <a:spcAft>
                          <a:spcPts val="0"/>
                        </a:spcAft>
                      </a:pPr>
                      <a:r>
                        <a:rPr lang="en-US" sz="1200" kern="0" dirty="0">
                          <a:solidFill>
                            <a:srgbClr val="000000"/>
                          </a:solidFill>
                          <a:effectLst/>
                          <a:latin typeface="+mn-lt"/>
                        </a:rPr>
                        <a:t>7542</a:t>
                      </a:r>
                      <a:endParaRPr lang="en-US" sz="1200" kern="100" dirty="0">
                        <a:effectLst/>
                        <a:latin typeface="+mn-lt"/>
                        <a:ea typeface="Calibri" panose="020F0502020204030204" pitchFamily="34" charset="0"/>
                        <a:cs typeface="Calibri" panose="020F0502020204030204" pitchFamily="34" charset="0"/>
                      </a:endParaRPr>
                    </a:p>
                  </a:txBody>
                  <a:tcPr marL="0" marR="0" marT="0" marB="0" anchor="ctr"/>
                </a:tc>
                <a:tc>
                  <a:txBody>
                    <a:bodyPr/>
                    <a:lstStyle/>
                    <a:p>
                      <a:pPr algn="ctr" fontAlgn="b">
                        <a:lnSpc>
                          <a:spcPct val="100000"/>
                        </a:lnSpc>
                      </a:pPr>
                      <a:r>
                        <a:rPr lang="en-US" sz="1200" b="0" u="none" strike="noStrike" dirty="0">
                          <a:solidFill>
                            <a:srgbClr val="000000"/>
                          </a:solidFill>
                          <a:effectLst/>
                          <a:latin typeface="+mn-lt"/>
                        </a:rPr>
                        <a:t>4.81</a:t>
                      </a:r>
                      <a:endParaRPr lang="en-US" sz="1200" b="0" i="0" u="none" strike="noStrike" dirty="0">
                        <a:solidFill>
                          <a:srgbClr val="000000"/>
                        </a:solidFill>
                        <a:effectLst/>
                        <a:latin typeface="+mn-lt"/>
                        <a:cs typeface="Calibri" panose="020F0502020204030204" pitchFamily="34" charset="0"/>
                      </a:endParaRPr>
                    </a:p>
                  </a:txBody>
                  <a:tcPr marL="0" marR="0" marT="0" marB="0" anchor="ctr"/>
                </a:tc>
                <a:tc>
                  <a:txBody>
                    <a:bodyPr/>
                    <a:lstStyle/>
                    <a:p>
                      <a:pPr algn="ctr" fontAlgn="b">
                        <a:lnSpc>
                          <a:spcPct val="100000"/>
                        </a:lnSpc>
                      </a:pPr>
                      <a:r>
                        <a:rPr lang="en-US" sz="1200" b="0" u="none" strike="noStrike" dirty="0">
                          <a:solidFill>
                            <a:srgbClr val="000000"/>
                          </a:solidFill>
                          <a:effectLst/>
                          <a:latin typeface="+mn-lt"/>
                        </a:rPr>
                        <a:t>6.03</a:t>
                      </a:r>
                      <a:endParaRPr lang="en-US" sz="1200" b="0" i="0" u="none" strike="noStrike" dirty="0">
                        <a:solidFill>
                          <a:srgbClr val="000000"/>
                        </a:solidFill>
                        <a:effectLst/>
                        <a:latin typeface="+mn-lt"/>
                        <a:cs typeface="Calibri" panose="020F0502020204030204" pitchFamily="34" charset="0"/>
                      </a:endParaRPr>
                    </a:p>
                  </a:txBody>
                  <a:tcPr marL="0" marR="0" marT="0" marB="0" anchor="ctr"/>
                </a:tc>
                <a:tc>
                  <a:txBody>
                    <a:bodyPr/>
                    <a:lstStyle/>
                    <a:p>
                      <a:pPr algn="ctr" fontAlgn="b">
                        <a:lnSpc>
                          <a:spcPct val="100000"/>
                        </a:lnSpc>
                      </a:pPr>
                      <a:r>
                        <a:rPr lang="en-US" sz="1200" b="0" u="none" strike="noStrike" dirty="0">
                          <a:solidFill>
                            <a:srgbClr val="000000"/>
                          </a:solidFill>
                          <a:effectLst/>
                          <a:latin typeface="+mn-lt"/>
                        </a:rPr>
                        <a:t>0.72</a:t>
                      </a:r>
                      <a:endParaRPr lang="en-US" sz="1200" b="0" i="0" u="none" strike="noStrike" dirty="0">
                        <a:solidFill>
                          <a:srgbClr val="000000"/>
                        </a:solidFill>
                        <a:effectLst/>
                        <a:latin typeface="+mn-lt"/>
                        <a:cs typeface="Calibri" panose="020F0502020204030204" pitchFamily="34" charset="0"/>
                      </a:endParaRPr>
                    </a:p>
                  </a:txBody>
                  <a:tcPr marL="0" marR="0" marT="0" marB="0" anchor="ctr"/>
                </a:tc>
                <a:tc>
                  <a:txBody>
                    <a:bodyPr/>
                    <a:lstStyle/>
                    <a:p>
                      <a:pPr marL="0" marR="0" algn="ctr">
                        <a:lnSpc>
                          <a:spcPct val="100000"/>
                        </a:lnSpc>
                        <a:spcBef>
                          <a:spcPts val="0"/>
                        </a:spcBef>
                        <a:spcAft>
                          <a:spcPts val="0"/>
                        </a:spcAft>
                      </a:pPr>
                      <a:r>
                        <a:rPr lang="en-US" sz="1200" kern="0" dirty="0">
                          <a:solidFill>
                            <a:srgbClr val="000000"/>
                          </a:solidFill>
                          <a:effectLst/>
                          <a:latin typeface="+mn-lt"/>
                        </a:rPr>
                        <a:t> </a:t>
                      </a:r>
                      <a:endParaRPr lang="en-US" sz="1200" kern="100" dirty="0">
                        <a:effectLst/>
                        <a:latin typeface="+mn-lt"/>
                        <a:ea typeface="Calibri" panose="020F0502020204030204" pitchFamily="34" charset="0"/>
                        <a:cs typeface="Calibri" panose="020F0502020204030204" pitchFamily="34" charset="0"/>
                      </a:endParaRPr>
                    </a:p>
                  </a:txBody>
                  <a:tcPr marL="0" marR="0" marT="0" marB="0" anchor="ctr"/>
                </a:tc>
                <a:tc gridSpan="2">
                  <a:txBody>
                    <a:bodyPr/>
                    <a:lstStyle/>
                    <a:p>
                      <a:pPr marL="0" marR="0" algn="ctr">
                        <a:lnSpc>
                          <a:spcPct val="100000"/>
                        </a:lnSpc>
                        <a:spcBef>
                          <a:spcPts val="0"/>
                        </a:spcBef>
                        <a:spcAft>
                          <a:spcPts val="0"/>
                        </a:spcAft>
                      </a:pPr>
                      <a:r>
                        <a:rPr lang="en-US" sz="1200" kern="100" dirty="0">
                          <a:solidFill>
                            <a:srgbClr val="000000"/>
                          </a:solidFill>
                          <a:effectLst/>
                          <a:latin typeface="+mn-lt"/>
                        </a:rPr>
                        <a:t>4.66</a:t>
                      </a:r>
                      <a:endParaRPr lang="en-US" sz="1200" kern="100" dirty="0">
                        <a:effectLst/>
                        <a:latin typeface="+mn-lt"/>
                        <a:ea typeface="Calibri" panose="020F0502020204030204" pitchFamily="34" charset="0"/>
                        <a:cs typeface="Calibri" panose="020F0502020204030204" pitchFamily="34" charset="0"/>
                      </a:endParaRPr>
                    </a:p>
                  </a:txBody>
                  <a:tcPr marL="0" marR="0" marT="0" marB="0" anchor="ctr"/>
                </a:tc>
                <a:tc hMerge="1">
                  <a:txBody>
                    <a:bodyPr/>
                    <a:lstStyle/>
                    <a:p>
                      <a:endParaRPr lang="en-US"/>
                    </a:p>
                  </a:txBody>
                  <a:tcPr/>
                </a:tc>
                <a:tc>
                  <a:txBody>
                    <a:bodyPr/>
                    <a:lstStyle/>
                    <a:p>
                      <a:pPr marL="0" marR="0" algn="ctr">
                        <a:lnSpc>
                          <a:spcPct val="100000"/>
                        </a:lnSpc>
                        <a:spcBef>
                          <a:spcPts val="0"/>
                        </a:spcBef>
                        <a:spcAft>
                          <a:spcPts val="0"/>
                        </a:spcAft>
                      </a:pPr>
                      <a:r>
                        <a:rPr lang="en-US" sz="1200" kern="100" dirty="0">
                          <a:solidFill>
                            <a:srgbClr val="000000"/>
                          </a:solidFill>
                          <a:effectLst/>
                          <a:latin typeface="+mn-lt"/>
                        </a:rPr>
                        <a:t>5.89</a:t>
                      </a:r>
                      <a:endParaRPr lang="en-US" sz="1200" kern="100" dirty="0">
                        <a:effectLst/>
                        <a:latin typeface="+mn-lt"/>
                        <a:ea typeface="Calibri" panose="020F0502020204030204" pitchFamily="34" charset="0"/>
                        <a:cs typeface="Calibri" panose="020F0502020204030204" pitchFamily="34" charset="0"/>
                      </a:endParaRPr>
                    </a:p>
                  </a:txBody>
                  <a:tcPr marL="0" marR="0" marT="0" marB="0" anchor="ctr"/>
                </a:tc>
                <a:tc>
                  <a:txBody>
                    <a:bodyPr/>
                    <a:lstStyle/>
                    <a:p>
                      <a:pPr marL="0" marR="0" algn="ctr">
                        <a:lnSpc>
                          <a:spcPct val="100000"/>
                        </a:lnSpc>
                        <a:spcBef>
                          <a:spcPts val="0"/>
                        </a:spcBef>
                        <a:spcAft>
                          <a:spcPts val="0"/>
                        </a:spcAft>
                      </a:pPr>
                      <a:r>
                        <a:rPr lang="en-US" sz="1200" kern="100" dirty="0">
                          <a:solidFill>
                            <a:srgbClr val="000000"/>
                          </a:solidFill>
                          <a:effectLst/>
                          <a:latin typeface="+mn-lt"/>
                        </a:rPr>
                        <a:t>0.66</a:t>
                      </a:r>
                      <a:endParaRPr lang="en-US" sz="1200" kern="100" dirty="0">
                        <a:effectLst/>
                        <a:latin typeface="+mn-lt"/>
                        <a:ea typeface="Calibri" panose="020F0502020204030204" pitchFamily="34" charset="0"/>
                        <a:cs typeface="Calibri" panose="020F0502020204030204" pitchFamily="34" charset="0"/>
                      </a:endParaRPr>
                    </a:p>
                  </a:txBody>
                  <a:tcPr marL="0" marR="0" marT="0" marB="0" anchor="ctr"/>
                </a:tc>
                <a:tc>
                  <a:txBody>
                    <a:bodyPr/>
                    <a:lstStyle/>
                    <a:p>
                      <a:pPr marL="0" marR="0" algn="ctr">
                        <a:lnSpc>
                          <a:spcPct val="100000"/>
                        </a:lnSpc>
                        <a:spcBef>
                          <a:spcPts val="0"/>
                        </a:spcBef>
                        <a:spcAft>
                          <a:spcPts val="0"/>
                        </a:spcAft>
                      </a:pPr>
                      <a:r>
                        <a:rPr lang="en-US" sz="1200" kern="100">
                          <a:solidFill>
                            <a:srgbClr val="000000"/>
                          </a:solidFill>
                          <a:effectLst/>
                          <a:latin typeface="+mn-lt"/>
                        </a:rPr>
                        <a:t> </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extLst>
                  <a:ext uri="{0D108BD9-81ED-4DB2-BD59-A6C34878D82A}">
                    <a16:rowId xmlns:a16="http://schemas.microsoft.com/office/drawing/2014/main" val="1098114512"/>
                  </a:ext>
                </a:extLst>
              </a:tr>
              <a:tr h="255866">
                <a:tc>
                  <a:txBody>
                    <a:bodyPr/>
                    <a:lstStyle/>
                    <a:p>
                      <a:pPr marL="0" marR="0" algn="ctr">
                        <a:lnSpc>
                          <a:spcPct val="100000"/>
                        </a:lnSpc>
                        <a:spcBef>
                          <a:spcPts val="0"/>
                        </a:spcBef>
                        <a:spcAft>
                          <a:spcPts val="0"/>
                        </a:spcAft>
                      </a:pPr>
                      <a:r>
                        <a:rPr lang="en-US" sz="1200" b="0" kern="0">
                          <a:solidFill>
                            <a:srgbClr val="000000"/>
                          </a:solidFill>
                          <a:effectLst/>
                          <a:latin typeface="+mn-lt"/>
                        </a:rPr>
                        <a:t>8725110</a:t>
                      </a:r>
                      <a:endParaRPr lang="en-US" sz="1200" b="0" kern="100">
                        <a:effectLst/>
                        <a:latin typeface="+mn-lt"/>
                        <a:ea typeface="Calibri" panose="020F0502020204030204" pitchFamily="34" charset="0"/>
                        <a:cs typeface="Calibri" panose="020F0502020204030204" pitchFamily="34" charset="0"/>
                      </a:endParaRPr>
                    </a:p>
                  </a:txBody>
                  <a:tcPr marL="0" marR="0" marT="0" marB="0" anchor="ctr"/>
                </a:tc>
                <a:tc>
                  <a:txBody>
                    <a:bodyPr/>
                    <a:lstStyle/>
                    <a:p>
                      <a:pPr marL="0" marR="0" algn="l">
                        <a:lnSpc>
                          <a:spcPct val="100000"/>
                        </a:lnSpc>
                        <a:spcBef>
                          <a:spcPts val="0"/>
                        </a:spcBef>
                        <a:spcAft>
                          <a:spcPts val="0"/>
                        </a:spcAft>
                      </a:pPr>
                      <a:r>
                        <a:rPr lang="en-US" sz="1200" kern="0" dirty="0">
                          <a:solidFill>
                            <a:srgbClr val="000000"/>
                          </a:solidFill>
                          <a:effectLst/>
                          <a:latin typeface="+mn-lt"/>
                        </a:rPr>
                        <a:t>Naples, Gulf of Mexico</a:t>
                      </a:r>
                      <a:endParaRPr lang="en-US" sz="1200" kern="100" dirty="0">
                        <a:effectLst/>
                        <a:latin typeface="+mn-lt"/>
                        <a:ea typeface="Calibri" panose="020F0502020204030204" pitchFamily="34" charset="0"/>
                        <a:cs typeface="Calibri" panose="020F0502020204030204" pitchFamily="34" charset="0"/>
                      </a:endParaRPr>
                    </a:p>
                  </a:txBody>
                  <a:tcPr marL="0" marR="0" marT="0" marB="0" anchor="ctr"/>
                </a:tc>
                <a:tc>
                  <a:txBody>
                    <a:bodyPr/>
                    <a:lstStyle/>
                    <a:p>
                      <a:pPr marL="0" marR="0" algn="ctr">
                        <a:lnSpc>
                          <a:spcPct val="100000"/>
                        </a:lnSpc>
                        <a:spcBef>
                          <a:spcPts val="0"/>
                        </a:spcBef>
                        <a:spcAft>
                          <a:spcPts val="0"/>
                        </a:spcAft>
                      </a:pPr>
                      <a:r>
                        <a:rPr lang="en-US" sz="1200" kern="0">
                          <a:solidFill>
                            <a:srgbClr val="000000"/>
                          </a:solidFill>
                          <a:effectLst/>
                          <a:latin typeface="+mn-lt"/>
                        </a:rPr>
                        <a:t>7375</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tc>
                  <a:txBody>
                    <a:bodyPr/>
                    <a:lstStyle/>
                    <a:p>
                      <a:pPr algn="ctr" fontAlgn="b">
                        <a:lnSpc>
                          <a:spcPct val="100000"/>
                        </a:lnSpc>
                      </a:pPr>
                      <a:r>
                        <a:rPr lang="en-US" sz="1200" b="0" u="none" strike="noStrike">
                          <a:solidFill>
                            <a:srgbClr val="000000"/>
                          </a:solidFill>
                          <a:effectLst/>
                          <a:latin typeface="+mn-lt"/>
                        </a:rPr>
                        <a:t>4.70</a:t>
                      </a:r>
                      <a:endParaRPr lang="en-US" sz="1200" b="0" i="0" u="none" strike="noStrike">
                        <a:solidFill>
                          <a:srgbClr val="000000"/>
                        </a:solidFill>
                        <a:effectLst/>
                        <a:latin typeface="+mn-lt"/>
                        <a:cs typeface="Calibri" panose="020F0502020204030204" pitchFamily="34" charset="0"/>
                      </a:endParaRPr>
                    </a:p>
                  </a:txBody>
                  <a:tcPr marL="0" marR="0" marT="0" marB="0" anchor="ctr"/>
                </a:tc>
                <a:tc>
                  <a:txBody>
                    <a:bodyPr/>
                    <a:lstStyle/>
                    <a:p>
                      <a:pPr algn="ctr" fontAlgn="b">
                        <a:lnSpc>
                          <a:spcPct val="100000"/>
                        </a:lnSpc>
                      </a:pPr>
                      <a:r>
                        <a:rPr lang="en-US" sz="1200" b="0" u="none" strike="noStrike">
                          <a:solidFill>
                            <a:srgbClr val="000000"/>
                          </a:solidFill>
                          <a:effectLst/>
                          <a:latin typeface="+mn-lt"/>
                        </a:rPr>
                        <a:t>6.41</a:t>
                      </a:r>
                      <a:endParaRPr lang="en-US" sz="1200" b="0" i="0" u="none" strike="noStrike">
                        <a:solidFill>
                          <a:srgbClr val="000000"/>
                        </a:solidFill>
                        <a:effectLst/>
                        <a:latin typeface="+mn-lt"/>
                        <a:cs typeface="Calibri" panose="020F0502020204030204" pitchFamily="34" charset="0"/>
                      </a:endParaRPr>
                    </a:p>
                  </a:txBody>
                  <a:tcPr marL="0" marR="0" marT="0" marB="0" anchor="ctr"/>
                </a:tc>
                <a:tc>
                  <a:txBody>
                    <a:bodyPr/>
                    <a:lstStyle/>
                    <a:p>
                      <a:pPr algn="ctr" fontAlgn="b">
                        <a:lnSpc>
                          <a:spcPct val="100000"/>
                        </a:lnSpc>
                      </a:pPr>
                      <a:r>
                        <a:rPr lang="en-US" sz="1200" b="0" u="none" strike="noStrike" dirty="0">
                          <a:solidFill>
                            <a:srgbClr val="000000"/>
                          </a:solidFill>
                          <a:effectLst/>
                          <a:latin typeface="+mn-lt"/>
                        </a:rPr>
                        <a:t>0.64</a:t>
                      </a:r>
                      <a:endParaRPr lang="en-US" sz="1200" b="0" i="0" u="none" strike="noStrike" dirty="0">
                        <a:solidFill>
                          <a:srgbClr val="000000"/>
                        </a:solidFill>
                        <a:effectLst/>
                        <a:latin typeface="+mn-lt"/>
                        <a:cs typeface="Calibri" panose="020F0502020204030204" pitchFamily="34" charset="0"/>
                      </a:endParaRPr>
                    </a:p>
                  </a:txBody>
                  <a:tcPr marL="0" marR="0" marT="0" marB="0" anchor="ctr"/>
                </a:tc>
                <a:tc>
                  <a:txBody>
                    <a:bodyPr/>
                    <a:lstStyle/>
                    <a:p>
                      <a:pPr marL="0" marR="0" algn="ctr">
                        <a:lnSpc>
                          <a:spcPct val="100000"/>
                        </a:lnSpc>
                        <a:spcBef>
                          <a:spcPts val="0"/>
                        </a:spcBef>
                        <a:spcAft>
                          <a:spcPts val="0"/>
                        </a:spcAft>
                      </a:pPr>
                      <a:r>
                        <a:rPr lang="en-US" sz="1200" kern="0">
                          <a:solidFill>
                            <a:srgbClr val="000000"/>
                          </a:solidFill>
                          <a:effectLst/>
                          <a:latin typeface="+mn-lt"/>
                        </a:rPr>
                        <a:t> </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tc gridSpan="2">
                  <a:txBody>
                    <a:bodyPr/>
                    <a:lstStyle/>
                    <a:p>
                      <a:pPr marL="0" marR="0" algn="ctr">
                        <a:lnSpc>
                          <a:spcPct val="100000"/>
                        </a:lnSpc>
                        <a:spcBef>
                          <a:spcPts val="0"/>
                        </a:spcBef>
                        <a:spcAft>
                          <a:spcPts val="0"/>
                        </a:spcAft>
                      </a:pPr>
                      <a:r>
                        <a:rPr lang="en-US" sz="1200" kern="100">
                          <a:solidFill>
                            <a:srgbClr val="000000"/>
                          </a:solidFill>
                          <a:effectLst/>
                          <a:latin typeface="+mn-lt"/>
                        </a:rPr>
                        <a:t>4.57</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tc hMerge="1">
                  <a:txBody>
                    <a:bodyPr/>
                    <a:lstStyle/>
                    <a:p>
                      <a:endParaRPr lang="en-US"/>
                    </a:p>
                  </a:txBody>
                  <a:tcPr/>
                </a:tc>
                <a:tc>
                  <a:txBody>
                    <a:bodyPr/>
                    <a:lstStyle/>
                    <a:p>
                      <a:pPr marL="0" marR="0" algn="ctr">
                        <a:lnSpc>
                          <a:spcPct val="100000"/>
                        </a:lnSpc>
                        <a:spcBef>
                          <a:spcPts val="0"/>
                        </a:spcBef>
                        <a:spcAft>
                          <a:spcPts val="0"/>
                        </a:spcAft>
                      </a:pPr>
                      <a:r>
                        <a:rPr lang="en-US" sz="1200" kern="100">
                          <a:solidFill>
                            <a:srgbClr val="000000"/>
                          </a:solidFill>
                          <a:effectLst/>
                          <a:latin typeface="+mn-lt"/>
                        </a:rPr>
                        <a:t>6.39</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tc>
                  <a:txBody>
                    <a:bodyPr/>
                    <a:lstStyle/>
                    <a:p>
                      <a:pPr marL="0" marR="0" algn="ctr">
                        <a:lnSpc>
                          <a:spcPct val="100000"/>
                        </a:lnSpc>
                        <a:spcBef>
                          <a:spcPts val="0"/>
                        </a:spcBef>
                        <a:spcAft>
                          <a:spcPts val="0"/>
                        </a:spcAft>
                      </a:pPr>
                      <a:r>
                        <a:rPr lang="en-US" sz="1200" kern="100" dirty="0">
                          <a:solidFill>
                            <a:srgbClr val="000000"/>
                          </a:solidFill>
                          <a:effectLst/>
                          <a:latin typeface="+mn-lt"/>
                        </a:rPr>
                        <a:t>0.69</a:t>
                      </a:r>
                      <a:endParaRPr lang="en-US" sz="1200" kern="100" dirty="0">
                        <a:effectLst/>
                        <a:latin typeface="+mn-lt"/>
                        <a:ea typeface="Calibri" panose="020F0502020204030204" pitchFamily="34" charset="0"/>
                        <a:cs typeface="Calibri" panose="020F0502020204030204" pitchFamily="34" charset="0"/>
                      </a:endParaRPr>
                    </a:p>
                  </a:txBody>
                  <a:tcPr marL="0" marR="0" marT="0" marB="0" anchor="ctr"/>
                </a:tc>
                <a:tc>
                  <a:txBody>
                    <a:bodyPr/>
                    <a:lstStyle/>
                    <a:p>
                      <a:pPr marL="0" marR="0" algn="ctr">
                        <a:lnSpc>
                          <a:spcPct val="100000"/>
                        </a:lnSpc>
                        <a:spcBef>
                          <a:spcPts val="0"/>
                        </a:spcBef>
                        <a:spcAft>
                          <a:spcPts val="0"/>
                        </a:spcAft>
                      </a:pPr>
                      <a:r>
                        <a:rPr lang="en-US" sz="1200" kern="100">
                          <a:solidFill>
                            <a:srgbClr val="000000"/>
                          </a:solidFill>
                          <a:effectLst/>
                          <a:latin typeface="+mn-lt"/>
                        </a:rPr>
                        <a:t> </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extLst>
                  <a:ext uri="{0D108BD9-81ED-4DB2-BD59-A6C34878D82A}">
                    <a16:rowId xmlns:a16="http://schemas.microsoft.com/office/drawing/2014/main" val="476108121"/>
                  </a:ext>
                </a:extLst>
              </a:tr>
              <a:tr h="255866">
                <a:tc>
                  <a:txBody>
                    <a:bodyPr/>
                    <a:lstStyle/>
                    <a:p>
                      <a:pPr marL="0" marR="0" algn="ctr">
                        <a:lnSpc>
                          <a:spcPct val="100000"/>
                        </a:lnSpc>
                        <a:spcBef>
                          <a:spcPts val="0"/>
                        </a:spcBef>
                        <a:spcAft>
                          <a:spcPts val="0"/>
                        </a:spcAft>
                      </a:pPr>
                      <a:r>
                        <a:rPr lang="en-US" sz="1200" b="0" kern="0">
                          <a:solidFill>
                            <a:srgbClr val="000000"/>
                          </a:solidFill>
                          <a:effectLst/>
                          <a:latin typeface="+mn-lt"/>
                        </a:rPr>
                        <a:t>8726384</a:t>
                      </a:r>
                      <a:endParaRPr lang="en-US" sz="1200" b="0" kern="100">
                        <a:effectLst/>
                        <a:latin typeface="+mn-lt"/>
                        <a:ea typeface="Calibri" panose="020F0502020204030204" pitchFamily="34" charset="0"/>
                        <a:cs typeface="Calibri" panose="020F0502020204030204" pitchFamily="34" charset="0"/>
                      </a:endParaRPr>
                    </a:p>
                  </a:txBody>
                  <a:tcPr marL="0" marR="0" marT="0" marB="0" anchor="ctr"/>
                </a:tc>
                <a:tc>
                  <a:txBody>
                    <a:bodyPr/>
                    <a:lstStyle/>
                    <a:p>
                      <a:pPr marL="0" marR="0" algn="l">
                        <a:lnSpc>
                          <a:spcPct val="100000"/>
                        </a:lnSpc>
                        <a:spcBef>
                          <a:spcPts val="0"/>
                        </a:spcBef>
                        <a:spcAft>
                          <a:spcPts val="0"/>
                        </a:spcAft>
                      </a:pPr>
                      <a:r>
                        <a:rPr lang="en-US" sz="1200" kern="0" dirty="0">
                          <a:solidFill>
                            <a:srgbClr val="000000"/>
                          </a:solidFill>
                          <a:effectLst/>
                          <a:latin typeface="+mn-lt"/>
                        </a:rPr>
                        <a:t>Port Manatee</a:t>
                      </a:r>
                      <a:endParaRPr lang="en-US" sz="1200" kern="100" dirty="0">
                        <a:effectLst/>
                        <a:latin typeface="+mn-lt"/>
                        <a:ea typeface="Calibri" panose="020F0502020204030204" pitchFamily="34" charset="0"/>
                        <a:cs typeface="Calibri" panose="020F0502020204030204" pitchFamily="34" charset="0"/>
                      </a:endParaRPr>
                    </a:p>
                  </a:txBody>
                  <a:tcPr marL="0" marR="0" marT="0" marB="0" anchor="ctr"/>
                </a:tc>
                <a:tc>
                  <a:txBody>
                    <a:bodyPr/>
                    <a:lstStyle/>
                    <a:p>
                      <a:pPr marL="0" marR="0" algn="ctr">
                        <a:lnSpc>
                          <a:spcPct val="100000"/>
                        </a:lnSpc>
                        <a:spcBef>
                          <a:spcPts val="0"/>
                        </a:spcBef>
                        <a:spcAft>
                          <a:spcPts val="0"/>
                        </a:spcAft>
                      </a:pPr>
                      <a:r>
                        <a:rPr lang="en-US" sz="1200" kern="0">
                          <a:solidFill>
                            <a:srgbClr val="000000"/>
                          </a:solidFill>
                          <a:effectLst/>
                          <a:latin typeface="+mn-lt"/>
                        </a:rPr>
                        <a:t>6718</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tc>
                  <a:txBody>
                    <a:bodyPr/>
                    <a:lstStyle/>
                    <a:p>
                      <a:pPr algn="ctr" fontAlgn="b">
                        <a:lnSpc>
                          <a:spcPct val="100000"/>
                        </a:lnSpc>
                      </a:pPr>
                      <a:r>
                        <a:rPr lang="en-US" sz="1200" b="0" u="none" strike="noStrike">
                          <a:solidFill>
                            <a:srgbClr val="000000"/>
                          </a:solidFill>
                          <a:effectLst/>
                          <a:latin typeface="+mn-lt"/>
                        </a:rPr>
                        <a:t>5.57</a:t>
                      </a:r>
                      <a:endParaRPr lang="en-US" sz="1200" b="0" i="0" u="none" strike="noStrike">
                        <a:solidFill>
                          <a:srgbClr val="000000"/>
                        </a:solidFill>
                        <a:effectLst/>
                        <a:latin typeface="+mn-lt"/>
                        <a:cs typeface="Calibri" panose="020F0502020204030204" pitchFamily="34" charset="0"/>
                      </a:endParaRPr>
                    </a:p>
                  </a:txBody>
                  <a:tcPr marL="0" marR="0" marT="0" marB="0" anchor="ctr"/>
                </a:tc>
                <a:tc>
                  <a:txBody>
                    <a:bodyPr/>
                    <a:lstStyle/>
                    <a:p>
                      <a:pPr algn="ctr" fontAlgn="b">
                        <a:lnSpc>
                          <a:spcPct val="100000"/>
                        </a:lnSpc>
                      </a:pPr>
                      <a:r>
                        <a:rPr lang="en-US" sz="1200" b="0" u="none" strike="noStrike">
                          <a:solidFill>
                            <a:srgbClr val="000000"/>
                          </a:solidFill>
                          <a:effectLst/>
                          <a:latin typeface="+mn-lt"/>
                        </a:rPr>
                        <a:t>7.49</a:t>
                      </a:r>
                      <a:endParaRPr lang="en-US" sz="1200" b="0" i="0" u="none" strike="noStrike">
                        <a:solidFill>
                          <a:srgbClr val="000000"/>
                        </a:solidFill>
                        <a:effectLst/>
                        <a:latin typeface="+mn-lt"/>
                        <a:cs typeface="Calibri" panose="020F0502020204030204" pitchFamily="34" charset="0"/>
                      </a:endParaRPr>
                    </a:p>
                  </a:txBody>
                  <a:tcPr marL="0" marR="0" marT="0" marB="0" anchor="ctr"/>
                </a:tc>
                <a:tc>
                  <a:txBody>
                    <a:bodyPr/>
                    <a:lstStyle/>
                    <a:p>
                      <a:pPr algn="ctr" fontAlgn="b">
                        <a:lnSpc>
                          <a:spcPct val="100000"/>
                        </a:lnSpc>
                      </a:pPr>
                      <a:r>
                        <a:rPr lang="en-US" sz="1200" b="0" u="none" strike="noStrike">
                          <a:solidFill>
                            <a:srgbClr val="000000"/>
                          </a:solidFill>
                          <a:effectLst/>
                          <a:latin typeface="+mn-lt"/>
                        </a:rPr>
                        <a:t>0.68</a:t>
                      </a:r>
                      <a:endParaRPr lang="en-US" sz="1200" b="0" i="0" u="none" strike="noStrike">
                        <a:solidFill>
                          <a:srgbClr val="000000"/>
                        </a:solidFill>
                        <a:effectLst/>
                        <a:latin typeface="+mn-lt"/>
                        <a:cs typeface="Calibri" panose="020F0502020204030204" pitchFamily="34" charset="0"/>
                      </a:endParaRPr>
                    </a:p>
                  </a:txBody>
                  <a:tcPr marL="0" marR="0" marT="0" marB="0" anchor="ctr"/>
                </a:tc>
                <a:tc>
                  <a:txBody>
                    <a:bodyPr/>
                    <a:lstStyle/>
                    <a:p>
                      <a:pPr marL="0" marR="0" algn="ctr">
                        <a:lnSpc>
                          <a:spcPct val="100000"/>
                        </a:lnSpc>
                        <a:spcBef>
                          <a:spcPts val="0"/>
                        </a:spcBef>
                        <a:spcAft>
                          <a:spcPts val="0"/>
                        </a:spcAft>
                      </a:pPr>
                      <a:r>
                        <a:rPr lang="en-US" sz="1200" kern="0">
                          <a:solidFill>
                            <a:srgbClr val="000000"/>
                          </a:solidFill>
                          <a:effectLst/>
                          <a:latin typeface="+mn-lt"/>
                        </a:rPr>
                        <a:t> </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tc gridSpan="2">
                  <a:txBody>
                    <a:bodyPr/>
                    <a:lstStyle/>
                    <a:p>
                      <a:pPr marL="0" marR="0" algn="ctr">
                        <a:lnSpc>
                          <a:spcPct val="100000"/>
                        </a:lnSpc>
                        <a:spcBef>
                          <a:spcPts val="0"/>
                        </a:spcBef>
                        <a:spcAft>
                          <a:spcPts val="0"/>
                        </a:spcAft>
                      </a:pPr>
                      <a:r>
                        <a:rPr lang="en-US" sz="1200" kern="100">
                          <a:solidFill>
                            <a:srgbClr val="000000"/>
                          </a:solidFill>
                          <a:effectLst/>
                          <a:latin typeface="+mn-lt"/>
                        </a:rPr>
                        <a:t>5.57</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tc hMerge="1">
                  <a:txBody>
                    <a:bodyPr/>
                    <a:lstStyle/>
                    <a:p>
                      <a:endParaRPr lang="en-US"/>
                    </a:p>
                  </a:txBody>
                  <a:tcPr/>
                </a:tc>
                <a:tc>
                  <a:txBody>
                    <a:bodyPr/>
                    <a:lstStyle/>
                    <a:p>
                      <a:pPr marL="0" marR="0" algn="ctr">
                        <a:lnSpc>
                          <a:spcPct val="100000"/>
                        </a:lnSpc>
                        <a:spcBef>
                          <a:spcPts val="0"/>
                        </a:spcBef>
                        <a:spcAft>
                          <a:spcPts val="0"/>
                        </a:spcAft>
                      </a:pPr>
                      <a:r>
                        <a:rPr lang="en-US" sz="1200" kern="100">
                          <a:solidFill>
                            <a:srgbClr val="000000"/>
                          </a:solidFill>
                          <a:effectLst/>
                          <a:latin typeface="+mn-lt"/>
                        </a:rPr>
                        <a:t>8.02</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tc>
                  <a:txBody>
                    <a:bodyPr/>
                    <a:lstStyle/>
                    <a:p>
                      <a:pPr marL="0" marR="0" algn="ctr">
                        <a:lnSpc>
                          <a:spcPct val="100000"/>
                        </a:lnSpc>
                        <a:spcBef>
                          <a:spcPts val="0"/>
                        </a:spcBef>
                        <a:spcAft>
                          <a:spcPts val="0"/>
                        </a:spcAft>
                      </a:pPr>
                      <a:r>
                        <a:rPr lang="en-US" sz="1200" kern="100" dirty="0">
                          <a:solidFill>
                            <a:srgbClr val="000000"/>
                          </a:solidFill>
                          <a:effectLst/>
                          <a:latin typeface="+mn-lt"/>
                        </a:rPr>
                        <a:t>0.62</a:t>
                      </a:r>
                      <a:endParaRPr lang="en-US" sz="1200" kern="100" dirty="0">
                        <a:effectLst/>
                        <a:latin typeface="+mn-lt"/>
                        <a:ea typeface="Calibri" panose="020F0502020204030204" pitchFamily="34" charset="0"/>
                        <a:cs typeface="Calibri" panose="020F0502020204030204" pitchFamily="34" charset="0"/>
                      </a:endParaRPr>
                    </a:p>
                  </a:txBody>
                  <a:tcPr marL="0" marR="0" marT="0" marB="0" anchor="ctr"/>
                </a:tc>
                <a:tc>
                  <a:txBody>
                    <a:bodyPr/>
                    <a:lstStyle/>
                    <a:p>
                      <a:pPr marL="0" marR="0" algn="ctr">
                        <a:lnSpc>
                          <a:spcPct val="100000"/>
                        </a:lnSpc>
                        <a:spcBef>
                          <a:spcPts val="0"/>
                        </a:spcBef>
                        <a:spcAft>
                          <a:spcPts val="0"/>
                        </a:spcAft>
                      </a:pPr>
                      <a:r>
                        <a:rPr lang="en-US" sz="1200" kern="100">
                          <a:solidFill>
                            <a:srgbClr val="000000"/>
                          </a:solidFill>
                          <a:effectLst/>
                          <a:latin typeface="+mn-lt"/>
                        </a:rPr>
                        <a:t> </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extLst>
                  <a:ext uri="{0D108BD9-81ED-4DB2-BD59-A6C34878D82A}">
                    <a16:rowId xmlns:a16="http://schemas.microsoft.com/office/drawing/2014/main" val="3167697134"/>
                  </a:ext>
                </a:extLst>
              </a:tr>
              <a:tr h="255866">
                <a:tc>
                  <a:txBody>
                    <a:bodyPr/>
                    <a:lstStyle/>
                    <a:p>
                      <a:pPr marL="0" marR="0" algn="ctr">
                        <a:lnSpc>
                          <a:spcPct val="100000"/>
                        </a:lnSpc>
                        <a:spcBef>
                          <a:spcPts val="0"/>
                        </a:spcBef>
                        <a:spcAft>
                          <a:spcPts val="0"/>
                        </a:spcAft>
                      </a:pPr>
                      <a:r>
                        <a:rPr lang="en-US" sz="1200" b="0" kern="0">
                          <a:solidFill>
                            <a:srgbClr val="000000"/>
                          </a:solidFill>
                          <a:effectLst/>
                          <a:latin typeface="+mn-lt"/>
                        </a:rPr>
                        <a:t>8726520</a:t>
                      </a:r>
                      <a:endParaRPr lang="en-US" sz="1200" b="0" kern="100">
                        <a:effectLst/>
                        <a:latin typeface="+mn-lt"/>
                        <a:ea typeface="Calibri" panose="020F0502020204030204" pitchFamily="34" charset="0"/>
                        <a:cs typeface="Calibri" panose="020F0502020204030204" pitchFamily="34" charset="0"/>
                      </a:endParaRPr>
                    </a:p>
                  </a:txBody>
                  <a:tcPr marL="0" marR="0" marT="0" marB="0" anchor="ctr"/>
                </a:tc>
                <a:tc>
                  <a:txBody>
                    <a:bodyPr/>
                    <a:lstStyle/>
                    <a:p>
                      <a:pPr marL="0" marR="0" algn="l">
                        <a:lnSpc>
                          <a:spcPct val="100000"/>
                        </a:lnSpc>
                        <a:spcBef>
                          <a:spcPts val="0"/>
                        </a:spcBef>
                        <a:spcAft>
                          <a:spcPts val="0"/>
                        </a:spcAft>
                      </a:pPr>
                      <a:r>
                        <a:rPr lang="en-US" sz="1200" kern="0" dirty="0">
                          <a:solidFill>
                            <a:srgbClr val="000000"/>
                          </a:solidFill>
                          <a:effectLst/>
                          <a:latin typeface="+mn-lt"/>
                        </a:rPr>
                        <a:t>St. Petersburg, Tampa Bay</a:t>
                      </a:r>
                      <a:endParaRPr lang="en-US" sz="1200" kern="100" dirty="0">
                        <a:effectLst/>
                        <a:latin typeface="+mn-lt"/>
                        <a:ea typeface="Calibri" panose="020F0502020204030204" pitchFamily="34" charset="0"/>
                        <a:cs typeface="Calibri" panose="020F0502020204030204" pitchFamily="34" charset="0"/>
                      </a:endParaRPr>
                    </a:p>
                  </a:txBody>
                  <a:tcPr marL="0" marR="0" marT="0" marB="0" anchor="ctr"/>
                </a:tc>
                <a:tc>
                  <a:txBody>
                    <a:bodyPr/>
                    <a:lstStyle/>
                    <a:p>
                      <a:pPr marL="0" marR="0" algn="ctr">
                        <a:lnSpc>
                          <a:spcPct val="100000"/>
                        </a:lnSpc>
                        <a:spcBef>
                          <a:spcPts val="0"/>
                        </a:spcBef>
                        <a:spcAft>
                          <a:spcPts val="0"/>
                        </a:spcAft>
                      </a:pPr>
                      <a:r>
                        <a:rPr lang="en-US" sz="1200" kern="0">
                          <a:solidFill>
                            <a:srgbClr val="000000"/>
                          </a:solidFill>
                          <a:effectLst/>
                          <a:latin typeface="+mn-lt"/>
                        </a:rPr>
                        <a:t>7575</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tc>
                  <a:txBody>
                    <a:bodyPr/>
                    <a:lstStyle/>
                    <a:p>
                      <a:pPr algn="ctr" fontAlgn="b">
                        <a:lnSpc>
                          <a:spcPct val="100000"/>
                        </a:lnSpc>
                      </a:pPr>
                      <a:r>
                        <a:rPr lang="en-US" sz="1200" b="0" u="none" strike="noStrike">
                          <a:solidFill>
                            <a:srgbClr val="000000"/>
                          </a:solidFill>
                          <a:effectLst/>
                          <a:latin typeface="+mn-lt"/>
                        </a:rPr>
                        <a:t>5.77</a:t>
                      </a:r>
                      <a:endParaRPr lang="en-US" sz="1200" b="0" i="0" u="none" strike="noStrike">
                        <a:solidFill>
                          <a:srgbClr val="000000"/>
                        </a:solidFill>
                        <a:effectLst/>
                        <a:latin typeface="+mn-lt"/>
                        <a:cs typeface="Calibri" panose="020F0502020204030204" pitchFamily="34" charset="0"/>
                      </a:endParaRPr>
                    </a:p>
                  </a:txBody>
                  <a:tcPr marL="0" marR="0" marT="0" marB="0" anchor="ctr"/>
                </a:tc>
                <a:tc>
                  <a:txBody>
                    <a:bodyPr/>
                    <a:lstStyle/>
                    <a:p>
                      <a:pPr algn="ctr" fontAlgn="b">
                        <a:lnSpc>
                          <a:spcPct val="100000"/>
                        </a:lnSpc>
                      </a:pPr>
                      <a:r>
                        <a:rPr lang="en-US" sz="1200" b="0" u="none" strike="noStrike">
                          <a:solidFill>
                            <a:srgbClr val="000000"/>
                          </a:solidFill>
                          <a:effectLst/>
                          <a:latin typeface="+mn-lt"/>
                        </a:rPr>
                        <a:t>7.99</a:t>
                      </a:r>
                      <a:endParaRPr lang="en-US" sz="1200" b="0" i="0" u="none" strike="noStrike">
                        <a:solidFill>
                          <a:srgbClr val="000000"/>
                        </a:solidFill>
                        <a:effectLst/>
                        <a:latin typeface="+mn-lt"/>
                        <a:cs typeface="Calibri" panose="020F0502020204030204" pitchFamily="34" charset="0"/>
                      </a:endParaRPr>
                    </a:p>
                  </a:txBody>
                  <a:tcPr marL="0" marR="0" marT="0" marB="0" anchor="ctr"/>
                </a:tc>
                <a:tc>
                  <a:txBody>
                    <a:bodyPr/>
                    <a:lstStyle/>
                    <a:p>
                      <a:pPr algn="ctr" fontAlgn="b">
                        <a:lnSpc>
                          <a:spcPct val="100000"/>
                        </a:lnSpc>
                      </a:pPr>
                      <a:r>
                        <a:rPr lang="en-US" sz="1200" b="0" u="none" strike="noStrike" dirty="0">
                          <a:solidFill>
                            <a:srgbClr val="000000"/>
                          </a:solidFill>
                          <a:effectLst/>
                          <a:latin typeface="+mn-lt"/>
                        </a:rPr>
                        <a:t>0.67</a:t>
                      </a:r>
                      <a:endParaRPr lang="en-US" sz="1200" b="0" i="0" u="none" strike="noStrike" dirty="0">
                        <a:solidFill>
                          <a:srgbClr val="000000"/>
                        </a:solidFill>
                        <a:effectLst/>
                        <a:latin typeface="+mn-lt"/>
                        <a:cs typeface="Calibri" panose="020F0502020204030204" pitchFamily="34" charset="0"/>
                      </a:endParaRPr>
                    </a:p>
                  </a:txBody>
                  <a:tcPr marL="0" marR="0" marT="0" marB="0" anchor="ctr"/>
                </a:tc>
                <a:tc>
                  <a:txBody>
                    <a:bodyPr/>
                    <a:lstStyle/>
                    <a:p>
                      <a:pPr marL="0" marR="0" algn="ctr">
                        <a:lnSpc>
                          <a:spcPct val="100000"/>
                        </a:lnSpc>
                        <a:spcBef>
                          <a:spcPts val="0"/>
                        </a:spcBef>
                        <a:spcAft>
                          <a:spcPts val="0"/>
                        </a:spcAft>
                      </a:pPr>
                      <a:r>
                        <a:rPr lang="en-US" sz="1200" kern="0">
                          <a:solidFill>
                            <a:srgbClr val="000000"/>
                          </a:solidFill>
                          <a:effectLst/>
                          <a:latin typeface="+mn-lt"/>
                        </a:rPr>
                        <a:t> </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tc gridSpan="2">
                  <a:txBody>
                    <a:bodyPr/>
                    <a:lstStyle/>
                    <a:p>
                      <a:pPr marL="0" marR="0" algn="ctr">
                        <a:lnSpc>
                          <a:spcPct val="100000"/>
                        </a:lnSpc>
                        <a:spcBef>
                          <a:spcPts val="0"/>
                        </a:spcBef>
                        <a:spcAft>
                          <a:spcPts val="0"/>
                        </a:spcAft>
                      </a:pPr>
                      <a:r>
                        <a:rPr lang="en-US" sz="1200" kern="100">
                          <a:solidFill>
                            <a:srgbClr val="000000"/>
                          </a:solidFill>
                          <a:effectLst/>
                          <a:latin typeface="+mn-lt"/>
                        </a:rPr>
                        <a:t>5.65</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tc hMerge="1">
                  <a:txBody>
                    <a:bodyPr/>
                    <a:lstStyle/>
                    <a:p>
                      <a:endParaRPr lang="en-US"/>
                    </a:p>
                  </a:txBody>
                  <a:tcPr/>
                </a:tc>
                <a:tc>
                  <a:txBody>
                    <a:bodyPr/>
                    <a:lstStyle/>
                    <a:p>
                      <a:pPr marL="0" marR="0" algn="ctr">
                        <a:lnSpc>
                          <a:spcPct val="100000"/>
                        </a:lnSpc>
                        <a:spcBef>
                          <a:spcPts val="0"/>
                        </a:spcBef>
                        <a:spcAft>
                          <a:spcPts val="0"/>
                        </a:spcAft>
                      </a:pPr>
                      <a:r>
                        <a:rPr lang="en-US" sz="1200" kern="100">
                          <a:solidFill>
                            <a:srgbClr val="000000"/>
                          </a:solidFill>
                          <a:effectLst/>
                          <a:latin typeface="+mn-lt"/>
                        </a:rPr>
                        <a:t>8.19</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tc>
                  <a:txBody>
                    <a:bodyPr/>
                    <a:lstStyle/>
                    <a:p>
                      <a:pPr marL="0" marR="0" algn="ctr">
                        <a:lnSpc>
                          <a:spcPct val="100000"/>
                        </a:lnSpc>
                        <a:spcBef>
                          <a:spcPts val="0"/>
                        </a:spcBef>
                        <a:spcAft>
                          <a:spcPts val="0"/>
                        </a:spcAft>
                      </a:pPr>
                      <a:r>
                        <a:rPr lang="en-US" sz="1200" kern="100" dirty="0">
                          <a:solidFill>
                            <a:srgbClr val="000000"/>
                          </a:solidFill>
                          <a:effectLst/>
                          <a:latin typeface="+mn-lt"/>
                        </a:rPr>
                        <a:t>0.60</a:t>
                      </a:r>
                      <a:endParaRPr lang="en-US" sz="1200" kern="100" dirty="0">
                        <a:effectLst/>
                        <a:latin typeface="+mn-lt"/>
                        <a:ea typeface="Calibri" panose="020F0502020204030204" pitchFamily="34" charset="0"/>
                        <a:cs typeface="Calibri" panose="020F0502020204030204" pitchFamily="34" charset="0"/>
                      </a:endParaRPr>
                    </a:p>
                  </a:txBody>
                  <a:tcPr marL="0" marR="0" marT="0" marB="0" anchor="ctr"/>
                </a:tc>
                <a:tc>
                  <a:txBody>
                    <a:bodyPr/>
                    <a:lstStyle/>
                    <a:p>
                      <a:pPr marL="0" marR="0" algn="ctr">
                        <a:lnSpc>
                          <a:spcPct val="100000"/>
                        </a:lnSpc>
                        <a:spcBef>
                          <a:spcPts val="0"/>
                        </a:spcBef>
                        <a:spcAft>
                          <a:spcPts val="0"/>
                        </a:spcAft>
                      </a:pPr>
                      <a:r>
                        <a:rPr lang="en-US" sz="1200" kern="100">
                          <a:solidFill>
                            <a:srgbClr val="000000"/>
                          </a:solidFill>
                          <a:effectLst/>
                          <a:latin typeface="+mn-lt"/>
                        </a:rPr>
                        <a:t> </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extLst>
                  <a:ext uri="{0D108BD9-81ED-4DB2-BD59-A6C34878D82A}">
                    <a16:rowId xmlns:a16="http://schemas.microsoft.com/office/drawing/2014/main" val="669204694"/>
                  </a:ext>
                </a:extLst>
              </a:tr>
              <a:tr h="255866">
                <a:tc>
                  <a:txBody>
                    <a:bodyPr/>
                    <a:lstStyle/>
                    <a:p>
                      <a:pPr marL="0" marR="0" algn="ctr">
                        <a:lnSpc>
                          <a:spcPct val="100000"/>
                        </a:lnSpc>
                        <a:spcBef>
                          <a:spcPts val="0"/>
                        </a:spcBef>
                        <a:spcAft>
                          <a:spcPts val="0"/>
                        </a:spcAft>
                      </a:pPr>
                      <a:r>
                        <a:rPr lang="en-US" sz="1200" b="0" kern="0" dirty="0">
                          <a:solidFill>
                            <a:srgbClr val="000000"/>
                          </a:solidFill>
                          <a:effectLst/>
                          <a:latin typeface="+mn-lt"/>
                        </a:rPr>
                        <a:t>8726607</a:t>
                      </a:r>
                      <a:endParaRPr lang="en-US" sz="1200" b="0" kern="100" dirty="0">
                        <a:effectLst/>
                        <a:latin typeface="+mn-lt"/>
                        <a:ea typeface="Calibri" panose="020F0502020204030204" pitchFamily="34" charset="0"/>
                        <a:cs typeface="Calibri" panose="020F0502020204030204" pitchFamily="34" charset="0"/>
                      </a:endParaRPr>
                    </a:p>
                  </a:txBody>
                  <a:tcPr marL="0" marR="0" marT="0" marB="0" anchor="ctr"/>
                </a:tc>
                <a:tc>
                  <a:txBody>
                    <a:bodyPr/>
                    <a:lstStyle/>
                    <a:p>
                      <a:pPr marL="0" marR="0" algn="l">
                        <a:lnSpc>
                          <a:spcPct val="100000"/>
                        </a:lnSpc>
                        <a:spcBef>
                          <a:spcPts val="0"/>
                        </a:spcBef>
                        <a:spcAft>
                          <a:spcPts val="0"/>
                        </a:spcAft>
                      </a:pPr>
                      <a:r>
                        <a:rPr lang="en-US" sz="1200" kern="0" dirty="0">
                          <a:solidFill>
                            <a:srgbClr val="000000"/>
                          </a:solidFill>
                          <a:effectLst/>
                          <a:latin typeface="+mn-lt"/>
                        </a:rPr>
                        <a:t>Old Port Tampa</a:t>
                      </a:r>
                      <a:endParaRPr lang="en-US" sz="1200" kern="100" dirty="0">
                        <a:effectLst/>
                        <a:latin typeface="+mn-lt"/>
                        <a:ea typeface="Calibri" panose="020F0502020204030204" pitchFamily="34" charset="0"/>
                        <a:cs typeface="Calibri" panose="020F0502020204030204" pitchFamily="34" charset="0"/>
                      </a:endParaRPr>
                    </a:p>
                  </a:txBody>
                  <a:tcPr marL="0" marR="0" marT="0" marB="0" anchor="ctr"/>
                </a:tc>
                <a:tc>
                  <a:txBody>
                    <a:bodyPr/>
                    <a:lstStyle/>
                    <a:p>
                      <a:pPr marL="0" marR="0" algn="ctr">
                        <a:lnSpc>
                          <a:spcPct val="100000"/>
                        </a:lnSpc>
                        <a:spcBef>
                          <a:spcPts val="0"/>
                        </a:spcBef>
                        <a:spcAft>
                          <a:spcPts val="0"/>
                        </a:spcAft>
                      </a:pPr>
                      <a:r>
                        <a:rPr lang="en-US" sz="1200" kern="0">
                          <a:solidFill>
                            <a:srgbClr val="000000"/>
                          </a:solidFill>
                          <a:effectLst/>
                          <a:latin typeface="+mn-lt"/>
                        </a:rPr>
                        <a:t>6329</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tc>
                  <a:txBody>
                    <a:bodyPr/>
                    <a:lstStyle/>
                    <a:p>
                      <a:pPr algn="ctr" fontAlgn="b">
                        <a:lnSpc>
                          <a:spcPct val="100000"/>
                        </a:lnSpc>
                      </a:pPr>
                      <a:r>
                        <a:rPr lang="en-US" sz="1200" b="0" u="none" strike="noStrike">
                          <a:solidFill>
                            <a:srgbClr val="000000"/>
                          </a:solidFill>
                          <a:effectLst/>
                          <a:latin typeface="+mn-lt"/>
                        </a:rPr>
                        <a:t>6.33</a:t>
                      </a:r>
                      <a:endParaRPr lang="en-US" sz="1200" b="0" i="0" u="none" strike="noStrike">
                        <a:solidFill>
                          <a:srgbClr val="000000"/>
                        </a:solidFill>
                        <a:effectLst/>
                        <a:latin typeface="+mn-lt"/>
                        <a:cs typeface="Calibri" panose="020F0502020204030204" pitchFamily="34" charset="0"/>
                      </a:endParaRPr>
                    </a:p>
                  </a:txBody>
                  <a:tcPr marL="0" marR="0" marT="0" marB="0" anchor="ctr"/>
                </a:tc>
                <a:tc>
                  <a:txBody>
                    <a:bodyPr/>
                    <a:lstStyle/>
                    <a:p>
                      <a:pPr algn="ctr" fontAlgn="b">
                        <a:lnSpc>
                          <a:spcPct val="100000"/>
                        </a:lnSpc>
                      </a:pPr>
                      <a:r>
                        <a:rPr lang="en-US" sz="1200" b="0" u="none" strike="noStrike">
                          <a:solidFill>
                            <a:srgbClr val="000000"/>
                          </a:solidFill>
                          <a:effectLst/>
                          <a:latin typeface="+mn-lt"/>
                        </a:rPr>
                        <a:t>8.61</a:t>
                      </a:r>
                      <a:endParaRPr lang="en-US" sz="1200" b="0" i="0" u="none" strike="noStrike">
                        <a:solidFill>
                          <a:srgbClr val="000000"/>
                        </a:solidFill>
                        <a:effectLst/>
                        <a:latin typeface="+mn-lt"/>
                        <a:cs typeface="Calibri" panose="020F0502020204030204" pitchFamily="34" charset="0"/>
                      </a:endParaRPr>
                    </a:p>
                  </a:txBody>
                  <a:tcPr marL="0" marR="0" marT="0" marB="0" anchor="ctr"/>
                </a:tc>
                <a:tc>
                  <a:txBody>
                    <a:bodyPr/>
                    <a:lstStyle/>
                    <a:p>
                      <a:pPr algn="ctr" fontAlgn="b">
                        <a:lnSpc>
                          <a:spcPct val="100000"/>
                        </a:lnSpc>
                      </a:pPr>
                      <a:r>
                        <a:rPr lang="en-US" sz="1200" b="0" u="none" strike="noStrike" dirty="0">
                          <a:solidFill>
                            <a:srgbClr val="000000"/>
                          </a:solidFill>
                          <a:effectLst/>
                          <a:latin typeface="+mn-lt"/>
                        </a:rPr>
                        <a:t>0.62</a:t>
                      </a:r>
                      <a:endParaRPr lang="en-US" sz="1200" b="0" i="0" u="none" strike="noStrike" dirty="0">
                        <a:solidFill>
                          <a:srgbClr val="000000"/>
                        </a:solidFill>
                        <a:effectLst/>
                        <a:latin typeface="+mn-lt"/>
                        <a:cs typeface="Calibri" panose="020F0502020204030204" pitchFamily="34" charset="0"/>
                      </a:endParaRPr>
                    </a:p>
                  </a:txBody>
                  <a:tcPr marL="0" marR="0" marT="0" marB="0" anchor="ctr"/>
                </a:tc>
                <a:tc>
                  <a:txBody>
                    <a:bodyPr/>
                    <a:lstStyle/>
                    <a:p>
                      <a:pPr marL="0" marR="0" algn="ctr">
                        <a:lnSpc>
                          <a:spcPct val="100000"/>
                        </a:lnSpc>
                        <a:spcBef>
                          <a:spcPts val="0"/>
                        </a:spcBef>
                        <a:spcAft>
                          <a:spcPts val="0"/>
                        </a:spcAft>
                      </a:pPr>
                      <a:r>
                        <a:rPr lang="en-US" sz="1200" kern="0">
                          <a:solidFill>
                            <a:srgbClr val="000000"/>
                          </a:solidFill>
                          <a:effectLst/>
                          <a:latin typeface="+mn-lt"/>
                        </a:rPr>
                        <a:t> </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tc gridSpan="2">
                  <a:txBody>
                    <a:bodyPr/>
                    <a:lstStyle/>
                    <a:p>
                      <a:pPr marL="0" marR="0" algn="ctr">
                        <a:lnSpc>
                          <a:spcPct val="100000"/>
                        </a:lnSpc>
                        <a:spcBef>
                          <a:spcPts val="0"/>
                        </a:spcBef>
                        <a:spcAft>
                          <a:spcPts val="0"/>
                        </a:spcAft>
                      </a:pPr>
                      <a:r>
                        <a:rPr lang="en-US" sz="1200" kern="100">
                          <a:solidFill>
                            <a:srgbClr val="000000"/>
                          </a:solidFill>
                          <a:effectLst/>
                          <a:latin typeface="+mn-lt"/>
                        </a:rPr>
                        <a:t>6.68</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tc hMerge="1">
                  <a:txBody>
                    <a:bodyPr/>
                    <a:lstStyle/>
                    <a:p>
                      <a:endParaRPr lang="en-US"/>
                    </a:p>
                  </a:txBody>
                  <a:tcPr/>
                </a:tc>
                <a:tc>
                  <a:txBody>
                    <a:bodyPr/>
                    <a:lstStyle/>
                    <a:p>
                      <a:pPr marL="0" marR="0" algn="ctr">
                        <a:lnSpc>
                          <a:spcPct val="100000"/>
                        </a:lnSpc>
                        <a:spcBef>
                          <a:spcPts val="0"/>
                        </a:spcBef>
                        <a:spcAft>
                          <a:spcPts val="0"/>
                        </a:spcAft>
                      </a:pPr>
                      <a:r>
                        <a:rPr lang="en-US" sz="1200" kern="100">
                          <a:solidFill>
                            <a:srgbClr val="000000"/>
                          </a:solidFill>
                          <a:effectLst/>
                          <a:latin typeface="+mn-lt"/>
                        </a:rPr>
                        <a:t>9.62</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tc>
                  <a:txBody>
                    <a:bodyPr/>
                    <a:lstStyle/>
                    <a:p>
                      <a:pPr marL="0" marR="0" algn="ctr">
                        <a:lnSpc>
                          <a:spcPct val="100000"/>
                        </a:lnSpc>
                        <a:spcBef>
                          <a:spcPts val="0"/>
                        </a:spcBef>
                        <a:spcAft>
                          <a:spcPts val="0"/>
                        </a:spcAft>
                      </a:pPr>
                      <a:r>
                        <a:rPr lang="en-US" sz="1200" kern="100" dirty="0">
                          <a:solidFill>
                            <a:srgbClr val="000000"/>
                          </a:solidFill>
                          <a:effectLst/>
                          <a:latin typeface="+mn-lt"/>
                        </a:rPr>
                        <a:t>0.53</a:t>
                      </a:r>
                      <a:endParaRPr lang="en-US" sz="1200" kern="100" dirty="0">
                        <a:effectLst/>
                        <a:latin typeface="+mn-lt"/>
                        <a:ea typeface="Calibri" panose="020F0502020204030204" pitchFamily="34" charset="0"/>
                        <a:cs typeface="Calibri" panose="020F0502020204030204" pitchFamily="34" charset="0"/>
                      </a:endParaRPr>
                    </a:p>
                  </a:txBody>
                  <a:tcPr marL="0" marR="0" marT="0" marB="0" anchor="ctr"/>
                </a:tc>
                <a:tc>
                  <a:txBody>
                    <a:bodyPr/>
                    <a:lstStyle/>
                    <a:p>
                      <a:pPr marL="0" marR="0" algn="ctr">
                        <a:lnSpc>
                          <a:spcPct val="100000"/>
                        </a:lnSpc>
                        <a:spcBef>
                          <a:spcPts val="0"/>
                        </a:spcBef>
                        <a:spcAft>
                          <a:spcPts val="0"/>
                        </a:spcAft>
                      </a:pPr>
                      <a:r>
                        <a:rPr lang="en-US" sz="1200" kern="100">
                          <a:solidFill>
                            <a:srgbClr val="000000"/>
                          </a:solidFill>
                          <a:effectLst/>
                          <a:latin typeface="+mn-lt"/>
                        </a:rPr>
                        <a:t> </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extLst>
                  <a:ext uri="{0D108BD9-81ED-4DB2-BD59-A6C34878D82A}">
                    <a16:rowId xmlns:a16="http://schemas.microsoft.com/office/drawing/2014/main" val="3286627573"/>
                  </a:ext>
                </a:extLst>
              </a:tr>
              <a:tr h="255866">
                <a:tc>
                  <a:txBody>
                    <a:bodyPr/>
                    <a:lstStyle/>
                    <a:p>
                      <a:pPr marL="0" marR="0" algn="ctr">
                        <a:lnSpc>
                          <a:spcPct val="100000"/>
                        </a:lnSpc>
                        <a:spcBef>
                          <a:spcPts val="0"/>
                        </a:spcBef>
                        <a:spcAft>
                          <a:spcPts val="0"/>
                        </a:spcAft>
                      </a:pPr>
                      <a:r>
                        <a:rPr lang="en-US" sz="1200" b="0" kern="0" dirty="0">
                          <a:solidFill>
                            <a:srgbClr val="000000"/>
                          </a:solidFill>
                          <a:effectLst/>
                          <a:latin typeface="+mn-lt"/>
                        </a:rPr>
                        <a:t>8726724</a:t>
                      </a:r>
                      <a:endParaRPr lang="en-US" sz="1200" b="0" kern="100" dirty="0">
                        <a:effectLst/>
                        <a:latin typeface="+mn-lt"/>
                        <a:ea typeface="Calibri" panose="020F0502020204030204" pitchFamily="34" charset="0"/>
                        <a:cs typeface="Calibri" panose="020F0502020204030204" pitchFamily="34" charset="0"/>
                      </a:endParaRPr>
                    </a:p>
                  </a:txBody>
                  <a:tcPr marL="0" marR="0" marT="0" marB="0" anchor="ctr"/>
                </a:tc>
                <a:tc>
                  <a:txBody>
                    <a:bodyPr/>
                    <a:lstStyle/>
                    <a:p>
                      <a:pPr marL="0" marR="0" algn="l">
                        <a:lnSpc>
                          <a:spcPct val="100000"/>
                        </a:lnSpc>
                        <a:spcBef>
                          <a:spcPts val="0"/>
                        </a:spcBef>
                        <a:spcAft>
                          <a:spcPts val="0"/>
                        </a:spcAft>
                      </a:pPr>
                      <a:r>
                        <a:rPr lang="en-US" sz="1200" kern="0" dirty="0">
                          <a:solidFill>
                            <a:srgbClr val="000000"/>
                          </a:solidFill>
                          <a:effectLst/>
                          <a:latin typeface="+mn-lt"/>
                        </a:rPr>
                        <a:t>Clearwater Beach</a:t>
                      </a:r>
                      <a:endParaRPr lang="en-US" sz="1200" kern="100" dirty="0">
                        <a:effectLst/>
                        <a:latin typeface="+mn-lt"/>
                        <a:ea typeface="Calibri" panose="020F0502020204030204" pitchFamily="34" charset="0"/>
                        <a:cs typeface="Calibri" panose="020F0502020204030204" pitchFamily="34" charset="0"/>
                      </a:endParaRPr>
                    </a:p>
                  </a:txBody>
                  <a:tcPr marL="0" marR="0" marT="0" marB="0" anchor="ctr"/>
                </a:tc>
                <a:tc>
                  <a:txBody>
                    <a:bodyPr/>
                    <a:lstStyle/>
                    <a:p>
                      <a:pPr marL="0" marR="0" algn="ctr">
                        <a:lnSpc>
                          <a:spcPct val="100000"/>
                        </a:lnSpc>
                        <a:spcBef>
                          <a:spcPts val="0"/>
                        </a:spcBef>
                        <a:spcAft>
                          <a:spcPts val="0"/>
                        </a:spcAft>
                      </a:pPr>
                      <a:r>
                        <a:rPr lang="en-US" sz="1200" kern="0">
                          <a:solidFill>
                            <a:srgbClr val="000000"/>
                          </a:solidFill>
                          <a:effectLst/>
                          <a:latin typeface="+mn-lt"/>
                        </a:rPr>
                        <a:t>7453</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tc>
                  <a:txBody>
                    <a:bodyPr/>
                    <a:lstStyle/>
                    <a:p>
                      <a:pPr algn="ctr" fontAlgn="b">
                        <a:lnSpc>
                          <a:spcPct val="100000"/>
                        </a:lnSpc>
                      </a:pPr>
                      <a:r>
                        <a:rPr lang="en-US" sz="1200" b="0" u="none" strike="noStrike">
                          <a:solidFill>
                            <a:srgbClr val="000000"/>
                          </a:solidFill>
                          <a:effectLst/>
                          <a:latin typeface="+mn-lt"/>
                        </a:rPr>
                        <a:t>5.51</a:t>
                      </a:r>
                      <a:endParaRPr lang="en-US" sz="1200" b="0" i="0" u="none" strike="noStrike">
                        <a:solidFill>
                          <a:srgbClr val="000000"/>
                        </a:solidFill>
                        <a:effectLst/>
                        <a:latin typeface="+mn-lt"/>
                        <a:cs typeface="Calibri" panose="020F0502020204030204" pitchFamily="34" charset="0"/>
                      </a:endParaRPr>
                    </a:p>
                  </a:txBody>
                  <a:tcPr marL="0" marR="0" marT="0" marB="0" anchor="ctr"/>
                </a:tc>
                <a:tc>
                  <a:txBody>
                    <a:bodyPr/>
                    <a:lstStyle/>
                    <a:p>
                      <a:pPr algn="ctr" fontAlgn="b">
                        <a:lnSpc>
                          <a:spcPct val="100000"/>
                        </a:lnSpc>
                      </a:pPr>
                      <a:r>
                        <a:rPr lang="en-US" sz="1200" b="0" u="none" strike="noStrike">
                          <a:solidFill>
                            <a:srgbClr val="000000"/>
                          </a:solidFill>
                          <a:effectLst/>
                          <a:latin typeface="+mn-lt"/>
                        </a:rPr>
                        <a:t>7.41</a:t>
                      </a:r>
                      <a:endParaRPr lang="en-US" sz="1200" b="0" i="0" u="none" strike="noStrike">
                        <a:solidFill>
                          <a:srgbClr val="000000"/>
                        </a:solidFill>
                        <a:effectLst/>
                        <a:latin typeface="+mn-lt"/>
                        <a:cs typeface="Calibri" panose="020F0502020204030204" pitchFamily="34" charset="0"/>
                      </a:endParaRPr>
                    </a:p>
                  </a:txBody>
                  <a:tcPr marL="0" marR="0" marT="0" marB="0" anchor="ctr"/>
                </a:tc>
                <a:tc>
                  <a:txBody>
                    <a:bodyPr/>
                    <a:lstStyle/>
                    <a:p>
                      <a:pPr algn="ctr" fontAlgn="b">
                        <a:lnSpc>
                          <a:spcPct val="100000"/>
                        </a:lnSpc>
                      </a:pPr>
                      <a:r>
                        <a:rPr lang="en-US" sz="1200" b="0" u="none" strike="noStrike" dirty="0">
                          <a:solidFill>
                            <a:srgbClr val="000000"/>
                          </a:solidFill>
                          <a:effectLst/>
                          <a:latin typeface="+mn-lt"/>
                        </a:rPr>
                        <a:t>0.63</a:t>
                      </a:r>
                      <a:endParaRPr lang="en-US" sz="1200" b="0" i="0" u="none" strike="noStrike" dirty="0">
                        <a:solidFill>
                          <a:srgbClr val="000000"/>
                        </a:solidFill>
                        <a:effectLst/>
                        <a:latin typeface="+mn-lt"/>
                        <a:cs typeface="Calibri" panose="020F0502020204030204" pitchFamily="34" charset="0"/>
                      </a:endParaRPr>
                    </a:p>
                  </a:txBody>
                  <a:tcPr marL="0" marR="0" marT="0" marB="0" anchor="ctr"/>
                </a:tc>
                <a:tc>
                  <a:txBody>
                    <a:bodyPr/>
                    <a:lstStyle/>
                    <a:p>
                      <a:pPr marL="0" marR="0" algn="ctr">
                        <a:lnSpc>
                          <a:spcPct val="100000"/>
                        </a:lnSpc>
                        <a:spcBef>
                          <a:spcPts val="0"/>
                        </a:spcBef>
                        <a:spcAft>
                          <a:spcPts val="0"/>
                        </a:spcAft>
                      </a:pPr>
                      <a:r>
                        <a:rPr lang="en-US" sz="1200" kern="0">
                          <a:solidFill>
                            <a:srgbClr val="000000"/>
                          </a:solidFill>
                          <a:effectLst/>
                          <a:latin typeface="+mn-lt"/>
                        </a:rPr>
                        <a:t> </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tc gridSpan="2">
                  <a:txBody>
                    <a:bodyPr/>
                    <a:lstStyle/>
                    <a:p>
                      <a:pPr marL="0" marR="0" algn="ctr">
                        <a:lnSpc>
                          <a:spcPct val="100000"/>
                        </a:lnSpc>
                        <a:spcBef>
                          <a:spcPts val="0"/>
                        </a:spcBef>
                        <a:spcAft>
                          <a:spcPts val="0"/>
                        </a:spcAft>
                      </a:pPr>
                      <a:r>
                        <a:rPr lang="en-US" sz="1200" kern="100">
                          <a:solidFill>
                            <a:srgbClr val="000000"/>
                          </a:solidFill>
                          <a:effectLst/>
                          <a:latin typeface="+mn-lt"/>
                        </a:rPr>
                        <a:t>5.41</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tc hMerge="1">
                  <a:txBody>
                    <a:bodyPr/>
                    <a:lstStyle/>
                    <a:p>
                      <a:endParaRPr lang="en-US"/>
                    </a:p>
                  </a:txBody>
                  <a:tcPr/>
                </a:tc>
                <a:tc>
                  <a:txBody>
                    <a:bodyPr/>
                    <a:lstStyle/>
                    <a:p>
                      <a:pPr marL="0" marR="0" algn="ctr">
                        <a:lnSpc>
                          <a:spcPct val="100000"/>
                        </a:lnSpc>
                        <a:spcBef>
                          <a:spcPts val="0"/>
                        </a:spcBef>
                        <a:spcAft>
                          <a:spcPts val="0"/>
                        </a:spcAft>
                      </a:pPr>
                      <a:r>
                        <a:rPr lang="en-US" sz="1200" kern="100">
                          <a:solidFill>
                            <a:srgbClr val="000000"/>
                          </a:solidFill>
                          <a:effectLst/>
                          <a:latin typeface="+mn-lt"/>
                        </a:rPr>
                        <a:t>7.69</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tc>
                  <a:txBody>
                    <a:bodyPr/>
                    <a:lstStyle/>
                    <a:p>
                      <a:pPr marL="0" marR="0" algn="ctr">
                        <a:lnSpc>
                          <a:spcPct val="100000"/>
                        </a:lnSpc>
                        <a:spcBef>
                          <a:spcPts val="0"/>
                        </a:spcBef>
                        <a:spcAft>
                          <a:spcPts val="0"/>
                        </a:spcAft>
                      </a:pPr>
                      <a:r>
                        <a:rPr lang="en-US" sz="1200" kern="100" dirty="0">
                          <a:solidFill>
                            <a:srgbClr val="000000"/>
                          </a:solidFill>
                          <a:effectLst/>
                          <a:latin typeface="+mn-lt"/>
                        </a:rPr>
                        <a:t>0.63</a:t>
                      </a:r>
                      <a:endParaRPr lang="en-US" sz="1200" kern="100" dirty="0">
                        <a:effectLst/>
                        <a:latin typeface="+mn-lt"/>
                        <a:ea typeface="Calibri" panose="020F0502020204030204" pitchFamily="34" charset="0"/>
                        <a:cs typeface="Calibri" panose="020F0502020204030204" pitchFamily="34" charset="0"/>
                      </a:endParaRPr>
                    </a:p>
                  </a:txBody>
                  <a:tcPr marL="0" marR="0" marT="0" marB="0" anchor="ctr"/>
                </a:tc>
                <a:tc>
                  <a:txBody>
                    <a:bodyPr/>
                    <a:lstStyle/>
                    <a:p>
                      <a:pPr marL="0" marR="0" algn="ctr">
                        <a:lnSpc>
                          <a:spcPct val="100000"/>
                        </a:lnSpc>
                        <a:spcBef>
                          <a:spcPts val="0"/>
                        </a:spcBef>
                        <a:spcAft>
                          <a:spcPts val="0"/>
                        </a:spcAft>
                      </a:pPr>
                      <a:r>
                        <a:rPr lang="en-US" sz="1200" kern="100">
                          <a:solidFill>
                            <a:srgbClr val="000000"/>
                          </a:solidFill>
                          <a:effectLst/>
                          <a:latin typeface="+mn-lt"/>
                        </a:rPr>
                        <a:t> </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extLst>
                  <a:ext uri="{0D108BD9-81ED-4DB2-BD59-A6C34878D82A}">
                    <a16:rowId xmlns:a16="http://schemas.microsoft.com/office/drawing/2014/main" val="2466243259"/>
                  </a:ext>
                </a:extLst>
              </a:tr>
              <a:tr h="255866">
                <a:tc>
                  <a:txBody>
                    <a:bodyPr/>
                    <a:lstStyle/>
                    <a:p>
                      <a:pPr marL="0" marR="0" algn="ctr">
                        <a:lnSpc>
                          <a:spcPct val="100000"/>
                        </a:lnSpc>
                        <a:spcBef>
                          <a:spcPts val="0"/>
                        </a:spcBef>
                        <a:spcAft>
                          <a:spcPts val="0"/>
                        </a:spcAft>
                      </a:pPr>
                      <a:r>
                        <a:rPr lang="en-US" sz="1200" b="0" kern="0" dirty="0">
                          <a:solidFill>
                            <a:srgbClr val="000000"/>
                          </a:solidFill>
                          <a:effectLst/>
                          <a:latin typeface="+mn-lt"/>
                        </a:rPr>
                        <a:t>8727520</a:t>
                      </a:r>
                      <a:endParaRPr lang="en-US" sz="1200" b="0" kern="100" dirty="0">
                        <a:effectLst/>
                        <a:latin typeface="+mn-lt"/>
                        <a:ea typeface="Calibri" panose="020F0502020204030204" pitchFamily="34" charset="0"/>
                        <a:cs typeface="Calibri" panose="020F0502020204030204" pitchFamily="34" charset="0"/>
                      </a:endParaRPr>
                    </a:p>
                  </a:txBody>
                  <a:tcPr marL="0" marR="0" marT="0" marB="0" anchor="ctr"/>
                </a:tc>
                <a:tc>
                  <a:txBody>
                    <a:bodyPr/>
                    <a:lstStyle/>
                    <a:p>
                      <a:pPr marL="0" marR="0" algn="l">
                        <a:lnSpc>
                          <a:spcPct val="100000"/>
                        </a:lnSpc>
                        <a:spcBef>
                          <a:spcPts val="0"/>
                        </a:spcBef>
                        <a:spcAft>
                          <a:spcPts val="0"/>
                        </a:spcAft>
                      </a:pPr>
                      <a:r>
                        <a:rPr lang="en-US" sz="1200" kern="0" dirty="0">
                          <a:solidFill>
                            <a:srgbClr val="000000"/>
                          </a:solidFill>
                          <a:effectLst/>
                          <a:latin typeface="+mn-lt"/>
                        </a:rPr>
                        <a:t>Cedar Key</a:t>
                      </a:r>
                      <a:endParaRPr lang="en-US" sz="1200" kern="100" dirty="0">
                        <a:effectLst/>
                        <a:latin typeface="+mn-lt"/>
                        <a:ea typeface="Calibri" panose="020F0502020204030204" pitchFamily="34" charset="0"/>
                        <a:cs typeface="Calibri" panose="020F0502020204030204" pitchFamily="34" charset="0"/>
                      </a:endParaRPr>
                    </a:p>
                  </a:txBody>
                  <a:tcPr marL="0" marR="0" marT="0" marB="0" anchor="ctr"/>
                </a:tc>
                <a:tc>
                  <a:txBody>
                    <a:bodyPr/>
                    <a:lstStyle/>
                    <a:p>
                      <a:pPr marL="0" marR="0" algn="ctr">
                        <a:lnSpc>
                          <a:spcPct val="100000"/>
                        </a:lnSpc>
                        <a:spcBef>
                          <a:spcPts val="0"/>
                        </a:spcBef>
                        <a:spcAft>
                          <a:spcPts val="0"/>
                        </a:spcAft>
                      </a:pPr>
                      <a:r>
                        <a:rPr lang="en-US" sz="1200" kern="0">
                          <a:solidFill>
                            <a:srgbClr val="000000"/>
                          </a:solidFill>
                          <a:effectLst/>
                          <a:latin typeface="+mn-lt"/>
                        </a:rPr>
                        <a:t>7250</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tc>
                  <a:txBody>
                    <a:bodyPr/>
                    <a:lstStyle/>
                    <a:p>
                      <a:pPr algn="ctr" fontAlgn="b">
                        <a:lnSpc>
                          <a:spcPct val="100000"/>
                        </a:lnSpc>
                      </a:pPr>
                      <a:r>
                        <a:rPr lang="en-US" sz="1200" b="0" u="none" strike="noStrike">
                          <a:solidFill>
                            <a:srgbClr val="000000"/>
                          </a:solidFill>
                          <a:effectLst/>
                          <a:latin typeface="+mn-lt"/>
                        </a:rPr>
                        <a:t>7.28</a:t>
                      </a:r>
                      <a:endParaRPr lang="en-US" sz="1200" b="0" i="0" u="none" strike="noStrike">
                        <a:solidFill>
                          <a:srgbClr val="000000"/>
                        </a:solidFill>
                        <a:effectLst/>
                        <a:latin typeface="+mn-lt"/>
                        <a:cs typeface="Calibri" panose="020F0502020204030204" pitchFamily="34" charset="0"/>
                      </a:endParaRPr>
                    </a:p>
                  </a:txBody>
                  <a:tcPr marL="0" marR="0" marT="0" marB="0" anchor="ctr"/>
                </a:tc>
                <a:tc>
                  <a:txBody>
                    <a:bodyPr/>
                    <a:lstStyle/>
                    <a:p>
                      <a:pPr algn="ctr" fontAlgn="b">
                        <a:lnSpc>
                          <a:spcPct val="100000"/>
                        </a:lnSpc>
                      </a:pPr>
                      <a:r>
                        <a:rPr lang="en-US" sz="1200" b="0" u="none" strike="noStrike">
                          <a:solidFill>
                            <a:srgbClr val="000000"/>
                          </a:solidFill>
                          <a:effectLst/>
                          <a:latin typeface="+mn-lt"/>
                        </a:rPr>
                        <a:t>11.14</a:t>
                      </a:r>
                      <a:endParaRPr lang="en-US" sz="1200" b="0" i="0" u="none" strike="noStrike">
                        <a:solidFill>
                          <a:srgbClr val="000000"/>
                        </a:solidFill>
                        <a:effectLst/>
                        <a:latin typeface="+mn-lt"/>
                        <a:cs typeface="Calibri" panose="020F0502020204030204" pitchFamily="34" charset="0"/>
                      </a:endParaRPr>
                    </a:p>
                  </a:txBody>
                  <a:tcPr marL="0" marR="0" marT="0" marB="0" anchor="ctr"/>
                </a:tc>
                <a:tc>
                  <a:txBody>
                    <a:bodyPr/>
                    <a:lstStyle/>
                    <a:p>
                      <a:pPr algn="ctr" fontAlgn="b">
                        <a:lnSpc>
                          <a:spcPct val="100000"/>
                        </a:lnSpc>
                      </a:pPr>
                      <a:r>
                        <a:rPr lang="en-US" sz="1200" b="0" u="none" strike="noStrike" dirty="0">
                          <a:solidFill>
                            <a:srgbClr val="000000"/>
                          </a:solidFill>
                          <a:effectLst/>
                          <a:latin typeface="+mn-lt"/>
                        </a:rPr>
                        <a:t>0.65</a:t>
                      </a:r>
                      <a:endParaRPr lang="en-US" sz="1200" b="0" i="0" u="none" strike="noStrike" dirty="0">
                        <a:solidFill>
                          <a:srgbClr val="000000"/>
                        </a:solidFill>
                        <a:effectLst/>
                        <a:latin typeface="+mn-lt"/>
                        <a:cs typeface="Calibri" panose="020F0502020204030204" pitchFamily="34" charset="0"/>
                      </a:endParaRPr>
                    </a:p>
                  </a:txBody>
                  <a:tcPr marL="0" marR="0" marT="0" marB="0" anchor="ctr"/>
                </a:tc>
                <a:tc>
                  <a:txBody>
                    <a:bodyPr/>
                    <a:lstStyle/>
                    <a:p>
                      <a:pPr marL="0" marR="0" algn="ctr">
                        <a:lnSpc>
                          <a:spcPct val="100000"/>
                        </a:lnSpc>
                        <a:spcBef>
                          <a:spcPts val="0"/>
                        </a:spcBef>
                        <a:spcAft>
                          <a:spcPts val="0"/>
                        </a:spcAft>
                      </a:pPr>
                      <a:r>
                        <a:rPr lang="en-US" sz="1200" kern="0">
                          <a:solidFill>
                            <a:srgbClr val="000000"/>
                          </a:solidFill>
                          <a:effectLst/>
                          <a:latin typeface="+mn-lt"/>
                        </a:rPr>
                        <a:t> </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tc gridSpan="2">
                  <a:txBody>
                    <a:bodyPr/>
                    <a:lstStyle/>
                    <a:p>
                      <a:pPr marL="0" marR="0" algn="ctr">
                        <a:lnSpc>
                          <a:spcPct val="100000"/>
                        </a:lnSpc>
                        <a:spcBef>
                          <a:spcPts val="0"/>
                        </a:spcBef>
                        <a:spcAft>
                          <a:spcPts val="0"/>
                        </a:spcAft>
                      </a:pPr>
                      <a:r>
                        <a:rPr lang="en-US" sz="1200" kern="100">
                          <a:solidFill>
                            <a:srgbClr val="000000"/>
                          </a:solidFill>
                          <a:effectLst/>
                          <a:latin typeface="+mn-lt"/>
                        </a:rPr>
                        <a:t>7.15</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tc hMerge="1">
                  <a:txBody>
                    <a:bodyPr/>
                    <a:lstStyle/>
                    <a:p>
                      <a:endParaRPr lang="en-US"/>
                    </a:p>
                  </a:txBody>
                  <a:tcPr/>
                </a:tc>
                <a:tc>
                  <a:txBody>
                    <a:bodyPr/>
                    <a:lstStyle/>
                    <a:p>
                      <a:pPr marL="0" marR="0" algn="ctr">
                        <a:lnSpc>
                          <a:spcPct val="100000"/>
                        </a:lnSpc>
                        <a:spcBef>
                          <a:spcPts val="0"/>
                        </a:spcBef>
                        <a:spcAft>
                          <a:spcPts val="0"/>
                        </a:spcAft>
                      </a:pPr>
                      <a:r>
                        <a:rPr lang="en-US" sz="1200" kern="100">
                          <a:solidFill>
                            <a:srgbClr val="000000"/>
                          </a:solidFill>
                          <a:effectLst/>
                          <a:latin typeface="+mn-lt"/>
                        </a:rPr>
                        <a:t>11.00</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tc>
                  <a:txBody>
                    <a:bodyPr/>
                    <a:lstStyle/>
                    <a:p>
                      <a:pPr marL="0" marR="0" algn="ctr">
                        <a:lnSpc>
                          <a:spcPct val="100000"/>
                        </a:lnSpc>
                        <a:spcBef>
                          <a:spcPts val="0"/>
                        </a:spcBef>
                        <a:spcAft>
                          <a:spcPts val="0"/>
                        </a:spcAft>
                      </a:pPr>
                      <a:r>
                        <a:rPr lang="en-US" sz="1200" kern="100" dirty="0">
                          <a:solidFill>
                            <a:srgbClr val="000000"/>
                          </a:solidFill>
                          <a:effectLst/>
                          <a:latin typeface="+mn-lt"/>
                        </a:rPr>
                        <a:t>0.58</a:t>
                      </a:r>
                      <a:endParaRPr lang="en-US" sz="1200" kern="100" dirty="0">
                        <a:effectLst/>
                        <a:latin typeface="+mn-lt"/>
                        <a:ea typeface="Calibri" panose="020F0502020204030204" pitchFamily="34" charset="0"/>
                        <a:cs typeface="Calibri" panose="020F0502020204030204" pitchFamily="34" charset="0"/>
                      </a:endParaRPr>
                    </a:p>
                  </a:txBody>
                  <a:tcPr marL="0" marR="0" marT="0" marB="0" anchor="ctr"/>
                </a:tc>
                <a:tc>
                  <a:txBody>
                    <a:bodyPr/>
                    <a:lstStyle/>
                    <a:p>
                      <a:pPr marL="0" marR="0" algn="ctr">
                        <a:lnSpc>
                          <a:spcPct val="100000"/>
                        </a:lnSpc>
                        <a:spcBef>
                          <a:spcPts val="0"/>
                        </a:spcBef>
                        <a:spcAft>
                          <a:spcPts val="0"/>
                        </a:spcAft>
                      </a:pPr>
                      <a:r>
                        <a:rPr lang="en-US" sz="1200" kern="100">
                          <a:solidFill>
                            <a:srgbClr val="000000"/>
                          </a:solidFill>
                          <a:effectLst/>
                          <a:latin typeface="+mn-lt"/>
                        </a:rPr>
                        <a:t> </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extLst>
                  <a:ext uri="{0D108BD9-81ED-4DB2-BD59-A6C34878D82A}">
                    <a16:rowId xmlns:a16="http://schemas.microsoft.com/office/drawing/2014/main" val="3082077723"/>
                  </a:ext>
                </a:extLst>
              </a:tr>
              <a:tr h="255866">
                <a:tc>
                  <a:txBody>
                    <a:bodyPr/>
                    <a:lstStyle/>
                    <a:p>
                      <a:pPr marL="0" marR="0" algn="ctr">
                        <a:lnSpc>
                          <a:spcPct val="100000"/>
                        </a:lnSpc>
                        <a:spcBef>
                          <a:spcPts val="0"/>
                        </a:spcBef>
                        <a:spcAft>
                          <a:spcPts val="0"/>
                        </a:spcAft>
                      </a:pPr>
                      <a:r>
                        <a:rPr lang="en-US" sz="1200" b="0" kern="0">
                          <a:solidFill>
                            <a:srgbClr val="000000"/>
                          </a:solidFill>
                          <a:effectLst/>
                          <a:latin typeface="+mn-lt"/>
                        </a:rPr>
                        <a:t>8728690</a:t>
                      </a:r>
                      <a:endParaRPr lang="en-US" sz="1200" b="0" kern="100">
                        <a:effectLst/>
                        <a:latin typeface="+mn-lt"/>
                        <a:ea typeface="Calibri" panose="020F0502020204030204" pitchFamily="34" charset="0"/>
                        <a:cs typeface="Calibri" panose="020F0502020204030204" pitchFamily="34" charset="0"/>
                      </a:endParaRPr>
                    </a:p>
                  </a:txBody>
                  <a:tcPr marL="0" marR="0" marT="0" marB="0" anchor="ctr"/>
                </a:tc>
                <a:tc>
                  <a:txBody>
                    <a:bodyPr/>
                    <a:lstStyle/>
                    <a:p>
                      <a:pPr marL="0" marR="0" algn="l">
                        <a:lnSpc>
                          <a:spcPct val="100000"/>
                        </a:lnSpc>
                        <a:spcBef>
                          <a:spcPts val="0"/>
                        </a:spcBef>
                        <a:spcAft>
                          <a:spcPts val="0"/>
                        </a:spcAft>
                      </a:pPr>
                      <a:r>
                        <a:rPr lang="en-US" sz="1200" kern="0" dirty="0">
                          <a:solidFill>
                            <a:srgbClr val="000000"/>
                          </a:solidFill>
                          <a:effectLst/>
                          <a:latin typeface="+mn-lt"/>
                        </a:rPr>
                        <a:t>Apalachicola</a:t>
                      </a:r>
                      <a:endParaRPr lang="en-US" sz="1200" kern="100" dirty="0">
                        <a:effectLst/>
                        <a:latin typeface="+mn-lt"/>
                        <a:ea typeface="Calibri" panose="020F0502020204030204" pitchFamily="34" charset="0"/>
                        <a:cs typeface="Calibri" panose="020F0502020204030204" pitchFamily="34" charset="0"/>
                      </a:endParaRPr>
                    </a:p>
                  </a:txBody>
                  <a:tcPr marL="0" marR="0" marT="0" marB="0" anchor="ctr"/>
                </a:tc>
                <a:tc>
                  <a:txBody>
                    <a:bodyPr/>
                    <a:lstStyle/>
                    <a:p>
                      <a:pPr marL="0" marR="0" algn="ctr">
                        <a:lnSpc>
                          <a:spcPct val="100000"/>
                        </a:lnSpc>
                        <a:spcBef>
                          <a:spcPts val="0"/>
                        </a:spcBef>
                        <a:spcAft>
                          <a:spcPts val="0"/>
                        </a:spcAft>
                      </a:pPr>
                      <a:r>
                        <a:rPr lang="en-US" sz="1200" kern="0">
                          <a:solidFill>
                            <a:srgbClr val="000000"/>
                          </a:solidFill>
                          <a:effectLst/>
                          <a:latin typeface="+mn-lt"/>
                        </a:rPr>
                        <a:t>7528</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tc>
                  <a:txBody>
                    <a:bodyPr/>
                    <a:lstStyle/>
                    <a:p>
                      <a:pPr algn="ctr" fontAlgn="b">
                        <a:lnSpc>
                          <a:spcPct val="100000"/>
                        </a:lnSpc>
                      </a:pPr>
                      <a:r>
                        <a:rPr lang="en-US" sz="1200" b="0" u="none" strike="noStrike">
                          <a:solidFill>
                            <a:srgbClr val="000000"/>
                          </a:solidFill>
                          <a:effectLst/>
                          <a:latin typeface="+mn-lt"/>
                        </a:rPr>
                        <a:t>7.19</a:t>
                      </a:r>
                      <a:endParaRPr lang="en-US" sz="1200" b="0" i="0" u="none" strike="noStrike">
                        <a:solidFill>
                          <a:srgbClr val="000000"/>
                        </a:solidFill>
                        <a:effectLst/>
                        <a:latin typeface="+mn-lt"/>
                        <a:cs typeface="Calibri" panose="020F0502020204030204" pitchFamily="34" charset="0"/>
                      </a:endParaRPr>
                    </a:p>
                  </a:txBody>
                  <a:tcPr marL="0" marR="0" marT="0" marB="0" anchor="ctr"/>
                </a:tc>
                <a:tc>
                  <a:txBody>
                    <a:bodyPr/>
                    <a:lstStyle/>
                    <a:p>
                      <a:pPr algn="ctr" fontAlgn="b">
                        <a:lnSpc>
                          <a:spcPct val="100000"/>
                        </a:lnSpc>
                      </a:pPr>
                      <a:r>
                        <a:rPr lang="en-US" sz="1200" b="0" u="none" strike="noStrike">
                          <a:solidFill>
                            <a:srgbClr val="000000"/>
                          </a:solidFill>
                          <a:effectLst/>
                          <a:latin typeface="+mn-lt"/>
                        </a:rPr>
                        <a:t>10.28</a:t>
                      </a:r>
                      <a:endParaRPr lang="en-US" sz="1200" b="0" i="0" u="none" strike="noStrike">
                        <a:solidFill>
                          <a:srgbClr val="000000"/>
                        </a:solidFill>
                        <a:effectLst/>
                        <a:latin typeface="+mn-lt"/>
                        <a:cs typeface="Calibri" panose="020F0502020204030204" pitchFamily="34" charset="0"/>
                      </a:endParaRPr>
                    </a:p>
                  </a:txBody>
                  <a:tcPr marL="0" marR="0" marT="0" marB="0" anchor="ctr"/>
                </a:tc>
                <a:tc>
                  <a:txBody>
                    <a:bodyPr/>
                    <a:lstStyle/>
                    <a:p>
                      <a:pPr algn="ctr" fontAlgn="b">
                        <a:lnSpc>
                          <a:spcPct val="100000"/>
                        </a:lnSpc>
                      </a:pPr>
                      <a:r>
                        <a:rPr lang="en-US" sz="1200" b="0" u="none" strike="noStrike" dirty="0">
                          <a:solidFill>
                            <a:srgbClr val="000000"/>
                          </a:solidFill>
                          <a:effectLst/>
                          <a:latin typeface="+mn-lt"/>
                        </a:rPr>
                        <a:t>0.56</a:t>
                      </a:r>
                      <a:endParaRPr lang="en-US" sz="1200" b="0" i="0" u="none" strike="noStrike" dirty="0">
                        <a:solidFill>
                          <a:srgbClr val="000000"/>
                        </a:solidFill>
                        <a:effectLst/>
                        <a:latin typeface="+mn-lt"/>
                        <a:cs typeface="Calibri" panose="020F0502020204030204" pitchFamily="34" charset="0"/>
                      </a:endParaRPr>
                    </a:p>
                  </a:txBody>
                  <a:tcPr marL="0" marR="0" marT="0" marB="0" anchor="ctr"/>
                </a:tc>
                <a:tc>
                  <a:txBody>
                    <a:bodyPr/>
                    <a:lstStyle/>
                    <a:p>
                      <a:pPr marL="0" marR="0" algn="ctr">
                        <a:lnSpc>
                          <a:spcPct val="100000"/>
                        </a:lnSpc>
                        <a:spcBef>
                          <a:spcPts val="0"/>
                        </a:spcBef>
                        <a:spcAft>
                          <a:spcPts val="0"/>
                        </a:spcAft>
                      </a:pPr>
                      <a:r>
                        <a:rPr lang="en-US" sz="1200" kern="0">
                          <a:solidFill>
                            <a:srgbClr val="000000"/>
                          </a:solidFill>
                          <a:effectLst/>
                          <a:latin typeface="+mn-lt"/>
                        </a:rPr>
                        <a:t> </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tc gridSpan="2">
                  <a:txBody>
                    <a:bodyPr/>
                    <a:lstStyle/>
                    <a:p>
                      <a:pPr marL="0" marR="0" algn="ctr">
                        <a:lnSpc>
                          <a:spcPct val="100000"/>
                        </a:lnSpc>
                        <a:spcBef>
                          <a:spcPts val="0"/>
                        </a:spcBef>
                        <a:spcAft>
                          <a:spcPts val="0"/>
                        </a:spcAft>
                      </a:pPr>
                      <a:r>
                        <a:rPr lang="en-US" sz="1200" kern="100">
                          <a:solidFill>
                            <a:srgbClr val="000000"/>
                          </a:solidFill>
                          <a:effectLst/>
                          <a:latin typeface="+mn-lt"/>
                        </a:rPr>
                        <a:t>7.01</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tc hMerge="1">
                  <a:txBody>
                    <a:bodyPr/>
                    <a:lstStyle/>
                    <a:p>
                      <a:endParaRPr lang="en-US"/>
                    </a:p>
                  </a:txBody>
                  <a:tcPr/>
                </a:tc>
                <a:tc>
                  <a:txBody>
                    <a:bodyPr/>
                    <a:lstStyle/>
                    <a:p>
                      <a:pPr marL="0" marR="0" algn="ctr">
                        <a:lnSpc>
                          <a:spcPct val="100000"/>
                        </a:lnSpc>
                        <a:spcBef>
                          <a:spcPts val="0"/>
                        </a:spcBef>
                        <a:spcAft>
                          <a:spcPts val="0"/>
                        </a:spcAft>
                      </a:pPr>
                      <a:r>
                        <a:rPr lang="en-US" sz="1200" kern="100">
                          <a:solidFill>
                            <a:srgbClr val="000000"/>
                          </a:solidFill>
                          <a:effectLst/>
                          <a:latin typeface="+mn-lt"/>
                        </a:rPr>
                        <a:t>10.33</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tc>
                  <a:txBody>
                    <a:bodyPr/>
                    <a:lstStyle/>
                    <a:p>
                      <a:pPr marL="0" marR="0" algn="ctr">
                        <a:lnSpc>
                          <a:spcPct val="100000"/>
                        </a:lnSpc>
                        <a:spcBef>
                          <a:spcPts val="0"/>
                        </a:spcBef>
                        <a:spcAft>
                          <a:spcPts val="0"/>
                        </a:spcAft>
                      </a:pPr>
                      <a:r>
                        <a:rPr lang="en-US" sz="1200" kern="100" dirty="0">
                          <a:solidFill>
                            <a:srgbClr val="000000"/>
                          </a:solidFill>
                          <a:effectLst/>
                          <a:latin typeface="+mn-lt"/>
                        </a:rPr>
                        <a:t>0.52</a:t>
                      </a:r>
                      <a:endParaRPr lang="en-US" sz="1200" kern="100" dirty="0">
                        <a:effectLst/>
                        <a:latin typeface="+mn-lt"/>
                        <a:ea typeface="Calibri" panose="020F0502020204030204" pitchFamily="34" charset="0"/>
                        <a:cs typeface="Calibri" panose="020F0502020204030204" pitchFamily="34" charset="0"/>
                      </a:endParaRPr>
                    </a:p>
                  </a:txBody>
                  <a:tcPr marL="0" marR="0" marT="0" marB="0" anchor="ctr"/>
                </a:tc>
                <a:tc>
                  <a:txBody>
                    <a:bodyPr/>
                    <a:lstStyle/>
                    <a:p>
                      <a:pPr marL="0" marR="0" algn="ctr">
                        <a:lnSpc>
                          <a:spcPct val="100000"/>
                        </a:lnSpc>
                        <a:spcBef>
                          <a:spcPts val="0"/>
                        </a:spcBef>
                        <a:spcAft>
                          <a:spcPts val="0"/>
                        </a:spcAft>
                      </a:pPr>
                      <a:r>
                        <a:rPr lang="en-US" sz="1200" kern="100">
                          <a:solidFill>
                            <a:srgbClr val="000000"/>
                          </a:solidFill>
                          <a:effectLst/>
                          <a:latin typeface="+mn-lt"/>
                        </a:rPr>
                        <a:t> </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extLst>
                  <a:ext uri="{0D108BD9-81ED-4DB2-BD59-A6C34878D82A}">
                    <a16:rowId xmlns:a16="http://schemas.microsoft.com/office/drawing/2014/main" val="264850481"/>
                  </a:ext>
                </a:extLst>
              </a:tr>
              <a:tr h="255866">
                <a:tc>
                  <a:txBody>
                    <a:bodyPr/>
                    <a:lstStyle/>
                    <a:p>
                      <a:pPr marL="0" marR="0" algn="ctr">
                        <a:lnSpc>
                          <a:spcPct val="100000"/>
                        </a:lnSpc>
                        <a:spcBef>
                          <a:spcPts val="0"/>
                        </a:spcBef>
                        <a:spcAft>
                          <a:spcPts val="0"/>
                        </a:spcAft>
                      </a:pPr>
                      <a:r>
                        <a:rPr lang="en-US" sz="1200" b="0" kern="0">
                          <a:solidFill>
                            <a:srgbClr val="000000"/>
                          </a:solidFill>
                          <a:effectLst/>
                          <a:latin typeface="+mn-lt"/>
                        </a:rPr>
                        <a:t>8729108</a:t>
                      </a:r>
                      <a:endParaRPr lang="en-US" sz="1200" b="0" kern="100">
                        <a:effectLst/>
                        <a:latin typeface="+mn-lt"/>
                        <a:ea typeface="Calibri" panose="020F0502020204030204" pitchFamily="34" charset="0"/>
                        <a:cs typeface="Calibri" panose="020F0502020204030204" pitchFamily="34" charset="0"/>
                      </a:endParaRPr>
                    </a:p>
                  </a:txBody>
                  <a:tcPr marL="0" marR="0" marT="0" marB="0" anchor="ctr"/>
                </a:tc>
                <a:tc>
                  <a:txBody>
                    <a:bodyPr/>
                    <a:lstStyle/>
                    <a:p>
                      <a:pPr marL="0" marR="0" algn="l">
                        <a:lnSpc>
                          <a:spcPct val="100000"/>
                        </a:lnSpc>
                        <a:spcBef>
                          <a:spcPts val="0"/>
                        </a:spcBef>
                        <a:spcAft>
                          <a:spcPts val="0"/>
                        </a:spcAft>
                      </a:pPr>
                      <a:r>
                        <a:rPr lang="en-US" sz="1200" kern="0" dirty="0">
                          <a:solidFill>
                            <a:srgbClr val="000000"/>
                          </a:solidFill>
                          <a:effectLst/>
                          <a:latin typeface="+mn-lt"/>
                        </a:rPr>
                        <a:t>Panama City</a:t>
                      </a:r>
                      <a:endParaRPr lang="en-US" sz="1200" kern="100" dirty="0">
                        <a:effectLst/>
                        <a:latin typeface="+mn-lt"/>
                        <a:ea typeface="Calibri" panose="020F0502020204030204" pitchFamily="34" charset="0"/>
                        <a:cs typeface="Calibri" panose="020F0502020204030204" pitchFamily="34" charset="0"/>
                      </a:endParaRPr>
                    </a:p>
                  </a:txBody>
                  <a:tcPr marL="0" marR="0" marT="0" marB="0" anchor="ctr"/>
                </a:tc>
                <a:tc>
                  <a:txBody>
                    <a:bodyPr/>
                    <a:lstStyle/>
                    <a:p>
                      <a:pPr marL="0" marR="0" algn="ctr">
                        <a:lnSpc>
                          <a:spcPct val="100000"/>
                        </a:lnSpc>
                        <a:spcBef>
                          <a:spcPts val="0"/>
                        </a:spcBef>
                        <a:spcAft>
                          <a:spcPts val="0"/>
                        </a:spcAft>
                      </a:pPr>
                      <a:r>
                        <a:rPr lang="en-US" sz="1200" kern="0">
                          <a:solidFill>
                            <a:srgbClr val="000000"/>
                          </a:solidFill>
                          <a:effectLst/>
                          <a:latin typeface="+mn-lt"/>
                        </a:rPr>
                        <a:t>7266</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tc>
                  <a:txBody>
                    <a:bodyPr/>
                    <a:lstStyle/>
                    <a:p>
                      <a:pPr algn="ctr" fontAlgn="b">
                        <a:lnSpc>
                          <a:spcPct val="100000"/>
                        </a:lnSpc>
                      </a:pPr>
                      <a:r>
                        <a:rPr lang="en-US" sz="1200" b="0" u="none" strike="noStrike">
                          <a:solidFill>
                            <a:srgbClr val="000000"/>
                          </a:solidFill>
                          <a:effectLst/>
                          <a:latin typeface="+mn-lt"/>
                        </a:rPr>
                        <a:t>6.33</a:t>
                      </a:r>
                      <a:endParaRPr lang="en-US" sz="1200" b="0" i="0" u="none" strike="noStrike">
                        <a:solidFill>
                          <a:srgbClr val="000000"/>
                        </a:solidFill>
                        <a:effectLst/>
                        <a:latin typeface="+mn-lt"/>
                        <a:cs typeface="Calibri" panose="020F0502020204030204" pitchFamily="34" charset="0"/>
                      </a:endParaRPr>
                    </a:p>
                  </a:txBody>
                  <a:tcPr marL="0" marR="0" marT="0" marB="0" anchor="ctr"/>
                </a:tc>
                <a:tc>
                  <a:txBody>
                    <a:bodyPr/>
                    <a:lstStyle/>
                    <a:p>
                      <a:pPr algn="ctr" fontAlgn="b">
                        <a:lnSpc>
                          <a:spcPct val="100000"/>
                        </a:lnSpc>
                      </a:pPr>
                      <a:r>
                        <a:rPr lang="en-US" sz="1200" b="0" u="none" strike="noStrike">
                          <a:solidFill>
                            <a:srgbClr val="000000"/>
                          </a:solidFill>
                          <a:effectLst/>
                          <a:latin typeface="+mn-lt"/>
                        </a:rPr>
                        <a:t>8.56</a:t>
                      </a:r>
                      <a:endParaRPr lang="en-US" sz="1200" b="0" i="0" u="none" strike="noStrike">
                        <a:solidFill>
                          <a:srgbClr val="000000"/>
                        </a:solidFill>
                        <a:effectLst/>
                        <a:latin typeface="+mn-lt"/>
                        <a:cs typeface="Calibri" panose="020F0502020204030204" pitchFamily="34" charset="0"/>
                      </a:endParaRPr>
                    </a:p>
                  </a:txBody>
                  <a:tcPr marL="0" marR="0" marT="0" marB="0" anchor="ctr"/>
                </a:tc>
                <a:tc>
                  <a:txBody>
                    <a:bodyPr/>
                    <a:lstStyle/>
                    <a:p>
                      <a:pPr algn="ctr" fontAlgn="b">
                        <a:lnSpc>
                          <a:spcPct val="100000"/>
                        </a:lnSpc>
                      </a:pPr>
                      <a:r>
                        <a:rPr lang="en-US" sz="1200" b="0" u="none" strike="noStrike" dirty="0">
                          <a:solidFill>
                            <a:srgbClr val="000000"/>
                          </a:solidFill>
                          <a:effectLst/>
                          <a:latin typeface="+mn-lt"/>
                        </a:rPr>
                        <a:t>0.52</a:t>
                      </a:r>
                      <a:endParaRPr lang="en-US" sz="1200" b="0" i="0" u="none" strike="noStrike" dirty="0">
                        <a:solidFill>
                          <a:srgbClr val="000000"/>
                        </a:solidFill>
                        <a:effectLst/>
                        <a:latin typeface="+mn-lt"/>
                        <a:cs typeface="Calibri" panose="020F0502020204030204" pitchFamily="34" charset="0"/>
                      </a:endParaRPr>
                    </a:p>
                  </a:txBody>
                  <a:tcPr marL="0" marR="0" marT="0" marB="0" anchor="ctr"/>
                </a:tc>
                <a:tc>
                  <a:txBody>
                    <a:bodyPr/>
                    <a:lstStyle/>
                    <a:p>
                      <a:pPr marL="0" marR="0" algn="ctr">
                        <a:lnSpc>
                          <a:spcPct val="100000"/>
                        </a:lnSpc>
                        <a:spcBef>
                          <a:spcPts val="0"/>
                        </a:spcBef>
                        <a:spcAft>
                          <a:spcPts val="0"/>
                        </a:spcAft>
                      </a:pPr>
                      <a:r>
                        <a:rPr lang="en-US" sz="1200" kern="0">
                          <a:solidFill>
                            <a:srgbClr val="000000"/>
                          </a:solidFill>
                          <a:effectLst/>
                          <a:latin typeface="+mn-lt"/>
                        </a:rPr>
                        <a:t> </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tc gridSpan="2">
                  <a:txBody>
                    <a:bodyPr/>
                    <a:lstStyle/>
                    <a:p>
                      <a:pPr marL="0" marR="0" algn="ctr">
                        <a:lnSpc>
                          <a:spcPct val="100000"/>
                        </a:lnSpc>
                        <a:spcBef>
                          <a:spcPts val="0"/>
                        </a:spcBef>
                        <a:spcAft>
                          <a:spcPts val="0"/>
                        </a:spcAft>
                      </a:pPr>
                      <a:r>
                        <a:rPr lang="en-US" sz="1200" kern="100">
                          <a:solidFill>
                            <a:srgbClr val="000000"/>
                          </a:solidFill>
                          <a:effectLst/>
                          <a:latin typeface="+mn-lt"/>
                        </a:rPr>
                        <a:t>6.07</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tc hMerge="1">
                  <a:txBody>
                    <a:bodyPr/>
                    <a:lstStyle/>
                    <a:p>
                      <a:endParaRPr lang="en-US"/>
                    </a:p>
                  </a:txBody>
                  <a:tcPr/>
                </a:tc>
                <a:tc>
                  <a:txBody>
                    <a:bodyPr/>
                    <a:lstStyle/>
                    <a:p>
                      <a:pPr marL="0" marR="0" algn="ctr">
                        <a:lnSpc>
                          <a:spcPct val="100000"/>
                        </a:lnSpc>
                        <a:spcBef>
                          <a:spcPts val="0"/>
                        </a:spcBef>
                        <a:spcAft>
                          <a:spcPts val="0"/>
                        </a:spcAft>
                      </a:pPr>
                      <a:r>
                        <a:rPr lang="en-US" sz="1200" kern="100">
                          <a:solidFill>
                            <a:srgbClr val="000000"/>
                          </a:solidFill>
                          <a:effectLst/>
                          <a:latin typeface="+mn-lt"/>
                        </a:rPr>
                        <a:t>8.32</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tc>
                  <a:txBody>
                    <a:bodyPr/>
                    <a:lstStyle/>
                    <a:p>
                      <a:pPr marL="0" marR="0" algn="ctr">
                        <a:lnSpc>
                          <a:spcPct val="100000"/>
                        </a:lnSpc>
                        <a:spcBef>
                          <a:spcPts val="0"/>
                        </a:spcBef>
                        <a:spcAft>
                          <a:spcPts val="0"/>
                        </a:spcAft>
                      </a:pPr>
                      <a:r>
                        <a:rPr lang="en-US" sz="1200" kern="100" dirty="0">
                          <a:solidFill>
                            <a:srgbClr val="000000"/>
                          </a:solidFill>
                          <a:effectLst/>
                          <a:latin typeface="+mn-lt"/>
                        </a:rPr>
                        <a:t>0.63</a:t>
                      </a:r>
                      <a:endParaRPr lang="en-US" sz="1200" kern="100" dirty="0">
                        <a:effectLst/>
                        <a:latin typeface="+mn-lt"/>
                        <a:ea typeface="Calibri" panose="020F0502020204030204" pitchFamily="34" charset="0"/>
                        <a:cs typeface="Calibri" panose="020F0502020204030204" pitchFamily="34" charset="0"/>
                      </a:endParaRPr>
                    </a:p>
                  </a:txBody>
                  <a:tcPr marL="0" marR="0" marT="0" marB="0" anchor="ctr"/>
                </a:tc>
                <a:tc>
                  <a:txBody>
                    <a:bodyPr/>
                    <a:lstStyle/>
                    <a:p>
                      <a:pPr marL="0" marR="0" algn="ctr">
                        <a:lnSpc>
                          <a:spcPct val="100000"/>
                        </a:lnSpc>
                        <a:spcBef>
                          <a:spcPts val="0"/>
                        </a:spcBef>
                        <a:spcAft>
                          <a:spcPts val="0"/>
                        </a:spcAft>
                      </a:pPr>
                      <a:r>
                        <a:rPr lang="en-US" sz="1200" kern="100">
                          <a:solidFill>
                            <a:srgbClr val="000000"/>
                          </a:solidFill>
                          <a:effectLst/>
                          <a:latin typeface="+mn-lt"/>
                        </a:rPr>
                        <a:t> </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extLst>
                  <a:ext uri="{0D108BD9-81ED-4DB2-BD59-A6C34878D82A}">
                    <a16:rowId xmlns:a16="http://schemas.microsoft.com/office/drawing/2014/main" val="2605638281"/>
                  </a:ext>
                </a:extLst>
              </a:tr>
              <a:tr h="255866">
                <a:tc>
                  <a:txBody>
                    <a:bodyPr/>
                    <a:lstStyle/>
                    <a:p>
                      <a:pPr marL="0" marR="0" algn="ctr">
                        <a:lnSpc>
                          <a:spcPct val="100000"/>
                        </a:lnSpc>
                        <a:spcBef>
                          <a:spcPts val="0"/>
                        </a:spcBef>
                        <a:spcAft>
                          <a:spcPts val="0"/>
                        </a:spcAft>
                      </a:pPr>
                      <a:r>
                        <a:rPr lang="en-US" sz="1200" b="0" kern="0" dirty="0">
                          <a:solidFill>
                            <a:srgbClr val="000000"/>
                          </a:solidFill>
                          <a:effectLst/>
                          <a:latin typeface="+mn-lt"/>
                        </a:rPr>
                        <a:t>8729840</a:t>
                      </a:r>
                      <a:endParaRPr lang="en-US" sz="1200" b="0" kern="100" dirty="0">
                        <a:effectLst/>
                        <a:latin typeface="+mn-lt"/>
                        <a:ea typeface="Calibri" panose="020F0502020204030204" pitchFamily="34" charset="0"/>
                        <a:cs typeface="Calibri" panose="020F0502020204030204" pitchFamily="34" charset="0"/>
                      </a:endParaRPr>
                    </a:p>
                  </a:txBody>
                  <a:tcPr marL="0" marR="0" marT="0" marB="0" anchor="ctr"/>
                </a:tc>
                <a:tc>
                  <a:txBody>
                    <a:bodyPr/>
                    <a:lstStyle/>
                    <a:p>
                      <a:pPr marL="0" marR="0" algn="l">
                        <a:lnSpc>
                          <a:spcPct val="100000"/>
                        </a:lnSpc>
                        <a:spcBef>
                          <a:spcPts val="0"/>
                        </a:spcBef>
                        <a:spcAft>
                          <a:spcPts val="0"/>
                        </a:spcAft>
                      </a:pPr>
                      <a:r>
                        <a:rPr lang="en-US" sz="1200" kern="0" dirty="0">
                          <a:solidFill>
                            <a:srgbClr val="000000"/>
                          </a:solidFill>
                          <a:effectLst/>
                          <a:latin typeface="+mn-lt"/>
                        </a:rPr>
                        <a:t>Pensacola</a:t>
                      </a:r>
                      <a:endParaRPr lang="en-US" sz="1200" kern="100" dirty="0">
                        <a:effectLst/>
                        <a:latin typeface="+mn-lt"/>
                        <a:ea typeface="Calibri" panose="020F0502020204030204" pitchFamily="34" charset="0"/>
                        <a:cs typeface="Calibri" panose="020F0502020204030204" pitchFamily="34" charset="0"/>
                      </a:endParaRPr>
                    </a:p>
                  </a:txBody>
                  <a:tcPr marL="0" marR="0" marT="0" marB="0" anchor="ctr"/>
                </a:tc>
                <a:tc>
                  <a:txBody>
                    <a:bodyPr/>
                    <a:lstStyle/>
                    <a:p>
                      <a:pPr marL="0" marR="0" algn="ctr">
                        <a:lnSpc>
                          <a:spcPct val="100000"/>
                        </a:lnSpc>
                        <a:spcBef>
                          <a:spcPts val="0"/>
                        </a:spcBef>
                        <a:spcAft>
                          <a:spcPts val="0"/>
                        </a:spcAft>
                      </a:pPr>
                      <a:r>
                        <a:rPr lang="en-US" sz="1200" kern="0">
                          <a:solidFill>
                            <a:srgbClr val="000000"/>
                          </a:solidFill>
                          <a:effectLst/>
                          <a:latin typeface="+mn-lt"/>
                        </a:rPr>
                        <a:t>7337</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tc>
                  <a:txBody>
                    <a:bodyPr/>
                    <a:lstStyle/>
                    <a:p>
                      <a:pPr algn="ctr" fontAlgn="b">
                        <a:lnSpc>
                          <a:spcPct val="100000"/>
                        </a:lnSpc>
                      </a:pPr>
                      <a:r>
                        <a:rPr lang="en-US" sz="1200" b="0" u="none" strike="noStrike">
                          <a:solidFill>
                            <a:srgbClr val="000000"/>
                          </a:solidFill>
                          <a:effectLst/>
                          <a:latin typeface="+mn-lt"/>
                        </a:rPr>
                        <a:t>6.60</a:t>
                      </a:r>
                      <a:endParaRPr lang="en-US" sz="1200" b="0" i="0" u="none" strike="noStrike">
                        <a:solidFill>
                          <a:srgbClr val="000000"/>
                        </a:solidFill>
                        <a:effectLst/>
                        <a:latin typeface="+mn-lt"/>
                        <a:cs typeface="Calibri" panose="020F0502020204030204" pitchFamily="34" charset="0"/>
                      </a:endParaRPr>
                    </a:p>
                  </a:txBody>
                  <a:tcPr marL="0" marR="0" marT="0" marB="0" anchor="ctr"/>
                </a:tc>
                <a:tc>
                  <a:txBody>
                    <a:bodyPr/>
                    <a:lstStyle/>
                    <a:p>
                      <a:pPr algn="ctr" fontAlgn="b">
                        <a:lnSpc>
                          <a:spcPct val="100000"/>
                        </a:lnSpc>
                      </a:pPr>
                      <a:r>
                        <a:rPr lang="en-US" sz="1200" b="0" u="none" strike="noStrike">
                          <a:solidFill>
                            <a:srgbClr val="000000"/>
                          </a:solidFill>
                          <a:effectLst/>
                          <a:latin typeface="+mn-lt"/>
                        </a:rPr>
                        <a:t>8.71</a:t>
                      </a:r>
                      <a:endParaRPr lang="en-US" sz="1200" b="0" i="0" u="none" strike="noStrike">
                        <a:solidFill>
                          <a:srgbClr val="000000"/>
                        </a:solidFill>
                        <a:effectLst/>
                        <a:latin typeface="+mn-lt"/>
                        <a:cs typeface="Calibri" panose="020F0502020204030204" pitchFamily="34" charset="0"/>
                      </a:endParaRPr>
                    </a:p>
                  </a:txBody>
                  <a:tcPr marL="0" marR="0" marT="0" marB="0" anchor="ctr"/>
                </a:tc>
                <a:tc>
                  <a:txBody>
                    <a:bodyPr/>
                    <a:lstStyle/>
                    <a:p>
                      <a:pPr algn="ctr" fontAlgn="b">
                        <a:lnSpc>
                          <a:spcPct val="100000"/>
                        </a:lnSpc>
                      </a:pPr>
                      <a:r>
                        <a:rPr lang="en-US" sz="1200" b="0" u="none" strike="noStrike" dirty="0">
                          <a:solidFill>
                            <a:srgbClr val="000000"/>
                          </a:solidFill>
                          <a:effectLst/>
                          <a:latin typeface="+mn-lt"/>
                        </a:rPr>
                        <a:t>0.61</a:t>
                      </a:r>
                      <a:endParaRPr lang="en-US" sz="1200" b="0" i="0" u="none" strike="noStrike" dirty="0">
                        <a:solidFill>
                          <a:srgbClr val="000000"/>
                        </a:solidFill>
                        <a:effectLst/>
                        <a:latin typeface="+mn-lt"/>
                        <a:cs typeface="Calibri" panose="020F0502020204030204" pitchFamily="34" charset="0"/>
                      </a:endParaRPr>
                    </a:p>
                  </a:txBody>
                  <a:tcPr marL="0" marR="0" marT="0" marB="0" anchor="ctr"/>
                </a:tc>
                <a:tc>
                  <a:txBody>
                    <a:bodyPr/>
                    <a:lstStyle/>
                    <a:p>
                      <a:pPr marL="0" marR="0" algn="ctr">
                        <a:lnSpc>
                          <a:spcPct val="100000"/>
                        </a:lnSpc>
                        <a:spcBef>
                          <a:spcPts val="0"/>
                        </a:spcBef>
                        <a:spcAft>
                          <a:spcPts val="0"/>
                        </a:spcAft>
                      </a:pPr>
                      <a:r>
                        <a:rPr lang="en-US" sz="1200" kern="0" dirty="0">
                          <a:solidFill>
                            <a:srgbClr val="000000"/>
                          </a:solidFill>
                          <a:effectLst/>
                          <a:latin typeface="+mn-lt"/>
                        </a:rPr>
                        <a:t> </a:t>
                      </a:r>
                      <a:endParaRPr lang="en-US" sz="1200" kern="100" dirty="0">
                        <a:effectLst/>
                        <a:latin typeface="+mn-lt"/>
                        <a:ea typeface="Calibri" panose="020F0502020204030204" pitchFamily="34" charset="0"/>
                        <a:cs typeface="Calibri" panose="020F0502020204030204" pitchFamily="34" charset="0"/>
                      </a:endParaRPr>
                    </a:p>
                  </a:txBody>
                  <a:tcPr marL="0" marR="0" marT="0" marB="0" anchor="ctr"/>
                </a:tc>
                <a:tc gridSpan="2">
                  <a:txBody>
                    <a:bodyPr/>
                    <a:lstStyle/>
                    <a:p>
                      <a:pPr marL="0" marR="0" algn="ctr">
                        <a:lnSpc>
                          <a:spcPct val="100000"/>
                        </a:lnSpc>
                        <a:spcBef>
                          <a:spcPts val="0"/>
                        </a:spcBef>
                        <a:spcAft>
                          <a:spcPts val="0"/>
                        </a:spcAft>
                      </a:pPr>
                      <a:r>
                        <a:rPr lang="en-US" sz="1200" kern="100">
                          <a:solidFill>
                            <a:srgbClr val="000000"/>
                          </a:solidFill>
                          <a:effectLst/>
                          <a:latin typeface="+mn-lt"/>
                        </a:rPr>
                        <a:t>6.43</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tc hMerge="1">
                  <a:txBody>
                    <a:bodyPr/>
                    <a:lstStyle/>
                    <a:p>
                      <a:endParaRPr lang="en-US"/>
                    </a:p>
                  </a:txBody>
                  <a:tcPr/>
                </a:tc>
                <a:tc>
                  <a:txBody>
                    <a:bodyPr/>
                    <a:lstStyle/>
                    <a:p>
                      <a:pPr marL="0" marR="0" algn="ctr">
                        <a:lnSpc>
                          <a:spcPct val="100000"/>
                        </a:lnSpc>
                        <a:spcBef>
                          <a:spcPts val="0"/>
                        </a:spcBef>
                        <a:spcAft>
                          <a:spcPts val="0"/>
                        </a:spcAft>
                      </a:pPr>
                      <a:r>
                        <a:rPr lang="en-US" sz="1200" kern="100">
                          <a:solidFill>
                            <a:srgbClr val="000000"/>
                          </a:solidFill>
                          <a:effectLst/>
                          <a:latin typeface="+mn-lt"/>
                        </a:rPr>
                        <a:t>8.50</a:t>
                      </a:r>
                      <a:endParaRPr lang="en-US" sz="1200" kern="100">
                        <a:effectLst/>
                        <a:latin typeface="+mn-lt"/>
                        <a:ea typeface="Calibri" panose="020F0502020204030204" pitchFamily="34" charset="0"/>
                        <a:cs typeface="Calibri" panose="020F0502020204030204" pitchFamily="34" charset="0"/>
                      </a:endParaRPr>
                    </a:p>
                  </a:txBody>
                  <a:tcPr marL="0" marR="0" marT="0" marB="0" anchor="ctr"/>
                </a:tc>
                <a:tc>
                  <a:txBody>
                    <a:bodyPr/>
                    <a:lstStyle/>
                    <a:p>
                      <a:pPr marL="0" marR="0" algn="ctr">
                        <a:lnSpc>
                          <a:spcPct val="100000"/>
                        </a:lnSpc>
                        <a:spcBef>
                          <a:spcPts val="0"/>
                        </a:spcBef>
                        <a:spcAft>
                          <a:spcPts val="0"/>
                        </a:spcAft>
                      </a:pPr>
                      <a:r>
                        <a:rPr lang="en-US" sz="1200" kern="100" dirty="0">
                          <a:solidFill>
                            <a:srgbClr val="000000"/>
                          </a:solidFill>
                          <a:effectLst/>
                          <a:latin typeface="+mn-lt"/>
                        </a:rPr>
                        <a:t>0.60</a:t>
                      </a:r>
                      <a:endParaRPr lang="en-US" sz="1200" kern="100" dirty="0">
                        <a:effectLst/>
                        <a:latin typeface="+mn-lt"/>
                        <a:ea typeface="Calibri" panose="020F0502020204030204" pitchFamily="34" charset="0"/>
                        <a:cs typeface="Calibri" panose="020F0502020204030204" pitchFamily="34" charset="0"/>
                      </a:endParaRPr>
                    </a:p>
                  </a:txBody>
                  <a:tcPr marL="0" marR="0" marT="0" marB="0" anchor="ctr"/>
                </a:tc>
                <a:tc>
                  <a:txBody>
                    <a:bodyPr/>
                    <a:lstStyle/>
                    <a:p>
                      <a:pPr marL="0" marR="0" algn="ctr">
                        <a:lnSpc>
                          <a:spcPct val="100000"/>
                        </a:lnSpc>
                        <a:spcBef>
                          <a:spcPts val="0"/>
                        </a:spcBef>
                        <a:spcAft>
                          <a:spcPts val="0"/>
                        </a:spcAft>
                      </a:pPr>
                      <a:r>
                        <a:rPr lang="en-US" sz="1200" kern="100" dirty="0">
                          <a:solidFill>
                            <a:srgbClr val="000000"/>
                          </a:solidFill>
                          <a:effectLst/>
                          <a:latin typeface="+mn-lt"/>
                        </a:rPr>
                        <a:t> </a:t>
                      </a:r>
                      <a:endParaRPr lang="en-US" sz="1200" kern="100" dirty="0">
                        <a:effectLst/>
                        <a:latin typeface="+mn-lt"/>
                        <a:ea typeface="Calibri" panose="020F0502020204030204" pitchFamily="34" charset="0"/>
                        <a:cs typeface="Calibri" panose="020F0502020204030204" pitchFamily="34" charset="0"/>
                      </a:endParaRPr>
                    </a:p>
                  </a:txBody>
                  <a:tcPr marL="0" marR="0" marT="0" marB="0" anchor="ctr"/>
                </a:tc>
                <a:extLst>
                  <a:ext uri="{0D108BD9-81ED-4DB2-BD59-A6C34878D82A}">
                    <a16:rowId xmlns:a16="http://schemas.microsoft.com/office/drawing/2014/main" val="3941539613"/>
                  </a:ext>
                </a:extLst>
              </a:tr>
            </a:tbl>
          </a:graphicData>
        </a:graphic>
      </p:graphicFrame>
    </p:spTree>
    <p:extLst>
      <p:ext uri="{BB962C8B-B14F-4D97-AF65-F5344CB8AC3E}">
        <p14:creationId xmlns:p14="http://schemas.microsoft.com/office/powerpoint/2010/main" val="10810854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07346D32-9927-6A13-B14F-0B9DD15E29A3}"/>
              </a:ext>
            </a:extLst>
          </p:cNvPr>
          <p:cNvSpPr>
            <a:spLocks noGrp="1"/>
          </p:cNvSpPr>
          <p:nvPr>
            <p:ph type="sldNum" sz="quarter" idx="12"/>
          </p:nvPr>
        </p:nvSpPr>
        <p:spPr>
          <a:xfrm>
            <a:off x="11759184" y="6492875"/>
            <a:ext cx="443599" cy="365125"/>
          </a:xfrm>
        </p:spPr>
        <p:txBody>
          <a:bodyPr/>
          <a:lstStyle/>
          <a:p>
            <a:fld id="{DFDF98CC-160E-494C-8C3C-8CDC5FA257DE}" type="slidenum">
              <a:rPr lang="en-US" smtClean="0"/>
              <a:t>14</a:t>
            </a:fld>
            <a:endParaRPr lang="en-US" dirty="0"/>
          </a:p>
        </p:txBody>
      </p:sp>
      <p:sp>
        <p:nvSpPr>
          <p:cNvPr id="8" name="TextBox 7">
            <a:extLst>
              <a:ext uri="{FF2B5EF4-FFF2-40B4-BE49-F238E27FC236}">
                <a16:creationId xmlns:a16="http://schemas.microsoft.com/office/drawing/2014/main" id="{10AF48AD-2C0B-2815-85EF-FECCC6667A0F}"/>
              </a:ext>
            </a:extLst>
          </p:cNvPr>
          <p:cNvSpPr txBox="1"/>
          <p:nvPr/>
        </p:nvSpPr>
        <p:spPr>
          <a:xfrm>
            <a:off x="609600" y="4494"/>
            <a:ext cx="10972800" cy="707886"/>
          </a:xfrm>
          <a:prstGeom prst="rect">
            <a:avLst/>
          </a:prstGeom>
          <a:noFill/>
        </p:spPr>
        <p:txBody>
          <a:bodyPr wrap="square" rtlCol="0">
            <a:spAutoFit/>
          </a:bodyPr>
          <a:lstStyle/>
          <a:p>
            <a:r>
              <a:rPr lang="en-US" sz="4000" b="1" dirty="0"/>
              <a:t>RESULTS</a:t>
            </a:r>
          </a:p>
        </p:txBody>
      </p:sp>
      <p:cxnSp>
        <p:nvCxnSpPr>
          <p:cNvPr id="9" name="Straight Connector 8">
            <a:extLst>
              <a:ext uri="{FF2B5EF4-FFF2-40B4-BE49-F238E27FC236}">
                <a16:creationId xmlns:a16="http://schemas.microsoft.com/office/drawing/2014/main" id="{047BC7FF-9C8C-2B04-A56B-4D898123B196}"/>
              </a:ext>
            </a:extLst>
          </p:cNvPr>
          <p:cNvCxnSpPr/>
          <p:nvPr/>
        </p:nvCxnSpPr>
        <p:spPr>
          <a:xfrm>
            <a:off x="609600" y="724906"/>
            <a:ext cx="10972800" cy="0"/>
          </a:xfrm>
          <a:prstGeom prst="line">
            <a:avLst/>
          </a:prstGeom>
          <a:ln w="28575">
            <a:solidFill>
              <a:srgbClr val="FFC000"/>
            </a:solidFill>
          </a:ln>
        </p:spPr>
        <p:style>
          <a:lnRef idx="3">
            <a:schemeClr val="accent2"/>
          </a:lnRef>
          <a:fillRef idx="0">
            <a:schemeClr val="accent2"/>
          </a:fillRef>
          <a:effectRef idx="2">
            <a:schemeClr val="accent2"/>
          </a:effectRef>
          <a:fontRef idx="minor">
            <a:schemeClr val="tx1"/>
          </a:fontRef>
        </p:style>
      </p:cxnSp>
      <p:pic>
        <p:nvPicPr>
          <p:cNvPr id="10" name="Picture 9" descr="A map of the north and south america&#10;&#10;Description automatically generated">
            <a:extLst>
              <a:ext uri="{FF2B5EF4-FFF2-40B4-BE49-F238E27FC236}">
                <a16:creationId xmlns:a16="http://schemas.microsoft.com/office/drawing/2014/main" id="{CB18F8C3-971D-AD8F-A01F-FAFC35E9A0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2915" y="865750"/>
            <a:ext cx="4571089" cy="5486400"/>
          </a:xfrm>
          <a:prstGeom prst="rect">
            <a:avLst/>
          </a:prstGeom>
        </p:spPr>
      </p:pic>
      <p:sp>
        <p:nvSpPr>
          <p:cNvPr id="12" name="TextBox 11">
            <a:extLst>
              <a:ext uri="{FF2B5EF4-FFF2-40B4-BE49-F238E27FC236}">
                <a16:creationId xmlns:a16="http://schemas.microsoft.com/office/drawing/2014/main" id="{1870E28B-B8BE-E799-7E3D-0F3371B88188}"/>
              </a:ext>
            </a:extLst>
          </p:cNvPr>
          <p:cNvSpPr txBox="1"/>
          <p:nvPr/>
        </p:nvSpPr>
        <p:spPr>
          <a:xfrm>
            <a:off x="815811" y="6324452"/>
            <a:ext cx="3200400" cy="457200"/>
          </a:xfrm>
          <a:prstGeom prst="rect">
            <a:avLst/>
          </a:prstGeom>
          <a:noFill/>
        </p:spPr>
        <p:txBody>
          <a:bodyPr wrap="square" rtlCol="0">
            <a:spAutoFit/>
          </a:bodyPr>
          <a:lstStyle/>
          <a:p>
            <a:pPr algn="ctr"/>
            <a:r>
              <a:rPr lang="en-US" sz="1200" b="1" dirty="0">
                <a:solidFill>
                  <a:schemeClr val="bg1">
                    <a:lumMod val="65000"/>
                  </a:schemeClr>
                </a:solidFill>
              </a:rPr>
              <a:t>Case 1: Predicting detrended sea level from variables as is</a:t>
            </a:r>
          </a:p>
        </p:txBody>
      </p:sp>
      <p:pic>
        <p:nvPicPr>
          <p:cNvPr id="46" name="Picture 45" descr="A blue and pink graph&#10;&#10;Description automatically generated">
            <a:extLst>
              <a:ext uri="{FF2B5EF4-FFF2-40B4-BE49-F238E27FC236}">
                <a16:creationId xmlns:a16="http://schemas.microsoft.com/office/drawing/2014/main" id="{DC917704-9D54-E06F-DBEF-475D97A19EA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64478" y="805871"/>
            <a:ext cx="7105320" cy="3108960"/>
          </a:xfrm>
          <a:prstGeom prst="rect">
            <a:avLst/>
          </a:prstGeom>
        </p:spPr>
      </p:pic>
      <p:pic>
        <p:nvPicPr>
          <p:cNvPr id="47" name="Picture 46" descr="A graph showing a graph of data&#10;&#10;Description automatically generated with medium confidence">
            <a:extLst>
              <a:ext uri="{FF2B5EF4-FFF2-40B4-BE49-F238E27FC236}">
                <a16:creationId xmlns:a16="http://schemas.microsoft.com/office/drawing/2014/main" id="{132F0749-8FCD-F744-18EF-C5404AA6810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45035" y="3628414"/>
            <a:ext cx="7105320" cy="3108960"/>
          </a:xfrm>
          <a:prstGeom prst="rect">
            <a:avLst/>
          </a:prstGeom>
        </p:spPr>
      </p:pic>
      <p:sp>
        <p:nvSpPr>
          <p:cNvPr id="2" name="TextBox 1">
            <a:extLst>
              <a:ext uri="{FF2B5EF4-FFF2-40B4-BE49-F238E27FC236}">
                <a16:creationId xmlns:a16="http://schemas.microsoft.com/office/drawing/2014/main" id="{E2412C6A-D119-D33F-5A4C-174FFCAEA794}"/>
              </a:ext>
            </a:extLst>
          </p:cNvPr>
          <p:cNvSpPr txBox="1"/>
          <p:nvPr/>
        </p:nvSpPr>
        <p:spPr>
          <a:xfrm>
            <a:off x="914400" y="1216125"/>
            <a:ext cx="1465729" cy="369332"/>
          </a:xfrm>
          <a:prstGeom prst="rect">
            <a:avLst/>
          </a:prstGeom>
          <a:solidFill>
            <a:schemeClr val="accent2">
              <a:lumMod val="20000"/>
              <a:lumOff val="80000"/>
            </a:schemeClr>
          </a:solidFill>
          <a:ln>
            <a:solidFill>
              <a:schemeClr val="tx1"/>
            </a:solidFill>
          </a:ln>
        </p:spPr>
        <p:txBody>
          <a:bodyPr wrap="square" rtlCol="0">
            <a:spAutoFit/>
          </a:bodyPr>
          <a:lstStyle/>
          <a:p>
            <a:r>
              <a:rPr lang="en-US" b="1" dirty="0"/>
              <a:t>RMSE [cm]</a:t>
            </a:r>
          </a:p>
        </p:txBody>
      </p:sp>
      <p:sp>
        <p:nvSpPr>
          <p:cNvPr id="4" name="TextBox 3">
            <a:extLst>
              <a:ext uri="{FF2B5EF4-FFF2-40B4-BE49-F238E27FC236}">
                <a16:creationId xmlns:a16="http://schemas.microsoft.com/office/drawing/2014/main" id="{0C36581F-2B9E-ADC7-1D6B-E63405937B6B}"/>
              </a:ext>
            </a:extLst>
          </p:cNvPr>
          <p:cNvSpPr txBox="1"/>
          <p:nvPr/>
        </p:nvSpPr>
        <p:spPr>
          <a:xfrm>
            <a:off x="10412506" y="3336544"/>
            <a:ext cx="1169894" cy="276999"/>
          </a:xfrm>
          <a:prstGeom prst="rect">
            <a:avLst/>
          </a:prstGeom>
          <a:noFill/>
        </p:spPr>
        <p:txBody>
          <a:bodyPr wrap="square" rtlCol="0">
            <a:spAutoFit/>
          </a:bodyPr>
          <a:lstStyle/>
          <a:p>
            <a:r>
              <a:rPr lang="en-US" sz="1200" dirty="0"/>
              <a:t>RMSE: 10.7 cm</a:t>
            </a:r>
          </a:p>
        </p:txBody>
      </p:sp>
      <p:sp>
        <p:nvSpPr>
          <p:cNvPr id="5" name="TextBox 4">
            <a:extLst>
              <a:ext uri="{FF2B5EF4-FFF2-40B4-BE49-F238E27FC236}">
                <a16:creationId xmlns:a16="http://schemas.microsoft.com/office/drawing/2014/main" id="{7A4A62C0-6581-90A9-99B6-A3DE2E5F71F2}"/>
              </a:ext>
            </a:extLst>
          </p:cNvPr>
          <p:cNvSpPr txBox="1"/>
          <p:nvPr/>
        </p:nvSpPr>
        <p:spPr>
          <a:xfrm>
            <a:off x="10423707" y="6151462"/>
            <a:ext cx="1169894" cy="276999"/>
          </a:xfrm>
          <a:prstGeom prst="rect">
            <a:avLst/>
          </a:prstGeom>
          <a:noFill/>
        </p:spPr>
        <p:txBody>
          <a:bodyPr wrap="square" rtlCol="0">
            <a:spAutoFit/>
          </a:bodyPr>
          <a:lstStyle/>
          <a:p>
            <a:r>
              <a:rPr lang="en-US" sz="1200" dirty="0"/>
              <a:t>RMSE: 6.0 cm</a:t>
            </a:r>
          </a:p>
        </p:txBody>
      </p:sp>
    </p:spTree>
    <p:extLst>
      <p:ext uri="{BB962C8B-B14F-4D97-AF65-F5344CB8AC3E}">
        <p14:creationId xmlns:p14="http://schemas.microsoft.com/office/powerpoint/2010/main" val="36640537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2465FE54-9A82-E529-7F87-572D4E1FC4C0}"/>
              </a:ext>
            </a:extLst>
          </p:cNvPr>
          <p:cNvSpPr>
            <a:spLocks noGrp="1"/>
          </p:cNvSpPr>
          <p:nvPr>
            <p:ph type="sldNum" sz="quarter" idx="12"/>
          </p:nvPr>
        </p:nvSpPr>
        <p:spPr>
          <a:xfrm>
            <a:off x="11786992" y="6511083"/>
            <a:ext cx="405008" cy="365125"/>
          </a:xfrm>
        </p:spPr>
        <p:txBody>
          <a:bodyPr/>
          <a:lstStyle/>
          <a:p>
            <a:fld id="{DFDF98CC-160E-494C-8C3C-8CDC5FA257DE}" type="slidenum">
              <a:rPr lang="en-US" smtClean="0"/>
              <a:t>15</a:t>
            </a:fld>
            <a:endParaRPr lang="en-US" dirty="0"/>
          </a:p>
        </p:txBody>
      </p:sp>
      <p:sp>
        <p:nvSpPr>
          <p:cNvPr id="10" name="TextBox 9">
            <a:extLst>
              <a:ext uri="{FF2B5EF4-FFF2-40B4-BE49-F238E27FC236}">
                <a16:creationId xmlns:a16="http://schemas.microsoft.com/office/drawing/2014/main" id="{10AF48AD-2C0B-2815-85EF-FECCC6667A0F}"/>
              </a:ext>
            </a:extLst>
          </p:cNvPr>
          <p:cNvSpPr txBox="1"/>
          <p:nvPr/>
        </p:nvSpPr>
        <p:spPr>
          <a:xfrm>
            <a:off x="609600" y="4494"/>
            <a:ext cx="10972800" cy="707886"/>
          </a:xfrm>
          <a:prstGeom prst="rect">
            <a:avLst/>
          </a:prstGeom>
          <a:noFill/>
        </p:spPr>
        <p:txBody>
          <a:bodyPr wrap="square" rtlCol="0">
            <a:spAutoFit/>
          </a:bodyPr>
          <a:lstStyle/>
          <a:p>
            <a:r>
              <a:rPr lang="en-US" sz="4000" b="1" dirty="0"/>
              <a:t>RESULTS</a:t>
            </a:r>
          </a:p>
        </p:txBody>
      </p:sp>
      <p:cxnSp>
        <p:nvCxnSpPr>
          <p:cNvPr id="11" name="Straight Connector 10">
            <a:extLst>
              <a:ext uri="{FF2B5EF4-FFF2-40B4-BE49-F238E27FC236}">
                <a16:creationId xmlns:a16="http://schemas.microsoft.com/office/drawing/2014/main" id="{D42A93CB-F97E-6C31-08BF-14722ADFDFD5}"/>
              </a:ext>
            </a:extLst>
          </p:cNvPr>
          <p:cNvCxnSpPr/>
          <p:nvPr/>
        </p:nvCxnSpPr>
        <p:spPr>
          <a:xfrm>
            <a:off x="609600" y="724906"/>
            <a:ext cx="10972800" cy="0"/>
          </a:xfrm>
          <a:prstGeom prst="line">
            <a:avLst/>
          </a:prstGeom>
          <a:ln w="28575">
            <a:solidFill>
              <a:srgbClr val="FFC000"/>
            </a:solidFill>
          </a:ln>
        </p:spPr>
        <p:style>
          <a:lnRef idx="3">
            <a:schemeClr val="accent2"/>
          </a:lnRef>
          <a:fillRef idx="0">
            <a:schemeClr val="accent2"/>
          </a:fillRef>
          <a:effectRef idx="2">
            <a:schemeClr val="accent2"/>
          </a:effectRef>
          <a:fontRef idx="minor">
            <a:schemeClr val="tx1"/>
          </a:fontRef>
        </p:style>
      </p:cxnSp>
      <p:pic>
        <p:nvPicPr>
          <p:cNvPr id="16" name="Picture 15" descr="A map of the state of georgia&#10;&#10;Description automatically generated">
            <a:extLst>
              <a:ext uri="{FF2B5EF4-FFF2-40B4-BE49-F238E27FC236}">
                <a16:creationId xmlns:a16="http://schemas.microsoft.com/office/drawing/2014/main" id="{35639B25-A9F1-A534-2450-ADDC038A4586}"/>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06645" y="1563510"/>
            <a:ext cx="4954170" cy="5257800"/>
          </a:xfrm>
          <a:prstGeom prst="rect">
            <a:avLst/>
          </a:prstGeom>
          <a:noFill/>
          <a:ln>
            <a:noFill/>
          </a:ln>
        </p:spPr>
      </p:pic>
      <p:pic>
        <p:nvPicPr>
          <p:cNvPr id="17" name="Picture 16" descr="A map of the state of florida&#10;&#10;Description automatically generated">
            <a:extLst>
              <a:ext uri="{FF2B5EF4-FFF2-40B4-BE49-F238E27FC236}">
                <a16:creationId xmlns:a16="http://schemas.microsoft.com/office/drawing/2014/main" id="{82EDB7FA-A4D7-6DF6-8ACA-360EB6DF51C4}"/>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813648" y="1553097"/>
            <a:ext cx="4954170" cy="5257800"/>
          </a:xfrm>
          <a:prstGeom prst="rect">
            <a:avLst/>
          </a:prstGeom>
          <a:noFill/>
          <a:ln>
            <a:noFill/>
          </a:ln>
        </p:spPr>
      </p:pic>
      <p:pic>
        <p:nvPicPr>
          <p:cNvPr id="18" name="Picture 17" descr="A screenshot of a computer&#10;&#10;Description automatically generated">
            <a:extLst>
              <a:ext uri="{FF2B5EF4-FFF2-40B4-BE49-F238E27FC236}">
                <a16:creationId xmlns:a16="http://schemas.microsoft.com/office/drawing/2014/main" id="{C9032AE4-2C07-D4BE-4A4A-0C0259B674A1}"/>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30624" y="3036046"/>
            <a:ext cx="1513840" cy="3657600"/>
          </a:xfrm>
          <a:prstGeom prst="rect">
            <a:avLst/>
          </a:prstGeom>
          <a:noFill/>
          <a:ln>
            <a:noFill/>
          </a:ln>
        </p:spPr>
      </p:pic>
      <p:sp>
        <p:nvSpPr>
          <p:cNvPr id="19" name="TextBox 18">
            <a:extLst>
              <a:ext uri="{FF2B5EF4-FFF2-40B4-BE49-F238E27FC236}">
                <a16:creationId xmlns:a16="http://schemas.microsoft.com/office/drawing/2014/main" id="{B6163249-58D7-4805-05B3-C27F4B42C226}"/>
              </a:ext>
            </a:extLst>
          </p:cNvPr>
          <p:cNvSpPr txBox="1"/>
          <p:nvPr/>
        </p:nvSpPr>
        <p:spPr>
          <a:xfrm>
            <a:off x="303466" y="568016"/>
            <a:ext cx="4524100" cy="634789"/>
          </a:xfrm>
          <a:prstGeom prst="rect">
            <a:avLst/>
          </a:prstGeom>
          <a:noFill/>
        </p:spPr>
        <p:txBody>
          <a:bodyPr wrap="square" rtlCol="0">
            <a:spAutoFit/>
          </a:bodyPr>
          <a:lstStyle/>
          <a:p>
            <a:pPr algn="ctr">
              <a:lnSpc>
                <a:spcPct val="150000"/>
              </a:lnSpc>
            </a:pPr>
            <a:r>
              <a:rPr lang="en-US" sz="2600" b="1" dirty="0"/>
              <a:t>Feature Importance</a:t>
            </a:r>
          </a:p>
        </p:txBody>
      </p:sp>
      <p:sp>
        <p:nvSpPr>
          <p:cNvPr id="20" name="TextBox 19">
            <a:extLst>
              <a:ext uri="{FF2B5EF4-FFF2-40B4-BE49-F238E27FC236}">
                <a16:creationId xmlns:a16="http://schemas.microsoft.com/office/drawing/2014/main" id="{21B5A142-82F0-733C-7965-38F15B9C1675}"/>
              </a:ext>
            </a:extLst>
          </p:cNvPr>
          <p:cNvSpPr txBox="1"/>
          <p:nvPr/>
        </p:nvSpPr>
        <p:spPr>
          <a:xfrm>
            <a:off x="3083530" y="1164457"/>
            <a:ext cx="3200400" cy="457200"/>
          </a:xfrm>
          <a:prstGeom prst="rect">
            <a:avLst/>
          </a:prstGeom>
          <a:noFill/>
        </p:spPr>
        <p:txBody>
          <a:bodyPr wrap="square" rtlCol="0">
            <a:spAutoFit/>
          </a:bodyPr>
          <a:lstStyle/>
          <a:p>
            <a:pPr algn="ctr"/>
            <a:r>
              <a:rPr lang="en-US" sz="1200" b="1" dirty="0">
                <a:solidFill>
                  <a:schemeClr val="bg1">
                    <a:lumMod val="65000"/>
                  </a:schemeClr>
                </a:solidFill>
              </a:rPr>
              <a:t>Case 1: Predicting detrended sea level from variables as is</a:t>
            </a:r>
          </a:p>
        </p:txBody>
      </p:sp>
      <p:sp>
        <p:nvSpPr>
          <p:cNvPr id="21" name="TextBox 20">
            <a:extLst>
              <a:ext uri="{FF2B5EF4-FFF2-40B4-BE49-F238E27FC236}">
                <a16:creationId xmlns:a16="http://schemas.microsoft.com/office/drawing/2014/main" id="{37BA8EE3-643A-738A-CEED-4DA3E57F3766}"/>
              </a:ext>
            </a:extLst>
          </p:cNvPr>
          <p:cNvSpPr txBox="1"/>
          <p:nvPr/>
        </p:nvSpPr>
        <p:spPr>
          <a:xfrm>
            <a:off x="7751093" y="1164457"/>
            <a:ext cx="3200400" cy="457200"/>
          </a:xfrm>
          <a:prstGeom prst="rect">
            <a:avLst/>
          </a:prstGeom>
          <a:noFill/>
        </p:spPr>
        <p:txBody>
          <a:bodyPr wrap="square" rtlCol="0">
            <a:spAutoFit/>
          </a:bodyPr>
          <a:lstStyle/>
          <a:p>
            <a:pPr algn="ctr"/>
            <a:r>
              <a:rPr lang="en-US" sz="1200" b="1" dirty="0">
                <a:solidFill>
                  <a:schemeClr val="bg1">
                    <a:lumMod val="65000"/>
                  </a:schemeClr>
                </a:solidFill>
              </a:rPr>
              <a:t>Case 2: Predicting nontidal residuals from variables as is</a:t>
            </a:r>
          </a:p>
        </p:txBody>
      </p:sp>
    </p:spTree>
    <p:extLst>
      <p:ext uri="{BB962C8B-B14F-4D97-AF65-F5344CB8AC3E}">
        <p14:creationId xmlns:p14="http://schemas.microsoft.com/office/powerpoint/2010/main" val="33141610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Number Placeholder 13">
            <a:extLst>
              <a:ext uri="{FF2B5EF4-FFF2-40B4-BE49-F238E27FC236}">
                <a16:creationId xmlns:a16="http://schemas.microsoft.com/office/drawing/2014/main" id="{B087D29D-F640-69FB-0F4C-F5BF2CC38DC5}"/>
              </a:ext>
            </a:extLst>
          </p:cNvPr>
          <p:cNvSpPr>
            <a:spLocks noGrp="1"/>
          </p:cNvSpPr>
          <p:nvPr>
            <p:ph type="sldNum" sz="quarter" idx="12"/>
          </p:nvPr>
        </p:nvSpPr>
        <p:spPr>
          <a:xfrm>
            <a:off x="11796204" y="6298892"/>
            <a:ext cx="399789" cy="365125"/>
          </a:xfrm>
        </p:spPr>
        <p:txBody>
          <a:bodyPr/>
          <a:lstStyle/>
          <a:p>
            <a:fld id="{DFDF98CC-160E-494C-8C3C-8CDC5FA257DE}" type="slidenum">
              <a:rPr lang="en-US" smtClean="0"/>
              <a:t>16</a:t>
            </a:fld>
            <a:endParaRPr lang="en-US" dirty="0"/>
          </a:p>
        </p:txBody>
      </p:sp>
      <p:sp>
        <p:nvSpPr>
          <p:cNvPr id="16" name="TextBox 15">
            <a:extLst>
              <a:ext uri="{FF2B5EF4-FFF2-40B4-BE49-F238E27FC236}">
                <a16:creationId xmlns:a16="http://schemas.microsoft.com/office/drawing/2014/main" id="{10AF48AD-2C0B-2815-85EF-FECCC6667A0F}"/>
              </a:ext>
            </a:extLst>
          </p:cNvPr>
          <p:cNvSpPr txBox="1"/>
          <p:nvPr/>
        </p:nvSpPr>
        <p:spPr>
          <a:xfrm>
            <a:off x="521024" y="105078"/>
            <a:ext cx="10972800" cy="707886"/>
          </a:xfrm>
          <a:prstGeom prst="rect">
            <a:avLst/>
          </a:prstGeom>
          <a:noFill/>
        </p:spPr>
        <p:txBody>
          <a:bodyPr wrap="square" rtlCol="0">
            <a:spAutoFit/>
          </a:bodyPr>
          <a:lstStyle/>
          <a:p>
            <a:r>
              <a:rPr lang="en-US" sz="4000" b="1" dirty="0"/>
              <a:t>SUMMARY</a:t>
            </a:r>
          </a:p>
        </p:txBody>
      </p:sp>
      <p:cxnSp>
        <p:nvCxnSpPr>
          <p:cNvPr id="17" name="Straight Connector 16">
            <a:extLst>
              <a:ext uri="{FF2B5EF4-FFF2-40B4-BE49-F238E27FC236}">
                <a16:creationId xmlns:a16="http://schemas.microsoft.com/office/drawing/2014/main" id="{D42A93CB-F97E-6C31-08BF-14722ADFDFD5}"/>
              </a:ext>
            </a:extLst>
          </p:cNvPr>
          <p:cNvCxnSpPr/>
          <p:nvPr/>
        </p:nvCxnSpPr>
        <p:spPr>
          <a:xfrm>
            <a:off x="609600" y="724906"/>
            <a:ext cx="10972800" cy="0"/>
          </a:xfrm>
          <a:prstGeom prst="line">
            <a:avLst/>
          </a:prstGeom>
          <a:ln w="28575">
            <a:solidFill>
              <a:srgbClr val="FFC000"/>
            </a:solidFill>
          </a:ln>
        </p:spPr>
        <p:style>
          <a:lnRef idx="3">
            <a:schemeClr val="accent2"/>
          </a:lnRef>
          <a:fillRef idx="0">
            <a:schemeClr val="accent2"/>
          </a:fillRef>
          <a:effectRef idx="2">
            <a:schemeClr val="accent2"/>
          </a:effectRef>
          <a:fontRef idx="minor">
            <a:schemeClr val="tx1"/>
          </a:fontRef>
        </p:style>
      </p:cxnSp>
      <p:sp>
        <p:nvSpPr>
          <p:cNvPr id="2" name="TextBox 1">
            <a:extLst>
              <a:ext uri="{FF2B5EF4-FFF2-40B4-BE49-F238E27FC236}">
                <a16:creationId xmlns:a16="http://schemas.microsoft.com/office/drawing/2014/main" id="{199797DE-D607-8E69-101D-3DE312E8A684}"/>
              </a:ext>
            </a:extLst>
          </p:cNvPr>
          <p:cNvSpPr txBox="1"/>
          <p:nvPr/>
        </p:nvSpPr>
        <p:spPr>
          <a:xfrm>
            <a:off x="645454" y="1220269"/>
            <a:ext cx="10665674" cy="1200329"/>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rtlCol="0" anchor="ctr">
            <a:spAutoFit/>
          </a:bodyPr>
          <a:lstStyle/>
          <a:p>
            <a:pPr marL="342900" indent="-342900">
              <a:buFont typeface="Wingdings" panose="05000000000000000000" pitchFamily="2" charset="2"/>
              <a:buChar char="Ø"/>
            </a:pPr>
            <a:r>
              <a:rPr lang="en-US" sz="2400" dirty="0"/>
              <a:t>Random forest regressor with multiple variables like tide, sea level pressure, wind speed and direction, sea surface temperature, and Florida Current to build models at 19 tide gauges along the Southeastern US coast. </a:t>
            </a:r>
          </a:p>
        </p:txBody>
      </p:sp>
      <p:sp>
        <p:nvSpPr>
          <p:cNvPr id="3" name="TextBox 2">
            <a:extLst>
              <a:ext uri="{FF2B5EF4-FFF2-40B4-BE49-F238E27FC236}">
                <a16:creationId xmlns:a16="http://schemas.microsoft.com/office/drawing/2014/main" id="{3F07108F-B171-94C8-D63E-31A7616A463F}"/>
              </a:ext>
            </a:extLst>
          </p:cNvPr>
          <p:cNvSpPr txBox="1"/>
          <p:nvPr/>
        </p:nvSpPr>
        <p:spPr>
          <a:xfrm>
            <a:off x="609600" y="2763624"/>
            <a:ext cx="10869706" cy="1200329"/>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rtlCol="0" anchor="ctr">
            <a:spAutoFit/>
          </a:bodyPr>
          <a:lstStyle/>
          <a:p>
            <a:pPr marL="342900" indent="-342900">
              <a:buFont typeface="Wingdings" panose="05000000000000000000" pitchFamily="2" charset="2"/>
              <a:buChar char="Ø"/>
            </a:pPr>
            <a:r>
              <a:rPr lang="en-US" sz="2400" dirty="0"/>
              <a:t>The models captures the daily fluctuations, but not necessarily the magnitude. There is a tendency to miss the highs and lows. The models appear to underestimate sea levels during extreme events. </a:t>
            </a:r>
          </a:p>
        </p:txBody>
      </p:sp>
      <p:sp>
        <p:nvSpPr>
          <p:cNvPr id="4" name="TextBox 3">
            <a:extLst>
              <a:ext uri="{FF2B5EF4-FFF2-40B4-BE49-F238E27FC236}">
                <a16:creationId xmlns:a16="http://schemas.microsoft.com/office/drawing/2014/main" id="{470885A3-4A4F-6317-0952-D2B728C16610}"/>
              </a:ext>
            </a:extLst>
          </p:cNvPr>
          <p:cNvSpPr txBox="1"/>
          <p:nvPr/>
        </p:nvSpPr>
        <p:spPr>
          <a:xfrm>
            <a:off x="609600" y="4530780"/>
            <a:ext cx="10869706" cy="83099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rtlCol="0" anchor="ctr">
            <a:spAutoFit/>
          </a:bodyPr>
          <a:lstStyle/>
          <a:p>
            <a:pPr marL="342900" indent="-342900">
              <a:buFont typeface="Wingdings" panose="05000000000000000000" pitchFamily="2" charset="2"/>
              <a:buChar char="Ø"/>
            </a:pPr>
            <a:r>
              <a:rPr lang="en-US" sz="2400" dirty="0"/>
              <a:t>Important features were identified as tide, Florida Current, sea level pressure, and wind speed.</a:t>
            </a:r>
          </a:p>
        </p:txBody>
      </p:sp>
    </p:spTree>
    <p:extLst>
      <p:ext uri="{BB962C8B-B14F-4D97-AF65-F5344CB8AC3E}">
        <p14:creationId xmlns:p14="http://schemas.microsoft.com/office/powerpoint/2010/main" val="42484663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E1D1BEE7492B748AAA939E15478942A" ma:contentTypeVersion="3" ma:contentTypeDescription="Create a new document." ma:contentTypeScope="" ma:versionID="a3ae003b3bc9c2f933d329e11d0c3319">
  <xsd:schema xmlns:xsd="http://www.w3.org/2001/XMLSchema" xmlns:xs="http://www.w3.org/2001/XMLSchema" xmlns:p="http://schemas.microsoft.com/office/2006/metadata/properties" xmlns:ns2="f5820155-a73e-4bed-81ca-61e3abc3ae5c" targetNamespace="http://schemas.microsoft.com/office/2006/metadata/properties" ma:root="true" ma:fieldsID="7eb7418994d847370236082d77edc9a3" ns2:_="">
    <xsd:import namespace="f5820155-a73e-4bed-81ca-61e3abc3ae5c"/>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5820155-a73e-4bed-81ca-61e3abc3ae5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10D4625-48E3-4E7C-BD70-F127609050FE}"/>
</file>

<file path=customXml/itemProps2.xml><?xml version="1.0" encoding="utf-8"?>
<ds:datastoreItem xmlns:ds="http://schemas.openxmlformats.org/officeDocument/2006/customXml" ds:itemID="{9641D5D2-289F-4382-8ABE-86BF44AE9ACC}"/>
</file>

<file path=customXml/itemProps3.xml><?xml version="1.0" encoding="utf-8"?>
<ds:datastoreItem xmlns:ds="http://schemas.openxmlformats.org/officeDocument/2006/customXml" ds:itemID="{B36A3681-9FF6-4585-8BE5-CF3550A48121}"/>
</file>

<file path=docProps/app.xml><?xml version="1.0" encoding="utf-8"?>
<Properties xmlns="http://schemas.openxmlformats.org/officeDocument/2006/extended-properties" xmlns:vt="http://schemas.openxmlformats.org/officeDocument/2006/docPropsVTypes">
  <Template/>
  <TotalTime>6050</TotalTime>
  <Words>2677</Words>
  <Application>Microsoft Office PowerPoint</Application>
  <PresentationFormat>Widescreen</PresentationFormat>
  <Paragraphs>479</Paragraphs>
  <Slides>16</Slides>
  <Notes>15</Notes>
  <HiddenSlides>0</HiddenSlides>
  <MMClips>0</MMClips>
  <ScaleCrop>false</ScaleCrop>
  <HeadingPairs>
    <vt:vector size="6" baseType="variant">
      <vt:variant>
        <vt:lpstr>Fonts Used</vt:lpstr>
      </vt:variant>
      <vt:variant>
        <vt:i4>7</vt:i4>
      </vt:variant>
      <vt:variant>
        <vt:lpstr>Theme</vt:lpstr>
      </vt:variant>
      <vt:variant>
        <vt:i4>4</vt:i4>
      </vt:variant>
      <vt:variant>
        <vt:lpstr>Slide Titles</vt:lpstr>
      </vt:variant>
      <vt:variant>
        <vt:i4>16</vt:i4>
      </vt:variant>
    </vt:vector>
  </HeadingPairs>
  <TitlesOfParts>
    <vt:vector size="27" baseType="lpstr">
      <vt:lpstr>Aptos</vt:lpstr>
      <vt:lpstr>Aptos Display</vt:lpstr>
      <vt:lpstr>Arial</vt:lpstr>
      <vt:lpstr>Calibri</vt:lpstr>
      <vt:lpstr>Calibri Light</vt:lpstr>
      <vt:lpstr>Times New Roman</vt:lpstr>
      <vt:lpstr>Wingdings</vt:lpstr>
      <vt:lpstr>Office Theme</vt:lpstr>
      <vt:lpstr>1_Office Theme</vt:lpstr>
      <vt:lpstr>2_Office Theme</vt:lpstr>
      <vt:lpstr>3_Office Theme</vt:lpstr>
      <vt:lpstr>Predicting Sea Level Variability along the Southeastern United States Coastline using Machine Learning</vt:lpstr>
      <vt:lpstr>PowerPoint Presentation</vt:lpstr>
      <vt:lpstr>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Anupama John</dc:creator>
  <cp:lastModifiedBy>Jayantha Obeysekera</cp:lastModifiedBy>
  <cp:revision>18</cp:revision>
  <dcterms:created xsi:type="dcterms:W3CDTF">2024-11-05T23:12:06Z</dcterms:created>
  <dcterms:modified xsi:type="dcterms:W3CDTF">2026-04-21T15:34:04Z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0x0101005E1D1BEE7492B748AAA939E15478942A</vt:lpwstr>
  </property>
</Properties>
</file>