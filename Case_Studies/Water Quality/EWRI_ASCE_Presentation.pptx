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Black" panose="020B0604020202020204" charset="0"/>
      <p:bold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Oswald" panose="00000500000000000000" pitchFamily="2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86ef69b23e_0_3046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6ef69b23e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386ef69b23e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6ef69b23e_0_62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6ef69b23e_0_3301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6ef69b23e_0_202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6ef69b23e_0_2166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6ef69b23e_0_2718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6ef69b23e_0_3940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6ef69b23e_0_4981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6ef69b23e_0_5747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86ef69b23e_0_7514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86ef69b23e_31_0)">
  <p:cSld name="Generated (g386ef69b23e_31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 descr="A cinematic wide shot of a pristine deep blue lake at dawn with a scientific monitoring buoy. The water has soft ripples. High-tech and serene atmosphere."/>
          <p:cNvPicPr preferRelativeResize="0"/>
          <p:nvPr/>
        </p:nvPicPr>
        <p:blipFill rotWithShape="1">
          <a:blip r:embed="rId3">
            <a:alphaModFix/>
          </a:blip>
          <a:srcRect b="40741"/>
          <a:stretch/>
        </p:blipFill>
        <p:spPr>
          <a:xfrm>
            <a:off x="0" y="0"/>
            <a:ext cx="9144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/>
          <p:nvPr/>
        </p:nvSpPr>
        <p:spPr>
          <a:xfrm>
            <a:off x="0" y="0"/>
            <a:ext cx="9144000" cy="3048000"/>
          </a:xfrm>
          <a:prstGeom prst="rect">
            <a:avLst/>
          </a:prstGeom>
          <a:solidFill>
            <a:srgbClr val="1F4EA2">
              <a:alpha val="64999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571500" y="571500"/>
            <a:ext cx="8001000" cy="1333500"/>
            <a:chOff x="571500" y="571500"/>
            <a:chExt cx="8001000" cy="1333500"/>
          </a:xfrm>
        </p:grpSpPr>
        <p:sp>
          <p:nvSpPr>
            <p:cNvPr id="57" name="Google Shape;57;p14"/>
            <p:cNvSpPr txBox="1"/>
            <p:nvPr/>
          </p:nvSpPr>
          <p:spPr>
            <a:xfrm>
              <a:off x="571500" y="571500"/>
              <a:ext cx="800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 b="1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Deep Learning for Depth-Stratified Water Quality</a:t>
              </a:r>
              <a:endParaRPr sz="2960" b="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571500" y="152400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0" dirty="0">
                  <a:solidFill>
                    <a:srgbClr val="BFDBFE"/>
                  </a:solidFill>
                  <a:latin typeface="Inter"/>
                  <a:ea typeface="Inter"/>
                  <a:cs typeface="Inter"/>
                  <a:sym typeface="Inter"/>
                </a:rPr>
                <a:t>Physics-Informed Modeling, Imputation, and Forecasting</a:t>
              </a:r>
              <a:endParaRPr sz="1800" b="0" dirty="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571500" y="2286000"/>
            <a:ext cx="8001000" cy="1143000"/>
            <a:chOff x="571500" y="2286000"/>
            <a:chExt cx="8001000" cy="1143000"/>
          </a:xfrm>
        </p:grpSpPr>
        <p:sp>
          <p:nvSpPr>
            <p:cNvPr id="60" name="Google Shape;60;p14"/>
            <p:cNvSpPr/>
            <p:nvPr/>
          </p:nvSpPr>
          <p:spPr>
            <a:xfrm>
              <a:off x="571500" y="2286000"/>
              <a:ext cx="8001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762000" y="2524125"/>
              <a:ext cx="7620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Trieu H. Vo </a:t>
              </a:r>
              <a:r>
                <a:rPr lang="en" sz="11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r>
                <a:rPr lang="en" sz="18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Cuong V. Nguyen </a:t>
              </a:r>
              <a:r>
                <a:rPr lang="en" sz="11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r>
                <a:rPr lang="en" sz="18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Leonardo Bobadilla </a:t>
              </a:r>
              <a:r>
                <a:rPr lang="en" sz="11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sz="18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2" name="Google Shape;62;p14"/>
          <p:cNvSpPr txBox="1"/>
          <p:nvPr/>
        </p:nvSpPr>
        <p:spPr>
          <a:xfrm>
            <a:off x="762000" y="36195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800" b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Knight Foundation School of Computing &amp; Information Sciences, Florida International University</a:t>
            </a:r>
            <a:endParaRPr sz="1800" b="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" sz="1800" b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Department of Mathematical Sciences, Durham University, UK</a:t>
            </a:r>
            <a:endParaRPr sz="1800" b="0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571500" y="4572000"/>
            <a:ext cx="8001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14"/>
          <p:cNvSpPr txBox="1"/>
          <p:nvPr/>
        </p:nvSpPr>
        <p:spPr>
          <a:xfrm>
            <a:off x="571500" y="4572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AI/ML Workshop • EWRI Congress, ASCE • Mobile, Alabama, 2025</a:t>
            </a:r>
            <a:endParaRPr sz="1100" b="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5"/>
          <p:cNvGrpSpPr/>
          <p:nvPr/>
        </p:nvGrpSpPr>
        <p:grpSpPr>
          <a:xfrm>
            <a:off x="4690111" y="966355"/>
            <a:ext cx="3937869" cy="3140419"/>
            <a:chOff x="4690109" y="1056409"/>
            <a:chExt cx="3937869" cy="3140419"/>
          </a:xfrm>
        </p:grpSpPr>
        <p:sp>
          <p:nvSpPr>
            <p:cNvPr id="75" name="Google Shape;75;p15"/>
            <p:cNvSpPr/>
            <p:nvPr/>
          </p:nvSpPr>
          <p:spPr>
            <a:xfrm>
              <a:off x="4690109" y="1238249"/>
              <a:ext cx="3937869" cy="2958579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4690110" y="1056409"/>
              <a:ext cx="3905398" cy="3112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600" tIns="228600" rIns="228600" bIns="2286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Monitoring Infrastructure</a:t>
              </a:r>
              <a:endParaRPr sz="1800" b="1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Inter"/>
                <a:buChar char="●"/>
              </a:pPr>
              <a:r>
                <a:rPr lang="en" sz="18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Depth-stratified sensor buoys measure variables at multiple depths</a:t>
              </a:r>
              <a:endParaRPr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Inter"/>
                <a:buChar char="●"/>
              </a:pPr>
              <a:r>
                <a:rPr lang="en" sz="18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 cost of deployment, maintenance, and calibration</a:t>
              </a:r>
              <a:endParaRPr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Inter"/>
                <a:buChar char="●"/>
              </a:pPr>
              <a:r>
                <a:rPr lang="en" sz="180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Many water bodies remain entirely unmonitored</a:t>
              </a:r>
              <a:endParaRPr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" name="Google Shape;71;p15"/>
          <p:cNvGrpSpPr/>
          <p:nvPr/>
        </p:nvGrpSpPr>
        <p:grpSpPr>
          <a:xfrm>
            <a:off x="548490" y="968085"/>
            <a:ext cx="3937869" cy="3900689"/>
            <a:chOff x="548640" y="1238249"/>
            <a:chExt cx="3822273" cy="3900689"/>
          </a:xfrm>
        </p:grpSpPr>
        <p:sp>
          <p:nvSpPr>
            <p:cNvPr id="72" name="Google Shape;72;p15"/>
            <p:cNvSpPr/>
            <p:nvPr/>
          </p:nvSpPr>
          <p:spPr>
            <a:xfrm>
              <a:off x="548640" y="1238249"/>
              <a:ext cx="3764197" cy="3666259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548640" y="1238249"/>
              <a:ext cx="3822273" cy="39006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600" tIns="228600" rIns="228600" bIns="2286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Key Water Quality Variables</a:t>
              </a:r>
              <a:endParaRPr sz="1800" b="1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Temperature</a:t>
              </a:r>
              <a:endParaRPr sz="1800" dirty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Controls stratification, habitat, and reaction rates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Dissolved Oxygen (DO)</a:t>
              </a:r>
              <a:endParaRPr sz="1800" dirty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Determines fish survival; low DO triggers hypoxia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PAR (Light)</a:t>
              </a:r>
              <a:endParaRPr sz="1800" dirty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Drives photosynthesis and algal growth; decays with depth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0" name="Google Shape;70;p15"/>
          <p:cNvSpPr txBox="1"/>
          <p:nvPr/>
        </p:nvSpPr>
        <p:spPr>
          <a:xfrm>
            <a:off x="985072" y="239325"/>
            <a:ext cx="80241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rPr>
              <a:t>Why Water Quality Monitoring Matters</a:t>
            </a:r>
            <a:endParaRPr sz="3200" b="1" dirty="0">
              <a:solidFill>
                <a:srgbClr val="1E3A8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4574713" y="4190305"/>
            <a:ext cx="3472207" cy="832370"/>
            <a:chOff x="548640" y="3714750"/>
            <a:chExt cx="8046600" cy="762000"/>
          </a:xfrm>
        </p:grpSpPr>
        <p:sp>
          <p:nvSpPr>
            <p:cNvPr id="78" name="Google Shape;78;p15"/>
            <p:cNvSpPr/>
            <p:nvPr/>
          </p:nvSpPr>
          <p:spPr>
            <a:xfrm>
              <a:off x="548640" y="3714750"/>
              <a:ext cx="8046600" cy="762000"/>
            </a:xfrm>
            <a:prstGeom prst="roundRect">
              <a:avLst>
                <a:gd name="adj" fmla="val 10000"/>
              </a:avLst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548640" y="3714750"/>
              <a:ext cx="8046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600" tIns="0" rIns="22860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 dirty="0">
                  <a:solidFill>
                    <a:srgbClr val="BFDBFE"/>
                  </a:solidFill>
                  <a:latin typeface="Inter"/>
                  <a:ea typeface="Inter"/>
                  <a:cs typeface="Inter"/>
                  <a:sym typeface="Inter"/>
                </a:rPr>
                <a:t>Goal: </a:t>
              </a:r>
              <a:r>
                <a:rPr lang="en" sz="1400" b="0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Build accurate AI models that fill data gaps and extend coverage beyond instrumented sites.</a:t>
              </a:r>
              <a:endParaRPr sz="1400" b="1" dirty="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0" name="Google Shape;80;p15"/>
          <p:cNvSpPr txBox="1"/>
          <p:nvPr/>
        </p:nvSpPr>
        <p:spPr>
          <a:xfrm>
            <a:off x="228599" y="4868775"/>
            <a:ext cx="1491063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Reckhow (1994)</a:t>
            </a:r>
            <a:endParaRPr sz="1000" b="0" i="1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8046920" y="4714875"/>
            <a:ext cx="5487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2 / 11</a:t>
            </a:r>
            <a:endParaRPr sz="1000" b="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42925" y="1047750"/>
            <a:ext cx="8058300" cy="11430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16" descr="A cinematic, slightly blurred close-up of a high-tech aquatic sensor buoy floating in a deep blue lake at twilight, with digital data overlay effects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925" y="1047750"/>
            <a:ext cx="8058300" cy="11430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762000" y="1166738"/>
            <a:ext cx="3810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LOSS IN SENSOR NETWORKS</a:t>
            </a:r>
            <a:endParaRPr sz="1200" b="1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20–90%</a:t>
            </a:r>
            <a:endParaRPr sz="3600" b="1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762500" y="1190625"/>
            <a:ext cx="3619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 sz="1800" b="1" dirty="0">
              <a:solidFill>
                <a:srgbClr val="BFDBF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No existing method addresses all failure modes while respecting physics.</a:t>
            </a:r>
            <a:endParaRPr sz="1800" b="0" dirty="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542926" y="2333625"/>
            <a:ext cx="2571750" cy="2626302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714375" y="2476500"/>
            <a:ext cx="285900" cy="285900"/>
          </a:xfrm>
          <a:prstGeom prst="roundRect">
            <a:avLst>
              <a:gd name="adj" fmla="val 20000"/>
            </a:avLst>
          </a:prstGeom>
          <a:solidFill>
            <a:srgbClr val="1E4EA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714375" y="247650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1</a:t>
            </a:r>
            <a:endParaRPr b="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75483" y="2808143"/>
            <a:ext cx="2400301" cy="204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rPr>
              <a:t>Random Scattered</a:t>
            </a:r>
            <a:endParaRPr sz="1800" b="1" dirty="0">
              <a:solidFill>
                <a:srgbClr val="1E4EA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Sensor noise and transmission glitches.</a:t>
            </a:r>
            <a:endParaRPr sz="1800" b="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800" b="0" i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3.7% – 13.8% missingness in Lake Mendota profiles</a:t>
            </a:r>
            <a:r>
              <a:rPr lang="en" sz="1100" b="0" i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 b="0" i="1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286125" y="2333624"/>
            <a:ext cx="2636693" cy="2626302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457575" y="2476500"/>
            <a:ext cx="285900" cy="285900"/>
          </a:xfrm>
          <a:prstGeom prst="roundRect">
            <a:avLst>
              <a:gd name="adj" fmla="val 20000"/>
            </a:avLst>
          </a:prstGeom>
          <a:solidFill>
            <a:srgbClr val="1E4EA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3457575" y="247650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2</a:t>
            </a:r>
            <a:endParaRPr b="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402155" y="2762400"/>
            <a:ext cx="2455869" cy="2142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rPr>
              <a:t>Block Missing</a:t>
            </a:r>
            <a:endParaRPr sz="1800" b="1" dirty="0">
              <a:solidFill>
                <a:srgbClr val="1E4EA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Power outages, biofouling, or ice cover.</a:t>
            </a:r>
            <a:endParaRPr sz="1800" b="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800" b="0" i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Offline for days to months; 94.8% loss in DO @ 0.0m.</a:t>
            </a:r>
            <a:endParaRPr sz="1800" b="0" i="1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029325" y="2333624"/>
            <a:ext cx="2571749" cy="257174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200775" y="2476500"/>
            <a:ext cx="285900" cy="285900"/>
          </a:xfrm>
          <a:prstGeom prst="roundRect">
            <a:avLst>
              <a:gd name="adj" fmla="val 20000"/>
            </a:avLst>
          </a:prstGeom>
          <a:solidFill>
            <a:srgbClr val="1E4EA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6200775" y="2476500"/>
            <a:ext cx="285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3</a:t>
            </a:r>
            <a:endParaRPr b="0">
              <a:solidFill>
                <a:srgbClr val="FFFFFF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6200775" y="2832821"/>
            <a:ext cx="2340552" cy="1998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rPr>
              <a:t>Complete Missing</a:t>
            </a:r>
            <a:endParaRPr sz="1800" b="1" dirty="0">
              <a:solidFill>
                <a:srgbClr val="1E4EA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Sensors never installed at specific depths.</a:t>
            </a:r>
            <a:endParaRPr sz="1800" b="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800" b="0" i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100% data loss for PAR @ 0.5m &amp; 0.8m.</a:t>
            </a:r>
            <a:endParaRPr sz="1800" b="0" i="1" dirty="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42925" y="381000"/>
            <a:ext cx="80583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rPr>
              <a:t>The Missing Data Challenge</a:t>
            </a:r>
            <a:endParaRPr sz="2800" b="1">
              <a:solidFill>
                <a:srgbClr val="1E3A8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1627193" y="49123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McAfee et al. (2025) • Lake Mendota (LakeBeD-US)</a:t>
            </a:r>
            <a:endParaRPr sz="900" b="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62346" y="-99965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2385580" y="242627"/>
            <a:ext cx="5151293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rPr>
              <a:t>Physics of Stratified Water Bodies</a:t>
            </a:r>
            <a:endParaRPr sz="2800" b="1" dirty="0">
              <a:solidFill>
                <a:srgbClr val="1E3A8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08" name="Google Shape;108;p17"/>
          <p:cNvGrpSpPr/>
          <p:nvPr/>
        </p:nvGrpSpPr>
        <p:grpSpPr>
          <a:xfrm>
            <a:off x="465769" y="929823"/>
            <a:ext cx="4106230" cy="1748962"/>
            <a:chOff x="714374" y="1143000"/>
            <a:chExt cx="3562201" cy="1428750"/>
          </a:xfrm>
        </p:grpSpPr>
        <p:sp>
          <p:nvSpPr>
            <p:cNvPr id="110" name="Google Shape;110;p17"/>
            <p:cNvSpPr/>
            <p:nvPr/>
          </p:nvSpPr>
          <p:spPr>
            <a:xfrm>
              <a:off x="714374" y="1143000"/>
              <a:ext cx="1084895" cy="285750"/>
            </a:xfrm>
            <a:prstGeom prst="roundRect">
              <a:avLst>
                <a:gd name="adj" fmla="val 20000"/>
              </a:avLst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714375" y="1143000"/>
              <a:ext cx="1084896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THERMAL</a:t>
              </a:r>
              <a:endParaRPr sz="1800" b="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714375" y="1428750"/>
              <a:ext cx="3562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Temperature &amp; Stratification</a:t>
              </a:r>
              <a:endParaRPr sz="1800" b="1" dirty="0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5275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Surface mixed layer (0–2 m): gradual variation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Thermocline: sharp gradient with depth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Strong seasonal cycle (4–25 °C)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4763648" y="923071"/>
            <a:ext cx="4026870" cy="1428749"/>
            <a:chOff x="4857749" y="1143000"/>
            <a:chExt cx="3562201" cy="1428750"/>
          </a:xfrm>
        </p:grpSpPr>
        <p:sp>
          <p:nvSpPr>
            <p:cNvPr id="115" name="Google Shape;115;p17"/>
            <p:cNvSpPr/>
            <p:nvPr/>
          </p:nvSpPr>
          <p:spPr>
            <a:xfrm>
              <a:off x="4857750" y="1143000"/>
              <a:ext cx="982460" cy="285750"/>
            </a:xfrm>
            <a:prstGeom prst="roundRect">
              <a:avLst>
                <a:gd name="adj" fmla="val 20000"/>
              </a:avLst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4857749" y="1143000"/>
              <a:ext cx="1106276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OPTICS</a:t>
              </a:r>
              <a:endParaRPr sz="1800" b="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4857750" y="1428750"/>
              <a:ext cx="3562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Light Attenuation</a:t>
              </a:r>
              <a:endParaRPr sz="1800" b="1" dirty="0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PAR decays exponentially with depth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PAR(z) = PAR(0) · e^(−Kd · z)</a:t>
              </a:r>
              <a:endParaRPr sz="1800" b="1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800" b="0" i="1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z = depth (m), K_d = attenuation coeff.</a:t>
              </a:r>
              <a:endParaRPr sz="1800" b="0" i="1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465771" y="3214650"/>
            <a:ext cx="4059436" cy="1673718"/>
            <a:chOff x="672749" y="3000375"/>
            <a:chExt cx="3562200" cy="1310749"/>
          </a:xfrm>
        </p:grpSpPr>
        <p:sp>
          <p:nvSpPr>
            <p:cNvPr id="120" name="Google Shape;120;p17"/>
            <p:cNvSpPr/>
            <p:nvPr/>
          </p:nvSpPr>
          <p:spPr>
            <a:xfrm>
              <a:off x="714375" y="3000375"/>
              <a:ext cx="952500" cy="190500"/>
            </a:xfrm>
            <a:prstGeom prst="roundRect">
              <a:avLst>
                <a:gd name="adj" fmla="val 20000"/>
              </a:avLst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714375" y="300037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CHEMICAL</a:t>
              </a:r>
              <a:endParaRPr sz="1800" b="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672749" y="3168124"/>
              <a:ext cx="3562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DO Saturation Limit</a:t>
              </a:r>
              <a:endParaRPr sz="1800" b="1" dirty="0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DO capacity is temperature-dependent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0 ≤ DO ≤ DOsat(T)</a:t>
              </a:r>
              <a:endParaRPr sz="1800" b="1" dirty="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800" b="0" i="1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DO cannot exceed physical saturation</a:t>
              </a:r>
              <a:endParaRPr sz="1800" b="0" i="1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7"/>
          <p:cNvGrpSpPr/>
          <p:nvPr/>
        </p:nvGrpSpPr>
        <p:grpSpPr>
          <a:xfrm>
            <a:off x="4621551" y="2960434"/>
            <a:ext cx="4378036" cy="2091031"/>
            <a:chOff x="4790976" y="3000375"/>
            <a:chExt cx="3562200" cy="1368516"/>
          </a:xfrm>
        </p:grpSpPr>
        <p:sp>
          <p:nvSpPr>
            <p:cNvPr id="125" name="Google Shape;125;p17"/>
            <p:cNvSpPr/>
            <p:nvPr/>
          </p:nvSpPr>
          <p:spPr>
            <a:xfrm>
              <a:off x="4857750" y="3000375"/>
              <a:ext cx="952500" cy="190500"/>
            </a:xfrm>
            <a:prstGeom prst="roundRect">
              <a:avLst>
                <a:gd name="adj" fmla="val 20000"/>
              </a:avLst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4857750" y="3000375"/>
              <a:ext cx="1017540" cy="2203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COUPLING</a:t>
              </a:r>
              <a:endParaRPr sz="1800" b="1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4790976" y="3225891"/>
              <a:ext cx="3562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Cross-Variable Coupling</a:t>
              </a:r>
              <a:endParaRPr sz="1800" b="1" dirty="0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5275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Temperature governs DO capacity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Light drives photosynthesis &amp; DO production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5275" algn="l" rtl="0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1050"/>
                <a:buFont typeface="Inter"/>
                <a:buChar char="●"/>
              </a:pPr>
              <a:r>
                <a:rPr lang="en" sz="18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Mixed layer maintains smooth profiles</a:t>
              </a:r>
              <a:endParaRPr sz="1800" b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8" name="Google Shape;128;p17"/>
          <p:cNvSpPr txBox="1"/>
          <p:nvPr/>
        </p:nvSpPr>
        <p:spPr>
          <a:xfrm>
            <a:off x="7463270" y="4853035"/>
            <a:ext cx="1895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Garcia &amp; Gordon (1992) • Kirk (2011)</a:t>
            </a:r>
            <a:endParaRPr sz="900" b="0" i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/>
        </p:nvSpPr>
        <p:spPr>
          <a:xfrm>
            <a:off x="542925" y="333375"/>
            <a:ext cx="80583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rPr>
              <a:t>Koopman Embeddings Reduce Forecasting Error by 70%</a:t>
            </a:r>
            <a:endParaRPr sz="2600" b="1">
              <a:solidFill>
                <a:srgbClr val="1E3A8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542925" y="762000"/>
            <a:ext cx="80583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Transforming nonlinear lake dynamics into linear representations via Koopman operator theory.</a:t>
            </a:r>
            <a:endParaRPr sz="12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4" name="Google Shape;134;p18" descr="A cinematic wide shot of a deep blue lake with subtle, glowing mathematical wave patterns and data nodes overlaid. High-tech scientific aesthetic."/>
          <p:cNvPicPr preferRelativeResize="0"/>
          <p:nvPr/>
        </p:nvPicPr>
        <p:blipFill rotWithShape="1">
          <a:blip r:embed="rId3">
            <a:alphaModFix/>
          </a:blip>
          <a:srcRect t="37392" b="37392"/>
          <a:stretch/>
        </p:blipFill>
        <p:spPr>
          <a:xfrm>
            <a:off x="542925" y="1047750"/>
            <a:ext cx="8058300" cy="1143000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542925" y="1047750"/>
            <a:ext cx="8058300" cy="1143000"/>
          </a:xfrm>
          <a:prstGeom prst="roundRect">
            <a:avLst>
              <a:gd name="adj" fmla="val 10000"/>
            </a:avLst>
          </a:prstGeom>
          <a:solidFill>
            <a:srgbClr val="1E3A8A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809625" y="1190625"/>
            <a:ext cx="2857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Prediction Error Reduction</a:t>
            </a:r>
            <a:endParaRPr sz="1100" b="1">
              <a:solidFill>
                <a:srgbClr val="BFDBF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70%</a:t>
            </a:r>
            <a:endParaRPr sz="42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5476875" y="1190625"/>
            <a:ext cx="2857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rPr>
              <a:t>Data Scale</a:t>
            </a:r>
            <a:endParaRPr sz="1100" b="1">
              <a:solidFill>
                <a:srgbClr val="BFDBFE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40 Years of Daily Temp</a:t>
            </a:r>
            <a:endParaRPr sz="14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r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BFDBFE"/>
                </a:solidFill>
                <a:latin typeface="Inter Medium"/>
                <a:ea typeface="Inter Medium"/>
                <a:cs typeface="Inter Medium"/>
                <a:sym typeface="Inter Medium"/>
              </a:rPr>
              <a:t>450 Midwest U.S. Lakes</a:t>
            </a:r>
            <a:endParaRPr sz="1100" b="0">
              <a:solidFill>
                <a:srgbClr val="BFDBF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38" name="Google Shape;138;p18"/>
          <p:cNvGrpSpPr/>
          <p:nvPr/>
        </p:nvGrpSpPr>
        <p:grpSpPr>
          <a:xfrm>
            <a:off x="542925" y="2333625"/>
            <a:ext cx="2571900" cy="2190900"/>
            <a:chOff x="542925" y="2333625"/>
            <a:chExt cx="2571900" cy="2190900"/>
          </a:xfrm>
        </p:grpSpPr>
        <p:sp>
          <p:nvSpPr>
            <p:cNvPr id="139" name="Google Shape;139;p18"/>
            <p:cNvSpPr/>
            <p:nvPr/>
          </p:nvSpPr>
          <p:spPr>
            <a:xfrm>
              <a:off x="542925" y="2333625"/>
              <a:ext cx="25719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714375" y="2476500"/>
              <a:ext cx="381000" cy="209700"/>
            </a:xfrm>
            <a:prstGeom prst="roundRect">
              <a:avLst>
                <a:gd name="adj" fmla="val 18181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714375" y="2476500"/>
              <a:ext cx="381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714375" y="2809875"/>
              <a:ext cx="2229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Koopman Encoder</a:t>
              </a:r>
              <a:endParaRPr sz="14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Maps multi-depth temperatures into a 32-dimensional embedding space.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3286125" y="2333625"/>
            <a:ext cx="2571900" cy="2190900"/>
            <a:chOff x="3286125" y="2333625"/>
            <a:chExt cx="2571900" cy="2190900"/>
          </a:xfrm>
        </p:grpSpPr>
        <p:sp>
          <p:nvSpPr>
            <p:cNvPr id="144" name="Google Shape;144;p18"/>
            <p:cNvSpPr/>
            <p:nvPr/>
          </p:nvSpPr>
          <p:spPr>
            <a:xfrm>
              <a:off x="3286125" y="2333625"/>
              <a:ext cx="25719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3457575" y="2476500"/>
              <a:ext cx="381000" cy="209700"/>
            </a:xfrm>
            <a:prstGeom prst="roundRect">
              <a:avLst>
                <a:gd name="adj" fmla="val 18181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3457575" y="2476500"/>
              <a:ext cx="381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3457575" y="2809875"/>
              <a:ext cx="2229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Seasonal Features</a:t>
              </a:r>
              <a:endParaRPr sz="14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Combines embeddings with sine/cosine day-of-year features to capture cyclic trends.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8" name="Google Shape;148;p18"/>
          <p:cNvGrpSpPr/>
          <p:nvPr/>
        </p:nvGrpSpPr>
        <p:grpSpPr>
          <a:xfrm>
            <a:off x="6029325" y="2333625"/>
            <a:ext cx="2571900" cy="2190900"/>
            <a:chOff x="6029325" y="2333625"/>
            <a:chExt cx="2571900" cy="2190900"/>
          </a:xfrm>
        </p:grpSpPr>
        <p:sp>
          <p:nvSpPr>
            <p:cNvPr id="149" name="Google Shape;149;p18"/>
            <p:cNvSpPr/>
            <p:nvPr/>
          </p:nvSpPr>
          <p:spPr>
            <a:xfrm>
              <a:off x="6029325" y="2333625"/>
              <a:ext cx="25719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6200775" y="2476500"/>
              <a:ext cx="381000" cy="209700"/>
            </a:xfrm>
            <a:prstGeom prst="roundRect">
              <a:avLst>
                <a:gd name="adj" fmla="val 18181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6200775" y="2476500"/>
              <a:ext cx="381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6200775" y="2809875"/>
              <a:ext cx="2229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4-Layer LSTM</a:t>
              </a:r>
              <a:endParaRPr sz="14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Predicts next-step temperatures using a sliding window architecture.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3" name="Google Shape;153;p18"/>
          <p:cNvSpPr txBox="1"/>
          <p:nvPr/>
        </p:nvSpPr>
        <p:spPr>
          <a:xfrm>
            <a:off x="542925" y="4714875"/>
            <a:ext cx="8058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Geneva &amp; Zabaras (2022) • Willard et al. (2021) • Vo et al. (2025)</a:t>
            </a:r>
            <a:endParaRPr sz="9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42925" y="333375"/>
            <a:ext cx="80583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rPr>
              <a:t>Axis-Factored Attention Architecture</a:t>
            </a:r>
            <a:endParaRPr sz="2800" b="1">
              <a:solidFill>
                <a:srgbClr val="1E3A8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42925" y="762000"/>
            <a:ext cx="8058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Specialized attention blocks decomposing multi-dimensional imputation for depth, feature, and time.</a:t>
            </a:r>
            <a:endParaRPr sz="12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0" name="Google Shape;160;p19" descr="Abstract 3D depth layers with vertical connecting lines, deep blue tech aesthetic."/>
          <p:cNvPicPr preferRelativeResize="0"/>
          <p:nvPr/>
        </p:nvPicPr>
        <p:blipFill rotWithShape="1">
          <a:blip r:embed="rId3">
            <a:alphaModFix/>
          </a:blip>
          <a:srcRect t="38463" b="38460"/>
          <a:stretch/>
        </p:blipFill>
        <p:spPr>
          <a:xfrm>
            <a:off x="542925" y="1333500"/>
            <a:ext cx="2476500" cy="762000"/>
          </a:xfrm>
          <a:prstGeom prst="roundRect">
            <a:avLst>
              <a:gd name="adj" fmla="val 15000"/>
            </a:avLst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542925" y="1333500"/>
            <a:ext cx="2476500" cy="762000"/>
          </a:xfrm>
          <a:prstGeom prst="roundRect">
            <a:avLst>
              <a:gd name="adj" fmla="val 15000"/>
            </a:avLst>
          </a:prstGeom>
          <a:solidFill>
            <a:srgbClr val="1E3A8A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42925" y="1333500"/>
            <a:ext cx="2476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Block C</a:t>
            </a:r>
            <a:endParaRPr sz="14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DEPTH</a:t>
            </a:r>
            <a:endParaRPr sz="900" b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542925" y="2190750"/>
            <a:ext cx="247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Learns vertical structure and interpolates across adjacent depth layers.</a:t>
            </a:r>
            <a:endParaRPr sz="11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4" name="Google Shape;164;p19" descr="Abstract network nodes showing cross-variable relationships, cyan and teal hues."/>
          <p:cNvPicPr preferRelativeResize="0"/>
          <p:nvPr/>
        </p:nvPicPr>
        <p:blipFill rotWithShape="1">
          <a:blip r:embed="rId4">
            <a:alphaModFix/>
          </a:blip>
          <a:srcRect t="38463" b="38460"/>
          <a:stretch/>
        </p:blipFill>
        <p:spPr>
          <a:xfrm>
            <a:off x="3333750" y="1333500"/>
            <a:ext cx="2476500" cy="762000"/>
          </a:xfrm>
          <a:prstGeom prst="roundRect">
            <a:avLst>
              <a:gd name="adj" fmla="val 15000"/>
            </a:avLst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3333750" y="1333500"/>
            <a:ext cx="2476500" cy="762000"/>
          </a:xfrm>
          <a:prstGeom prst="roundRect">
            <a:avLst>
              <a:gd name="adj" fmla="val 15000"/>
            </a:avLst>
          </a:prstGeom>
          <a:solidFill>
            <a:srgbClr val="0891B2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3333750" y="1333500"/>
            <a:ext cx="2476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Block Z</a:t>
            </a:r>
            <a:endParaRPr sz="14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FEATURE</a:t>
            </a:r>
            <a:endParaRPr sz="900" b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3333750" y="2190750"/>
            <a:ext cx="247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Captures cross-variable relationships between Temp, DO, and PAR.</a:t>
            </a:r>
            <a:endParaRPr sz="11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8" name="Google Shape;168;p19" descr="Stylized time-series waves with convolutional neural patterns, indigo gradients."/>
          <p:cNvPicPr preferRelativeResize="0"/>
          <p:nvPr/>
        </p:nvPicPr>
        <p:blipFill rotWithShape="1">
          <a:blip r:embed="rId5">
            <a:alphaModFix/>
          </a:blip>
          <a:srcRect t="38463" b="38460"/>
          <a:stretch/>
        </p:blipFill>
        <p:spPr>
          <a:xfrm>
            <a:off x="6124575" y="1333500"/>
            <a:ext cx="2476500" cy="762000"/>
          </a:xfrm>
          <a:prstGeom prst="roundRect">
            <a:avLst>
              <a:gd name="adj" fmla="val 15000"/>
            </a:avLst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6124575" y="1333500"/>
            <a:ext cx="2476500" cy="762000"/>
          </a:xfrm>
          <a:prstGeom prst="roundRect">
            <a:avLst>
              <a:gd name="adj" fmla="val 15000"/>
            </a:avLst>
          </a:prstGeom>
          <a:solidFill>
            <a:srgbClr val="4F46E5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124575" y="1333500"/>
            <a:ext cx="2476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Block B</a:t>
            </a:r>
            <a:endParaRPr sz="14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TIME</a:t>
            </a:r>
            <a:endParaRPr sz="900" b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6124575" y="2190750"/>
            <a:ext cx="247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Captures seasonal dynamics via gated convolution and self-attention.</a:t>
            </a:r>
            <a:endParaRPr sz="11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42925" y="3048000"/>
            <a:ext cx="8058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42925" y="3286125"/>
            <a:ext cx="50484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34290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rPr>
              <a:t>Model Performance (MAE)</a:t>
            </a:r>
            <a:endParaRPr sz="1000" b="1">
              <a:solidFill>
                <a:srgbClr val="1E4EA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5" name="Google Shape;175;p19"/>
          <p:cNvGrpSpPr/>
          <p:nvPr/>
        </p:nvGrpSpPr>
        <p:grpSpPr>
          <a:xfrm>
            <a:off x="762000" y="3429000"/>
            <a:ext cx="4667325" cy="1238400"/>
            <a:chOff x="762000" y="3429000"/>
            <a:chExt cx="4667325" cy="1238400"/>
          </a:xfrm>
        </p:grpSpPr>
        <p:sp>
          <p:nvSpPr>
            <p:cNvPr id="176" name="Google Shape;176;p19"/>
            <p:cNvSpPr txBox="1"/>
            <p:nvPr/>
          </p:nvSpPr>
          <p:spPr>
            <a:xfrm>
              <a:off x="762000" y="3810000"/>
              <a:ext cx="857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Lerp</a:t>
              </a:r>
              <a:endParaRPr sz="9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4EA2"/>
                  </a:solidFill>
                  <a:latin typeface="Oswald"/>
                  <a:ea typeface="Oswald"/>
                  <a:cs typeface="Oswald"/>
                  <a:sym typeface="Oswald"/>
                </a:rPr>
                <a:t>0.337</a:t>
              </a:r>
              <a:endParaRPr sz="1400" b="1">
                <a:solidFill>
                  <a:srgbClr val="1E4EA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1714500" y="3810000"/>
              <a:ext cx="857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CSDI</a:t>
              </a:r>
              <a:endParaRPr sz="9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4EA2"/>
                  </a:solidFill>
                  <a:latin typeface="Oswald"/>
                  <a:ea typeface="Oswald"/>
                  <a:cs typeface="Oswald"/>
                  <a:sym typeface="Oswald"/>
                </a:rPr>
                <a:t>0.133</a:t>
              </a:r>
              <a:endParaRPr sz="1400" b="1">
                <a:solidFill>
                  <a:srgbClr val="1E4EA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2667000" y="3810000"/>
              <a:ext cx="857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SAITS</a:t>
              </a:r>
              <a:endParaRPr sz="9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4EA2"/>
                  </a:solidFill>
                  <a:latin typeface="Oswald"/>
                  <a:ea typeface="Oswald"/>
                  <a:cs typeface="Oswald"/>
                  <a:sym typeface="Oswald"/>
                </a:rPr>
                <a:t>0.133</a:t>
              </a:r>
              <a:endParaRPr sz="1400" b="1">
                <a:solidFill>
                  <a:srgbClr val="1E4EA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3667125" y="3429000"/>
              <a:ext cx="1762200" cy="1238400"/>
            </a:xfrm>
            <a:prstGeom prst="roundRect">
              <a:avLst>
                <a:gd name="adj" fmla="val 6153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3762375" y="3810000"/>
              <a:ext cx="76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DMI (ours)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0.114</a:t>
              </a:r>
              <a:endParaRPr sz="1400" b="1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4572000" y="3810000"/>
              <a:ext cx="76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DMI (ext)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0.091</a:t>
              </a:r>
              <a:endParaRPr sz="1400" b="1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82" name="Google Shape;182;p19"/>
          <p:cNvSpPr/>
          <p:nvPr/>
        </p:nvSpPr>
        <p:spPr>
          <a:xfrm>
            <a:off x="5810250" y="3286125"/>
            <a:ext cx="2790900" cy="15240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000750" y="3476625"/>
            <a:ext cx="2409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TEST CONFIGURATION</a:t>
            </a:r>
            <a:endParaRPr sz="900" b="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LakeBed-MN • Rate = 0.2 • Seq = 192</a:t>
            </a:r>
            <a:endParaRPr sz="10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900" b="0" i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Includes calendar features &amp; self-supervised masking training.</a:t>
            </a:r>
            <a:endParaRPr sz="900" b="0" i="1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76250" y="285750"/>
            <a:ext cx="819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rPr>
              <a:t>Robust Imputation Strategies for Sensor Failures</a:t>
            </a:r>
            <a:endParaRPr sz="2800" b="1">
              <a:solidFill>
                <a:srgbClr val="1E3A8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76250" y="714375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Each missing-data pattern leverages a dedicated mechanism to maintain high-fidelity reconstruction.</a:t>
            </a:r>
            <a:endParaRPr sz="12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0" name="Google Shape;190;p20"/>
          <p:cNvGrpSpPr/>
          <p:nvPr/>
        </p:nvGrpSpPr>
        <p:grpSpPr>
          <a:xfrm>
            <a:off x="476250" y="1333500"/>
            <a:ext cx="1952700" cy="3429000"/>
            <a:chOff x="476250" y="1333500"/>
            <a:chExt cx="1952700" cy="3429000"/>
          </a:xfrm>
        </p:grpSpPr>
        <p:sp>
          <p:nvSpPr>
            <p:cNvPr id="191" name="Google Shape;191;p20"/>
            <p:cNvSpPr/>
            <p:nvPr/>
          </p:nvSpPr>
          <p:spPr>
            <a:xfrm>
              <a:off x="476250" y="1333500"/>
              <a:ext cx="1952700" cy="342900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2" name="Google Shape;192;p20"/>
            <p:cNvPicPr preferRelativeResize="0"/>
            <p:nvPr/>
          </p:nvPicPr>
          <p:blipFill rotWithShape="1">
            <a:blip r:embed="rId3">
              <a:alphaModFix/>
            </a:blip>
            <a:srcRect t="18640" b="18640"/>
            <a:stretch/>
          </p:blipFill>
          <p:spPr>
            <a:xfrm>
              <a:off x="476250" y="1333500"/>
              <a:ext cx="1952700" cy="8574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  <p:sp>
          <p:nvSpPr>
            <p:cNvPr id="193" name="Google Shape;193;p20"/>
            <p:cNvSpPr/>
            <p:nvPr/>
          </p:nvSpPr>
          <p:spPr>
            <a:xfrm>
              <a:off x="571500" y="2286000"/>
              <a:ext cx="619200" cy="171600"/>
            </a:xfrm>
            <a:prstGeom prst="roundRect">
              <a:avLst>
                <a:gd name="adj" fmla="val 22222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571500" y="2286000"/>
              <a:ext cx="619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SCATTERED</a:t>
              </a:r>
              <a:endParaRPr sz="7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571500" y="2524125"/>
              <a:ext cx="1762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3A8A"/>
                  </a:solidFill>
                  <a:latin typeface="Oswald"/>
                  <a:ea typeface="Oswald"/>
                  <a:cs typeface="Oswald"/>
                  <a:sym typeface="Oswald"/>
                </a:rPr>
                <a:t>Random</a:t>
              </a:r>
              <a:endParaRPr sz="14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Caused by sensor noise or transmission glitches. Handled via Bernoulli masking during training.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571500" y="3952875"/>
              <a:ext cx="1762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666750" y="4048125"/>
              <a:ext cx="1571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Metric Impact</a:t>
              </a:r>
              <a:endParaRPr sz="8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E4EA2"/>
                  </a:solidFill>
                  <a:latin typeface="Oswald"/>
                  <a:ea typeface="Oswald"/>
                  <a:cs typeface="Oswald"/>
                  <a:sym typeface="Oswald"/>
                </a:rPr>
                <a:t>Baseline</a:t>
              </a:r>
              <a:endParaRPr sz="1300" b="1">
                <a:solidFill>
                  <a:srgbClr val="1E4EA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198" name="Google Shape;198;p20"/>
          <p:cNvGrpSpPr/>
          <p:nvPr/>
        </p:nvGrpSpPr>
        <p:grpSpPr>
          <a:xfrm>
            <a:off x="2619375" y="1333500"/>
            <a:ext cx="1952700" cy="3429000"/>
            <a:chOff x="2619375" y="1333500"/>
            <a:chExt cx="1952700" cy="3429000"/>
          </a:xfrm>
        </p:grpSpPr>
        <p:sp>
          <p:nvSpPr>
            <p:cNvPr id="199" name="Google Shape;199;p20"/>
            <p:cNvSpPr/>
            <p:nvPr/>
          </p:nvSpPr>
          <p:spPr>
            <a:xfrm>
              <a:off x="2619375" y="1333500"/>
              <a:ext cx="1952700" cy="342900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0" name="Google Shape;200;p20"/>
            <p:cNvPicPr preferRelativeResize="0"/>
            <p:nvPr/>
          </p:nvPicPr>
          <p:blipFill rotWithShape="1">
            <a:blip r:embed="rId4">
              <a:alphaModFix/>
            </a:blip>
            <a:srcRect t="18640" b="18640"/>
            <a:stretch/>
          </p:blipFill>
          <p:spPr>
            <a:xfrm>
              <a:off x="2619375" y="1333500"/>
              <a:ext cx="1952700" cy="8574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  <p:sp>
          <p:nvSpPr>
            <p:cNvPr id="201" name="Google Shape;201;p20"/>
            <p:cNvSpPr/>
            <p:nvPr/>
          </p:nvSpPr>
          <p:spPr>
            <a:xfrm>
              <a:off x="2714625" y="2286000"/>
              <a:ext cx="619200" cy="171600"/>
            </a:xfrm>
            <a:prstGeom prst="roundRect">
              <a:avLst>
                <a:gd name="adj" fmla="val 22222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2714625" y="2286000"/>
              <a:ext cx="619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INTERVAL</a:t>
              </a:r>
              <a:endParaRPr sz="7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2714625" y="2524125"/>
              <a:ext cx="1762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3A8A"/>
                  </a:solidFill>
                  <a:latin typeface="Oswald"/>
                  <a:ea typeface="Oswald"/>
                  <a:cs typeface="Oswald"/>
                  <a:sym typeface="Oswald"/>
                </a:rPr>
                <a:t>Block Missing</a:t>
              </a:r>
              <a:endParaRPr sz="14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Power outages or biofouling lasting days to weeks. Uses temporal gradient &amp; channel weighting.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2714625" y="3952875"/>
              <a:ext cx="1762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2809875" y="4048125"/>
              <a:ext cx="1571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Performance</a:t>
              </a:r>
              <a:endParaRPr sz="8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E4EA2"/>
                  </a:solidFill>
                  <a:latin typeface="Oswald"/>
                  <a:ea typeface="Oswald"/>
                  <a:cs typeface="Oswald"/>
                  <a:sym typeface="Oswald"/>
                </a:rPr>
                <a:t>Prevents Flat Outputs</a:t>
              </a:r>
              <a:endParaRPr sz="1300" b="1">
                <a:solidFill>
                  <a:srgbClr val="1E4EA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4762500" y="1333500"/>
            <a:ext cx="1952700" cy="3429000"/>
            <a:chOff x="4762500" y="1333500"/>
            <a:chExt cx="1952700" cy="3429000"/>
          </a:xfrm>
        </p:grpSpPr>
        <p:sp>
          <p:nvSpPr>
            <p:cNvPr id="207" name="Google Shape;207;p20"/>
            <p:cNvSpPr/>
            <p:nvPr/>
          </p:nvSpPr>
          <p:spPr>
            <a:xfrm>
              <a:off x="4762500" y="1333500"/>
              <a:ext cx="1952700" cy="342900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8" name="Google Shape;208;p20"/>
            <p:cNvPicPr preferRelativeResize="0"/>
            <p:nvPr/>
          </p:nvPicPr>
          <p:blipFill rotWithShape="1">
            <a:blip r:embed="rId5">
              <a:alphaModFix/>
            </a:blip>
            <a:srcRect t="18640" b="18640"/>
            <a:stretch/>
          </p:blipFill>
          <p:spPr>
            <a:xfrm>
              <a:off x="4762500" y="1333500"/>
              <a:ext cx="1952700" cy="8574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  <p:sp>
          <p:nvSpPr>
            <p:cNvPr id="209" name="Google Shape;209;p20"/>
            <p:cNvSpPr/>
            <p:nvPr/>
          </p:nvSpPr>
          <p:spPr>
            <a:xfrm>
              <a:off x="4857750" y="2286000"/>
              <a:ext cx="619200" cy="171600"/>
            </a:xfrm>
            <a:prstGeom prst="roundRect">
              <a:avLst>
                <a:gd name="adj" fmla="val 22222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4857750" y="2286000"/>
              <a:ext cx="619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SPATIAL</a:t>
              </a:r>
              <a:endParaRPr sz="7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4857750" y="2524125"/>
              <a:ext cx="1762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3A8A"/>
                  </a:solidFill>
                  <a:latin typeface="Oswald"/>
                  <a:ea typeface="Oswald"/>
                  <a:cs typeface="Oswald"/>
                  <a:sym typeface="Oswald"/>
                </a:rPr>
                <a:t>Complete Missing</a:t>
              </a:r>
              <a:endParaRPr sz="14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Sensor not installed at depths. Solved via depth-first prefill and physics loss supervision.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4857750" y="3952875"/>
              <a:ext cx="1762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4953000" y="4048125"/>
              <a:ext cx="1571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Mechanism</a:t>
              </a:r>
              <a:endParaRPr sz="8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E4EA2"/>
                  </a:solidFill>
                  <a:latin typeface="Oswald"/>
                  <a:ea typeface="Oswald"/>
                  <a:cs typeface="Oswald"/>
                  <a:sym typeface="Oswald"/>
                </a:rPr>
                <a:t>No Ground Truth</a:t>
              </a:r>
              <a:endParaRPr sz="1300" b="1">
                <a:solidFill>
                  <a:srgbClr val="1E4EA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6905625" y="1333500"/>
            <a:ext cx="1952700" cy="3429000"/>
            <a:chOff x="6905625" y="1333500"/>
            <a:chExt cx="1952700" cy="3429000"/>
          </a:xfrm>
        </p:grpSpPr>
        <p:sp>
          <p:nvSpPr>
            <p:cNvPr id="215" name="Google Shape;215;p20"/>
            <p:cNvSpPr/>
            <p:nvPr/>
          </p:nvSpPr>
          <p:spPr>
            <a:xfrm>
              <a:off x="6905625" y="1333500"/>
              <a:ext cx="1952700" cy="342900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6" name="Google Shape;216;p20"/>
            <p:cNvPicPr preferRelativeResize="0"/>
            <p:nvPr/>
          </p:nvPicPr>
          <p:blipFill rotWithShape="1">
            <a:blip r:embed="rId6">
              <a:alphaModFix/>
            </a:blip>
            <a:srcRect t="18640" b="18640"/>
            <a:stretch/>
          </p:blipFill>
          <p:spPr>
            <a:xfrm>
              <a:off x="6905625" y="1333500"/>
              <a:ext cx="1952700" cy="8574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  <p:sp>
          <p:nvSpPr>
            <p:cNvPr id="217" name="Google Shape;217;p20"/>
            <p:cNvSpPr/>
            <p:nvPr/>
          </p:nvSpPr>
          <p:spPr>
            <a:xfrm>
              <a:off x="7000875" y="2286000"/>
              <a:ext cx="619200" cy="171600"/>
            </a:xfrm>
            <a:prstGeom prst="roundRect">
              <a:avLst>
                <a:gd name="adj" fmla="val 22222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7000875" y="2286000"/>
              <a:ext cx="619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CYCLIC</a:t>
              </a:r>
              <a:endParaRPr sz="7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7000875" y="2524125"/>
              <a:ext cx="1762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3A8A"/>
                  </a:solidFill>
                  <a:latin typeface="Oswald"/>
                  <a:ea typeface="Oswald"/>
                  <a:cs typeface="Oswald"/>
                  <a:sym typeface="Oswald"/>
                </a:rPr>
                <a:t>Seasonal Gaps</a:t>
              </a:r>
              <a:endParaRPr sz="14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Winter ice cover (3-5 months). Leverages calendar features with semi-annual sine/cosine.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7000875" y="3952875"/>
              <a:ext cx="1762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7096125" y="4048125"/>
              <a:ext cx="1571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MAE Reduction</a:t>
              </a:r>
              <a:endParaRPr sz="800" b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2563EB"/>
                  </a:solidFill>
                  <a:latin typeface="Oswald"/>
                  <a:ea typeface="Oswald"/>
                  <a:cs typeface="Oswald"/>
                  <a:sym typeface="Oswald"/>
                </a:rPr>
                <a:t>↓ 19.5%</a:t>
              </a:r>
              <a:endParaRPr sz="1300" b="1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76250" y="285750"/>
            <a:ext cx="819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rPr>
              <a:t>Integrating Physical Laws into Model Training</a:t>
            </a:r>
            <a:endParaRPr sz="2800" b="1">
              <a:solidFill>
                <a:srgbClr val="1E3A8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76250" y="714375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Differentiable physics constraints in the training loss (λ = 0.01) provide supervision without ground truth.</a:t>
            </a:r>
            <a:endParaRPr sz="12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8" name="Google Shape;228;p21"/>
          <p:cNvGrpSpPr/>
          <p:nvPr/>
        </p:nvGrpSpPr>
        <p:grpSpPr>
          <a:xfrm>
            <a:off x="476250" y="1238250"/>
            <a:ext cx="1952700" cy="2286000"/>
            <a:chOff x="476250" y="1238250"/>
            <a:chExt cx="1952700" cy="2286000"/>
          </a:xfrm>
        </p:grpSpPr>
        <p:sp>
          <p:nvSpPr>
            <p:cNvPr id="229" name="Google Shape;229;p21"/>
            <p:cNvSpPr/>
            <p:nvPr/>
          </p:nvSpPr>
          <p:spPr>
            <a:xfrm>
              <a:off x="476250" y="1238250"/>
              <a:ext cx="1952700" cy="228600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0" name="Google Shape;230;p21" descr="Microscopic visualization of oxygen molecules in water, scientific blue theme."/>
            <p:cNvPicPr preferRelativeResize="0"/>
            <p:nvPr/>
          </p:nvPicPr>
          <p:blipFill rotWithShape="1">
            <a:blip r:embed="rId3">
              <a:alphaModFix/>
            </a:blip>
            <a:srcRect t="10973" b="10981"/>
            <a:stretch/>
          </p:blipFill>
          <p:spPr>
            <a:xfrm>
              <a:off x="476250" y="1238250"/>
              <a:ext cx="1952700" cy="8574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  <p:sp>
          <p:nvSpPr>
            <p:cNvPr id="231" name="Google Shape;231;p21"/>
            <p:cNvSpPr/>
            <p:nvPr/>
          </p:nvSpPr>
          <p:spPr>
            <a:xfrm>
              <a:off x="571500" y="2190750"/>
              <a:ext cx="714300" cy="171600"/>
            </a:xfrm>
            <a:prstGeom prst="roundRect">
              <a:avLst>
                <a:gd name="adj" fmla="val 22222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571500" y="2190750"/>
              <a:ext cx="714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CONSTRAINT</a:t>
              </a:r>
              <a:endParaRPr sz="7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571500" y="2400300"/>
              <a:ext cx="1762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3A8A"/>
                  </a:solidFill>
                  <a:latin typeface="Oswald"/>
                  <a:ea typeface="Oswald"/>
                  <a:cs typeface="Oswald"/>
                  <a:sym typeface="Oswald"/>
                </a:rPr>
                <a:t>DO Saturation</a:t>
              </a:r>
              <a:endParaRPr sz="14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571500" y="2667000"/>
              <a:ext cx="1762200" cy="238200"/>
            </a:xfrm>
            <a:prstGeom prst="roundRect">
              <a:avLst>
                <a:gd name="adj" fmla="val 16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571500" y="2667000"/>
              <a:ext cx="1762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 ≤ DO_sat(T)</a:t>
              </a:r>
              <a:endParaRPr sz="9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571500" y="2952750"/>
              <a:ext cx="1762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Prevents oxygen levels from exceeding physical maximums.</a:t>
              </a:r>
              <a:endParaRPr sz="95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2619375" y="1238250"/>
            <a:ext cx="1952700" cy="2286000"/>
            <a:chOff x="2619375" y="1238250"/>
            <a:chExt cx="1952700" cy="2286000"/>
          </a:xfrm>
        </p:grpSpPr>
        <p:sp>
          <p:nvSpPr>
            <p:cNvPr id="238" name="Google Shape;238;p21"/>
            <p:cNvSpPr/>
            <p:nvPr/>
          </p:nvSpPr>
          <p:spPr>
            <a:xfrm>
              <a:off x="2619375" y="1238250"/>
              <a:ext cx="1952700" cy="228600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9" name="Google Shape;239;p21" descr="Light rays penetrating deep water with exponential decay effect, cinematic underwater style."/>
            <p:cNvPicPr preferRelativeResize="0"/>
            <p:nvPr/>
          </p:nvPicPr>
          <p:blipFill rotWithShape="1">
            <a:blip r:embed="rId4">
              <a:alphaModFix/>
            </a:blip>
            <a:srcRect t="10973" b="10981"/>
            <a:stretch/>
          </p:blipFill>
          <p:spPr>
            <a:xfrm>
              <a:off x="2619375" y="1238250"/>
              <a:ext cx="1952700" cy="8574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  <p:sp>
          <p:nvSpPr>
            <p:cNvPr id="240" name="Google Shape;240;p21"/>
            <p:cNvSpPr/>
            <p:nvPr/>
          </p:nvSpPr>
          <p:spPr>
            <a:xfrm>
              <a:off x="2714625" y="2190750"/>
              <a:ext cx="714300" cy="171600"/>
            </a:xfrm>
            <a:prstGeom prst="roundRect">
              <a:avLst>
                <a:gd name="adj" fmla="val 22222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2714625" y="2190750"/>
              <a:ext cx="714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CONSTRAINT</a:t>
              </a:r>
              <a:endParaRPr sz="7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2714625" y="2400300"/>
              <a:ext cx="1762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3A8A"/>
                  </a:solidFill>
                  <a:latin typeface="Oswald"/>
                  <a:ea typeface="Oswald"/>
                  <a:cs typeface="Oswald"/>
                  <a:sym typeface="Oswald"/>
                </a:rPr>
                <a:t>PAR Decay</a:t>
              </a:r>
              <a:endParaRPr sz="14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2714625" y="2667000"/>
              <a:ext cx="1762200" cy="238200"/>
            </a:xfrm>
            <a:prstGeom prst="roundRect">
              <a:avLst>
                <a:gd name="adj" fmla="val 16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2714625" y="2667000"/>
              <a:ext cx="1762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PAR(z)=PAR(0)e⁻ᴷᵈᶻ</a:t>
              </a:r>
              <a:endParaRPr sz="9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2714625" y="2952750"/>
              <a:ext cx="1762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Ensures light intensity decreases exponentially with depth.</a:t>
              </a:r>
              <a:endParaRPr sz="95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21"/>
          <p:cNvGrpSpPr/>
          <p:nvPr/>
        </p:nvGrpSpPr>
        <p:grpSpPr>
          <a:xfrm>
            <a:off x="4762500" y="1238250"/>
            <a:ext cx="1952700" cy="2286000"/>
            <a:chOff x="4762500" y="1238250"/>
            <a:chExt cx="1952700" cy="2286000"/>
          </a:xfrm>
        </p:grpSpPr>
        <p:sp>
          <p:nvSpPr>
            <p:cNvPr id="247" name="Google Shape;247;p21"/>
            <p:cNvSpPr/>
            <p:nvPr/>
          </p:nvSpPr>
          <p:spPr>
            <a:xfrm>
              <a:off x="4762500" y="1238250"/>
              <a:ext cx="1952700" cy="228600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8" name="Google Shape;248;p21" descr="Abstract geometric pattern representing positive growth and numerical stability."/>
            <p:cNvPicPr preferRelativeResize="0"/>
            <p:nvPr/>
          </p:nvPicPr>
          <p:blipFill rotWithShape="1">
            <a:blip r:embed="rId5">
              <a:alphaModFix/>
            </a:blip>
            <a:srcRect t="10973" b="10981"/>
            <a:stretch/>
          </p:blipFill>
          <p:spPr>
            <a:xfrm>
              <a:off x="4762500" y="1238250"/>
              <a:ext cx="1952700" cy="8574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  <p:sp>
          <p:nvSpPr>
            <p:cNvPr id="249" name="Google Shape;249;p21"/>
            <p:cNvSpPr/>
            <p:nvPr/>
          </p:nvSpPr>
          <p:spPr>
            <a:xfrm>
              <a:off x="4857750" y="2190750"/>
              <a:ext cx="714300" cy="171600"/>
            </a:xfrm>
            <a:prstGeom prst="roundRect">
              <a:avLst>
                <a:gd name="adj" fmla="val 22222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4857750" y="2190750"/>
              <a:ext cx="714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CONSTRAINT</a:t>
              </a:r>
              <a:endParaRPr sz="7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4857750" y="2400300"/>
              <a:ext cx="1762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3A8A"/>
                  </a:solidFill>
                  <a:latin typeface="Oswald"/>
                  <a:ea typeface="Oswald"/>
                  <a:cs typeface="Oswald"/>
                  <a:sym typeface="Oswald"/>
                </a:rPr>
                <a:t>Non-negativity</a:t>
              </a:r>
              <a:endParaRPr sz="14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857750" y="2667000"/>
              <a:ext cx="1762200" cy="238200"/>
            </a:xfrm>
            <a:prstGeom prst="roundRect">
              <a:avLst>
                <a:gd name="adj" fmla="val 16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4857750" y="2667000"/>
              <a:ext cx="1762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Temp, DO, PAR ≥ 0</a:t>
              </a:r>
              <a:endParaRPr sz="9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4857750" y="2952750"/>
              <a:ext cx="1762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Enforces reality where physical quantities cannot be negative.</a:t>
              </a:r>
              <a:endParaRPr sz="95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5" name="Google Shape;255;p21"/>
          <p:cNvGrpSpPr/>
          <p:nvPr/>
        </p:nvGrpSpPr>
        <p:grpSpPr>
          <a:xfrm>
            <a:off x="6905625" y="1238250"/>
            <a:ext cx="1952700" cy="2286000"/>
            <a:chOff x="6905625" y="1238250"/>
            <a:chExt cx="1952700" cy="2286000"/>
          </a:xfrm>
        </p:grpSpPr>
        <p:sp>
          <p:nvSpPr>
            <p:cNvPr id="256" name="Google Shape;256;p21"/>
            <p:cNvSpPr/>
            <p:nvPr/>
          </p:nvSpPr>
          <p:spPr>
            <a:xfrm>
              <a:off x="6905625" y="1238250"/>
              <a:ext cx="1952700" cy="2286000"/>
            </a:xfrm>
            <a:prstGeom prst="roundRect">
              <a:avLst>
                <a:gd name="adj" fmla="val 585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7" name="Google Shape;257;p21" descr="Smooth vertical gradient representing water column stratification, minimalist style."/>
            <p:cNvPicPr preferRelativeResize="0"/>
            <p:nvPr/>
          </p:nvPicPr>
          <p:blipFill rotWithShape="1">
            <a:blip r:embed="rId6">
              <a:alphaModFix/>
            </a:blip>
            <a:srcRect t="10973" b="10981"/>
            <a:stretch/>
          </p:blipFill>
          <p:spPr>
            <a:xfrm>
              <a:off x="6905625" y="1238250"/>
              <a:ext cx="1952700" cy="857400"/>
            </a:xfrm>
            <a:prstGeom prst="roundRect">
              <a:avLst>
                <a:gd name="adj" fmla="val 13333"/>
              </a:avLst>
            </a:prstGeom>
            <a:noFill/>
            <a:ln>
              <a:noFill/>
            </a:ln>
          </p:spPr>
        </p:pic>
        <p:sp>
          <p:nvSpPr>
            <p:cNvPr id="258" name="Google Shape;258;p21"/>
            <p:cNvSpPr/>
            <p:nvPr/>
          </p:nvSpPr>
          <p:spPr>
            <a:xfrm>
              <a:off x="7000875" y="2190750"/>
              <a:ext cx="714300" cy="171600"/>
            </a:xfrm>
            <a:prstGeom prst="roundRect">
              <a:avLst>
                <a:gd name="adj" fmla="val 22222"/>
              </a:avLst>
            </a:prstGeom>
            <a:solidFill>
              <a:srgbClr val="1E4EA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1"/>
            <p:cNvSpPr txBox="1"/>
            <p:nvPr/>
          </p:nvSpPr>
          <p:spPr>
            <a:xfrm>
              <a:off x="7000875" y="2190750"/>
              <a:ext cx="714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CONSTRAINT</a:t>
              </a:r>
              <a:endParaRPr sz="7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7000875" y="2400300"/>
              <a:ext cx="1762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E3A8A"/>
                  </a:solidFill>
                  <a:latin typeface="Oswald"/>
                  <a:ea typeface="Oswald"/>
                  <a:cs typeface="Oswald"/>
                  <a:sym typeface="Oswald"/>
                </a:rPr>
                <a:t>Depth Smoothness</a:t>
              </a:r>
              <a:endParaRPr sz="14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7000875" y="2667000"/>
              <a:ext cx="1762200" cy="238200"/>
            </a:xfrm>
            <a:prstGeom prst="roundRect">
              <a:avLst>
                <a:gd name="adj" fmla="val 16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1"/>
            <p:cNvSpPr txBox="1"/>
            <p:nvPr/>
          </p:nvSpPr>
          <p:spPr>
            <a:xfrm>
              <a:off x="7000875" y="2667000"/>
              <a:ext cx="1762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Δ(z₁, z₂) ≈ small</a:t>
              </a:r>
              <a:endParaRPr sz="9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3" name="Google Shape;263;p21"/>
            <p:cNvSpPr txBox="1"/>
            <p:nvPr/>
          </p:nvSpPr>
          <p:spPr>
            <a:xfrm>
              <a:off x="7000875" y="2952750"/>
              <a:ext cx="1762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Prevents abrupt, non-physical jumps between depth layers.</a:t>
              </a:r>
              <a:endParaRPr sz="95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64" name="Google Shape;264;p21"/>
          <p:cNvSpPr/>
          <p:nvPr/>
        </p:nvSpPr>
        <p:spPr>
          <a:xfrm>
            <a:off x="476250" y="3714750"/>
            <a:ext cx="8382000" cy="809700"/>
          </a:xfrm>
          <a:prstGeom prst="roundRect">
            <a:avLst>
              <a:gd name="adj" fmla="val 14117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714375" y="3714750"/>
            <a:ext cx="79059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INSIGHT</a:t>
            </a:r>
            <a:endParaRPr sz="11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E0E7FF"/>
                </a:solidFill>
                <a:latin typeface="Inter"/>
                <a:ea typeface="Inter"/>
                <a:cs typeface="Inter"/>
                <a:sym typeface="Inter"/>
              </a:rPr>
              <a:t>For 100% missing channels, physics constraints provide the only training signal, allowing reconstruction without direct ground truth.</a:t>
            </a:r>
            <a:endParaRPr sz="1100" b="0">
              <a:solidFill>
                <a:srgbClr val="E0E7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76250" y="4714875"/>
            <a:ext cx="8191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Karpatne et al. (2022) • Garcia &amp; Gordon (1992) • Kirk (2011)</a:t>
            </a:r>
            <a:endParaRPr sz="900" i="1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476250" y="285750"/>
            <a:ext cx="819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rPr>
              <a:t>DMI Reduces Imputation Error by 32% Over Best Existing Methods</a:t>
            </a:r>
            <a:endParaRPr sz="2220" b="1">
              <a:solidFill>
                <a:srgbClr val="1E3A8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76250" y="1047750"/>
            <a:ext cx="39528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476250" y="1047750"/>
            <a:ext cx="3952800" cy="4764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666750" y="1143000"/>
            <a:ext cx="35718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1E4EA2"/>
                </a:solidFill>
                <a:latin typeface="Oswald"/>
                <a:ea typeface="Oswald"/>
                <a:cs typeface="Oswald"/>
                <a:sym typeface="Oswald"/>
              </a:rPr>
              <a:t>Multi-Depth Temperature Forecasting</a:t>
            </a:r>
            <a:endParaRPr sz="1400" b="1">
              <a:solidFill>
                <a:srgbClr val="1E4EA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75" name="Google Shape;275;p22"/>
          <p:cNvGrpSpPr/>
          <p:nvPr/>
        </p:nvGrpSpPr>
        <p:grpSpPr>
          <a:xfrm>
            <a:off x="666750" y="1714500"/>
            <a:ext cx="3381300" cy="1381275"/>
            <a:chOff x="666750" y="1714500"/>
            <a:chExt cx="3381300" cy="1381275"/>
          </a:xfrm>
        </p:grpSpPr>
        <p:sp>
          <p:nvSpPr>
            <p:cNvPr id="276" name="Google Shape;276;p22"/>
            <p:cNvSpPr/>
            <p:nvPr/>
          </p:nvSpPr>
          <p:spPr>
            <a:xfrm>
              <a:off x="666750" y="1714500"/>
              <a:ext cx="1143000" cy="238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666750" y="1714500"/>
              <a:ext cx="1143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E3A8A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Model</a:t>
              </a:r>
              <a:endParaRPr sz="900" b="1">
                <a:solidFill>
                  <a:srgbClr val="1E3A8A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1809750" y="1714500"/>
              <a:ext cx="952500" cy="238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 txBox="1"/>
            <p:nvPr/>
          </p:nvSpPr>
          <p:spPr>
            <a:xfrm>
              <a:off x="1809750" y="171450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E3A8A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Depth</a:t>
              </a:r>
              <a:endParaRPr sz="900" b="1">
                <a:solidFill>
                  <a:srgbClr val="1E3A8A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2762250" y="1714500"/>
              <a:ext cx="1285800" cy="238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2762250" y="1714500"/>
              <a:ext cx="1285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E3A8A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MSE</a:t>
              </a:r>
              <a:endParaRPr sz="900" b="1">
                <a:solidFill>
                  <a:srgbClr val="1E3A8A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2" name="Google Shape;282;p22"/>
            <p:cNvSpPr txBox="1"/>
            <p:nvPr/>
          </p:nvSpPr>
          <p:spPr>
            <a:xfrm>
              <a:off x="666750" y="19526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LSTM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3" name="Google Shape;283;p22"/>
            <p:cNvSpPr txBox="1"/>
            <p:nvPr/>
          </p:nvSpPr>
          <p:spPr>
            <a:xfrm>
              <a:off x="1809750" y="19526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 m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2762250" y="1952625"/>
              <a:ext cx="1285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36.31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666750" y="2238375"/>
              <a:ext cx="3381300" cy="285900"/>
            </a:xfrm>
            <a:prstGeom prst="rect">
              <a:avLst/>
            </a:prstGeom>
            <a:solidFill>
              <a:srgbClr val="E0E7FF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666750" y="22383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LSTM + Koopman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1809750" y="22383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0 m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2762250" y="2238375"/>
              <a:ext cx="1285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11.12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666750" y="25241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LSTM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0" name="Google Shape;290;p22"/>
            <p:cNvSpPr txBox="1"/>
            <p:nvPr/>
          </p:nvSpPr>
          <p:spPr>
            <a:xfrm>
              <a:off x="1809750" y="252412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Overall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1" name="Google Shape;291;p22"/>
            <p:cNvSpPr txBox="1"/>
            <p:nvPr/>
          </p:nvSpPr>
          <p:spPr>
            <a:xfrm>
              <a:off x="2762250" y="2524125"/>
              <a:ext cx="1285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35.68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666750" y="2809875"/>
              <a:ext cx="3381300" cy="285900"/>
            </a:xfrm>
            <a:prstGeom prst="rect">
              <a:avLst/>
            </a:prstGeom>
            <a:solidFill>
              <a:srgbClr val="E0E7FF">
                <a:alpha val="4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2"/>
            <p:cNvSpPr txBox="1"/>
            <p:nvPr/>
          </p:nvSpPr>
          <p:spPr>
            <a:xfrm>
              <a:off x="666750" y="28098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LSTM + Koopman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4" name="Google Shape;294;p22"/>
            <p:cNvSpPr txBox="1"/>
            <p:nvPr/>
          </p:nvSpPr>
          <p:spPr>
            <a:xfrm>
              <a:off x="1809750" y="28098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Overall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5" name="Google Shape;295;p22"/>
            <p:cNvSpPr txBox="1"/>
            <p:nvPr/>
          </p:nvSpPr>
          <p:spPr>
            <a:xfrm>
              <a:off x="2762250" y="2809875"/>
              <a:ext cx="1285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10.80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96" name="Google Shape;296;p22"/>
          <p:cNvSpPr/>
          <p:nvPr/>
        </p:nvSpPr>
        <p:spPr>
          <a:xfrm>
            <a:off x="666750" y="3524250"/>
            <a:ext cx="3571800" cy="5715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809625" y="3571875"/>
            <a:ext cx="3286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rPr>
              <a:t>Consistent 70% error reduction at every depth</a:t>
            </a:r>
            <a:endParaRPr sz="1100" b="1">
              <a:solidFill>
                <a:srgbClr val="1E4EA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4714875" y="1047750"/>
            <a:ext cx="39528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4714875" y="1047750"/>
            <a:ext cx="3952800" cy="476400"/>
          </a:xfrm>
          <a:prstGeom prst="roundRect">
            <a:avLst>
              <a:gd name="adj" fmla="val 24000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4905375" y="1143000"/>
            <a:ext cx="35718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Imputation Benchmark</a:t>
            </a:r>
            <a:endParaRPr sz="14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4905375" y="1524000"/>
            <a:ext cx="3571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LakeBed-MN (Rate=0.2, Seq=192)</a:t>
            </a:r>
            <a:endParaRPr sz="800" b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2" name="Google Shape;302;p22"/>
          <p:cNvGrpSpPr/>
          <p:nvPr/>
        </p:nvGrpSpPr>
        <p:grpSpPr>
          <a:xfrm>
            <a:off x="4905375" y="1809750"/>
            <a:ext cx="3381300" cy="1838325"/>
            <a:chOff x="4905375" y="1809750"/>
            <a:chExt cx="3381300" cy="1838325"/>
          </a:xfrm>
        </p:grpSpPr>
        <p:sp>
          <p:nvSpPr>
            <p:cNvPr id="303" name="Google Shape;303;p22"/>
            <p:cNvSpPr/>
            <p:nvPr/>
          </p:nvSpPr>
          <p:spPr>
            <a:xfrm>
              <a:off x="4905375" y="1809750"/>
              <a:ext cx="1238400" cy="238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4905375" y="1809750"/>
              <a:ext cx="1238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E3A8A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Method</a:t>
              </a:r>
              <a:endParaRPr sz="900" b="1">
                <a:solidFill>
                  <a:srgbClr val="1E3A8A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6143625" y="1809750"/>
              <a:ext cx="1047900" cy="238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6143625" y="1809750"/>
              <a:ext cx="1047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E3A8A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MAE</a:t>
              </a:r>
              <a:endParaRPr sz="900" b="1">
                <a:solidFill>
                  <a:srgbClr val="1E3A8A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7191375" y="1809750"/>
              <a:ext cx="1095300" cy="238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2"/>
            <p:cNvSpPr txBox="1"/>
            <p:nvPr/>
          </p:nvSpPr>
          <p:spPr>
            <a:xfrm>
              <a:off x="7191375" y="1809750"/>
              <a:ext cx="1095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E3A8A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RMSE</a:t>
              </a:r>
              <a:endParaRPr sz="900" b="1">
                <a:solidFill>
                  <a:srgbClr val="1E3A8A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4905375" y="20478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Lerp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6143625" y="20478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0.337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7191375" y="2047875"/>
              <a:ext cx="109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0.425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2" name="Google Shape;312;p22"/>
            <p:cNvSpPr txBox="1"/>
            <p:nvPr/>
          </p:nvSpPr>
          <p:spPr>
            <a:xfrm>
              <a:off x="4905375" y="22764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CSDI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6143625" y="22764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0.133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7191375" y="2276475"/>
              <a:ext cx="109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0.185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4905375" y="25050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SAITS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6" name="Google Shape;316;p22"/>
            <p:cNvSpPr txBox="1"/>
            <p:nvPr/>
          </p:nvSpPr>
          <p:spPr>
            <a:xfrm>
              <a:off x="6143625" y="25050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0.133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7" name="Google Shape;317;p22"/>
            <p:cNvSpPr txBox="1"/>
            <p:nvPr/>
          </p:nvSpPr>
          <p:spPr>
            <a:xfrm>
              <a:off x="7191375" y="2505075"/>
              <a:ext cx="109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0.181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8" name="Google Shape;318;p22"/>
            <p:cNvSpPr txBox="1"/>
            <p:nvPr/>
          </p:nvSpPr>
          <p:spPr>
            <a:xfrm>
              <a:off x="4905375" y="27336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ImputeFormer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6143625" y="27336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0.255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7191375" y="2733675"/>
              <a:ext cx="109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0.336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1" name="Google Shape;321;p22"/>
            <p:cNvSpPr txBox="1"/>
            <p:nvPr/>
          </p:nvSpPr>
          <p:spPr>
            <a:xfrm>
              <a:off x="4905375" y="29622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iTransformer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6143625" y="29622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0.344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3" name="Google Shape;323;p22"/>
            <p:cNvSpPr txBox="1"/>
            <p:nvPr/>
          </p:nvSpPr>
          <p:spPr>
            <a:xfrm>
              <a:off x="7191375" y="2962275"/>
              <a:ext cx="109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0.431</a:t>
              </a:r>
              <a:endParaRPr sz="10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4905375" y="3190875"/>
              <a:ext cx="3381300" cy="228600"/>
            </a:xfrm>
            <a:prstGeom prst="rect">
              <a:avLst/>
            </a:prstGeom>
            <a:solidFill>
              <a:srgbClr val="E0E7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 txBox="1"/>
            <p:nvPr/>
          </p:nvSpPr>
          <p:spPr>
            <a:xfrm>
              <a:off x="4905375" y="31908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DMI (ours)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6" name="Google Shape;326;p22"/>
            <p:cNvSpPr txBox="1"/>
            <p:nvPr/>
          </p:nvSpPr>
          <p:spPr>
            <a:xfrm>
              <a:off x="6143625" y="31908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0.114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7" name="Google Shape;327;p22"/>
            <p:cNvSpPr txBox="1"/>
            <p:nvPr/>
          </p:nvSpPr>
          <p:spPr>
            <a:xfrm>
              <a:off x="7191375" y="3190875"/>
              <a:ext cx="109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0.286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4905375" y="3419475"/>
              <a:ext cx="3381300" cy="2286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 txBox="1"/>
            <p:nvPr/>
          </p:nvSpPr>
          <p:spPr>
            <a:xfrm>
              <a:off x="4905375" y="3419475"/>
              <a:ext cx="1238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DMI (extended)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0" name="Google Shape;330;p22"/>
            <p:cNvSpPr txBox="1"/>
            <p:nvPr/>
          </p:nvSpPr>
          <p:spPr>
            <a:xfrm>
              <a:off x="6143625" y="3419475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0.091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1" name="Google Shape;331;p22"/>
            <p:cNvSpPr txBox="1"/>
            <p:nvPr/>
          </p:nvSpPr>
          <p:spPr>
            <a:xfrm>
              <a:off x="7191375" y="3419475"/>
              <a:ext cx="109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E4EA2"/>
                  </a:solidFill>
                  <a:latin typeface="Inter"/>
                  <a:ea typeface="Inter"/>
                  <a:cs typeface="Inter"/>
                  <a:sym typeface="Inter"/>
                </a:rPr>
                <a:t>0.201</a:t>
              </a:r>
              <a:endParaRPr sz="1000" b="1">
                <a:solidFill>
                  <a:srgbClr val="1E4EA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2" name="Google Shape;332;p22"/>
          <p:cNvSpPr txBox="1"/>
          <p:nvPr/>
        </p:nvSpPr>
        <p:spPr>
          <a:xfrm>
            <a:off x="476250" y="4714875"/>
            <a:ext cx="8191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Du et al. (2023) • Tashiro et al. (2021) • Nie et al. (2024) • Liu et al. (2024)</a:t>
            </a:r>
            <a:endParaRPr sz="800" b="0" i="1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337" name="Google Shape;337;p23"/>
          <p:cNvSpPr txBox="1"/>
          <p:nvPr/>
        </p:nvSpPr>
        <p:spPr>
          <a:xfrm>
            <a:off x="476250" y="333375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E3A8A"/>
                </a:solidFill>
                <a:latin typeface="Oswald"/>
                <a:ea typeface="Oswald"/>
                <a:cs typeface="Oswald"/>
                <a:sym typeface="Oswald"/>
              </a:rPr>
              <a:t>Future Directions and Research Vision</a:t>
            </a:r>
            <a:endParaRPr sz="2400" b="1">
              <a:solidFill>
                <a:srgbClr val="1E3A8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38" name="Google Shape;338;p23"/>
          <p:cNvGrpSpPr/>
          <p:nvPr/>
        </p:nvGrpSpPr>
        <p:grpSpPr>
          <a:xfrm>
            <a:off x="476250" y="1047750"/>
            <a:ext cx="3952800" cy="2476500"/>
            <a:chOff x="476250" y="1047750"/>
            <a:chExt cx="3952800" cy="2476500"/>
          </a:xfrm>
        </p:grpSpPr>
        <p:sp>
          <p:nvSpPr>
            <p:cNvPr id="339" name="Google Shape;339;p23"/>
            <p:cNvSpPr/>
            <p:nvPr/>
          </p:nvSpPr>
          <p:spPr>
            <a:xfrm>
              <a:off x="476250" y="1047750"/>
              <a:ext cx="3952800" cy="24765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3"/>
            <p:cNvSpPr txBox="1"/>
            <p:nvPr/>
          </p:nvSpPr>
          <p:spPr>
            <a:xfrm>
              <a:off x="666750" y="1190625"/>
              <a:ext cx="35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1E4EA2"/>
                  </a:solidFill>
                  <a:latin typeface="Oswald"/>
                  <a:ea typeface="Oswald"/>
                  <a:cs typeface="Oswald"/>
                  <a:sym typeface="Oswald"/>
                </a:rPr>
                <a:t>Next Steps</a:t>
              </a:r>
              <a:endParaRPr sz="1600" b="1">
                <a:solidFill>
                  <a:srgbClr val="1E4EA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41" name="Google Shape;341;p23"/>
            <p:cNvSpPr txBox="1"/>
            <p:nvPr/>
          </p:nvSpPr>
          <p:spPr>
            <a:xfrm>
              <a:off x="666750" y="1619250"/>
              <a:ext cx="35718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Diffusion-based generative modeling — single model for imputation &amp; forecasting with calibrated uncertainty</a:t>
              </a:r>
              <a:endParaRPr sz="11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Multi-lake spatial graphs — propagate representations across lake networks</a:t>
              </a:r>
              <a:endParaRPr sz="11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Transfer to unmonitored sites — meta-learning from data-rich to data-scarce water bodies</a:t>
              </a:r>
              <a:endParaRPr sz="11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2" name="Google Shape;342;p23"/>
          <p:cNvGrpSpPr/>
          <p:nvPr/>
        </p:nvGrpSpPr>
        <p:grpSpPr>
          <a:xfrm>
            <a:off x="4714875" y="1047750"/>
            <a:ext cx="3952800" cy="2476500"/>
            <a:chOff x="4714875" y="1047750"/>
            <a:chExt cx="3952800" cy="2476500"/>
          </a:xfrm>
        </p:grpSpPr>
        <p:sp>
          <p:nvSpPr>
            <p:cNvPr id="343" name="Google Shape;343;p23"/>
            <p:cNvSpPr/>
            <p:nvPr/>
          </p:nvSpPr>
          <p:spPr>
            <a:xfrm>
              <a:off x="4714875" y="1047750"/>
              <a:ext cx="3952800" cy="24765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3"/>
            <p:cNvSpPr txBox="1"/>
            <p:nvPr/>
          </p:nvSpPr>
          <p:spPr>
            <a:xfrm>
              <a:off x="4905375" y="1190625"/>
              <a:ext cx="3571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1E4EA2"/>
                  </a:solidFill>
                  <a:latin typeface="Oswald"/>
                  <a:ea typeface="Oswald"/>
                  <a:cs typeface="Oswald"/>
                  <a:sym typeface="Oswald"/>
                </a:rPr>
                <a:t>Practical Impact</a:t>
              </a:r>
              <a:endParaRPr sz="1600" b="1">
                <a:solidFill>
                  <a:srgbClr val="1E4EA2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45" name="Google Shape;345;p23"/>
            <p:cNvSpPr txBox="1"/>
            <p:nvPr/>
          </p:nvSpPr>
          <p:spPr>
            <a:xfrm>
              <a:off x="4905375" y="1619250"/>
              <a:ext cx="35718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Recover missing data from degraded sensor networks</a:t>
              </a:r>
              <a:endParaRPr sz="11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Early warning for hypoxia and harmful algal blooms</a:t>
              </a:r>
              <a:endParaRPr sz="11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Reduce monitoring costs via intelligent imputation</a:t>
              </a:r>
              <a:endParaRPr sz="11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• Support data-driven environmental policy</a:t>
              </a:r>
              <a:endParaRPr sz="110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6" name="Google Shape;346;p23"/>
          <p:cNvGrpSpPr/>
          <p:nvPr/>
        </p:nvGrpSpPr>
        <p:grpSpPr>
          <a:xfrm>
            <a:off x="476250" y="3714750"/>
            <a:ext cx="8191500" cy="762000"/>
            <a:chOff x="476250" y="3714750"/>
            <a:chExt cx="8191500" cy="762000"/>
          </a:xfrm>
        </p:grpSpPr>
        <p:sp>
          <p:nvSpPr>
            <p:cNvPr id="347" name="Google Shape;347;p23"/>
            <p:cNvSpPr/>
            <p:nvPr/>
          </p:nvSpPr>
          <p:spPr>
            <a:xfrm>
              <a:off x="476250" y="3714750"/>
              <a:ext cx="8191500" cy="762000"/>
            </a:xfrm>
            <a:prstGeom prst="roundRect">
              <a:avLst>
                <a:gd name="adj" fmla="val 18750"/>
              </a:avLst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3"/>
            <p:cNvSpPr txBox="1"/>
            <p:nvPr/>
          </p:nvSpPr>
          <p:spPr>
            <a:xfrm>
              <a:off x="762000" y="371475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Long-term vision: </a:t>
              </a:r>
              <a:r>
                <a:rPr lang="en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 universal aquatic foundation model spanning lakes, rivers, and coastal zones.</a:t>
              </a:r>
              <a:endParaRPr sz="13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49" name="Google Shape;349;p23"/>
          <p:cNvSpPr txBox="1"/>
          <p:nvPr/>
        </p:nvSpPr>
        <p:spPr>
          <a:xfrm>
            <a:off x="476250" y="4714875"/>
            <a:ext cx="81915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Lopez Alcaraz &amp; Strodthoff (2023)</a:t>
            </a:r>
            <a:endParaRPr sz="900" b="0" i="1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4" name="Google Shape;35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4"/>
          <p:cNvSpPr txBox="1"/>
          <p:nvPr/>
        </p:nvSpPr>
        <p:spPr>
          <a:xfrm>
            <a:off x="476250" y="28575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Oswald"/>
                <a:ea typeface="Oswald"/>
                <a:cs typeface="Oswald"/>
                <a:sym typeface="Oswald"/>
              </a:rPr>
              <a:t>References</a:t>
            </a:r>
            <a:endParaRPr sz="2800"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476250" y="8096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7" name="Google Shape;357;p24"/>
          <p:cNvGrpSpPr/>
          <p:nvPr/>
        </p:nvGrpSpPr>
        <p:grpSpPr>
          <a:xfrm>
            <a:off x="476250" y="1047750"/>
            <a:ext cx="2667000" cy="571500"/>
            <a:chOff x="476250" y="1047750"/>
            <a:chExt cx="2667000" cy="571500"/>
          </a:xfrm>
        </p:grpSpPr>
        <p:sp>
          <p:nvSpPr>
            <p:cNvPr id="358" name="Google Shape;358;p24"/>
            <p:cNvSpPr/>
            <p:nvPr/>
          </p:nvSpPr>
          <p:spPr>
            <a:xfrm>
              <a:off x="476250" y="10477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4"/>
            <p:cNvSpPr txBox="1"/>
            <p:nvPr/>
          </p:nvSpPr>
          <p:spPr>
            <a:xfrm>
              <a:off x="571500" y="104775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[1]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60" name="Google Shape;360;p24"/>
            <p:cNvSpPr txBox="1"/>
            <p:nvPr/>
          </p:nvSpPr>
          <p:spPr>
            <a:xfrm>
              <a:off x="857250" y="10477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McAfee et al. (2025)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LakeBeD-US: Benchmark Dataset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Earth Syst. Sci. Data.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1" name="Google Shape;361;p24"/>
          <p:cNvGrpSpPr/>
          <p:nvPr/>
        </p:nvGrpSpPr>
        <p:grpSpPr>
          <a:xfrm>
            <a:off x="3238500" y="1047750"/>
            <a:ext cx="2667000" cy="571500"/>
            <a:chOff x="3238500" y="1047750"/>
            <a:chExt cx="2667000" cy="571500"/>
          </a:xfrm>
        </p:grpSpPr>
        <p:sp>
          <p:nvSpPr>
            <p:cNvPr id="362" name="Google Shape;362;p24"/>
            <p:cNvSpPr/>
            <p:nvPr/>
          </p:nvSpPr>
          <p:spPr>
            <a:xfrm>
              <a:off x="3238500" y="10477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4"/>
            <p:cNvSpPr txBox="1"/>
            <p:nvPr/>
          </p:nvSpPr>
          <p:spPr>
            <a:xfrm>
              <a:off x="3333750" y="104775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[2]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64" name="Google Shape;364;p24"/>
            <p:cNvSpPr txBox="1"/>
            <p:nvPr/>
          </p:nvSpPr>
          <p:spPr>
            <a:xfrm>
              <a:off x="3619500" y="10477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Garcia &amp; Gordon (1992)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Oxygen Solubility in Seawater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Limnol. Oceanogr.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5" name="Google Shape;365;p24"/>
          <p:cNvGrpSpPr/>
          <p:nvPr/>
        </p:nvGrpSpPr>
        <p:grpSpPr>
          <a:xfrm>
            <a:off x="6000750" y="1047750"/>
            <a:ext cx="2667000" cy="571500"/>
            <a:chOff x="6000750" y="1047750"/>
            <a:chExt cx="2667000" cy="571500"/>
          </a:xfrm>
        </p:grpSpPr>
        <p:sp>
          <p:nvSpPr>
            <p:cNvPr id="366" name="Google Shape;366;p24"/>
            <p:cNvSpPr/>
            <p:nvPr/>
          </p:nvSpPr>
          <p:spPr>
            <a:xfrm>
              <a:off x="6000750" y="10477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4"/>
            <p:cNvSpPr txBox="1"/>
            <p:nvPr/>
          </p:nvSpPr>
          <p:spPr>
            <a:xfrm>
              <a:off x="6096000" y="104775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[3]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68" name="Google Shape;368;p24"/>
            <p:cNvSpPr txBox="1"/>
            <p:nvPr/>
          </p:nvSpPr>
          <p:spPr>
            <a:xfrm>
              <a:off x="6381750" y="10477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Kirk (2011)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Light and Photosynthesis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Cambridge.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9" name="Google Shape;369;p24"/>
          <p:cNvGrpSpPr/>
          <p:nvPr/>
        </p:nvGrpSpPr>
        <p:grpSpPr>
          <a:xfrm>
            <a:off x="476250" y="1714500"/>
            <a:ext cx="2667000" cy="571500"/>
            <a:chOff x="476250" y="1714500"/>
            <a:chExt cx="2667000" cy="571500"/>
          </a:xfrm>
        </p:grpSpPr>
        <p:sp>
          <p:nvSpPr>
            <p:cNvPr id="370" name="Google Shape;370;p24"/>
            <p:cNvSpPr/>
            <p:nvPr/>
          </p:nvSpPr>
          <p:spPr>
            <a:xfrm>
              <a:off x="476250" y="171450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4"/>
            <p:cNvSpPr txBox="1"/>
            <p:nvPr/>
          </p:nvSpPr>
          <p:spPr>
            <a:xfrm>
              <a:off x="571500" y="171450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[4]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72" name="Google Shape;372;p24"/>
            <p:cNvSpPr txBox="1"/>
            <p:nvPr/>
          </p:nvSpPr>
          <p:spPr>
            <a:xfrm>
              <a:off x="857250" y="17145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Geneva &amp; Zabaras (2022)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Transformers for Physical Systems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Neural Networks.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3" name="Google Shape;373;p24"/>
          <p:cNvGrpSpPr/>
          <p:nvPr/>
        </p:nvGrpSpPr>
        <p:grpSpPr>
          <a:xfrm>
            <a:off x="3238500" y="1714500"/>
            <a:ext cx="2667000" cy="571500"/>
            <a:chOff x="3238500" y="1714500"/>
            <a:chExt cx="2667000" cy="571500"/>
          </a:xfrm>
        </p:grpSpPr>
        <p:sp>
          <p:nvSpPr>
            <p:cNvPr id="374" name="Google Shape;374;p24"/>
            <p:cNvSpPr/>
            <p:nvPr/>
          </p:nvSpPr>
          <p:spPr>
            <a:xfrm>
              <a:off x="3238500" y="171450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4"/>
            <p:cNvSpPr txBox="1"/>
            <p:nvPr/>
          </p:nvSpPr>
          <p:spPr>
            <a:xfrm>
              <a:off x="3333750" y="171450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[5]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76" name="Google Shape;376;p24"/>
            <p:cNvSpPr txBox="1"/>
            <p:nvPr/>
          </p:nvSpPr>
          <p:spPr>
            <a:xfrm>
              <a:off x="3619500" y="17145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Willard et al. (2021)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Predicting Water Temp. Lakes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Water Resour. Res.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7" name="Google Shape;377;p24"/>
          <p:cNvGrpSpPr/>
          <p:nvPr/>
        </p:nvGrpSpPr>
        <p:grpSpPr>
          <a:xfrm>
            <a:off x="6000750" y="1714500"/>
            <a:ext cx="2667000" cy="571500"/>
            <a:chOff x="6000750" y="1714500"/>
            <a:chExt cx="2667000" cy="571500"/>
          </a:xfrm>
        </p:grpSpPr>
        <p:sp>
          <p:nvSpPr>
            <p:cNvPr id="378" name="Google Shape;378;p24"/>
            <p:cNvSpPr/>
            <p:nvPr/>
          </p:nvSpPr>
          <p:spPr>
            <a:xfrm>
              <a:off x="6000750" y="171450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4"/>
            <p:cNvSpPr txBox="1"/>
            <p:nvPr/>
          </p:nvSpPr>
          <p:spPr>
            <a:xfrm>
              <a:off x="6096000" y="171450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[6]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80" name="Google Shape;380;p24"/>
            <p:cNvSpPr txBox="1"/>
            <p:nvPr/>
          </p:nvSpPr>
          <p:spPr>
            <a:xfrm>
              <a:off x="6381750" y="17145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Du et al. (2023)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SAITS: Imputation for Time Series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Expert Syst. Appl.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1" name="Google Shape;381;p24"/>
          <p:cNvGrpSpPr/>
          <p:nvPr/>
        </p:nvGrpSpPr>
        <p:grpSpPr>
          <a:xfrm>
            <a:off x="476250" y="2381250"/>
            <a:ext cx="2667000" cy="571500"/>
            <a:chOff x="476250" y="2381250"/>
            <a:chExt cx="2667000" cy="571500"/>
          </a:xfrm>
        </p:grpSpPr>
        <p:sp>
          <p:nvSpPr>
            <p:cNvPr id="382" name="Google Shape;382;p24"/>
            <p:cNvSpPr/>
            <p:nvPr/>
          </p:nvSpPr>
          <p:spPr>
            <a:xfrm>
              <a:off x="476250" y="23812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4"/>
            <p:cNvSpPr txBox="1"/>
            <p:nvPr/>
          </p:nvSpPr>
          <p:spPr>
            <a:xfrm>
              <a:off x="571500" y="238125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[7]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84" name="Google Shape;384;p24"/>
            <p:cNvSpPr txBox="1"/>
            <p:nvPr/>
          </p:nvSpPr>
          <p:spPr>
            <a:xfrm>
              <a:off x="857250" y="2381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Tashiro et al. (2021)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CSDI: Diffusion Models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NeurIPS.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5" name="Google Shape;385;p24"/>
          <p:cNvGrpSpPr/>
          <p:nvPr/>
        </p:nvGrpSpPr>
        <p:grpSpPr>
          <a:xfrm>
            <a:off x="3238500" y="2381250"/>
            <a:ext cx="2667000" cy="571500"/>
            <a:chOff x="3238500" y="2381250"/>
            <a:chExt cx="2667000" cy="571500"/>
          </a:xfrm>
        </p:grpSpPr>
        <p:sp>
          <p:nvSpPr>
            <p:cNvPr id="386" name="Google Shape;386;p24"/>
            <p:cNvSpPr/>
            <p:nvPr/>
          </p:nvSpPr>
          <p:spPr>
            <a:xfrm>
              <a:off x="3238500" y="23812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4"/>
            <p:cNvSpPr txBox="1"/>
            <p:nvPr/>
          </p:nvSpPr>
          <p:spPr>
            <a:xfrm>
              <a:off x="3333750" y="238125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[8]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88" name="Google Shape;388;p24"/>
            <p:cNvSpPr txBox="1"/>
            <p:nvPr/>
          </p:nvSpPr>
          <p:spPr>
            <a:xfrm>
              <a:off x="3619500" y="2381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Nie et al. (2024)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ImputeFormer: Transformers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KDD.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9" name="Google Shape;389;p24"/>
          <p:cNvGrpSpPr/>
          <p:nvPr/>
        </p:nvGrpSpPr>
        <p:grpSpPr>
          <a:xfrm>
            <a:off x="6000750" y="2381250"/>
            <a:ext cx="2667000" cy="571500"/>
            <a:chOff x="6000750" y="2381250"/>
            <a:chExt cx="2667000" cy="571500"/>
          </a:xfrm>
        </p:grpSpPr>
        <p:sp>
          <p:nvSpPr>
            <p:cNvPr id="390" name="Google Shape;390;p24"/>
            <p:cNvSpPr/>
            <p:nvPr/>
          </p:nvSpPr>
          <p:spPr>
            <a:xfrm>
              <a:off x="6000750" y="23812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4"/>
            <p:cNvSpPr txBox="1"/>
            <p:nvPr/>
          </p:nvSpPr>
          <p:spPr>
            <a:xfrm>
              <a:off x="6096000" y="238125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[9]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92" name="Google Shape;392;p24"/>
            <p:cNvSpPr txBox="1"/>
            <p:nvPr/>
          </p:nvSpPr>
          <p:spPr>
            <a:xfrm>
              <a:off x="6381750" y="2381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Liu et al. (2024)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iTransformer: Inverted Transformers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ICLR (Spotlight).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3" name="Google Shape;393;p24"/>
          <p:cNvGrpSpPr/>
          <p:nvPr/>
        </p:nvGrpSpPr>
        <p:grpSpPr>
          <a:xfrm>
            <a:off x="476250" y="3048000"/>
            <a:ext cx="2667000" cy="571500"/>
            <a:chOff x="476250" y="3048000"/>
            <a:chExt cx="2667000" cy="571500"/>
          </a:xfrm>
        </p:grpSpPr>
        <p:sp>
          <p:nvSpPr>
            <p:cNvPr id="394" name="Google Shape;394;p24"/>
            <p:cNvSpPr/>
            <p:nvPr/>
          </p:nvSpPr>
          <p:spPr>
            <a:xfrm>
              <a:off x="476250" y="304800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4"/>
            <p:cNvSpPr txBox="1"/>
            <p:nvPr/>
          </p:nvSpPr>
          <p:spPr>
            <a:xfrm>
              <a:off x="571500" y="304800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[10]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396" name="Google Shape;396;p24"/>
            <p:cNvSpPr txBox="1"/>
            <p:nvPr/>
          </p:nvSpPr>
          <p:spPr>
            <a:xfrm>
              <a:off x="857250" y="30480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Karpatne et al. (2022)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Physics-Guided Neural Networks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Chapman &amp; Hall.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7" name="Google Shape;397;p24"/>
          <p:cNvGrpSpPr/>
          <p:nvPr/>
        </p:nvGrpSpPr>
        <p:grpSpPr>
          <a:xfrm>
            <a:off x="3238500" y="3048000"/>
            <a:ext cx="2667000" cy="571500"/>
            <a:chOff x="3238500" y="3048000"/>
            <a:chExt cx="2667000" cy="571500"/>
          </a:xfrm>
        </p:grpSpPr>
        <p:sp>
          <p:nvSpPr>
            <p:cNvPr id="398" name="Google Shape;398;p24"/>
            <p:cNvSpPr/>
            <p:nvPr/>
          </p:nvSpPr>
          <p:spPr>
            <a:xfrm>
              <a:off x="3238500" y="304800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4"/>
            <p:cNvSpPr txBox="1"/>
            <p:nvPr/>
          </p:nvSpPr>
          <p:spPr>
            <a:xfrm>
              <a:off x="3333750" y="304800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[11]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400" name="Google Shape;400;p24"/>
            <p:cNvSpPr txBox="1"/>
            <p:nvPr/>
          </p:nvSpPr>
          <p:spPr>
            <a:xfrm>
              <a:off x="3619500" y="30480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Lopez Alcaraz &amp; Strodthoff (2023)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Diffusion-based Imputation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TMLR.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1" name="Google Shape;401;p24"/>
          <p:cNvGrpSpPr/>
          <p:nvPr/>
        </p:nvGrpSpPr>
        <p:grpSpPr>
          <a:xfrm>
            <a:off x="6000750" y="3048000"/>
            <a:ext cx="2667000" cy="571500"/>
            <a:chOff x="6000750" y="3048000"/>
            <a:chExt cx="2667000" cy="571500"/>
          </a:xfrm>
        </p:grpSpPr>
        <p:sp>
          <p:nvSpPr>
            <p:cNvPr id="402" name="Google Shape;402;p24"/>
            <p:cNvSpPr/>
            <p:nvPr/>
          </p:nvSpPr>
          <p:spPr>
            <a:xfrm>
              <a:off x="6000750" y="304800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4"/>
            <p:cNvSpPr txBox="1"/>
            <p:nvPr/>
          </p:nvSpPr>
          <p:spPr>
            <a:xfrm>
              <a:off x="6096000" y="304800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[12]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404" name="Google Shape;404;p24"/>
            <p:cNvSpPr txBox="1"/>
            <p:nvPr/>
          </p:nvSpPr>
          <p:spPr>
            <a:xfrm>
              <a:off x="6381750" y="30480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Vo et al. (2025)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Water Modeling Using PINNs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ICLR Workshop.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5" name="Google Shape;405;p24"/>
          <p:cNvGrpSpPr/>
          <p:nvPr/>
        </p:nvGrpSpPr>
        <p:grpSpPr>
          <a:xfrm>
            <a:off x="3238500" y="3714750"/>
            <a:ext cx="2667000" cy="571500"/>
            <a:chOff x="3238500" y="3714750"/>
            <a:chExt cx="2667000" cy="571500"/>
          </a:xfrm>
        </p:grpSpPr>
        <p:sp>
          <p:nvSpPr>
            <p:cNvPr id="406" name="Google Shape;406;p24"/>
            <p:cNvSpPr/>
            <p:nvPr/>
          </p:nvSpPr>
          <p:spPr>
            <a:xfrm>
              <a:off x="3238500" y="3714750"/>
              <a:ext cx="2667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4"/>
            <p:cNvSpPr txBox="1"/>
            <p:nvPr/>
          </p:nvSpPr>
          <p:spPr>
            <a:xfrm>
              <a:off x="3333750" y="3714750"/>
              <a:ext cx="28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Oswald"/>
                  <a:ea typeface="Oswald"/>
                  <a:cs typeface="Oswald"/>
                  <a:sym typeface="Oswald"/>
                </a:rPr>
                <a:t>[13]</a:t>
              </a:r>
              <a:endParaRPr sz="1000" b="1">
                <a:latin typeface="Oswald"/>
                <a:ea typeface="Oswald"/>
                <a:cs typeface="Oswald"/>
                <a:sym typeface="Oswald"/>
              </a:endParaRPr>
            </a:p>
          </p:txBody>
        </p:sp>
        <p:sp>
          <p:nvSpPr>
            <p:cNvPr id="408" name="Google Shape;408;p24"/>
            <p:cNvSpPr txBox="1"/>
            <p:nvPr/>
          </p:nvSpPr>
          <p:spPr>
            <a:xfrm>
              <a:off x="3619500" y="37147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latin typeface="Inter"/>
                  <a:ea typeface="Inter"/>
                  <a:cs typeface="Inter"/>
                  <a:sym typeface="Inter"/>
                </a:rPr>
                <a:t>Reckhow (1994)</a:t>
              </a:r>
              <a:endParaRPr sz="850" b="1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latin typeface="Inter"/>
                  <a:ea typeface="Inter"/>
                  <a:cs typeface="Inter"/>
                  <a:sym typeface="Inter"/>
                </a:rPr>
                <a:t>Water Quality Simulation</a:t>
              </a:r>
              <a:endParaRPr sz="850" b="0"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 i="1">
                  <a:latin typeface="Inter"/>
                  <a:ea typeface="Inter"/>
                  <a:cs typeface="Inter"/>
                  <a:sym typeface="Inter"/>
                </a:rPr>
                <a:t>Ecol. Model.</a:t>
              </a:r>
              <a:endParaRPr sz="850" b="0" i="1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D1BEE7492B748AAA939E15478942A" ma:contentTypeVersion="3" ma:contentTypeDescription="Create a new document." ma:contentTypeScope="" ma:versionID="a3ae003b3bc9c2f933d329e11d0c3319">
  <xsd:schema xmlns:xsd="http://www.w3.org/2001/XMLSchema" xmlns:xs="http://www.w3.org/2001/XMLSchema" xmlns:p="http://schemas.microsoft.com/office/2006/metadata/properties" xmlns:ns2="f5820155-a73e-4bed-81ca-61e3abc3ae5c" targetNamespace="http://schemas.microsoft.com/office/2006/metadata/properties" ma:root="true" ma:fieldsID="7eb7418994d847370236082d77edc9a3" ns2:_="">
    <xsd:import namespace="f5820155-a73e-4bed-81ca-61e3abc3ae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820155-a73e-4bed-81ca-61e3abc3ae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5F42BD-450F-410C-ACC4-257DB9638108}"/>
</file>

<file path=customXml/itemProps2.xml><?xml version="1.0" encoding="utf-8"?>
<ds:datastoreItem xmlns:ds="http://schemas.openxmlformats.org/officeDocument/2006/customXml" ds:itemID="{2848FB28-F772-42E8-8AF1-F69481945D03}"/>
</file>

<file path=customXml/itemProps3.xml><?xml version="1.0" encoding="utf-8"?>
<ds:datastoreItem xmlns:ds="http://schemas.openxmlformats.org/officeDocument/2006/customXml" ds:itemID="{14B30E70-2C54-4DA4-9076-6637B58A2A3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1268</Words>
  <Application>Microsoft Office PowerPoint</Application>
  <PresentationFormat>On-screen Show (16:9)</PresentationFormat>
  <Paragraphs>256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Inter Medium</vt:lpstr>
      <vt:lpstr>Oswald</vt:lpstr>
      <vt:lpstr>Inter Black</vt:lpstr>
      <vt:lpstr>Inter SemiBold</vt:lpstr>
      <vt:lpstr>Arial</vt:lpstr>
      <vt:lpstr>Courier New</vt:lpstr>
      <vt:lpstr>Inter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Jayantha Obeysekera</cp:lastModifiedBy>
  <cp:revision>2</cp:revision>
  <dcterms:modified xsi:type="dcterms:W3CDTF">2026-04-18T15:11:20Z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0x0101005E1D1BEE7492B748AAA939E15478942A</vt:lpwstr>
  </property>
</Properties>
</file>