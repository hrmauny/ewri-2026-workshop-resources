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media/image5.jpg" ContentType="image/jpg"/>
  <Override PartName="/ppt/media/image7.jpg" ContentType="image/jpg"/>
  <Override PartName="/ppt/media/image8.jpg" ContentType="image/jpg"/>
  <Override PartName="/ppt/media/image16.jpg" ContentType="image/jpg"/>
  <Override PartName="/ppt/media/image24.jpg" ContentType="image/jpg"/>
  <Override PartName="/ppt/media/image29.jpg" ContentType="image/jpg"/>
  <Override PartName="/ppt/media/image31.jpg" ContentType="image/jpg"/>
  <Override PartName="/ppt/media/image32.jpg" ContentType="image/jpg"/>
  <Override PartName="/ppt/media/image33.jpg" ContentType="image/jpg"/>
  <Override PartName="/ppt/media/image35.jpg" ContentType="image/jpg"/>
  <Override PartName="/ppt/media/image36.jpg" ContentType="image/jpg"/>
  <Override PartName="/ppt/media/image37.jpg" ContentType="image/jpg"/>
  <Override PartName="/ppt/media/image38.jpg" ContentType="image/jpg"/>
  <Override PartName="/ppt/media/image39.jpg" ContentType="image/jpg"/>
  <Override PartName="/ppt/media/image40.jpg" ContentType="image/jpg"/>
  <Override PartName="/ppt/media/image41.jpg" ContentType="image/jpg"/>
  <Override PartName="/ppt/media/image42.jpg" ContentType="image/jpg"/>
  <Override PartName="/ppt/media/image43.jpg" ContentType="image/jpg"/>
  <Override PartName="/ppt/media/image44.jpg" ContentType="image/jpg"/>
  <Override PartName="/ppt/media/image45.jpg" ContentType="image/jpg"/>
  <Override PartName="/ppt/media/image46.jpg" ContentType="image/jpg"/>
  <Override PartName="/ppt/media/image47.jpg" ContentType="image/jpg"/>
  <Override PartName="/ppt/media/image53.jpg" ContentType="image/jpg"/>
  <Override PartName="/ppt/media/image54.jpg" ContentType="image/jpg"/>
  <Override PartName="/ppt/media/image55.jpg" ContentType="image/jpg"/>
  <Override PartName="/ppt/media/image57.jpg" ContentType="image/jpg"/>
  <Override PartName="/ppt/media/image58.jpg" ContentType="image/jpg"/>
  <Override PartName="/ppt/media/image59.jpg" ContentType="image/jpg"/>
  <Override PartName="/ppt/media/image60.jpg" ContentType="image/jpg"/>
  <Override PartName="/ppt/media/image76.jpg" ContentType="image/jpg"/>
  <Override PartName="/ppt/media/image78.jpg" ContentType="image/jpg"/>
  <Override PartName="/ppt/media/image80.jpg" ContentType="image/jpg"/>
  <Override PartName="/ppt/media/image81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61" r:id="rId2"/>
    <p:sldId id="258" r:id="rId3"/>
    <p:sldId id="275" r:id="rId4"/>
    <p:sldId id="260" r:id="rId5"/>
    <p:sldId id="276" r:id="rId6"/>
    <p:sldId id="277" r:id="rId7"/>
    <p:sldId id="278" r:id="rId8"/>
    <p:sldId id="279" r:id="rId9"/>
    <p:sldId id="280" r:id="rId10"/>
    <p:sldId id="319" r:id="rId11"/>
    <p:sldId id="320" r:id="rId12"/>
    <p:sldId id="321" r:id="rId13"/>
    <p:sldId id="291" r:id="rId14"/>
    <p:sldId id="292" r:id="rId15"/>
    <p:sldId id="343" r:id="rId16"/>
    <p:sldId id="344" r:id="rId17"/>
    <p:sldId id="345" r:id="rId18"/>
    <p:sldId id="346" r:id="rId19"/>
    <p:sldId id="347" r:id="rId20"/>
    <p:sldId id="300" r:id="rId21"/>
    <p:sldId id="348" r:id="rId22"/>
    <p:sldId id="325" r:id="rId23"/>
    <p:sldId id="349" r:id="rId24"/>
    <p:sldId id="327" r:id="rId25"/>
    <p:sldId id="350" r:id="rId26"/>
    <p:sldId id="351" r:id="rId27"/>
    <p:sldId id="330" r:id="rId28"/>
    <p:sldId id="352" r:id="rId29"/>
    <p:sldId id="333" r:id="rId30"/>
    <p:sldId id="334" r:id="rId31"/>
    <p:sldId id="335" r:id="rId32"/>
    <p:sldId id="336" r:id="rId33"/>
    <p:sldId id="354" r:id="rId34"/>
    <p:sldId id="339" r:id="rId35"/>
    <p:sldId id="340" r:id="rId36"/>
    <p:sldId id="341" r:id="rId3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2">
          <p15:clr>
            <a:srgbClr val="A4A3A4"/>
          </p15:clr>
        </p15:guide>
        <p15:guide id="2" pos="71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8"/>
    <p:restoredTop sz="78377" autoAdjust="0"/>
  </p:normalViewPr>
  <p:slideViewPr>
    <p:cSldViewPr snapToGrid="0" snapToObjects="1" showGuides="1">
      <p:cViewPr varScale="1">
        <p:scale>
          <a:sx n="125" d="100"/>
          <a:sy n="125" d="100"/>
        </p:scale>
        <p:origin x="1496" y="176"/>
      </p:cViewPr>
      <p:guideLst>
        <p:guide orient="horz" pos="1642"/>
        <p:guide pos="711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DBA750-9A9B-457E-B167-4269C70C9237}" type="datetimeFigureOut">
              <a:rPr lang="en-US" smtClean="0"/>
              <a:t>4/25/26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9E413-3972-42F6-A189-626B670090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65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 userDrawn="1"/>
        </p:nvSpPr>
        <p:spPr>
          <a:xfrm>
            <a:off x="-6940" y="-20820"/>
            <a:ext cx="12211242" cy="1143161"/>
          </a:xfrm>
          <a:prstGeom prst="rect">
            <a:avLst/>
          </a:prstGeom>
          <a:solidFill>
            <a:srgbClr val="DC44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ctrTitle" hasCustomPrompt="1"/>
          </p:nvPr>
        </p:nvSpPr>
        <p:spPr>
          <a:xfrm>
            <a:off x="914162" y="2732722"/>
            <a:ext cx="10360501" cy="10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800">
                <a:solidFill>
                  <a:srgbClr val="DC4400"/>
                </a:solidFill>
                <a:latin typeface="Impact"/>
                <a:cs typeface="Impac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28324" y="3835235"/>
            <a:ext cx="8532178" cy="13278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30000"/>
              </a:lnSpc>
              <a:buNone/>
              <a:defRPr sz="2800" baseline="0">
                <a:solidFill>
                  <a:schemeClr val="tx1"/>
                </a:solidFill>
                <a:latin typeface="Verdana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Presenter(s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pic>
        <p:nvPicPr>
          <p:cNvPr id="41" name="Picture 40" descr="OSU_horizontal_2C_W_over_B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161" y="155700"/>
            <a:ext cx="2515086" cy="802078"/>
          </a:xfrm>
          <a:prstGeom prst="rect">
            <a:avLst/>
          </a:prstGeom>
        </p:spPr>
      </p:pic>
      <p:pic>
        <p:nvPicPr>
          <p:cNvPr id="8" name="Picture 7" descr="COE_Verdana_White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787" y="543128"/>
            <a:ext cx="26543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46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12979" y="1250845"/>
            <a:ext cx="10362867" cy="1193114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rgbClr val="DC4400"/>
                </a:solidFill>
                <a:latin typeface="Impact"/>
                <a:cs typeface="Impac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912979" y="2443959"/>
            <a:ext cx="10362867" cy="3682206"/>
          </a:xfrm>
          <a:prstGeom prst="rect">
            <a:avLst/>
          </a:prstGeom>
        </p:spPr>
        <p:txBody>
          <a:bodyPr/>
          <a:lstStyle>
            <a:lvl1pPr algn="l">
              <a:defRPr>
                <a:latin typeface="Verdana"/>
                <a:cs typeface="Verdana"/>
              </a:defRPr>
            </a:lvl1pPr>
            <a:lvl2pPr algn="l">
              <a:defRPr>
                <a:latin typeface="Verdana"/>
                <a:cs typeface="Verdana"/>
              </a:defRPr>
            </a:lvl2pPr>
            <a:lvl3pPr algn="l">
              <a:defRPr>
                <a:latin typeface="Verdana"/>
                <a:cs typeface="Verdana"/>
              </a:defRPr>
            </a:lvl3pPr>
            <a:lvl4pPr algn="l">
              <a:defRPr>
                <a:latin typeface="Verdana"/>
                <a:cs typeface="Verdana"/>
              </a:defRPr>
            </a:lvl4pPr>
            <a:lvl5pPr algn="l">
              <a:defRPr>
                <a:latin typeface="Verdana"/>
                <a:cs typeface="Verdan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10"/>
          </p:nvPr>
        </p:nvSpPr>
        <p:spPr>
          <a:xfrm>
            <a:off x="912979" y="6356351"/>
            <a:ext cx="2540521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9BD0DD54-9116-BF41-84A5-68A4D7F67848}" type="datetimeFigureOut">
              <a:rPr lang="en-US" smtClean="0"/>
              <a:pPr/>
              <a:t>4/25/26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5326" y="6356351"/>
            <a:ext cx="255543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A9F06186-681F-7246-9274-0E5FA005C98D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" name="Picture 11" descr="OSU_COE_horizontal_2C_O_over_B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643" y="324700"/>
            <a:ext cx="2805112" cy="802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033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OSU_COE_horizontal_2C_O_over_B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643" y="324700"/>
            <a:ext cx="2805112" cy="802297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927889" y="2832443"/>
            <a:ext cx="10362867" cy="119311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DC4400"/>
                </a:solidFill>
                <a:latin typeface="Impact"/>
                <a:cs typeface="Impac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10"/>
          </p:nvPr>
        </p:nvSpPr>
        <p:spPr>
          <a:xfrm>
            <a:off x="912979" y="6356351"/>
            <a:ext cx="2540521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9BD0DD54-9116-BF41-84A5-68A4D7F67848}" type="datetimeFigureOut">
              <a:rPr lang="en-US" smtClean="0"/>
              <a:pPr/>
              <a:t>4/25/26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5326" y="6356351"/>
            <a:ext cx="255543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A9F06186-681F-7246-9274-0E5FA005C98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974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OSU_COE_horizontal_2C_O_over_B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643" y="324700"/>
            <a:ext cx="2805112" cy="802297"/>
          </a:xfrm>
          <a:prstGeom prst="rect">
            <a:avLst/>
          </a:prstGeom>
        </p:spPr>
      </p:pic>
      <p:sp>
        <p:nvSpPr>
          <p:cNvPr id="9" name="Date Placeholder 3"/>
          <p:cNvSpPr>
            <a:spLocks noGrp="1"/>
          </p:cNvSpPr>
          <p:nvPr>
            <p:ph type="dt" sz="half" idx="10"/>
          </p:nvPr>
        </p:nvSpPr>
        <p:spPr>
          <a:xfrm>
            <a:off x="912979" y="6356351"/>
            <a:ext cx="2540521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9BD0DD54-9116-BF41-84A5-68A4D7F67848}" type="datetimeFigureOut">
              <a:rPr lang="en-US" smtClean="0"/>
              <a:pPr/>
              <a:t>4/25/26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5326" y="6356351"/>
            <a:ext cx="255543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/>
                <a:cs typeface="Verdana"/>
              </a:defRPr>
            </a:lvl1pPr>
          </a:lstStyle>
          <a:p>
            <a:fld id="{A9F06186-681F-7246-9274-0E5FA005C98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26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99" b="0" i="0">
                <a:solidFill>
                  <a:srgbClr val="8B1514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089">
              <a:spcBef>
                <a:spcPts val="50"/>
              </a:spcBef>
            </a:pPr>
            <a:fld id="{81D60167-4931-47E6-BA6A-407CBD079E47}" type="slidenum">
              <a:rPr lang="en-US" spc="-25" smtClean="0"/>
              <a:pPr marL="38089">
                <a:spcBef>
                  <a:spcPts val="50"/>
                </a:spcBef>
              </a:pPr>
              <a:t>‹#›</a:t>
            </a:fld>
            <a:endParaRPr lang="en-US" spc="-25" dirty="0"/>
          </a:p>
        </p:txBody>
      </p:sp>
    </p:spTree>
    <p:extLst>
      <p:ext uri="{BB962C8B-B14F-4D97-AF65-F5344CB8AC3E}">
        <p14:creationId xmlns:p14="http://schemas.microsoft.com/office/powerpoint/2010/main" val="3740142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089">
              <a:spcBef>
                <a:spcPts val="50"/>
              </a:spcBef>
            </a:pPr>
            <a:fld id="{81D60167-4931-47E6-BA6A-407CBD079E47}" type="slidenum">
              <a:rPr lang="en-US" spc="-25" smtClean="0"/>
              <a:pPr marL="38089">
                <a:spcBef>
                  <a:spcPts val="50"/>
                </a:spcBef>
              </a:pPr>
              <a:t>‹#›</a:t>
            </a:fld>
            <a:endParaRPr lang="en-US" spc="-25" dirty="0"/>
          </a:p>
        </p:txBody>
      </p:sp>
    </p:spTree>
    <p:extLst>
      <p:ext uri="{BB962C8B-B14F-4D97-AF65-F5344CB8AC3E}">
        <p14:creationId xmlns:p14="http://schemas.microsoft.com/office/powerpoint/2010/main" val="3743848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6701" y="333757"/>
            <a:ext cx="8096046" cy="4923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99" b="0" i="0">
                <a:solidFill>
                  <a:srgbClr val="8B1514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324" y="3840480"/>
            <a:ext cx="8532178" cy="369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99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089">
              <a:spcBef>
                <a:spcPts val="50"/>
              </a:spcBef>
            </a:pPr>
            <a:fld id="{81D60167-4931-47E6-BA6A-407CBD079E47}" type="slidenum">
              <a:rPr lang="en-US" spc="-25" smtClean="0"/>
              <a:pPr marL="38089">
                <a:spcBef>
                  <a:spcPts val="50"/>
                </a:spcBef>
              </a:pPr>
              <a:t>‹#›</a:t>
            </a:fld>
            <a:endParaRPr lang="en-US" spc="-25" dirty="0"/>
          </a:p>
        </p:txBody>
      </p:sp>
    </p:spTree>
    <p:extLst>
      <p:ext uri="{BB962C8B-B14F-4D97-AF65-F5344CB8AC3E}">
        <p14:creationId xmlns:p14="http://schemas.microsoft.com/office/powerpoint/2010/main" val="2891658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349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62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cybertraining.dk-lab.xyz/workshop/ewri-2026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ernoon.com/difference-between-artificial-intelligence-machine-learning-and-deep-learning-1pcv3zeg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hyperlink" Target="https://en.wikipedia.org/wiki/Machine_learning" TargetMode="External"/><Relationship Id="rId4" Type="http://schemas.openxmlformats.org/officeDocument/2006/relationships/hyperlink" Target="https://blog.dataiku.com/ai-vs.-machine-learning-vs.-deep-learning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8.jp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7.jp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jp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op500.org/" TargetMode="External"/><Relationship Id="rId2" Type="http://schemas.openxmlformats.org/officeDocument/2006/relationships/hyperlink" Target="https://blogs.nvidia.com/blog/2014/09/07/imagenet/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top500.org/news/market-for-artificial-intelligence-projected-to-hit-36-billion-by-2025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bigdata-madesimple.com/machine-learning-explained-understanding-supervised-unsupervised-and-reinforcement-learning/" TargetMode="External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cs231n.github.io/neural-networks-1/" TargetMode="Externa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cs231n.github.io/neural-networks-1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blogs.nvidia.com/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7" Type="http://schemas.openxmlformats.org/officeDocument/2006/relationships/image" Target="../media/image40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g"/><Relationship Id="rId5" Type="http://schemas.openxmlformats.org/officeDocument/2006/relationships/image" Target="../media/image38.jpg"/><Relationship Id="rId4" Type="http://schemas.openxmlformats.org/officeDocument/2006/relationships/image" Target="../media/image3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jp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jpg"/><Relationship Id="rId5" Type="http://schemas.openxmlformats.org/officeDocument/2006/relationships/image" Target="../media/image58.jpg"/><Relationship Id="rId4" Type="http://schemas.openxmlformats.org/officeDocument/2006/relationships/image" Target="../media/image57.jp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56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jp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jp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531857" y="1298449"/>
            <a:ext cx="4995537" cy="1083277"/>
          </a:xfrm>
        </p:spPr>
        <p:txBody>
          <a:bodyPr>
            <a:normAutofit/>
          </a:bodyPr>
          <a:lstStyle/>
          <a:p>
            <a:r>
              <a:rPr lang="en-US" dirty="0"/>
              <a:t>EWRI 2026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4765" y="5124123"/>
            <a:ext cx="5716979" cy="1160732"/>
          </a:xfrm>
        </p:spPr>
        <p:txBody>
          <a:bodyPr>
            <a:normAutofit/>
          </a:bodyPr>
          <a:lstStyle/>
          <a:p>
            <a:pPr algn="l"/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Instructor: Wenqian (Wendy) Dong</a:t>
            </a:r>
          </a:p>
          <a:p>
            <a:pPr algn="l"/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Assistant Professor @ Computer Science</a:t>
            </a:r>
          </a:p>
          <a:p>
            <a:pPr algn="l"/>
            <a:r>
              <a:rPr lang="en-US" sz="1400" i="1" dirty="0">
                <a:latin typeface="Verdana" panose="020B0604030504040204" pitchFamily="34" charset="0"/>
                <a:ea typeface="Verdana" panose="020B0604030504040204" pitchFamily="34" charset="0"/>
              </a:rPr>
              <a:t>Oregon State University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3ABED4-D1B0-9208-046C-71E7C63CB2EB}"/>
              </a:ext>
            </a:extLst>
          </p:cNvPr>
          <p:cNvSpPr txBox="1"/>
          <p:nvPr/>
        </p:nvSpPr>
        <p:spPr>
          <a:xfrm>
            <a:off x="6958837" y="6142860"/>
            <a:ext cx="5229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hlinkClick r:id="rId2"/>
              </a:rPr>
              <a:t>https://cybertraining.dk-lab.xyz/workshop/ewri-2026</a:t>
            </a:r>
            <a:r>
              <a:rPr lang="en-US" i="1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CA345C-9EAF-893C-5E23-9D397BA67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684" y="1388251"/>
            <a:ext cx="3550163" cy="464918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793DE1-59E6-1843-70C9-6E0E6E993055}"/>
              </a:ext>
            </a:extLst>
          </p:cNvPr>
          <p:cNvSpPr txBox="1"/>
          <p:nvPr/>
        </p:nvSpPr>
        <p:spPr>
          <a:xfrm>
            <a:off x="604765" y="3007597"/>
            <a:ext cx="4533052" cy="1490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Convolutional</a:t>
            </a:r>
            <a:r>
              <a:rPr lang="en-US" sz="1800" b="1" spc="-120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Neural</a:t>
            </a:r>
            <a:r>
              <a:rPr lang="en-US" sz="1800" b="1" spc="-114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spc="-10" dirty="0">
                <a:solidFill>
                  <a:srgbClr val="ED7D31"/>
                </a:solidFill>
                <a:latin typeface="+mj-lt"/>
                <a:cs typeface="Arial"/>
              </a:rPr>
              <a:t>Networks</a:t>
            </a:r>
            <a:endParaRPr lang="en-US" sz="1800" dirty="0">
              <a:latin typeface="+mj-lt"/>
              <a:cs typeface="Arial"/>
            </a:endParaRPr>
          </a:p>
          <a:p>
            <a:pPr marL="469124" indent="-456428"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Recurrent</a:t>
            </a:r>
            <a:r>
              <a:rPr lang="en-US" sz="1800" b="1" spc="-85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Neural</a:t>
            </a:r>
            <a:r>
              <a:rPr lang="en-US" sz="1800" b="1" spc="-90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spc="-10" dirty="0">
                <a:solidFill>
                  <a:srgbClr val="ED7D31"/>
                </a:solidFill>
                <a:latin typeface="+mj-lt"/>
                <a:cs typeface="Arial"/>
              </a:rPr>
              <a:t>Networks</a:t>
            </a:r>
            <a:endParaRPr lang="en-US" sz="1800" dirty="0">
              <a:latin typeface="+mj-lt"/>
              <a:cs typeface="Arial"/>
            </a:endParaRPr>
          </a:p>
          <a:p>
            <a:pPr marL="469124" indent="-456428">
              <a:buFont typeface="Arial MT"/>
              <a:buChar char="•"/>
              <a:tabLst>
                <a:tab pos="469124" algn="l"/>
              </a:tabLst>
            </a:pPr>
            <a:r>
              <a:rPr lang="en-US" sz="1800" b="1" spc="-10" dirty="0">
                <a:solidFill>
                  <a:srgbClr val="ED7D31"/>
                </a:solidFill>
                <a:latin typeface="+mj-lt"/>
                <a:cs typeface="Arial"/>
              </a:rPr>
              <a:t>Transformers</a:t>
            </a:r>
            <a:endParaRPr lang="en-US" sz="1800" dirty="0">
              <a:latin typeface="+mj-lt"/>
              <a:cs typeface="Arial"/>
            </a:endParaRPr>
          </a:p>
          <a:p>
            <a:pPr marL="469124" indent="-456428">
              <a:spcBef>
                <a:spcPts val="50"/>
              </a:spcBef>
              <a:buFont typeface="Arial MT"/>
              <a:buChar char="•"/>
              <a:tabLst>
                <a:tab pos="469124" algn="l"/>
              </a:tabLst>
            </a:pP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Graph</a:t>
            </a:r>
            <a:r>
              <a:rPr lang="en-US" sz="1800" b="1" spc="-75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dirty="0">
                <a:solidFill>
                  <a:srgbClr val="ED7D31"/>
                </a:solidFill>
                <a:latin typeface="+mj-lt"/>
                <a:cs typeface="Arial"/>
              </a:rPr>
              <a:t>Neural</a:t>
            </a:r>
            <a:r>
              <a:rPr lang="en-US" sz="1800" b="1" spc="-75" dirty="0">
                <a:solidFill>
                  <a:srgbClr val="ED7D31"/>
                </a:solidFill>
                <a:latin typeface="+mj-lt"/>
                <a:cs typeface="Arial"/>
              </a:rPr>
              <a:t> </a:t>
            </a:r>
            <a:r>
              <a:rPr lang="en-US" sz="1800" b="1" spc="-10" dirty="0">
                <a:solidFill>
                  <a:srgbClr val="ED7D31"/>
                </a:solidFill>
                <a:latin typeface="+mj-lt"/>
                <a:cs typeface="Arial"/>
              </a:rPr>
              <a:t>Networks</a:t>
            </a:r>
            <a:endParaRPr lang="en-US" sz="1800" dirty="0">
              <a:latin typeface="+mj-lt"/>
              <a:cs typeface="Arial"/>
            </a:endParaRPr>
          </a:p>
          <a:p>
            <a:pPr marL="469124" indent="-456428">
              <a:spcBef>
                <a:spcPts val="25"/>
              </a:spcBef>
              <a:buFont typeface="Arial MT"/>
              <a:buChar char="•"/>
              <a:tabLst>
                <a:tab pos="469124" algn="l"/>
              </a:tabLst>
            </a:pPr>
            <a:r>
              <a:rPr lang="en-US" sz="1800" b="1" spc="-20" dirty="0">
                <a:solidFill>
                  <a:srgbClr val="ED7D31"/>
                </a:solidFill>
                <a:latin typeface="+mj-lt"/>
                <a:cs typeface="Arial"/>
              </a:rPr>
              <a:t>Mixture-</a:t>
            </a:r>
            <a:r>
              <a:rPr lang="en-US" sz="1800" b="1" spc="-10" dirty="0">
                <a:solidFill>
                  <a:srgbClr val="ED7D31"/>
                </a:solidFill>
                <a:latin typeface="+mj-lt"/>
                <a:cs typeface="Arial"/>
              </a:rPr>
              <a:t>of-Experts</a:t>
            </a:r>
            <a:endParaRPr lang="en-US" sz="1800" dirty="0">
              <a:latin typeface="+mj-lt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45B27-46FD-6192-30AB-05C0BE044DFC}"/>
              </a:ext>
            </a:extLst>
          </p:cNvPr>
          <p:cNvSpPr txBox="1"/>
          <p:nvPr/>
        </p:nvSpPr>
        <p:spPr>
          <a:xfrm>
            <a:off x="558122" y="2092387"/>
            <a:ext cx="6842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i="0" dirty="0">
                <a:effectLst/>
                <a:latin typeface="+mj-lt"/>
              </a:rPr>
              <a:t>AI &amp; Machine Learning Training Workshop for Water Resources &amp; Environmental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1972424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5991" y="793167"/>
            <a:ext cx="5979542" cy="2635833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Network</a:t>
            </a:r>
            <a:r>
              <a:rPr lang="en-US" spc="-35"/>
              <a:t> </a:t>
            </a:r>
            <a:r>
              <a:rPr lang="en-US"/>
              <a:t>Based</a:t>
            </a:r>
            <a:r>
              <a:rPr lang="en-US" spc="-30"/>
              <a:t> </a:t>
            </a:r>
            <a:r>
              <a:rPr lang="en-US"/>
              <a:t>Computing</a:t>
            </a:r>
            <a:r>
              <a:rPr lang="en-US" spc="-50"/>
              <a:t> </a:t>
            </a:r>
            <a:r>
              <a:rPr lang="en-US" spc="-10"/>
              <a:t>Laboratory</a:t>
            </a:r>
            <a:endParaRPr spc="-10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2</a:t>
            </a:fld>
            <a:endParaRPr spc="-50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-596128" y="17990"/>
            <a:ext cx="11968163" cy="69056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>
                <a:solidFill>
                  <a:srgbClr val="DC4400"/>
                </a:solidFill>
                <a:latin typeface="Impact"/>
              </a:rPr>
              <a:t>What is Machine Learning and Deep Learning?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678738" y="5867452"/>
            <a:ext cx="6226458" cy="683717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>
              <a:lnSpc>
                <a:spcPct val="120000"/>
              </a:lnSpc>
              <a:spcBef>
                <a:spcPts val="100"/>
              </a:spcBef>
            </a:pPr>
            <a:r>
              <a:rPr sz="1200" b="1" dirty="0">
                <a:solidFill>
                  <a:srgbClr val="0909FF"/>
                </a:solidFill>
                <a:latin typeface="Calibri"/>
                <a:cs typeface="Calibri"/>
              </a:rPr>
              <a:t>Courtesy:</a:t>
            </a:r>
            <a:r>
              <a:rPr sz="1200" b="1" spc="409" dirty="0">
                <a:solidFill>
                  <a:srgbClr val="0909FF"/>
                </a:solidFill>
                <a:latin typeface="Calibri"/>
                <a:cs typeface="Calibri"/>
              </a:rPr>
              <a:t> </a:t>
            </a:r>
            <a:r>
              <a:rPr sz="12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https://hackernoon.com/difference-between-artificial-intelligence-machine-learning-</a:t>
            </a:r>
            <a:r>
              <a:rPr sz="12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and-</a:t>
            </a:r>
            <a:r>
              <a:rPr sz="1200" spc="-20" dirty="0">
                <a:solidFill>
                  <a:srgbClr val="330099"/>
                </a:solidFill>
                <a:latin typeface="Calibri"/>
                <a:cs typeface="Calibri"/>
              </a:rPr>
              <a:t> </a:t>
            </a:r>
            <a:r>
              <a:rPr sz="12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deep-learning-1pcv3zeg</a:t>
            </a:r>
            <a:r>
              <a:rPr sz="1200" spc="-10" dirty="0">
                <a:latin typeface="Calibri"/>
                <a:cs typeface="Calibri"/>
              </a:rPr>
              <a:t>,</a:t>
            </a:r>
            <a:r>
              <a:rPr sz="1200" spc="405" dirty="0">
                <a:latin typeface="Calibri"/>
                <a:cs typeface="Calibri"/>
              </a:rPr>
              <a:t> </a:t>
            </a:r>
            <a:r>
              <a:rPr sz="12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https://blog.dataiku.com/ai-vs.-machine-learning-vs.-deep-learning</a:t>
            </a:r>
            <a:r>
              <a:rPr sz="1200" spc="-10" dirty="0">
                <a:latin typeface="Calibri"/>
                <a:cs typeface="Calibri"/>
              </a:rPr>
              <a:t>, </a:t>
            </a:r>
            <a:r>
              <a:rPr sz="12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https://en.wikipedia.org/wiki/Machine_learning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747685" y="3600823"/>
            <a:ext cx="4164385" cy="209703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88939" y="751421"/>
            <a:ext cx="5958558" cy="4339730"/>
          </a:xfrm>
          <a:prstGeom prst="rect">
            <a:avLst/>
          </a:prstGeom>
        </p:spPr>
        <p:txBody>
          <a:bodyPr vert="horz" wrap="square" lIns="0" tIns="139664" rIns="0" bIns="0" rtlCol="0">
            <a:spAutoFit/>
          </a:bodyPr>
          <a:lstStyle/>
          <a:p>
            <a:pPr marL="354859" indent="-342162">
              <a:spcBef>
                <a:spcPts val="1100"/>
              </a:spcBef>
              <a:buChar char="•"/>
              <a:tabLst>
                <a:tab pos="354859" algn="l"/>
              </a:tabLst>
            </a:pPr>
            <a:r>
              <a:rPr sz="1999" dirty="0">
                <a:latin typeface="Calibri"/>
                <a:cs typeface="Calibri"/>
              </a:rPr>
              <a:t>Machine</a:t>
            </a:r>
            <a:r>
              <a:rPr sz="1999" spc="-5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Learning</a:t>
            </a:r>
            <a:r>
              <a:rPr sz="1999" spc="-45" dirty="0">
                <a:latin typeface="Calibri"/>
                <a:cs typeface="Calibri"/>
              </a:rPr>
              <a:t> </a:t>
            </a:r>
            <a:r>
              <a:rPr sz="1999" spc="-20" dirty="0">
                <a:latin typeface="Calibri"/>
                <a:cs typeface="Calibri"/>
              </a:rPr>
              <a:t>(ML)</a:t>
            </a:r>
            <a:endParaRPr sz="1999" dirty="0">
              <a:latin typeface="Calibri"/>
              <a:cs typeface="Calibri"/>
            </a:endParaRPr>
          </a:p>
          <a:p>
            <a:pPr marL="756058" marR="488803" lvl="1" indent="-286934">
              <a:lnSpc>
                <a:spcPct val="120000"/>
              </a:lnSpc>
              <a:spcBef>
                <a:spcPts val="464"/>
              </a:spcBef>
              <a:buChar char="–"/>
              <a:tabLst>
                <a:tab pos="756058" algn="l"/>
              </a:tabLst>
            </a:pPr>
            <a:r>
              <a:rPr sz="1799" dirty="0">
                <a:latin typeface="Calibri"/>
                <a:cs typeface="Calibri"/>
              </a:rPr>
              <a:t>“the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study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of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computer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algorithms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to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improve automatically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through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experience</a:t>
            </a:r>
            <a:r>
              <a:rPr sz="1799" spc="-2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and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use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of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data”</a:t>
            </a:r>
            <a:endParaRPr sz="1799" dirty="0">
              <a:latin typeface="Calibri"/>
              <a:cs typeface="Calibri"/>
            </a:endParaRPr>
          </a:p>
          <a:p>
            <a:pPr marL="354859" indent="-342162">
              <a:spcBef>
                <a:spcPts val="925"/>
              </a:spcBef>
              <a:buChar char="•"/>
              <a:tabLst>
                <a:tab pos="354859" algn="l"/>
                <a:tab pos="469759" algn="l"/>
              </a:tabLst>
            </a:pPr>
            <a:r>
              <a:rPr sz="1999" dirty="0">
                <a:latin typeface="Calibri"/>
                <a:cs typeface="Calibri"/>
              </a:rPr>
              <a:t>Deep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Learning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(DL)</a:t>
            </a:r>
            <a:r>
              <a:rPr sz="1999" spc="-5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–</a:t>
            </a:r>
            <a:r>
              <a:rPr sz="1999" spc="-2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a</a:t>
            </a:r>
            <a:r>
              <a:rPr sz="1999" spc="-2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subset</a:t>
            </a:r>
            <a:r>
              <a:rPr sz="1999" spc="-2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of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spc="-25" dirty="0">
                <a:latin typeface="Calibri"/>
                <a:cs typeface="Calibri"/>
              </a:rPr>
              <a:t>ML</a:t>
            </a:r>
            <a:endParaRPr sz="1999" dirty="0">
              <a:latin typeface="Calibri"/>
              <a:cs typeface="Calibri"/>
            </a:endParaRPr>
          </a:p>
          <a:p>
            <a:pPr marL="756058" lvl="1" indent="-286299">
              <a:spcBef>
                <a:spcPts val="894"/>
              </a:spcBef>
              <a:buChar char="–"/>
              <a:tabLst>
                <a:tab pos="756058" algn="l"/>
              </a:tabLst>
            </a:pPr>
            <a:r>
              <a:rPr sz="1799" dirty="0">
                <a:latin typeface="Calibri"/>
                <a:cs typeface="Calibri"/>
              </a:rPr>
              <a:t>Uses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Deep</a:t>
            </a:r>
            <a:r>
              <a:rPr sz="1799" spc="-2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Neural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Networks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(DNNs)</a:t>
            </a:r>
            <a:endParaRPr sz="1799" dirty="0">
              <a:latin typeface="Calibri"/>
              <a:cs typeface="Calibri"/>
            </a:endParaRPr>
          </a:p>
          <a:p>
            <a:pPr marL="756058" lvl="1" indent="-286299">
              <a:spcBef>
                <a:spcPts val="865"/>
              </a:spcBef>
              <a:buFont typeface="Calibri"/>
              <a:buChar char="–"/>
              <a:tabLst>
                <a:tab pos="756058" algn="l"/>
              </a:tabLst>
            </a:pPr>
            <a:r>
              <a:rPr sz="1799" b="1" dirty="0">
                <a:solidFill>
                  <a:srgbClr val="C00000"/>
                </a:solidFill>
                <a:latin typeface="Calibri"/>
                <a:cs typeface="Calibri"/>
              </a:rPr>
              <a:t>Perhaps,</a:t>
            </a:r>
            <a:r>
              <a:rPr sz="1799" b="1" spc="-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99" b="1" dirty="0">
                <a:solidFill>
                  <a:srgbClr val="C00000"/>
                </a:solidFill>
                <a:latin typeface="Calibri"/>
                <a:cs typeface="Calibri"/>
              </a:rPr>
              <a:t>the</a:t>
            </a:r>
            <a:r>
              <a:rPr sz="1799" b="1" spc="-7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99" b="1" dirty="0">
                <a:solidFill>
                  <a:srgbClr val="C00000"/>
                </a:solidFill>
                <a:latin typeface="Calibri"/>
                <a:cs typeface="Calibri"/>
              </a:rPr>
              <a:t>most</a:t>
            </a:r>
            <a:r>
              <a:rPr sz="1799" b="1" spc="-4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99" b="1" dirty="0">
                <a:solidFill>
                  <a:srgbClr val="C00000"/>
                </a:solidFill>
                <a:latin typeface="Calibri"/>
                <a:cs typeface="Calibri"/>
              </a:rPr>
              <a:t>revolutionary</a:t>
            </a:r>
            <a:r>
              <a:rPr sz="1799" b="1" spc="-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799" b="1" spc="-10" dirty="0">
                <a:solidFill>
                  <a:srgbClr val="C00000"/>
                </a:solidFill>
                <a:latin typeface="Calibri"/>
                <a:cs typeface="Calibri"/>
              </a:rPr>
              <a:t>subset!</a:t>
            </a:r>
            <a:endParaRPr sz="1799" dirty="0">
              <a:latin typeface="Calibri"/>
              <a:cs typeface="Calibri"/>
            </a:endParaRPr>
          </a:p>
          <a:p>
            <a:pPr marL="354859" indent="-342162">
              <a:spcBef>
                <a:spcPts val="930"/>
              </a:spcBef>
              <a:buChar char="•"/>
              <a:tabLst>
                <a:tab pos="354859" algn="l"/>
              </a:tabLst>
            </a:pPr>
            <a:r>
              <a:rPr sz="1999" dirty="0">
                <a:latin typeface="Calibri"/>
                <a:cs typeface="Calibri"/>
              </a:rPr>
              <a:t>Based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on</a:t>
            </a:r>
            <a:r>
              <a:rPr sz="1999" spc="-5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learning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data</a:t>
            </a:r>
            <a:r>
              <a:rPr sz="1999" spc="-30" dirty="0">
                <a:latin typeface="Calibri"/>
                <a:cs typeface="Calibri"/>
              </a:rPr>
              <a:t> </a:t>
            </a:r>
            <a:r>
              <a:rPr sz="1999" spc="-10" dirty="0">
                <a:latin typeface="Calibri"/>
                <a:cs typeface="Calibri"/>
              </a:rPr>
              <a:t>representation</a:t>
            </a:r>
            <a:endParaRPr sz="1999" dirty="0">
              <a:latin typeface="Calibri"/>
              <a:cs typeface="Calibri"/>
            </a:endParaRPr>
          </a:p>
          <a:p>
            <a:pPr marL="354859" marR="5078" indent="-342797">
              <a:lnSpc>
                <a:spcPct val="119300"/>
              </a:lnSpc>
              <a:spcBef>
                <a:spcPts val="495"/>
              </a:spcBef>
              <a:buChar char="•"/>
              <a:tabLst>
                <a:tab pos="354859" algn="l"/>
              </a:tabLst>
            </a:pPr>
            <a:r>
              <a:rPr sz="1999" dirty="0">
                <a:latin typeface="Calibri"/>
                <a:cs typeface="Calibri"/>
              </a:rPr>
              <a:t>DNN</a:t>
            </a:r>
            <a:r>
              <a:rPr sz="1999" spc="-8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Examples:</a:t>
            </a:r>
            <a:r>
              <a:rPr sz="19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Convolutional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Neural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Networks,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Recurrent </a:t>
            </a:r>
            <a:r>
              <a:rPr sz="1799" dirty="0">
                <a:latin typeface="Calibri"/>
                <a:cs typeface="Calibri"/>
              </a:rPr>
              <a:t>Neural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Networks,</a:t>
            </a:r>
            <a:r>
              <a:rPr sz="1799" spc="-6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Hybrid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Networks</a:t>
            </a:r>
            <a:endParaRPr sz="1799" dirty="0">
              <a:latin typeface="Calibri"/>
              <a:cs typeface="Calibri"/>
            </a:endParaRPr>
          </a:p>
          <a:p>
            <a:pPr marL="355493" marR="588468" indent="-342797">
              <a:lnSpc>
                <a:spcPct val="120000"/>
              </a:lnSpc>
              <a:spcBef>
                <a:spcPts val="450"/>
              </a:spcBef>
              <a:buChar char="•"/>
              <a:tabLst>
                <a:tab pos="355493" algn="l"/>
              </a:tabLst>
            </a:pPr>
            <a:r>
              <a:rPr sz="1999" dirty="0">
                <a:latin typeface="Calibri"/>
                <a:cs typeface="Calibri"/>
              </a:rPr>
              <a:t>Data</a:t>
            </a:r>
            <a:r>
              <a:rPr sz="1999" spc="-7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Scientist</a:t>
            </a:r>
            <a:r>
              <a:rPr sz="1999" spc="-50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or</a:t>
            </a:r>
            <a:r>
              <a:rPr sz="1999" spc="-8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Developer</a:t>
            </a:r>
            <a:r>
              <a:rPr sz="1999" spc="-70" dirty="0">
                <a:latin typeface="Calibri"/>
                <a:cs typeface="Calibri"/>
              </a:rPr>
              <a:t> </a:t>
            </a:r>
            <a:r>
              <a:rPr sz="1999" spc="-10" dirty="0">
                <a:latin typeface="Calibri"/>
                <a:cs typeface="Calibri"/>
              </a:rPr>
              <a:t>Perspective</a:t>
            </a:r>
            <a:r>
              <a:rPr sz="1999" spc="-55" dirty="0">
                <a:latin typeface="Calibri"/>
                <a:cs typeface="Calibri"/>
              </a:rPr>
              <a:t> </a:t>
            </a:r>
            <a:r>
              <a:rPr sz="1999" dirty="0">
                <a:latin typeface="Calibri"/>
                <a:cs typeface="Calibri"/>
              </a:rPr>
              <a:t>for</a:t>
            </a:r>
            <a:r>
              <a:rPr sz="1999" spc="-80" dirty="0">
                <a:latin typeface="Calibri"/>
                <a:cs typeface="Calibri"/>
              </a:rPr>
              <a:t> </a:t>
            </a:r>
            <a:r>
              <a:rPr sz="1999" spc="-10" dirty="0">
                <a:latin typeface="Calibri"/>
                <a:cs typeface="Calibri"/>
              </a:rPr>
              <a:t>using </a:t>
            </a:r>
            <a:r>
              <a:rPr sz="1999" spc="-20" dirty="0">
                <a:latin typeface="Calibri"/>
                <a:cs typeface="Calibri"/>
              </a:rPr>
              <a:t>DNNs</a:t>
            </a:r>
            <a:endParaRPr sz="1999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2201" y="5090726"/>
            <a:ext cx="4264184" cy="1274748"/>
          </a:xfrm>
          <a:prstGeom prst="rect">
            <a:avLst/>
          </a:prstGeom>
        </p:spPr>
        <p:txBody>
          <a:bodyPr vert="horz" wrap="square" lIns="0" tIns="50787" rIns="0" bIns="0" rtlCol="0">
            <a:spAutoFit/>
          </a:bodyPr>
          <a:lstStyle/>
          <a:p>
            <a:pPr marL="469124" indent="-456428">
              <a:spcBef>
                <a:spcPts val="400"/>
              </a:spcBef>
              <a:buAutoNum type="arabicPeriod"/>
              <a:tabLst>
                <a:tab pos="469124" algn="l"/>
              </a:tabLst>
            </a:pPr>
            <a:r>
              <a:rPr sz="1799" dirty="0">
                <a:latin typeface="Calibri"/>
                <a:cs typeface="Calibri"/>
              </a:rPr>
              <a:t>Identify</a:t>
            </a:r>
            <a:r>
              <a:rPr sz="1799" spc="-4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DL</a:t>
            </a:r>
            <a:r>
              <a:rPr sz="1799" spc="-1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as</a:t>
            </a:r>
            <a:r>
              <a:rPr sz="1799" spc="-2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solution</a:t>
            </a:r>
            <a:r>
              <a:rPr sz="1799" spc="-1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to</a:t>
            </a:r>
            <a:r>
              <a:rPr sz="1799" spc="-2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problem</a:t>
            </a:r>
            <a:endParaRPr sz="1799">
              <a:latin typeface="Calibri"/>
              <a:cs typeface="Calibri"/>
            </a:endParaRPr>
          </a:p>
          <a:p>
            <a:pPr marL="469124" indent="-456428">
              <a:spcBef>
                <a:spcPts val="300"/>
              </a:spcBef>
              <a:buAutoNum type="arabicPeriod"/>
              <a:tabLst>
                <a:tab pos="469124" algn="l"/>
              </a:tabLst>
            </a:pPr>
            <a:r>
              <a:rPr sz="1799" dirty="0">
                <a:latin typeface="Calibri"/>
                <a:cs typeface="Calibri"/>
              </a:rPr>
              <a:t>Determine</a:t>
            </a:r>
            <a:r>
              <a:rPr sz="1799" spc="-7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Data</a:t>
            </a:r>
            <a:r>
              <a:rPr sz="1799" spc="-85" dirty="0">
                <a:latin typeface="Calibri"/>
                <a:cs typeface="Calibri"/>
              </a:rPr>
              <a:t> </a:t>
            </a:r>
            <a:r>
              <a:rPr sz="1799" spc="-25" dirty="0">
                <a:latin typeface="Calibri"/>
                <a:cs typeface="Calibri"/>
              </a:rPr>
              <a:t>Set</a:t>
            </a:r>
            <a:endParaRPr sz="1799">
              <a:latin typeface="Calibri"/>
              <a:cs typeface="Calibri"/>
            </a:endParaRPr>
          </a:p>
          <a:p>
            <a:pPr marL="469124" indent="-456428">
              <a:spcBef>
                <a:spcPts val="300"/>
              </a:spcBef>
              <a:buAutoNum type="arabicPeriod"/>
              <a:tabLst>
                <a:tab pos="469124" algn="l"/>
              </a:tabLst>
            </a:pPr>
            <a:r>
              <a:rPr sz="1799" dirty="0">
                <a:latin typeface="Calibri"/>
                <a:cs typeface="Calibri"/>
              </a:rPr>
              <a:t>Select</a:t>
            </a:r>
            <a:r>
              <a:rPr sz="1799" spc="-4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Deep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Learning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Algorithm</a:t>
            </a:r>
            <a:r>
              <a:rPr sz="1799" spc="-5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to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spc="-25" dirty="0">
                <a:latin typeface="Calibri"/>
                <a:cs typeface="Calibri"/>
              </a:rPr>
              <a:t>Use</a:t>
            </a:r>
            <a:endParaRPr sz="1799">
              <a:latin typeface="Calibri"/>
              <a:cs typeface="Calibri"/>
            </a:endParaRPr>
          </a:p>
          <a:p>
            <a:pPr marL="469124" indent="-456428">
              <a:spcBef>
                <a:spcPts val="300"/>
              </a:spcBef>
              <a:buAutoNum type="arabicPeriod"/>
              <a:tabLst>
                <a:tab pos="469124" algn="l"/>
              </a:tabLst>
            </a:pPr>
            <a:r>
              <a:rPr sz="1799" dirty="0">
                <a:latin typeface="Calibri"/>
                <a:cs typeface="Calibri"/>
              </a:rPr>
              <a:t>Use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large</a:t>
            </a:r>
            <a:r>
              <a:rPr sz="1799" spc="-3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data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set</a:t>
            </a:r>
            <a:r>
              <a:rPr sz="1799" spc="-4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to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train</a:t>
            </a:r>
            <a:r>
              <a:rPr sz="1799" spc="-20" dirty="0">
                <a:latin typeface="Calibri"/>
                <a:cs typeface="Calibri"/>
              </a:rPr>
              <a:t> </a:t>
            </a:r>
            <a:r>
              <a:rPr sz="1799" dirty="0">
                <a:latin typeface="Calibri"/>
                <a:cs typeface="Calibri"/>
              </a:rPr>
              <a:t>an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algorithm</a:t>
            </a:r>
            <a:endParaRPr sz="1799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object 2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3</a:t>
            </a:fld>
            <a:endParaRPr spc="-50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 idx="4294967295"/>
          </p:nvPr>
        </p:nvSpPr>
        <p:spPr>
          <a:xfrm>
            <a:off x="-522514" y="42565"/>
            <a:ext cx="12026900" cy="68897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>
                <a:solidFill>
                  <a:srgbClr val="DC4400"/>
                </a:solidFill>
                <a:latin typeface="Impact"/>
              </a:rPr>
              <a:t>History: Milestones in the Development of ML/DL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370217" y="3244581"/>
            <a:ext cx="9219069" cy="367569"/>
            <a:chOff x="2370835" y="3244532"/>
            <a:chExt cx="9221470" cy="367665"/>
          </a:xfrm>
        </p:grpSpPr>
        <p:sp>
          <p:nvSpPr>
            <p:cNvPr id="4" name="object 4"/>
            <p:cNvSpPr/>
            <p:nvPr/>
          </p:nvSpPr>
          <p:spPr>
            <a:xfrm>
              <a:off x="2377185" y="3250882"/>
              <a:ext cx="9208770" cy="354965"/>
            </a:xfrm>
            <a:custGeom>
              <a:avLst/>
              <a:gdLst/>
              <a:ahLst/>
              <a:cxnLst/>
              <a:rect l="l" t="t" r="r" b="b"/>
              <a:pathLst>
                <a:path w="9208770" h="354964">
                  <a:moveTo>
                    <a:pt x="9208173" y="0"/>
                  </a:moveTo>
                  <a:lnTo>
                    <a:pt x="0" y="0"/>
                  </a:lnTo>
                  <a:lnTo>
                    <a:pt x="0" y="354926"/>
                  </a:lnTo>
                  <a:lnTo>
                    <a:pt x="9208173" y="354926"/>
                  </a:lnTo>
                  <a:lnTo>
                    <a:pt x="920817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" name="object 5"/>
            <p:cNvSpPr/>
            <p:nvPr/>
          </p:nvSpPr>
          <p:spPr>
            <a:xfrm>
              <a:off x="2377185" y="3250882"/>
              <a:ext cx="9208770" cy="354965"/>
            </a:xfrm>
            <a:custGeom>
              <a:avLst/>
              <a:gdLst/>
              <a:ahLst/>
              <a:cxnLst/>
              <a:rect l="l" t="t" r="r" b="b"/>
              <a:pathLst>
                <a:path w="9208770" h="354964">
                  <a:moveTo>
                    <a:pt x="0" y="0"/>
                  </a:moveTo>
                  <a:lnTo>
                    <a:pt x="9208173" y="0"/>
                  </a:lnTo>
                  <a:lnTo>
                    <a:pt x="9208173" y="354926"/>
                  </a:lnTo>
                  <a:lnTo>
                    <a:pt x="0" y="354926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487973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1960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402135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1970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316297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1980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230459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1990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058783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2010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811666" y="3263297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2020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566318" y="2379252"/>
            <a:ext cx="1185871" cy="521198"/>
            <a:chOff x="2566987" y="2378978"/>
            <a:chExt cx="1186180" cy="521334"/>
          </a:xfrm>
        </p:grpSpPr>
        <p:sp>
          <p:nvSpPr>
            <p:cNvPr id="13" name="object 13"/>
            <p:cNvSpPr/>
            <p:nvPr/>
          </p:nvSpPr>
          <p:spPr>
            <a:xfrm>
              <a:off x="2573337" y="2385328"/>
              <a:ext cx="1173480" cy="508634"/>
            </a:xfrm>
            <a:custGeom>
              <a:avLst/>
              <a:gdLst/>
              <a:ahLst/>
              <a:cxnLst/>
              <a:rect l="l" t="t" r="r" b="b"/>
              <a:pathLst>
                <a:path w="1173479" h="508635">
                  <a:moveTo>
                    <a:pt x="1088326" y="0"/>
                  </a:moveTo>
                  <a:lnTo>
                    <a:pt x="84747" y="0"/>
                  </a:lnTo>
                  <a:lnTo>
                    <a:pt x="51761" y="6658"/>
                  </a:lnTo>
                  <a:lnTo>
                    <a:pt x="24823" y="24818"/>
                  </a:lnTo>
                  <a:lnTo>
                    <a:pt x="6660" y="51756"/>
                  </a:lnTo>
                  <a:lnTo>
                    <a:pt x="0" y="84747"/>
                  </a:lnTo>
                  <a:lnTo>
                    <a:pt x="0" y="423748"/>
                  </a:lnTo>
                  <a:lnTo>
                    <a:pt x="6660" y="456740"/>
                  </a:lnTo>
                  <a:lnTo>
                    <a:pt x="24823" y="483682"/>
                  </a:lnTo>
                  <a:lnTo>
                    <a:pt x="51761" y="501847"/>
                  </a:lnTo>
                  <a:lnTo>
                    <a:pt x="84747" y="508508"/>
                  </a:lnTo>
                  <a:lnTo>
                    <a:pt x="1088326" y="508508"/>
                  </a:lnTo>
                  <a:lnTo>
                    <a:pt x="1121317" y="501847"/>
                  </a:lnTo>
                  <a:lnTo>
                    <a:pt x="1148254" y="483682"/>
                  </a:lnTo>
                  <a:lnTo>
                    <a:pt x="1166414" y="456740"/>
                  </a:lnTo>
                  <a:lnTo>
                    <a:pt x="1173073" y="423748"/>
                  </a:lnTo>
                  <a:lnTo>
                    <a:pt x="1173073" y="84747"/>
                  </a:lnTo>
                  <a:lnTo>
                    <a:pt x="1166414" y="51756"/>
                  </a:lnTo>
                  <a:lnTo>
                    <a:pt x="1148254" y="24818"/>
                  </a:lnTo>
                  <a:lnTo>
                    <a:pt x="1121317" y="6658"/>
                  </a:lnTo>
                  <a:lnTo>
                    <a:pt x="1088326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4" name="object 14"/>
            <p:cNvSpPr/>
            <p:nvPr/>
          </p:nvSpPr>
          <p:spPr>
            <a:xfrm>
              <a:off x="2573337" y="2385328"/>
              <a:ext cx="1173480" cy="508634"/>
            </a:xfrm>
            <a:custGeom>
              <a:avLst/>
              <a:gdLst/>
              <a:ahLst/>
              <a:cxnLst/>
              <a:rect l="l" t="t" r="r" b="b"/>
              <a:pathLst>
                <a:path w="1173479" h="508635">
                  <a:moveTo>
                    <a:pt x="0" y="84747"/>
                  </a:moveTo>
                  <a:lnTo>
                    <a:pt x="6660" y="51756"/>
                  </a:lnTo>
                  <a:lnTo>
                    <a:pt x="24823" y="24818"/>
                  </a:lnTo>
                  <a:lnTo>
                    <a:pt x="51761" y="6658"/>
                  </a:lnTo>
                  <a:lnTo>
                    <a:pt x="84747" y="0"/>
                  </a:lnTo>
                  <a:lnTo>
                    <a:pt x="1088326" y="0"/>
                  </a:lnTo>
                  <a:lnTo>
                    <a:pt x="1121317" y="6658"/>
                  </a:lnTo>
                  <a:lnTo>
                    <a:pt x="1148254" y="24818"/>
                  </a:lnTo>
                  <a:lnTo>
                    <a:pt x="1166414" y="51756"/>
                  </a:lnTo>
                  <a:lnTo>
                    <a:pt x="1173073" y="84747"/>
                  </a:lnTo>
                  <a:lnTo>
                    <a:pt x="1173073" y="423748"/>
                  </a:lnTo>
                  <a:lnTo>
                    <a:pt x="1166414" y="456740"/>
                  </a:lnTo>
                  <a:lnTo>
                    <a:pt x="1148254" y="483682"/>
                  </a:lnTo>
                  <a:lnTo>
                    <a:pt x="1121317" y="501847"/>
                  </a:lnTo>
                  <a:lnTo>
                    <a:pt x="1088326" y="508508"/>
                  </a:lnTo>
                  <a:lnTo>
                    <a:pt x="84747" y="508508"/>
                  </a:lnTo>
                  <a:lnTo>
                    <a:pt x="51761" y="501847"/>
                  </a:lnTo>
                  <a:lnTo>
                    <a:pt x="24823" y="483682"/>
                  </a:lnTo>
                  <a:lnTo>
                    <a:pt x="6660" y="456740"/>
                  </a:lnTo>
                  <a:lnTo>
                    <a:pt x="0" y="423748"/>
                  </a:lnTo>
                  <a:lnTo>
                    <a:pt x="0" y="84747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2687244" y="2337601"/>
            <a:ext cx="943364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228531" marR="5078" indent="-216470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Electronic Brain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119578" y="2893969"/>
            <a:ext cx="76180" cy="360586"/>
            <a:chOff x="3120391" y="2893830"/>
            <a:chExt cx="76200" cy="360680"/>
          </a:xfrm>
        </p:grpSpPr>
        <p:sp>
          <p:nvSpPr>
            <p:cNvPr id="17" name="object 17"/>
            <p:cNvSpPr/>
            <p:nvPr/>
          </p:nvSpPr>
          <p:spPr>
            <a:xfrm>
              <a:off x="3153331" y="2957328"/>
              <a:ext cx="5715" cy="294005"/>
            </a:xfrm>
            <a:custGeom>
              <a:avLst/>
              <a:gdLst/>
              <a:ahLst/>
              <a:cxnLst/>
              <a:rect l="l" t="t" r="r" b="b"/>
              <a:pathLst>
                <a:path w="5714" h="294004">
                  <a:moveTo>
                    <a:pt x="0" y="293560"/>
                  </a:moveTo>
                  <a:lnTo>
                    <a:pt x="5384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" name="object 18"/>
            <p:cNvSpPr/>
            <p:nvPr/>
          </p:nvSpPr>
          <p:spPr>
            <a:xfrm>
              <a:off x="3120391" y="2893830"/>
              <a:ext cx="76200" cy="77470"/>
            </a:xfrm>
            <a:custGeom>
              <a:avLst/>
              <a:gdLst/>
              <a:ahLst/>
              <a:cxnLst/>
              <a:rect l="l" t="t" r="r" b="b"/>
              <a:pathLst>
                <a:path w="76200" h="77469">
                  <a:moveTo>
                    <a:pt x="39484" y="0"/>
                  </a:moveTo>
                  <a:lnTo>
                    <a:pt x="0" y="75488"/>
                  </a:lnTo>
                  <a:lnTo>
                    <a:pt x="76187" y="76885"/>
                  </a:lnTo>
                  <a:lnTo>
                    <a:pt x="394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170732" y="3036834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1943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335027" y="1937897"/>
            <a:ext cx="1128101" cy="309799"/>
            <a:chOff x="3335896" y="1937508"/>
            <a:chExt cx="1128395" cy="309880"/>
          </a:xfrm>
        </p:grpSpPr>
        <p:sp>
          <p:nvSpPr>
            <p:cNvPr id="21" name="object 21"/>
            <p:cNvSpPr/>
            <p:nvPr/>
          </p:nvSpPr>
          <p:spPr>
            <a:xfrm>
              <a:off x="3342246" y="1943858"/>
              <a:ext cx="1115695" cy="297180"/>
            </a:xfrm>
            <a:custGeom>
              <a:avLst/>
              <a:gdLst/>
              <a:ahLst/>
              <a:cxnLst/>
              <a:rect l="l" t="t" r="r" b="b"/>
              <a:pathLst>
                <a:path w="1115695" h="297180">
                  <a:moveTo>
                    <a:pt x="1066012" y="0"/>
                  </a:moveTo>
                  <a:lnTo>
                    <a:pt x="49441" y="0"/>
                  </a:lnTo>
                  <a:lnTo>
                    <a:pt x="30196" y="3885"/>
                  </a:lnTo>
                  <a:lnTo>
                    <a:pt x="14481" y="14481"/>
                  </a:lnTo>
                  <a:lnTo>
                    <a:pt x="3885" y="30196"/>
                  </a:lnTo>
                  <a:lnTo>
                    <a:pt x="0" y="49441"/>
                  </a:lnTo>
                  <a:lnTo>
                    <a:pt x="0" y="247218"/>
                  </a:lnTo>
                  <a:lnTo>
                    <a:pt x="3885" y="266462"/>
                  </a:lnTo>
                  <a:lnTo>
                    <a:pt x="14481" y="282178"/>
                  </a:lnTo>
                  <a:lnTo>
                    <a:pt x="30196" y="292773"/>
                  </a:lnTo>
                  <a:lnTo>
                    <a:pt x="49441" y="296659"/>
                  </a:lnTo>
                  <a:lnTo>
                    <a:pt x="1066012" y="296659"/>
                  </a:lnTo>
                  <a:lnTo>
                    <a:pt x="1085257" y="292773"/>
                  </a:lnTo>
                  <a:lnTo>
                    <a:pt x="1100972" y="282178"/>
                  </a:lnTo>
                  <a:lnTo>
                    <a:pt x="1111568" y="266462"/>
                  </a:lnTo>
                  <a:lnTo>
                    <a:pt x="1115453" y="247218"/>
                  </a:lnTo>
                  <a:lnTo>
                    <a:pt x="1115453" y="49441"/>
                  </a:lnTo>
                  <a:lnTo>
                    <a:pt x="1111568" y="30196"/>
                  </a:lnTo>
                  <a:lnTo>
                    <a:pt x="1100972" y="14481"/>
                  </a:lnTo>
                  <a:lnTo>
                    <a:pt x="1085257" y="3885"/>
                  </a:lnTo>
                  <a:lnTo>
                    <a:pt x="1066012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2" name="object 22"/>
            <p:cNvSpPr/>
            <p:nvPr/>
          </p:nvSpPr>
          <p:spPr>
            <a:xfrm>
              <a:off x="3342246" y="1943858"/>
              <a:ext cx="1115695" cy="297180"/>
            </a:xfrm>
            <a:custGeom>
              <a:avLst/>
              <a:gdLst/>
              <a:ahLst/>
              <a:cxnLst/>
              <a:rect l="l" t="t" r="r" b="b"/>
              <a:pathLst>
                <a:path w="1115695" h="297180">
                  <a:moveTo>
                    <a:pt x="0" y="49441"/>
                  </a:moveTo>
                  <a:lnTo>
                    <a:pt x="3885" y="30196"/>
                  </a:lnTo>
                  <a:lnTo>
                    <a:pt x="14481" y="14481"/>
                  </a:lnTo>
                  <a:lnTo>
                    <a:pt x="30196" y="3885"/>
                  </a:lnTo>
                  <a:lnTo>
                    <a:pt x="49441" y="0"/>
                  </a:lnTo>
                  <a:lnTo>
                    <a:pt x="1066012" y="0"/>
                  </a:lnTo>
                  <a:lnTo>
                    <a:pt x="1085257" y="3885"/>
                  </a:lnTo>
                  <a:lnTo>
                    <a:pt x="1100972" y="14481"/>
                  </a:lnTo>
                  <a:lnTo>
                    <a:pt x="1111568" y="30196"/>
                  </a:lnTo>
                  <a:lnTo>
                    <a:pt x="1115453" y="49441"/>
                  </a:lnTo>
                  <a:lnTo>
                    <a:pt x="1115453" y="247218"/>
                  </a:lnTo>
                  <a:lnTo>
                    <a:pt x="1111568" y="266462"/>
                  </a:lnTo>
                  <a:lnTo>
                    <a:pt x="1100972" y="282178"/>
                  </a:lnTo>
                  <a:lnTo>
                    <a:pt x="1085257" y="292773"/>
                  </a:lnTo>
                  <a:lnTo>
                    <a:pt x="1066012" y="296659"/>
                  </a:lnTo>
                  <a:lnTo>
                    <a:pt x="49441" y="296659"/>
                  </a:lnTo>
                  <a:lnTo>
                    <a:pt x="30196" y="292773"/>
                  </a:lnTo>
                  <a:lnTo>
                    <a:pt x="14481" y="282178"/>
                  </a:lnTo>
                  <a:lnTo>
                    <a:pt x="3885" y="266462"/>
                  </a:lnTo>
                  <a:lnTo>
                    <a:pt x="0" y="247218"/>
                  </a:lnTo>
                  <a:lnTo>
                    <a:pt x="0" y="49441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349665" y="1927476"/>
            <a:ext cx="109889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0471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Perceptron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860869" y="2240823"/>
            <a:ext cx="424070" cy="1004943"/>
            <a:chOff x="3861875" y="2240513"/>
            <a:chExt cx="424180" cy="1005205"/>
          </a:xfrm>
        </p:grpSpPr>
        <p:sp>
          <p:nvSpPr>
            <p:cNvPr id="25" name="object 25"/>
            <p:cNvSpPr/>
            <p:nvPr/>
          </p:nvSpPr>
          <p:spPr>
            <a:xfrm>
              <a:off x="3899967" y="2304013"/>
              <a:ext cx="383540" cy="938530"/>
            </a:xfrm>
            <a:custGeom>
              <a:avLst/>
              <a:gdLst/>
              <a:ahLst/>
              <a:cxnLst/>
              <a:rect l="l" t="t" r="r" b="b"/>
              <a:pathLst>
                <a:path w="383539" h="938530">
                  <a:moveTo>
                    <a:pt x="382917" y="937920"/>
                  </a:moveTo>
                  <a:lnTo>
                    <a:pt x="382917" y="437210"/>
                  </a:lnTo>
                  <a:lnTo>
                    <a:pt x="0" y="437210"/>
                  </a:lnTo>
                  <a:lnTo>
                    <a:pt x="0" y="0"/>
                  </a:lnTo>
                </a:path>
              </a:pathLst>
            </a:custGeom>
            <a:ln w="63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6" name="object 26"/>
            <p:cNvSpPr/>
            <p:nvPr/>
          </p:nvSpPr>
          <p:spPr>
            <a:xfrm>
              <a:off x="3861875" y="224051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956687" y="3012634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1957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228367" y="1522327"/>
            <a:ext cx="940824" cy="309799"/>
            <a:chOff x="4229468" y="1521830"/>
            <a:chExt cx="941069" cy="309880"/>
          </a:xfrm>
        </p:grpSpPr>
        <p:sp>
          <p:nvSpPr>
            <p:cNvPr id="29" name="object 29"/>
            <p:cNvSpPr/>
            <p:nvPr/>
          </p:nvSpPr>
          <p:spPr>
            <a:xfrm>
              <a:off x="4235818" y="1528180"/>
              <a:ext cx="928369" cy="297180"/>
            </a:xfrm>
            <a:custGeom>
              <a:avLst/>
              <a:gdLst/>
              <a:ahLst/>
              <a:cxnLst/>
              <a:rect l="l" t="t" r="r" b="b"/>
              <a:pathLst>
                <a:path w="928370" h="297180">
                  <a:moveTo>
                    <a:pt x="878395" y="0"/>
                  </a:moveTo>
                  <a:lnTo>
                    <a:pt x="49441" y="0"/>
                  </a:lnTo>
                  <a:lnTo>
                    <a:pt x="30196" y="3885"/>
                  </a:lnTo>
                  <a:lnTo>
                    <a:pt x="14481" y="14481"/>
                  </a:lnTo>
                  <a:lnTo>
                    <a:pt x="3885" y="30196"/>
                  </a:lnTo>
                  <a:lnTo>
                    <a:pt x="0" y="49441"/>
                  </a:lnTo>
                  <a:lnTo>
                    <a:pt x="0" y="247218"/>
                  </a:lnTo>
                  <a:lnTo>
                    <a:pt x="3885" y="266462"/>
                  </a:lnTo>
                  <a:lnTo>
                    <a:pt x="14481" y="282178"/>
                  </a:lnTo>
                  <a:lnTo>
                    <a:pt x="30196" y="292773"/>
                  </a:lnTo>
                  <a:lnTo>
                    <a:pt x="49441" y="296659"/>
                  </a:lnTo>
                  <a:lnTo>
                    <a:pt x="878395" y="296659"/>
                  </a:lnTo>
                  <a:lnTo>
                    <a:pt x="897647" y="292773"/>
                  </a:lnTo>
                  <a:lnTo>
                    <a:pt x="913366" y="282178"/>
                  </a:lnTo>
                  <a:lnTo>
                    <a:pt x="923963" y="266462"/>
                  </a:lnTo>
                  <a:lnTo>
                    <a:pt x="927849" y="247218"/>
                  </a:lnTo>
                  <a:lnTo>
                    <a:pt x="927849" y="49441"/>
                  </a:lnTo>
                  <a:lnTo>
                    <a:pt x="923963" y="30196"/>
                  </a:lnTo>
                  <a:lnTo>
                    <a:pt x="913366" y="14481"/>
                  </a:lnTo>
                  <a:lnTo>
                    <a:pt x="897647" y="3885"/>
                  </a:lnTo>
                  <a:lnTo>
                    <a:pt x="878395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0" name="object 30"/>
            <p:cNvSpPr/>
            <p:nvPr/>
          </p:nvSpPr>
          <p:spPr>
            <a:xfrm>
              <a:off x="4235818" y="1528180"/>
              <a:ext cx="928369" cy="297180"/>
            </a:xfrm>
            <a:custGeom>
              <a:avLst/>
              <a:gdLst/>
              <a:ahLst/>
              <a:cxnLst/>
              <a:rect l="l" t="t" r="r" b="b"/>
              <a:pathLst>
                <a:path w="928370" h="297180">
                  <a:moveTo>
                    <a:pt x="0" y="49441"/>
                  </a:moveTo>
                  <a:lnTo>
                    <a:pt x="3885" y="30196"/>
                  </a:lnTo>
                  <a:lnTo>
                    <a:pt x="14481" y="14481"/>
                  </a:lnTo>
                  <a:lnTo>
                    <a:pt x="30196" y="3885"/>
                  </a:lnTo>
                  <a:lnTo>
                    <a:pt x="49441" y="0"/>
                  </a:lnTo>
                  <a:lnTo>
                    <a:pt x="878395" y="0"/>
                  </a:lnTo>
                  <a:lnTo>
                    <a:pt x="897647" y="3885"/>
                  </a:lnTo>
                  <a:lnTo>
                    <a:pt x="913366" y="14481"/>
                  </a:lnTo>
                  <a:lnTo>
                    <a:pt x="923963" y="30196"/>
                  </a:lnTo>
                  <a:lnTo>
                    <a:pt x="927849" y="49441"/>
                  </a:lnTo>
                  <a:lnTo>
                    <a:pt x="927849" y="247218"/>
                  </a:lnTo>
                  <a:lnTo>
                    <a:pt x="923963" y="266462"/>
                  </a:lnTo>
                  <a:lnTo>
                    <a:pt x="913366" y="282178"/>
                  </a:lnTo>
                  <a:lnTo>
                    <a:pt x="897647" y="292773"/>
                  </a:lnTo>
                  <a:lnTo>
                    <a:pt x="878395" y="296659"/>
                  </a:lnTo>
                  <a:lnTo>
                    <a:pt x="49441" y="296659"/>
                  </a:lnTo>
                  <a:lnTo>
                    <a:pt x="30196" y="292773"/>
                  </a:lnTo>
                  <a:lnTo>
                    <a:pt x="14481" y="282178"/>
                  </a:lnTo>
                  <a:lnTo>
                    <a:pt x="3885" y="266462"/>
                  </a:lnTo>
                  <a:lnTo>
                    <a:pt x="0" y="247218"/>
                  </a:lnTo>
                  <a:lnTo>
                    <a:pt x="0" y="49441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276319" y="1511907"/>
            <a:ext cx="843695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ADALINE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660432" y="1825254"/>
            <a:ext cx="76180" cy="1420125"/>
            <a:chOff x="4661646" y="1824836"/>
            <a:chExt cx="76200" cy="1420495"/>
          </a:xfrm>
        </p:grpSpPr>
        <p:sp>
          <p:nvSpPr>
            <p:cNvPr id="33" name="object 33"/>
            <p:cNvSpPr/>
            <p:nvPr/>
          </p:nvSpPr>
          <p:spPr>
            <a:xfrm>
              <a:off x="4699741" y="1888342"/>
              <a:ext cx="0" cy="1353820"/>
            </a:xfrm>
            <a:custGeom>
              <a:avLst/>
              <a:gdLst/>
              <a:ahLst/>
              <a:cxnLst/>
              <a:rect l="l" t="t" r="r" b="b"/>
              <a:pathLst>
                <a:path h="1353820">
                  <a:moveTo>
                    <a:pt x="0" y="1353591"/>
                  </a:moveTo>
                  <a:lnTo>
                    <a:pt x="0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4" name="object 34"/>
            <p:cNvSpPr/>
            <p:nvPr/>
          </p:nvSpPr>
          <p:spPr>
            <a:xfrm>
              <a:off x="4661646" y="182483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722118" y="3014660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1960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145548" y="916918"/>
            <a:ext cx="874166" cy="534531"/>
            <a:chOff x="5146889" y="916264"/>
            <a:chExt cx="874394" cy="534670"/>
          </a:xfrm>
        </p:grpSpPr>
        <p:sp>
          <p:nvSpPr>
            <p:cNvPr id="37" name="object 37"/>
            <p:cNvSpPr/>
            <p:nvPr/>
          </p:nvSpPr>
          <p:spPr>
            <a:xfrm>
              <a:off x="5153239" y="922614"/>
              <a:ext cx="861694" cy="521970"/>
            </a:xfrm>
            <a:custGeom>
              <a:avLst/>
              <a:gdLst/>
              <a:ahLst/>
              <a:cxnLst/>
              <a:rect l="l" t="t" r="r" b="b"/>
              <a:pathLst>
                <a:path w="861695" h="521969">
                  <a:moveTo>
                    <a:pt x="774395" y="0"/>
                  </a:moveTo>
                  <a:lnTo>
                    <a:pt x="86906" y="0"/>
                  </a:lnTo>
                  <a:lnTo>
                    <a:pt x="53079" y="6830"/>
                  </a:lnTo>
                  <a:lnTo>
                    <a:pt x="25455" y="25455"/>
                  </a:lnTo>
                  <a:lnTo>
                    <a:pt x="6830" y="53079"/>
                  </a:lnTo>
                  <a:lnTo>
                    <a:pt x="0" y="86906"/>
                  </a:lnTo>
                  <a:lnTo>
                    <a:pt x="0" y="434505"/>
                  </a:lnTo>
                  <a:lnTo>
                    <a:pt x="6830" y="468331"/>
                  </a:lnTo>
                  <a:lnTo>
                    <a:pt x="25455" y="495955"/>
                  </a:lnTo>
                  <a:lnTo>
                    <a:pt x="53079" y="514581"/>
                  </a:lnTo>
                  <a:lnTo>
                    <a:pt x="86906" y="521411"/>
                  </a:lnTo>
                  <a:lnTo>
                    <a:pt x="774395" y="521411"/>
                  </a:lnTo>
                  <a:lnTo>
                    <a:pt x="808221" y="514581"/>
                  </a:lnTo>
                  <a:lnTo>
                    <a:pt x="835845" y="495955"/>
                  </a:lnTo>
                  <a:lnTo>
                    <a:pt x="854471" y="468331"/>
                  </a:lnTo>
                  <a:lnTo>
                    <a:pt x="861301" y="434505"/>
                  </a:lnTo>
                  <a:lnTo>
                    <a:pt x="861301" y="86906"/>
                  </a:lnTo>
                  <a:lnTo>
                    <a:pt x="854471" y="53079"/>
                  </a:lnTo>
                  <a:lnTo>
                    <a:pt x="835845" y="25455"/>
                  </a:lnTo>
                  <a:lnTo>
                    <a:pt x="808221" y="6830"/>
                  </a:lnTo>
                  <a:lnTo>
                    <a:pt x="774395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8" name="object 38"/>
            <p:cNvSpPr/>
            <p:nvPr/>
          </p:nvSpPr>
          <p:spPr>
            <a:xfrm>
              <a:off x="5153239" y="922614"/>
              <a:ext cx="861694" cy="521970"/>
            </a:xfrm>
            <a:custGeom>
              <a:avLst/>
              <a:gdLst/>
              <a:ahLst/>
              <a:cxnLst/>
              <a:rect l="l" t="t" r="r" b="b"/>
              <a:pathLst>
                <a:path w="861695" h="521969">
                  <a:moveTo>
                    <a:pt x="0" y="86906"/>
                  </a:moveTo>
                  <a:lnTo>
                    <a:pt x="6830" y="53079"/>
                  </a:lnTo>
                  <a:lnTo>
                    <a:pt x="25455" y="25455"/>
                  </a:lnTo>
                  <a:lnTo>
                    <a:pt x="53079" y="6830"/>
                  </a:lnTo>
                  <a:lnTo>
                    <a:pt x="86906" y="0"/>
                  </a:lnTo>
                  <a:lnTo>
                    <a:pt x="774395" y="0"/>
                  </a:lnTo>
                  <a:lnTo>
                    <a:pt x="808221" y="6830"/>
                  </a:lnTo>
                  <a:lnTo>
                    <a:pt x="835845" y="25455"/>
                  </a:lnTo>
                  <a:lnTo>
                    <a:pt x="854471" y="53079"/>
                  </a:lnTo>
                  <a:lnTo>
                    <a:pt x="861301" y="86906"/>
                  </a:lnTo>
                  <a:lnTo>
                    <a:pt x="861301" y="434505"/>
                  </a:lnTo>
                  <a:lnTo>
                    <a:pt x="854471" y="468331"/>
                  </a:lnTo>
                  <a:lnTo>
                    <a:pt x="835845" y="495955"/>
                  </a:lnTo>
                  <a:lnTo>
                    <a:pt x="808221" y="514581"/>
                  </a:lnTo>
                  <a:lnTo>
                    <a:pt x="774395" y="521411"/>
                  </a:lnTo>
                  <a:lnTo>
                    <a:pt x="86906" y="521411"/>
                  </a:lnTo>
                  <a:lnTo>
                    <a:pt x="53079" y="514581"/>
                  </a:lnTo>
                  <a:lnTo>
                    <a:pt x="25455" y="495955"/>
                  </a:lnTo>
                  <a:lnTo>
                    <a:pt x="6830" y="468331"/>
                  </a:lnTo>
                  <a:lnTo>
                    <a:pt x="0" y="434505"/>
                  </a:lnTo>
                  <a:lnTo>
                    <a:pt x="0" y="869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5262540" y="912194"/>
            <a:ext cx="638644" cy="5167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algn="ctr">
              <a:spcBef>
                <a:spcPts val="100"/>
              </a:spcBef>
            </a:pPr>
            <a:r>
              <a:rPr sz="1799" spc="-25" dirty="0">
                <a:solidFill>
                  <a:srgbClr val="FFFFFF"/>
                </a:solidFill>
                <a:latin typeface="Calibri"/>
                <a:cs typeface="Calibri"/>
              </a:rPr>
              <a:t>XOR</a:t>
            </a:r>
            <a:endParaRPr sz="1799">
              <a:latin typeface="Calibri"/>
              <a:cs typeface="Calibri"/>
            </a:endParaRPr>
          </a:p>
          <a:p>
            <a:pPr algn="ctr">
              <a:spcBef>
                <a:spcPts val="25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Problem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4698520" y="1444541"/>
            <a:ext cx="922415" cy="1860700"/>
            <a:chOff x="4699744" y="1444023"/>
            <a:chExt cx="922655" cy="1861185"/>
          </a:xfrm>
        </p:grpSpPr>
        <p:sp>
          <p:nvSpPr>
            <p:cNvPr id="41" name="object 41"/>
            <p:cNvSpPr/>
            <p:nvPr/>
          </p:nvSpPr>
          <p:spPr>
            <a:xfrm>
              <a:off x="5580519" y="1507517"/>
              <a:ext cx="3810" cy="1794510"/>
            </a:xfrm>
            <a:custGeom>
              <a:avLst/>
              <a:gdLst/>
              <a:ahLst/>
              <a:cxnLst/>
              <a:rect l="l" t="t" r="r" b="b"/>
              <a:pathLst>
                <a:path w="3810" h="1794510">
                  <a:moveTo>
                    <a:pt x="0" y="1793887"/>
                  </a:moveTo>
                  <a:lnTo>
                    <a:pt x="3251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42" name="object 42"/>
            <p:cNvSpPr/>
            <p:nvPr/>
          </p:nvSpPr>
          <p:spPr>
            <a:xfrm>
              <a:off x="5545653" y="144402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4">
                  <a:moveTo>
                    <a:pt x="38239" y="0"/>
                  </a:moveTo>
                  <a:lnTo>
                    <a:pt x="0" y="76123"/>
                  </a:lnTo>
                  <a:lnTo>
                    <a:pt x="76200" y="76263"/>
                  </a:lnTo>
                  <a:lnTo>
                    <a:pt x="382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43" name="object 43"/>
            <p:cNvSpPr/>
            <p:nvPr/>
          </p:nvSpPr>
          <p:spPr>
            <a:xfrm>
              <a:off x="4763241" y="2190335"/>
              <a:ext cx="754380" cy="0"/>
            </a:xfrm>
            <a:custGeom>
              <a:avLst/>
              <a:gdLst/>
              <a:ahLst/>
              <a:cxnLst/>
              <a:rect l="l" t="t" r="r" b="b"/>
              <a:pathLst>
                <a:path w="754379">
                  <a:moveTo>
                    <a:pt x="0" y="0"/>
                  </a:moveTo>
                  <a:lnTo>
                    <a:pt x="753783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44" name="object 44"/>
            <p:cNvSpPr/>
            <p:nvPr/>
          </p:nvSpPr>
          <p:spPr>
            <a:xfrm>
              <a:off x="4699736" y="2152243"/>
              <a:ext cx="881380" cy="76200"/>
            </a:xfrm>
            <a:custGeom>
              <a:avLst/>
              <a:gdLst/>
              <a:ahLst/>
              <a:cxnLst/>
              <a:rect l="l" t="t" r="r" b="b"/>
              <a:pathLst>
                <a:path w="88137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0"/>
                  </a:lnTo>
                  <a:close/>
                </a:path>
                <a:path w="881379" h="76200">
                  <a:moveTo>
                    <a:pt x="880783" y="38100"/>
                  </a:moveTo>
                  <a:lnTo>
                    <a:pt x="804583" y="0"/>
                  </a:lnTo>
                  <a:lnTo>
                    <a:pt x="804583" y="76200"/>
                  </a:lnTo>
                  <a:lnTo>
                    <a:pt x="880783" y="381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4795435" y="2264140"/>
            <a:ext cx="621503" cy="512946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78381" marR="5078" indent="-166320">
              <a:spcBef>
                <a:spcPts val="95"/>
              </a:spcBef>
            </a:pPr>
            <a:r>
              <a:rPr sz="1600" spc="-10" dirty="0">
                <a:solidFill>
                  <a:srgbClr val="FF0000"/>
                </a:solidFill>
                <a:latin typeface="Calibri"/>
                <a:cs typeface="Calibri"/>
              </a:rPr>
              <a:t>Golden </a:t>
            </a:r>
            <a:r>
              <a:rPr sz="1600" spc="-25" dirty="0">
                <a:solidFill>
                  <a:srgbClr val="FF0000"/>
                </a:solidFill>
                <a:latin typeface="Calibri"/>
                <a:cs typeface="Calibri"/>
              </a:rPr>
              <a:t>Age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5637589" y="3012634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1969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6243441" y="824356"/>
            <a:ext cx="1812453" cy="792908"/>
            <a:chOff x="6245067" y="823677"/>
            <a:chExt cx="1812925" cy="793115"/>
          </a:xfrm>
        </p:grpSpPr>
        <p:sp>
          <p:nvSpPr>
            <p:cNvPr id="48" name="object 48"/>
            <p:cNvSpPr/>
            <p:nvPr/>
          </p:nvSpPr>
          <p:spPr>
            <a:xfrm>
              <a:off x="6251417" y="830027"/>
              <a:ext cx="1800225" cy="780415"/>
            </a:xfrm>
            <a:custGeom>
              <a:avLst/>
              <a:gdLst/>
              <a:ahLst/>
              <a:cxnLst/>
              <a:rect l="l" t="t" r="r" b="b"/>
              <a:pathLst>
                <a:path w="1800225" h="780415">
                  <a:moveTo>
                    <a:pt x="1670011" y="0"/>
                  </a:moveTo>
                  <a:lnTo>
                    <a:pt x="129984" y="0"/>
                  </a:lnTo>
                  <a:lnTo>
                    <a:pt x="79392" y="10214"/>
                  </a:lnTo>
                  <a:lnTo>
                    <a:pt x="38074" y="38069"/>
                  </a:lnTo>
                  <a:lnTo>
                    <a:pt x="10215" y="79386"/>
                  </a:lnTo>
                  <a:lnTo>
                    <a:pt x="0" y="129984"/>
                  </a:lnTo>
                  <a:lnTo>
                    <a:pt x="0" y="649935"/>
                  </a:lnTo>
                  <a:lnTo>
                    <a:pt x="10215" y="700532"/>
                  </a:lnTo>
                  <a:lnTo>
                    <a:pt x="38074" y="741849"/>
                  </a:lnTo>
                  <a:lnTo>
                    <a:pt x="79392" y="769705"/>
                  </a:lnTo>
                  <a:lnTo>
                    <a:pt x="129984" y="779919"/>
                  </a:lnTo>
                  <a:lnTo>
                    <a:pt x="1670011" y="779919"/>
                  </a:lnTo>
                  <a:lnTo>
                    <a:pt x="1720609" y="769705"/>
                  </a:lnTo>
                  <a:lnTo>
                    <a:pt x="1761926" y="741849"/>
                  </a:lnTo>
                  <a:lnTo>
                    <a:pt x="1789782" y="700532"/>
                  </a:lnTo>
                  <a:lnTo>
                    <a:pt x="1799996" y="649935"/>
                  </a:lnTo>
                  <a:lnTo>
                    <a:pt x="1799996" y="129984"/>
                  </a:lnTo>
                  <a:lnTo>
                    <a:pt x="1789782" y="79386"/>
                  </a:lnTo>
                  <a:lnTo>
                    <a:pt x="1761926" y="38069"/>
                  </a:lnTo>
                  <a:lnTo>
                    <a:pt x="1720609" y="10214"/>
                  </a:lnTo>
                  <a:lnTo>
                    <a:pt x="1670011" y="0"/>
                  </a:lnTo>
                  <a:close/>
                </a:path>
              </a:pathLst>
            </a:custGeom>
            <a:solidFill>
              <a:srgbClr val="C5DFB4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49" name="object 49"/>
            <p:cNvSpPr/>
            <p:nvPr/>
          </p:nvSpPr>
          <p:spPr>
            <a:xfrm>
              <a:off x="6251417" y="830027"/>
              <a:ext cx="1800225" cy="780415"/>
            </a:xfrm>
            <a:custGeom>
              <a:avLst/>
              <a:gdLst/>
              <a:ahLst/>
              <a:cxnLst/>
              <a:rect l="l" t="t" r="r" b="b"/>
              <a:pathLst>
                <a:path w="1800225" h="780415">
                  <a:moveTo>
                    <a:pt x="0" y="129984"/>
                  </a:moveTo>
                  <a:lnTo>
                    <a:pt x="10215" y="79386"/>
                  </a:lnTo>
                  <a:lnTo>
                    <a:pt x="38074" y="38069"/>
                  </a:lnTo>
                  <a:lnTo>
                    <a:pt x="79392" y="10214"/>
                  </a:lnTo>
                  <a:lnTo>
                    <a:pt x="129984" y="0"/>
                  </a:lnTo>
                  <a:lnTo>
                    <a:pt x="1670011" y="0"/>
                  </a:lnTo>
                  <a:lnTo>
                    <a:pt x="1720609" y="10214"/>
                  </a:lnTo>
                  <a:lnTo>
                    <a:pt x="1761926" y="38069"/>
                  </a:lnTo>
                  <a:lnTo>
                    <a:pt x="1789782" y="79386"/>
                  </a:lnTo>
                  <a:lnTo>
                    <a:pt x="1799996" y="129984"/>
                  </a:lnTo>
                  <a:lnTo>
                    <a:pt x="1799996" y="649935"/>
                  </a:lnTo>
                  <a:lnTo>
                    <a:pt x="1789782" y="700532"/>
                  </a:lnTo>
                  <a:lnTo>
                    <a:pt x="1761926" y="741849"/>
                  </a:lnTo>
                  <a:lnTo>
                    <a:pt x="1720609" y="769705"/>
                  </a:lnTo>
                  <a:lnTo>
                    <a:pt x="1670011" y="779919"/>
                  </a:lnTo>
                  <a:lnTo>
                    <a:pt x="129984" y="779919"/>
                  </a:lnTo>
                  <a:lnTo>
                    <a:pt x="79392" y="769705"/>
                  </a:lnTo>
                  <a:lnTo>
                    <a:pt x="38074" y="741849"/>
                  </a:lnTo>
                  <a:lnTo>
                    <a:pt x="10215" y="700532"/>
                  </a:lnTo>
                  <a:lnTo>
                    <a:pt x="0" y="649935"/>
                  </a:lnTo>
                  <a:lnTo>
                    <a:pt x="0" y="12998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6507481" y="781256"/>
            <a:ext cx="1283636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Multi-layered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281911" y="1055503"/>
            <a:ext cx="1734368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 indent="335179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Perceptron (Backpropagation)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7111318" y="1610421"/>
            <a:ext cx="76180" cy="1716592"/>
            <a:chOff x="7113171" y="1609947"/>
            <a:chExt cx="76200" cy="1717039"/>
          </a:xfrm>
        </p:grpSpPr>
        <p:sp>
          <p:nvSpPr>
            <p:cNvPr id="53" name="object 53"/>
            <p:cNvSpPr/>
            <p:nvPr/>
          </p:nvSpPr>
          <p:spPr>
            <a:xfrm>
              <a:off x="7148047" y="1673457"/>
              <a:ext cx="3810" cy="1650364"/>
            </a:xfrm>
            <a:custGeom>
              <a:avLst/>
              <a:gdLst/>
              <a:ahLst/>
              <a:cxnLst/>
              <a:rect l="l" t="t" r="r" b="b"/>
              <a:pathLst>
                <a:path w="3809" h="1650364">
                  <a:moveTo>
                    <a:pt x="0" y="1650250"/>
                  </a:moveTo>
                  <a:lnTo>
                    <a:pt x="3238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4" name="object 54"/>
            <p:cNvSpPr/>
            <p:nvPr/>
          </p:nvSpPr>
          <p:spPr>
            <a:xfrm>
              <a:off x="7113171" y="1609947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8252" y="0"/>
                  </a:moveTo>
                  <a:lnTo>
                    <a:pt x="0" y="76123"/>
                  </a:lnTo>
                  <a:lnTo>
                    <a:pt x="76200" y="76276"/>
                  </a:lnTo>
                  <a:lnTo>
                    <a:pt x="382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7182121" y="2997878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1986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5579067" y="2054439"/>
            <a:ext cx="3327168" cy="408199"/>
            <a:chOff x="5580520" y="2054081"/>
            <a:chExt cx="3328035" cy="408305"/>
          </a:xfrm>
        </p:grpSpPr>
        <p:sp>
          <p:nvSpPr>
            <p:cNvPr id="57" name="object 57"/>
            <p:cNvSpPr/>
            <p:nvPr/>
          </p:nvSpPr>
          <p:spPr>
            <a:xfrm>
              <a:off x="5644019" y="2092185"/>
              <a:ext cx="1440815" cy="0"/>
            </a:xfrm>
            <a:custGeom>
              <a:avLst/>
              <a:gdLst/>
              <a:ahLst/>
              <a:cxnLst/>
              <a:rect l="l" t="t" r="r" b="b"/>
              <a:pathLst>
                <a:path w="1440815">
                  <a:moveTo>
                    <a:pt x="0" y="0"/>
                  </a:moveTo>
                  <a:lnTo>
                    <a:pt x="1440522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8" name="object 58"/>
            <p:cNvSpPr/>
            <p:nvPr/>
          </p:nvSpPr>
          <p:spPr>
            <a:xfrm>
              <a:off x="5580519" y="2054084"/>
              <a:ext cx="1567815" cy="76200"/>
            </a:xfrm>
            <a:custGeom>
              <a:avLst/>
              <a:gdLst/>
              <a:ahLst/>
              <a:cxnLst/>
              <a:rect l="l" t="t" r="r" b="b"/>
              <a:pathLst>
                <a:path w="1567815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0"/>
                  </a:lnTo>
                  <a:close/>
                </a:path>
                <a:path w="1567815" h="76200">
                  <a:moveTo>
                    <a:pt x="1567522" y="38100"/>
                  </a:moveTo>
                  <a:lnTo>
                    <a:pt x="1491322" y="0"/>
                  </a:lnTo>
                  <a:lnTo>
                    <a:pt x="1491322" y="76200"/>
                  </a:lnTo>
                  <a:lnTo>
                    <a:pt x="1567522" y="381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9" name="object 59"/>
            <p:cNvSpPr/>
            <p:nvPr/>
          </p:nvSpPr>
          <p:spPr>
            <a:xfrm>
              <a:off x="8299195" y="2170530"/>
              <a:ext cx="602615" cy="285750"/>
            </a:xfrm>
            <a:custGeom>
              <a:avLst/>
              <a:gdLst/>
              <a:ahLst/>
              <a:cxnLst/>
              <a:rect l="l" t="t" r="r" b="b"/>
              <a:pathLst>
                <a:path w="602615" h="285750">
                  <a:moveTo>
                    <a:pt x="554990" y="0"/>
                  </a:moveTo>
                  <a:lnTo>
                    <a:pt x="47574" y="0"/>
                  </a:lnTo>
                  <a:lnTo>
                    <a:pt x="29055" y="3738"/>
                  </a:lnTo>
                  <a:lnTo>
                    <a:pt x="13933" y="13933"/>
                  </a:lnTo>
                  <a:lnTo>
                    <a:pt x="3738" y="29055"/>
                  </a:lnTo>
                  <a:lnTo>
                    <a:pt x="0" y="47574"/>
                  </a:lnTo>
                  <a:lnTo>
                    <a:pt x="0" y="237845"/>
                  </a:lnTo>
                  <a:lnTo>
                    <a:pt x="3738" y="256364"/>
                  </a:lnTo>
                  <a:lnTo>
                    <a:pt x="13933" y="271486"/>
                  </a:lnTo>
                  <a:lnTo>
                    <a:pt x="29055" y="281681"/>
                  </a:lnTo>
                  <a:lnTo>
                    <a:pt x="47574" y="285419"/>
                  </a:lnTo>
                  <a:lnTo>
                    <a:pt x="554990" y="285419"/>
                  </a:lnTo>
                  <a:lnTo>
                    <a:pt x="573508" y="281681"/>
                  </a:lnTo>
                  <a:lnTo>
                    <a:pt x="588630" y="271486"/>
                  </a:lnTo>
                  <a:lnTo>
                    <a:pt x="598825" y="256364"/>
                  </a:lnTo>
                  <a:lnTo>
                    <a:pt x="602564" y="237845"/>
                  </a:lnTo>
                  <a:lnTo>
                    <a:pt x="602564" y="47574"/>
                  </a:lnTo>
                  <a:lnTo>
                    <a:pt x="598825" y="29055"/>
                  </a:lnTo>
                  <a:lnTo>
                    <a:pt x="588630" y="13933"/>
                  </a:lnTo>
                  <a:lnTo>
                    <a:pt x="573508" y="3738"/>
                  </a:lnTo>
                  <a:lnTo>
                    <a:pt x="554990" y="0"/>
                  </a:lnTo>
                  <a:close/>
                </a:path>
              </a:pathLst>
            </a:custGeom>
            <a:solidFill>
              <a:srgbClr val="F8CAAC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60" name="object 60"/>
            <p:cNvSpPr/>
            <p:nvPr/>
          </p:nvSpPr>
          <p:spPr>
            <a:xfrm>
              <a:off x="8299195" y="2170530"/>
              <a:ext cx="602615" cy="285750"/>
            </a:xfrm>
            <a:custGeom>
              <a:avLst/>
              <a:gdLst/>
              <a:ahLst/>
              <a:cxnLst/>
              <a:rect l="l" t="t" r="r" b="b"/>
              <a:pathLst>
                <a:path w="602615" h="285750">
                  <a:moveTo>
                    <a:pt x="0" y="47574"/>
                  </a:moveTo>
                  <a:lnTo>
                    <a:pt x="3738" y="29055"/>
                  </a:lnTo>
                  <a:lnTo>
                    <a:pt x="13933" y="13933"/>
                  </a:lnTo>
                  <a:lnTo>
                    <a:pt x="29055" y="3738"/>
                  </a:lnTo>
                  <a:lnTo>
                    <a:pt x="47574" y="0"/>
                  </a:lnTo>
                  <a:lnTo>
                    <a:pt x="554990" y="0"/>
                  </a:lnTo>
                  <a:lnTo>
                    <a:pt x="573508" y="3738"/>
                  </a:lnTo>
                  <a:lnTo>
                    <a:pt x="588630" y="13933"/>
                  </a:lnTo>
                  <a:lnTo>
                    <a:pt x="598825" y="29055"/>
                  </a:lnTo>
                  <a:lnTo>
                    <a:pt x="602564" y="47574"/>
                  </a:lnTo>
                  <a:lnTo>
                    <a:pt x="602564" y="237845"/>
                  </a:lnTo>
                  <a:lnTo>
                    <a:pt x="598825" y="256364"/>
                  </a:lnTo>
                  <a:lnTo>
                    <a:pt x="588630" y="271486"/>
                  </a:lnTo>
                  <a:lnTo>
                    <a:pt x="573508" y="281681"/>
                  </a:lnTo>
                  <a:lnTo>
                    <a:pt x="554990" y="285419"/>
                  </a:lnTo>
                  <a:lnTo>
                    <a:pt x="47574" y="285419"/>
                  </a:lnTo>
                  <a:lnTo>
                    <a:pt x="29055" y="281681"/>
                  </a:lnTo>
                  <a:lnTo>
                    <a:pt x="13933" y="271486"/>
                  </a:lnTo>
                  <a:lnTo>
                    <a:pt x="3738" y="256364"/>
                  </a:lnTo>
                  <a:lnTo>
                    <a:pt x="0" y="237845"/>
                  </a:lnTo>
                  <a:lnTo>
                    <a:pt x="0" y="4757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5852398" y="2236185"/>
            <a:ext cx="1095725" cy="512946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2696" marR="5078" indent="139658">
              <a:spcBef>
                <a:spcPts val="95"/>
              </a:spcBef>
            </a:pPr>
            <a:r>
              <a:rPr sz="1600" dirty="0">
                <a:solidFill>
                  <a:srgbClr val="FF0000"/>
                </a:solidFill>
                <a:latin typeface="Calibri"/>
                <a:cs typeface="Calibri"/>
              </a:rPr>
              <a:t>Dark</a:t>
            </a:r>
            <a:r>
              <a:rPr sz="1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00" spc="-25" dirty="0">
                <a:solidFill>
                  <a:srgbClr val="FF0000"/>
                </a:solidFill>
                <a:latin typeface="Calibri"/>
                <a:cs typeface="Calibri"/>
              </a:rPr>
              <a:t>Age (“AI</a:t>
            </a:r>
            <a:r>
              <a:rPr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0000"/>
                </a:solidFill>
                <a:latin typeface="Calibri"/>
                <a:cs typeface="Calibri"/>
              </a:rPr>
              <a:t>Winter”)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8379028" y="2148474"/>
            <a:ext cx="438036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Calibri"/>
                <a:cs typeface="Calibri"/>
              </a:rPr>
              <a:t>DBN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8560152" y="2456197"/>
            <a:ext cx="76180" cy="789099"/>
            <a:chOff x="8562382" y="2455943"/>
            <a:chExt cx="76200" cy="789305"/>
          </a:xfrm>
        </p:grpSpPr>
        <p:sp>
          <p:nvSpPr>
            <p:cNvPr id="64" name="object 64"/>
            <p:cNvSpPr/>
            <p:nvPr/>
          </p:nvSpPr>
          <p:spPr>
            <a:xfrm>
              <a:off x="8600476" y="2519443"/>
              <a:ext cx="0" cy="722630"/>
            </a:xfrm>
            <a:custGeom>
              <a:avLst/>
              <a:gdLst/>
              <a:ahLst/>
              <a:cxnLst/>
              <a:rect l="l" t="t" r="r" b="b"/>
              <a:pathLst>
                <a:path h="722630">
                  <a:moveTo>
                    <a:pt x="0" y="722490"/>
                  </a:moveTo>
                  <a:lnTo>
                    <a:pt x="0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65" name="object 65"/>
            <p:cNvSpPr/>
            <p:nvPr/>
          </p:nvSpPr>
          <p:spPr>
            <a:xfrm>
              <a:off x="8562382" y="245594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8227927" y="3011558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2006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8806021" y="1299972"/>
            <a:ext cx="846235" cy="298372"/>
            <a:chOff x="8808315" y="1299417"/>
            <a:chExt cx="846455" cy="298450"/>
          </a:xfrm>
        </p:grpSpPr>
        <p:sp>
          <p:nvSpPr>
            <p:cNvPr id="68" name="object 68"/>
            <p:cNvSpPr/>
            <p:nvPr/>
          </p:nvSpPr>
          <p:spPr>
            <a:xfrm>
              <a:off x="8814665" y="1305767"/>
              <a:ext cx="833755" cy="285750"/>
            </a:xfrm>
            <a:custGeom>
              <a:avLst/>
              <a:gdLst/>
              <a:ahLst/>
              <a:cxnLst/>
              <a:rect l="l" t="t" r="r" b="b"/>
              <a:pathLst>
                <a:path w="833754" h="285750">
                  <a:moveTo>
                    <a:pt x="785977" y="0"/>
                  </a:moveTo>
                  <a:lnTo>
                    <a:pt x="47574" y="0"/>
                  </a:lnTo>
                  <a:lnTo>
                    <a:pt x="29055" y="3738"/>
                  </a:lnTo>
                  <a:lnTo>
                    <a:pt x="13933" y="13933"/>
                  </a:lnTo>
                  <a:lnTo>
                    <a:pt x="3738" y="29055"/>
                  </a:lnTo>
                  <a:lnTo>
                    <a:pt x="0" y="47574"/>
                  </a:lnTo>
                  <a:lnTo>
                    <a:pt x="0" y="237845"/>
                  </a:lnTo>
                  <a:lnTo>
                    <a:pt x="3738" y="256364"/>
                  </a:lnTo>
                  <a:lnTo>
                    <a:pt x="13933" y="271486"/>
                  </a:lnTo>
                  <a:lnTo>
                    <a:pt x="29055" y="281681"/>
                  </a:lnTo>
                  <a:lnTo>
                    <a:pt x="47574" y="285419"/>
                  </a:lnTo>
                  <a:lnTo>
                    <a:pt x="785977" y="285419"/>
                  </a:lnTo>
                  <a:lnTo>
                    <a:pt x="804489" y="281681"/>
                  </a:lnTo>
                  <a:lnTo>
                    <a:pt x="819607" y="271486"/>
                  </a:lnTo>
                  <a:lnTo>
                    <a:pt x="829800" y="256364"/>
                  </a:lnTo>
                  <a:lnTo>
                    <a:pt x="833539" y="237845"/>
                  </a:lnTo>
                  <a:lnTo>
                    <a:pt x="833539" y="47574"/>
                  </a:lnTo>
                  <a:lnTo>
                    <a:pt x="829800" y="29055"/>
                  </a:lnTo>
                  <a:lnTo>
                    <a:pt x="819607" y="13933"/>
                  </a:lnTo>
                  <a:lnTo>
                    <a:pt x="804489" y="3738"/>
                  </a:lnTo>
                  <a:lnTo>
                    <a:pt x="785977" y="0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69" name="object 69"/>
            <p:cNvSpPr/>
            <p:nvPr/>
          </p:nvSpPr>
          <p:spPr>
            <a:xfrm>
              <a:off x="8814665" y="1305767"/>
              <a:ext cx="833755" cy="285750"/>
            </a:xfrm>
            <a:custGeom>
              <a:avLst/>
              <a:gdLst/>
              <a:ahLst/>
              <a:cxnLst/>
              <a:rect l="l" t="t" r="r" b="b"/>
              <a:pathLst>
                <a:path w="833754" h="285750">
                  <a:moveTo>
                    <a:pt x="0" y="47574"/>
                  </a:moveTo>
                  <a:lnTo>
                    <a:pt x="3738" y="29055"/>
                  </a:lnTo>
                  <a:lnTo>
                    <a:pt x="13933" y="13933"/>
                  </a:lnTo>
                  <a:lnTo>
                    <a:pt x="29055" y="3738"/>
                  </a:lnTo>
                  <a:lnTo>
                    <a:pt x="47574" y="0"/>
                  </a:lnTo>
                  <a:lnTo>
                    <a:pt x="785977" y="0"/>
                  </a:lnTo>
                  <a:lnTo>
                    <a:pt x="804489" y="3738"/>
                  </a:lnTo>
                  <a:lnTo>
                    <a:pt x="819607" y="13933"/>
                  </a:lnTo>
                  <a:lnTo>
                    <a:pt x="829800" y="29055"/>
                  </a:lnTo>
                  <a:lnTo>
                    <a:pt x="833539" y="47574"/>
                  </a:lnTo>
                  <a:lnTo>
                    <a:pt x="833539" y="237845"/>
                  </a:lnTo>
                  <a:lnTo>
                    <a:pt x="829800" y="256364"/>
                  </a:lnTo>
                  <a:lnTo>
                    <a:pt x="819607" y="271486"/>
                  </a:lnTo>
                  <a:lnTo>
                    <a:pt x="804489" y="281681"/>
                  </a:lnTo>
                  <a:lnTo>
                    <a:pt x="785977" y="285419"/>
                  </a:lnTo>
                  <a:lnTo>
                    <a:pt x="47574" y="285419"/>
                  </a:lnTo>
                  <a:lnTo>
                    <a:pt x="29055" y="281681"/>
                  </a:lnTo>
                  <a:lnTo>
                    <a:pt x="13933" y="271486"/>
                  </a:lnTo>
                  <a:lnTo>
                    <a:pt x="3738" y="256364"/>
                  </a:lnTo>
                  <a:lnTo>
                    <a:pt x="0" y="237845"/>
                  </a:lnTo>
                  <a:lnTo>
                    <a:pt x="0" y="4757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70" name="object 70"/>
          <p:cNvSpPr txBox="1"/>
          <p:nvPr/>
        </p:nvSpPr>
        <p:spPr>
          <a:xfrm>
            <a:off x="8847528" y="1283936"/>
            <a:ext cx="76180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AlexNet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9190948" y="1591660"/>
            <a:ext cx="987803" cy="1662631"/>
            <a:chOff x="9193343" y="1591181"/>
            <a:chExt cx="988060" cy="1663064"/>
          </a:xfrm>
        </p:grpSpPr>
        <p:sp>
          <p:nvSpPr>
            <p:cNvPr id="72" name="object 72"/>
            <p:cNvSpPr/>
            <p:nvPr/>
          </p:nvSpPr>
          <p:spPr>
            <a:xfrm>
              <a:off x="9231435" y="1654676"/>
              <a:ext cx="417195" cy="1596390"/>
            </a:xfrm>
            <a:custGeom>
              <a:avLst/>
              <a:gdLst/>
              <a:ahLst/>
              <a:cxnLst/>
              <a:rect l="l" t="t" r="r" b="b"/>
              <a:pathLst>
                <a:path w="417195" h="1596389">
                  <a:moveTo>
                    <a:pt x="416775" y="1596212"/>
                  </a:moveTo>
                  <a:lnTo>
                    <a:pt x="416775" y="766356"/>
                  </a:lnTo>
                  <a:lnTo>
                    <a:pt x="0" y="766356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3" name="object 73"/>
            <p:cNvSpPr/>
            <p:nvPr/>
          </p:nvSpPr>
          <p:spPr>
            <a:xfrm>
              <a:off x="9193343" y="159118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4" name="object 74"/>
            <p:cNvSpPr/>
            <p:nvPr/>
          </p:nvSpPr>
          <p:spPr>
            <a:xfrm>
              <a:off x="9439825" y="1991776"/>
              <a:ext cx="735330" cy="285750"/>
            </a:xfrm>
            <a:custGeom>
              <a:avLst/>
              <a:gdLst/>
              <a:ahLst/>
              <a:cxnLst/>
              <a:rect l="l" t="t" r="r" b="b"/>
              <a:pathLst>
                <a:path w="735329" h="285750">
                  <a:moveTo>
                    <a:pt x="687260" y="0"/>
                  </a:moveTo>
                  <a:lnTo>
                    <a:pt x="47574" y="0"/>
                  </a:lnTo>
                  <a:lnTo>
                    <a:pt x="29055" y="3738"/>
                  </a:lnTo>
                  <a:lnTo>
                    <a:pt x="13933" y="13933"/>
                  </a:lnTo>
                  <a:lnTo>
                    <a:pt x="3738" y="29055"/>
                  </a:lnTo>
                  <a:lnTo>
                    <a:pt x="0" y="47574"/>
                  </a:lnTo>
                  <a:lnTo>
                    <a:pt x="0" y="237845"/>
                  </a:lnTo>
                  <a:lnTo>
                    <a:pt x="3738" y="256364"/>
                  </a:lnTo>
                  <a:lnTo>
                    <a:pt x="13933" y="271486"/>
                  </a:lnTo>
                  <a:lnTo>
                    <a:pt x="29055" y="281681"/>
                  </a:lnTo>
                  <a:lnTo>
                    <a:pt x="47574" y="285419"/>
                  </a:lnTo>
                  <a:lnTo>
                    <a:pt x="687260" y="285419"/>
                  </a:lnTo>
                  <a:lnTo>
                    <a:pt x="705779" y="281681"/>
                  </a:lnTo>
                  <a:lnTo>
                    <a:pt x="720901" y="271486"/>
                  </a:lnTo>
                  <a:lnTo>
                    <a:pt x="731096" y="256364"/>
                  </a:lnTo>
                  <a:lnTo>
                    <a:pt x="734834" y="237845"/>
                  </a:lnTo>
                  <a:lnTo>
                    <a:pt x="734834" y="47574"/>
                  </a:lnTo>
                  <a:lnTo>
                    <a:pt x="731096" y="29055"/>
                  </a:lnTo>
                  <a:lnTo>
                    <a:pt x="720901" y="13933"/>
                  </a:lnTo>
                  <a:lnTo>
                    <a:pt x="705779" y="3738"/>
                  </a:lnTo>
                  <a:lnTo>
                    <a:pt x="687260" y="0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5" name="object 75"/>
            <p:cNvSpPr/>
            <p:nvPr/>
          </p:nvSpPr>
          <p:spPr>
            <a:xfrm>
              <a:off x="9439825" y="1991776"/>
              <a:ext cx="735330" cy="285750"/>
            </a:xfrm>
            <a:custGeom>
              <a:avLst/>
              <a:gdLst/>
              <a:ahLst/>
              <a:cxnLst/>
              <a:rect l="l" t="t" r="r" b="b"/>
              <a:pathLst>
                <a:path w="735329" h="285750">
                  <a:moveTo>
                    <a:pt x="0" y="47574"/>
                  </a:moveTo>
                  <a:lnTo>
                    <a:pt x="3738" y="29055"/>
                  </a:lnTo>
                  <a:lnTo>
                    <a:pt x="13933" y="13933"/>
                  </a:lnTo>
                  <a:lnTo>
                    <a:pt x="29055" y="3738"/>
                  </a:lnTo>
                  <a:lnTo>
                    <a:pt x="47574" y="0"/>
                  </a:lnTo>
                  <a:lnTo>
                    <a:pt x="687260" y="0"/>
                  </a:lnTo>
                  <a:lnTo>
                    <a:pt x="705779" y="3738"/>
                  </a:lnTo>
                  <a:lnTo>
                    <a:pt x="720901" y="13933"/>
                  </a:lnTo>
                  <a:lnTo>
                    <a:pt x="731096" y="29055"/>
                  </a:lnTo>
                  <a:lnTo>
                    <a:pt x="734834" y="47574"/>
                  </a:lnTo>
                  <a:lnTo>
                    <a:pt x="734834" y="237845"/>
                  </a:lnTo>
                  <a:lnTo>
                    <a:pt x="731096" y="256364"/>
                  </a:lnTo>
                  <a:lnTo>
                    <a:pt x="720901" y="271486"/>
                  </a:lnTo>
                  <a:lnTo>
                    <a:pt x="705779" y="281681"/>
                  </a:lnTo>
                  <a:lnTo>
                    <a:pt x="687260" y="285419"/>
                  </a:lnTo>
                  <a:lnTo>
                    <a:pt x="47574" y="285419"/>
                  </a:lnTo>
                  <a:lnTo>
                    <a:pt x="29055" y="281681"/>
                  </a:lnTo>
                  <a:lnTo>
                    <a:pt x="13933" y="271486"/>
                  </a:lnTo>
                  <a:lnTo>
                    <a:pt x="3738" y="256364"/>
                  </a:lnTo>
                  <a:lnTo>
                    <a:pt x="0" y="237845"/>
                  </a:lnTo>
                  <a:lnTo>
                    <a:pt x="0" y="4757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9458669" y="1969766"/>
            <a:ext cx="692605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ResNet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9766598" y="1568842"/>
            <a:ext cx="867818" cy="1676598"/>
            <a:chOff x="9769143" y="1568357"/>
            <a:chExt cx="868044" cy="1677035"/>
          </a:xfrm>
        </p:grpSpPr>
        <p:sp>
          <p:nvSpPr>
            <p:cNvPr id="78" name="object 78"/>
            <p:cNvSpPr/>
            <p:nvPr/>
          </p:nvSpPr>
          <p:spPr>
            <a:xfrm>
              <a:off x="9807239" y="2340691"/>
              <a:ext cx="0" cy="901700"/>
            </a:xfrm>
            <a:custGeom>
              <a:avLst/>
              <a:gdLst/>
              <a:ahLst/>
              <a:cxnLst/>
              <a:rect l="l" t="t" r="r" b="b"/>
              <a:pathLst>
                <a:path h="901700">
                  <a:moveTo>
                    <a:pt x="0" y="901242"/>
                  </a:moveTo>
                  <a:lnTo>
                    <a:pt x="0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9" name="object 79"/>
            <p:cNvSpPr/>
            <p:nvPr/>
          </p:nvSpPr>
          <p:spPr>
            <a:xfrm>
              <a:off x="9769143" y="227718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0" name="object 80"/>
            <p:cNvSpPr/>
            <p:nvPr/>
          </p:nvSpPr>
          <p:spPr>
            <a:xfrm>
              <a:off x="9944103" y="1574707"/>
              <a:ext cx="686435" cy="285750"/>
            </a:xfrm>
            <a:custGeom>
              <a:avLst/>
              <a:gdLst/>
              <a:ahLst/>
              <a:cxnLst/>
              <a:rect l="l" t="t" r="r" b="b"/>
              <a:pathLst>
                <a:path w="686434" h="285750">
                  <a:moveTo>
                    <a:pt x="638822" y="0"/>
                  </a:moveTo>
                  <a:lnTo>
                    <a:pt x="47574" y="0"/>
                  </a:lnTo>
                  <a:lnTo>
                    <a:pt x="29055" y="3738"/>
                  </a:lnTo>
                  <a:lnTo>
                    <a:pt x="13933" y="13933"/>
                  </a:lnTo>
                  <a:lnTo>
                    <a:pt x="3738" y="29055"/>
                  </a:lnTo>
                  <a:lnTo>
                    <a:pt x="0" y="47574"/>
                  </a:lnTo>
                  <a:lnTo>
                    <a:pt x="0" y="237845"/>
                  </a:lnTo>
                  <a:lnTo>
                    <a:pt x="3738" y="256364"/>
                  </a:lnTo>
                  <a:lnTo>
                    <a:pt x="13933" y="271486"/>
                  </a:lnTo>
                  <a:lnTo>
                    <a:pt x="29055" y="281681"/>
                  </a:lnTo>
                  <a:lnTo>
                    <a:pt x="47574" y="285419"/>
                  </a:lnTo>
                  <a:lnTo>
                    <a:pt x="638822" y="285419"/>
                  </a:lnTo>
                  <a:lnTo>
                    <a:pt x="657341" y="281681"/>
                  </a:lnTo>
                  <a:lnTo>
                    <a:pt x="672463" y="271486"/>
                  </a:lnTo>
                  <a:lnTo>
                    <a:pt x="682658" y="256364"/>
                  </a:lnTo>
                  <a:lnTo>
                    <a:pt x="686396" y="237845"/>
                  </a:lnTo>
                  <a:lnTo>
                    <a:pt x="686396" y="47574"/>
                  </a:lnTo>
                  <a:lnTo>
                    <a:pt x="682658" y="29055"/>
                  </a:lnTo>
                  <a:lnTo>
                    <a:pt x="672463" y="13933"/>
                  </a:lnTo>
                  <a:lnTo>
                    <a:pt x="657341" y="3738"/>
                  </a:lnTo>
                  <a:lnTo>
                    <a:pt x="638822" y="0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1" name="object 81"/>
            <p:cNvSpPr/>
            <p:nvPr/>
          </p:nvSpPr>
          <p:spPr>
            <a:xfrm>
              <a:off x="9944103" y="1574707"/>
              <a:ext cx="686435" cy="285750"/>
            </a:xfrm>
            <a:custGeom>
              <a:avLst/>
              <a:gdLst/>
              <a:ahLst/>
              <a:cxnLst/>
              <a:rect l="l" t="t" r="r" b="b"/>
              <a:pathLst>
                <a:path w="686434" h="285750">
                  <a:moveTo>
                    <a:pt x="0" y="47574"/>
                  </a:moveTo>
                  <a:lnTo>
                    <a:pt x="3738" y="29055"/>
                  </a:lnTo>
                  <a:lnTo>
                    <a:pt x="13933" y="13933"/>
                  </a:lnTo>
                  <a:lnTo>
                    <a:pt x="29055" y="3738"/>
                  </a:lnTo>
                  <a:lnTo>
                    <a:pt x="47574" y="0"/>
                  </a:lnTo>
                  <a:lnTo>
                    <a:pt x="638822" y="0"/>
                  </a:lnTo>
                  <a:lnTo>
                    <a:pt x="657341" y="3738"/>
                  </a:lnTo>
                  <a:lnTo>
                    <a:pt x="672463" y="13933"/>
                  </a:lnTo>
                  <a:lnTo>
                    <a:pt x="682658" y="29055"/>
                  </a:lnTo>
                  <a:lnTo>
                    <a:pt x="686396" y="47574"/>
                  </a:lnTo>
                  <a:lnTo>
                    <a:pt x="686396" y="237845"/>
                  </a:lnTo>
                  <a:lnTo>
                    <a:pt x="682658" y="256364"/>
                  </a:lnTo>
                  <a:lnTo>
                    <a:pt x="672463" y="271486"/>
                  </a:lnTo>
                  <a:lnTo>
                    <a:pt x="657341" y="281681"/>
                  </a:lnTo>
                  <a:lnTo>
                    <a:pt x="638822" y="285419"/>
                  </a:lnTo>
                  <a:lnTo>
                    <a:pt x="47574" y="285419"/>
                  </a:lnTo>
                  <a:lnTo>
                    <a:pt x="29055" y="281681"/>
                  </a:lnTo>
                  <a:lnTo>
                    <a:pt x="13933" y="271486"/>
                  </a:lnTo>
                  <a:lnTo>
                    <a:pt x="3738" y="256364"/>
                  </a:lnTo>
                  <a:lnTo>
                    <a:pt x="0" y="237845"/>
                  </a:lnTo>
                  <a:lnTo>
                    <a:pt x="0" y="4757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82" name="object 82"/>
          <p:cNvSpPr txBox="1"/>
          <p:nvPr/>
        </p:nvSpPr>
        <p:spPr>
          <a:xfrm>
            <a:off x="9957143" y="1552806"/>
            <a:ext cx="653245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latin typeface="Calibri"/>
                <a:cs typeface="Calibri"/>
              </a:rPr>
              <a:t>WGAN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83" name="object 83"/>
          <p:cNvGrpSpPr/>
          <p:nvPr/>
        </p:nvGrpSpPr>
        <p:grpSpPr>
          <a:xfrm>
            <a:off x="10247102" y="1860533"/>
            <a:ext cx="76180" cy="1394097"/>
            <a:chOff x="10249772" y="1860125"/>
            <a:chExt cx="76200" cy="1394460"/>
          </a:xfrm>
        </p:grpSpPr>
        <p:sp>
          <p:nvSpPr>
            <p:cNvPr id="84" name="object 84"/>
            <p:cNvSpPr/>
            <p:nvPr/>
          </p:nvSpPr>
          <p:spPr>
            <a:xfrm>
              <a:off x="10287783" y="1923624"/>
              <a:ext cx="10160" cy="1327785"/>
            </a:xfrm>
            <a:custGeom>
              <a:avLst/>
              <a:gdLst/>
              <a:ahLst/>
              <a:cxnLst/>
              <a:rect l="l" t="t" r="r" b="b"/>
              <a:pathLst>
                <a:path w="10159" h="1327785">
                  <a:moveTo>
                    <a:pt x="9982" y="1327264"/>
                  </a:moveTo>
                  <a:lnTo>
                    <a:pt x="0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5" name="object 85"/>
            <p:cNvSpPr/>
            <p:nvPr/>
          </p:nvSpPr>
          <p:spPr>
            <a:xfrm>
              <a:off x="10249772" y="1860125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528" y="0"/>
                  </a:moveTo>
                  <a:lnTo>
                    <a:pt x="0" y="76479"/>
                  </a:lnTo>
                  <a:lnTo>
                    <a:pt x="76200" y="75907"/>
                  </a:lnTo>
                  <a:lnTo>
                    <a:pt x="375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86" name="object 86"/>
          <p:cNvSpPr txBox="1"/>
          <p:nvPr/>
        </p:nvSpPr>
        <p:spPr>
          <a:xfrm>
            <a:off x="9286083" y="3036833"/>
            <a:ext cx="1376956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  <a:tabLst>
                <a:tab pos="544032" algn="l"/>
                <a:tab pos="1052514" algn="l"/>
              </a:tabLst>
            </a:pPr>
            <a:r>
              <a:rPr sz="1200" spc="-20" dirty="0">
                <a:latin typeface="Calibri"/>
                <a:cs typeface="Calibri"/>
              </a:rPr>
              <a:t>2012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0" dirty="0">
                <a:latin typeface="Calibri"/>
                <a:cs typeface="Calibri"/>
              </a:rPr>
              <a:t>2015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0" dirty="0">
                <a:latin typeface="Calibri"/>
                <a:cs typeface="Calibri"/>
              </a:rPr>
              <a:t>2017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10366292" y="2369083"/>
            <a:ext cx="1323630" cy="298372"/>
            <a:chOff x="10368992" y="2368807"/>
            <a:chExt cx="1323975" cy="298450"/>
          </a:xfrm>
        </p:grpSpPr>
        <p:sp>
          <p:nvSpPr>
            <p:cNvPr id="88" name="object 88"/>
            <p:cNvSpPr/>
            <p:nvPr/>
          </p:nvSpPr>
          <p:spPr>
            <a:xfrm>
              <a:off x="10375342" y="2375157"/>
              <a:ext cx="1311275" cy="285750"/>
            </a:xfrm>
            <a:custGeom>
              <a:avLst/>
              <a:gdLst/>
              <a:ahLst/>
              <a:cxnLst/>
              <a:rect l="l" t="t" r="r" b="b"/>
              <a:pathLst>
                <a:path w="1311275" h="285750">
                  <a:moveTo>
                    <a:pt x="1263459" y="0"/>
                  </a:moveTo>
                  <a:lnTo>
                    <a:pt x="47574" y="0"/>
                  </a:lnTo>
                  <a:lnTo>
                    <a:pt x="29055" y="3738"/>
                  </a:lnTo>
                  <a:lnTo>
                    <a:pt x="13933" y="13933"/>
                  </a:lnTo>
                  <a:lnTo>
                    <a:pt x="3738" y="29055"/>
                  </a:lnTo>
                  <a:lnTo>
                    <a:pt x="0" y="47574"/>
                  </a:lnTo>
                  <a:lnTo>
                    <a:pt x="0" y="237845"/>
                  </a:lnTo>
                  <a:lnTo>
                    <a:pt x="3738" y="256364"/>
                  </a:lnTo>
                  <a:lnTo>
                    <a:pt x="13933" y="271486"/>
                  </a:lnTo>
                  <a:lnTo>
                    <a:pt x="29055" y="281681"/>
                  </a:lnTo>
                  <a:lnTo>
                    <a:pt x="47574" y="285419"/>
                  </a:lnTo>
                  <a:lnTo>
                    <a:pt x="1263459" y="285419"/>
                  </a:lnTo>
                  <a:lnTo>
                    <a:pt x="1281978" y="281681"/>
                  </a:lnTo>
                  <a:lnTo>
                    <a:pt x="1297100" y="271486"/>
                  </a:lnTo>
                  <a:lnTo>
                    <a:pt x="1307295" y="256364"/>
                  </a:lnTo>
                  <a:lnTo>
                    <a:pt x="1311033" y="237845"/>
                  </a:lnTo>
                  <a:lnTo>
                    <a:pt x="1311033" y="47574"/>
                  </a:lnTo>
                  <a:lnTo>
                    <a:pt x="1307295" y="29055"/>
                  </a:lnTo>
                  <a:lnTo>
                    <a:pt x="1297100" y="13933"/>
                  </a:lnTo>
                  <a:lnTo>
                    <a:pt x="1281978" y="3738"/>
                  </a:lnTo>
                  <a:lnTo>
                    <a:pt x="1263459" y="0"/>
                  </a:lnTo>
                  <a:close/>
                </a:path>
              </a:pathLst>
            </a:custGeom>
            <a:solidFill>
              <a:srgbClr val="ACB8C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9" name="object 89"/>
            <p:cNvSpPr/>
            <p:nvPr/>
          </p:nvSpPr>
          <p:spPr>
            <a:xfrm>
              <a:off x="10375342" y="2375157"/>
              <a:ext cx="1311275" cy="285750"/>
            </a:xfrm>
            <a:custGeom>
              <a:avLst/>
              <a:gdLst/>
              <a:ahLst/>
              <a:cxnLst/>
              <a:rect l="l" t="t" r="r" b="b"/>
              <a:pathLst>
                <a:path w="1311275" h="285750">
                  <a:moveTo>
                    <a:pt x="0" y="47574"/>
                  </a:moveTo>
                  <a:lnTo>
                    <a:pt x="3738" y="29055"/>
                  </a:lnTo>
                  <a:lnTo>
                    <a:pt x="13933" y="13933"/>
                  </a:lnTo>
                  <a:lnTo>
                    <a:pt x="29055" y="3738"/>
                  </a:lnTo>
                  <a:lnTo>
                    <a:pt x="47574" y="0"/>
                  </a:lnTo>
                  <a:lnTo>
                    <a:pt x="1263459" y="0"/>
                  </a:lnTo>
                  <a:lnTo>
                    <a:pt x="1281978" y="3738"/>
                  </a:lnTo>
                  <a:lnTo>
                    <a:pt x="1297100" y="13933"/>
                  </a:lnTo>
                  <a:lnTo>
                    <a:pt x="1307295" y="29055"/>
                  </a:lnTo>
                  <a:lnTo>
                    <a:pt x="1311033" y="47574"/>
                  </a:lnTo>
                  <a:lnTo>
                    <a:pt x="1311033" y="237845"/>
                  </a:lnTo>
                  <a:lnTo>
                    <a:pt x="1307295" y="256364"/>
                  </a:lnTo>
                  <a:lnTo>
                    <a:pt x="1297100" y="271486"/>
                  </a:lnTo>
                  <a:lnTo>
                    <a:pt x="1281978" y="281681"/>
                  </a:lnTo>
                  <a:lnTo>
                    <a:pt x="1263459" y="285419"/>
                  </a:lnTo>
                  <a:lnTo>
                    <a:pt x="47574" y="285419"/>
                  </a:lnTo>
                  <a:lnTo>
                    <a:pt x="29055" y="281681"/>
                  </a:lnTo>
                  <a:lnTo>
                    <a:pt x="13933" y="271486"/>
                  </a:lnTo>
                  <a:lnTo>
                    <a:pt x="3738" y="256364"/>
                  </a:lnTo>
                  <a:lnTo>
                    <a:pt x="0" y="237845"/>
                  </a:lnTo>
                  <a:lnTo>
                    <a:pt x="0" y="4757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90" name="object 90"/>
          <p:cNvSpPr txBox="1"/>
          <p:nvPr/>
        </p:nvSpPr>
        <p:spPr>
          <a:xfrm>
            <a:off x="10380857" y="2353048"/>
            <a:ext cx="12944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24123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Transformers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91" name="object 91"/>
          <p:cNvGrpSpPr/>
          <p:nvPr/>
        </p:nvGrpSpPr>
        <p:grpSpPr>
          <a:xfrm>
            <a:off x="4504574" y="2660773"/>
            <a:ext cx="6561650" cy="1988302"/>
            <a:chOff x="4505747" y="2660573"/>
            <a:chExt cx="6563359" cy="1988820"/>
          </a:xfrm>
        </p:grpSpPr>
        <p:sp>
          <p:nvSpPr>
            <p:cNvPr id="92" name="object 92"/>
            <p:cNvSpPr/>
            <p:nvPr/>
          </p:nvSpPr>
          <p:spPr>
            <a:xfrm>
              <a:off x="10297765" y="2724068"/>
              <a:ext cx="733425" cy="250190"/>
            </a:xfrm>
            <a:custGeom>
              <a:avLst/>
              <a:gdLst/>
              <a:ahLst/>
              <a:cxnLst/>
              <a:rect l="l" t="t" r="r" b="b"/>
              <a:pathLst>
                <a:path w="733425" h="250189">
                  <a:moveTo>
                    <a:pt x="0" y="249821"/>
                  </a:moveTo>
                  <a:lnTo>
                    <a:pt x="733094" y="249821"/>
                  </a:lnTo>
                  <a:lnTo>
                    <a:pt x="733094" y="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3" name="object 93"/>
            <p:cNvSpPr/>
            <p:nvPr/>
          </p:nvSpPr>
          <p:spPr>
            <a:xfrm>
              <a:off x="10992759" y="266057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0" y="76200"/>
                  </a:lnTo>
                  <a:lnTo>
                    <a:pt x="76200" y="7620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4" name="object 94"/>
            <p:cNvSpPr/>
            <p:nvPr/>
          </p:nvSpPr>
          <p:spPr>
            <a:xfrm>
              <a:off x="4512097" y="4346064"/>
              <a:ext cx="1115695" cy="297180"/>
            </a:xfrm>
            <a:custGeom>
              <a:avLst/>
              <a:gdLst/>
              <a:ahLst/>
              <a:cxnLst/>
              <a:rect l="l" t="t" r="r" b="b"/>
              <a:pathLst>
                <a:path w="1115695" h="297179">
                  <a:moveTo>
                    <a:pt x="992047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992047" y="296659"/>
                  </a:lnTo>
                  <a:lnTo>
                    <a:pt x="1040079" y="286962"/>
                  </a:lnTo>
                  <a:lnTo>
                    <a:pt x="1079306" y="260518"/>
                  </a:lnTo>
                  <a:lnTo>
                    <a:pt x="1105754" y="221296"/>
                  </a:lnTo>
                  <a:lnTo>
                    <a:pt x="1115453" y="173266"/>
                  </a:lnTo>
                  <a:lnTo>
                    <a:pt x="1115453" y="123405"/>
                  </a:lnTo>
                  <a:lnTo>
                    <a:pt x="1105754" y="75373"/>
                  </a:lnTo>
                  <a:lnTo>
                    <a:pt x="1079306" y="36147"/>
                  </a:lnTo>
                  <a:lnTo>
                    <a:pt x="1040079" y="9698"/>
                  </a:lnTo>
                  <a:lnTo>
                    <a:pt x="992047" y="0"/>
                  </a:lnTo>
                  <a:close/>
                </a:path>
              </a:pathLst>
            </a:custGeom>
            <a:solidFill>
              <a:srgbClr val="ECECEC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5" name="object 95"/>
            <p:cNvSpPr/>
            <p:nvPr/>
          </p:nvSpPr>
          <p:spPr>
            <a:xfrm>
              <a:off x="4512097" y="4346064"/>
              <a:ext cx="1115695" cy="297180"/>
            </a:xfrm>
            <a:custGeom>
              <a:avLst/>
              <a:gdLst/>
              <a:ahLst/>
              <a:cxnLst/>
              <a:rect l="l" t="t" r="r" b="b"/>
              <a:pathLst>
                <a:path w="1115695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992047" y="0"/>
                  </a:lnTo>
                  <a:lnTo>
                    <a:pt x="1040079" y="9698"/>
                  </a:lnTo>
                  <a:lnTo>
                    <a:pt x="1079306" y="36147"/>
                  </a:lnTo>
                  <a:lnTo>
                    <a:pt x="1105754" y="75373"/>
                  </a:lnTo>
                  <a:lnTo>
                    <a:pt x="1115453" y="123405"/>
                  </a:lnTo>
                  <a:lnTo>
                    <a:pt x="1115453" y="173266"/>
                  </a:lnTo>
                  <a:lnTo>
                    <a:pt x="1105754" y="221296"/>
                  </a:lnTo>
                  <a:lnTo>
                    <a:pt x="1079306" y="260518"/>
                  </a:lnTo>
                  <a:lnTo>
                    <a:pt x="1040079" y="286962"/>
                  </a:lnTo>
                  <a:lnTo>
                    <a:pt x="992047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96" name="object 96"/>
          <p:cNvSpPr txBox="1"/>
          <p:nvPr/>
        </p:nvSpPr>
        <p:spPr>
          <a:xfrm>
            <a:off x="4645670" y="4329063"/>
            <a:ext cx="843060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K-Means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97" name="object 97"/>
          <p:cNvGrpSpPr/>
          <p:nvPr/>
        </p:nvGrpSpPr>
        <p:grpSpPr>
          <a:xfrm>
            <a:off x="5030191" y="3580159"/>
            <a:ext cx="2513310" cy="1170000"/>
            <a:chOff x="5031501" y="3580198"/>
            <a:chExt cx="2513965" cy="1170305"/>
          </a:xfrm>
        </p:grpSpPr>
        <p:sp>
          <p:nvSpPr>
            <p:cNvPr id="98" name="object 98"/>
            <p:cNvSpPr/>
            <p:nvPr/>
          </p:nvSpPr>
          <p:spPr>
            <a:xfrm>
              <a:off x="5067577" y="3583373"/>
              <a:ext cx="2540" cy="699770"/>
            </a:xfrm>
            <a:custGeom>
              <a:avLst/>
              <a:gdLst/>
              <a:ahLst/>
              <a:cxnLst/>
              <a:rect l="l" t="t" r="r" b="b"/>
              <a:pathLst>
                <a:path w="2539" h="699770">
                  <a:moveTo>
                    <a:pt x="0" y="0"/>
                  </a:moveTo>
                  <a:lnTo>
                    <a:pt x="2057" y="699198"/>
                  </a:lnTo>
                </a:path>
              </a:pathLst>
            </a:custGeom>
            <a:ln w="63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9" name="object 99"/>
            <p:cNvSpPr/>
            <p:nvPr/>
          </p:nvSpPr>
          <p:spPr>
            <a:xfrm>
              <a:off x="5031501" y="4269757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76200" y="0"/>
                  </a:moveTo>
                  <a:lnTo>
                    <a:pt x="0" y="215"/>
                  </a:lnTo>
                  <a:lnTo>
                    <a:pt x="38315" y="76314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6423540" y="4220236"/>
              <a:ext cx="1115695" cy="523875"/>
            </a:xfrm>
            <a:custGeom>
              <a:avLst/>
              <a:gdLst/>
              <a:ahLst/>
              <a:cxnLst/>
              <a:rect l="l" t="t" r="r" b="b"/>
              <a:pathLst>
                <a:path w="1115695" h="523875">
                  <a:moveTo>
                    <a:pt x="897572" y="0"/>
                  </a:moveTo>
                  <a:lnTo>
                    <a:pt x="217881" y="0"/>
                  </a:lnTo>
                  <a:lnTo>
                    <a:pt x="167923" y="5754"/>
                  </a:lnTo>
                  <a:lnTo>
                    <a:pt x="122062" y="22145"/>
                  </a:lnTo>
                  <a:lnTo>
                    <a:pt x="81607" y="47866"/>
                  </a:lnTo>
                  <a:lnTo>
                    <a:pt x="47866" y="81607"/>
                  </a:lnTo>
                  <a:lnTo>
                    <a:pt x="22145" y="122062"/>
                  </a:lnTo>
                  <a:lnTo>
                    <a:pt x="5754" y="167923"/>
                  </a:lnTo>
                  <a:lnTo>
                    <a:pt x="0" y="217881"/>
                  </a:lnTo>
                  <a:lnTo>
                    <a:pt x="0" y="305904"/>
                  </a:lnTo>
                  <a:lnTo>
                    <a:pt x="5754" y="355863"/>
                  </a:lnTo>
                  <a:lnTo>
                    <a:pt x="22145" y="401723"/>
                  </a:lnTo>
                  <a:lnTo>
                    <a:pt x="47866" y="442178"/>
                  </a:lnTo>
                  <a:lnTo>
                    <a:pt x="81607" y="475920"/>
                  </a:lnTo>
                  <a:lnTo>
                    <a:pt x="122062" y="501640"/>
                  </a:lnTo>
                  <a:lnTo>
                    <a:pt x="167923" y="518031"/>
                  </a:lnTo>
                  <a:lnTo>
                    <a:pt x="217881" y="523786"/>
                  </a:lnTo>
                  <a:lnTo>
                    <a:pt x="897572" y="523786"/>
                  </a:lnTo>
                  <a:lnTo>
                    <a:pt x="947530" y="518031"/>
                  </a:lnTo>
                  <a:lnTo>
                    <a:pt x="993391" y="501640"/>
                  </a:lnTo>
                  <a:lnTo>
                    <a:pt x="1033846" y="475920"/>
                  </a:lnTo>
                  <a:lnTo>
                    <a:pt x="1067587" y="442178"/>
                  </a:lnTo>
                  <a:lnTo>
                    <a:pt x="1093308" y="401723"/>
                  </a:lnTo>
                  <a:lnTo>
                    <a:pt x="1109699" y="355863"/>
                  </a:lnTo>
                  <a:lnTo>
                    <a:pt x="1115453" y="305904"/>
                  </a:lnTo>
                  <a:lnTo>
                    <a:pt x="1115453" y="217881"/>
                  </a:lnTo>
                  <a:lnTo>
                    <a:pt x="1109699" y="167923"/>
                  </a:lnTo>
                  <a:lnTo>
                    <a:pt x="1093308" y="122062"/>
                  </a:lnTo>
                  <a:lnTo>
                    <a:pt x="1067587" y="81607"/>
                  </a:lnTo>
                  <a:lnTo>
                    <a:pt x="1033846" y="47866"/>
                  </a:lnTo>
                  <a:lnTo>
                    <a:pt x="993391" y="22145"/>
                  </a:lnTo>
                  <a:lnTo>
                    <a:pt x="947530" y="5754"/>
                  </a:lnTo>
                  <a:lnTo>
                    <a:pt x="897572" y="0"/>
                  </a:lnTo>
                  <a:close/>
                </a:path>
              </a:pathLst>
            </a:custGeom>
            <a:solidFill>
              <a:srgbClr val="F8CAAC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6423540" y="4220236"/>
              <a:ext cx="1115695" cy="523875"/>
            </a:xfrm>
            <a:custGeom>
              <a:avLst/>
              <a:gdLst/>
              <a:ahLst/>
              <a:cxnLst/>
              <a:rect l="l" t="t" r="r" b="b"/>
              <a:pathLst>
                <a:path w="1115695" h="523875">
                  <a:moveTo>
                    <a:pt x="0" y="217881"/>
                  </a:moveTo>
                  <a:lnTo>
                    <a:pt x="5754" y="167923"/>
                  </a:lnTo>
                  <a:lnTo>
                    <a:pt x="22145" y="122062"/>
                  </a:lnTo>
                  <a:lnTo>
                    <a:pt x="47866" y="81607"/>
                  </a:lnTo>
                  <a:lnTo>
                    <a:pt x="81607" y="47866"/>
                  </a:lnTo>
                  <a:lnTo>
                    <a:pt x="122062" y="22145"/>
                  </a:lnTo>
                  <a:lnTo>
                    <a:pt x="167923" y="5754"/>
                  </a:lnTo>
                  <a:lnTo>
                    <a:pt x="217881" y="0"/>
                  </a:lnTo>
                  <a:lnTo>
                    <a:pt x="897572" y="0"/>
                  </a:lnTo>
                  <a:lnTo>
                    <a:pt x="947530" y="5754"/>
                  </a:lnTo>
                  <a:lnTo>
                    <a:pt x="993391" y="22145"/>
                  </a:lnTo>
                  <a:lnTo>
                    <a:pt x="1033846" y="47866"/>
                  </a:lnTo>
                  <a:lnTo>
                    <a:pt x="1067587" y="81607"/>
                  </a:lnTo>
                  <a:lnTo>
                    <a:pt x="1093308" y="122062"/>
                  </a:lnTo>
                  <a:lnTo>
                    <a:pt x="1109699" y="167923"/>
                  </a:lnTo>
                  <a:lnTo>
                    <a:pt x="1115453" y="217881"/>
                  </a:lnTo>
                  <a:lnTo>
                    <a:pt x="1115453" y="305904"/>
                  </a:lnTo>
                  <a:lnTo>
                    <a:pt x="1109699" y="355863"/>
                  </a:lnTo>
                  <a:lnTo>
                    <a:pt x="1093308" y="401723"/>
                  </a:lnTo>
                  <a:lnTo>
                    <a:pt x="1067587" y="442178"/>
                  </a:lnTo>
                  <a:lnTo>
                    <a:pt x="1033846" y="475920"/>
                  </a:lnTo>
                  <a:lnTo>
                    <a:pt x="993391" y="501640"/>
                  </a:lnTo>
                  <a:lnTo>
                    <a:pt x="947530" y="518031"/>
                  </a:lnTo>
                  <a:lnTo>
                    <a:pt x="897572" y="523786"/>
                  </a:lnTo>
                  <a:lnTo>
                    <a:pt x="217881" y="523786"/>
                  </a:lnTo>
                  <a:lnTo>
                    <a:pt x="167923" y="518031"/>
                  </a:lnTo>
                  <a:lnTo>
                    <a:pt x="122062" y="501640"/>
                  </a:lnTo>
                  <a:lnTo>
                    <a:pt x="81607" y="475920"/>
                  </a:lnTo>
                  <a:lnTo>
                    <a:pt x="47866" y="442178"/>
                  </a:lnTo>
                  <a:lnTo>
                    <a:pt x="22145" y="401723"/>
                  </a:lnTo>
                  <a:lnTo>
                    <a:pt x="5754" y="355863"/>
                  </a:lnTo>
                  <a:lnTo>
                    <a:pt x="0" y="305904"/>
                  </a:lnTo>
                  <a:lnTo>
                    <a:pt x="0" y="217881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02" name="object 102"/>
          <p:cNvSpPr txBox="1"/>
          <p:nvPr/>
        </p:nvSpPr>
        <p:spPr>
          <a:xfrm>
            <a:off x="4674445" y="3610794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1965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03" name="object 103"/>
          <p:cNvSpPr txBox="1"/>
          <p:nvPr/>
        </p:nvSpPr>
        <p:spPr>
          <a:xfrm>
            <a:off x="6553917" y="4179675"/>
            <a:ext cx="850044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22853" marR="5078" indent="-10792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Bayesian Network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04" name="object 104"/>
          <p:cNvGrpSpPr/>
          <p:nvPr/>
        </p:nvGrpSpPr>
        <p:grpSpPr>
          <a:xfrm>
            <a:off x="6941352" y="3320281"/>
            <a:ext cx="76180" cy="900196"/>
            <a:chOff x="6943161" y="3320253"/>
            <a:chExt cx="76200" cy="900430"/>
          </a:xfrm>
        </p:grpSpPr>
        <p:sp>
          <p:nvSpPr>
            <p:cNvPr id="105" name="object 105"/>
            <p:cNvSpPr/>
            <p:nvPr/>
          </p:nvSpPr>
          <p:spPr>
            <a:xfrm>
              <a:off x="6981267" y="3323428"/>
              <a:ext cx="0" cy="833755"/>
            </a:xfrm>
            <a:custGeom>
              <a:avLst/>
              <a:gdLst/>
              <a:ahLst/>
              <a:cxnLst/>
              <a:rect l="l" t="t" r="r" b="b"/>
              <a:pathLst>
                <a:path h="833754">
                  <a:moveTo>
                    <a:pt x="0" y="0"/>
                  </a:moveTo>
                  <a:lnTo>
                    <a:pt x="0" y="83331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06" name="object 106"/>
            <p:cNvSpPr/>
            <p:nvPr/>
          </p:nvSpPr>
          <p:spPr>
            <a:xfrm>
              <a:off x="6943161" y="414403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07" name="object 107"/>
          <p:cNvSpPr txBox="1"/>
          <p:nvPr/>
        </p:nvSpPr>
        <p:spPr>
          <a:xfrm>
            <a:off x="6975542" y="3607202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1985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08" name="object 108"/>
          <p:cNvGrpSpPr/>
          <p:nvPr/>
        </p:nvGrpSpPr>
        <p:grpSpPr>
          <a:xfrm>
            <a:off x="5639344" y="5193285"/>
            <a:ext cx="1703895" cy="309799"/>
            <a:chOff x="5640813" y="5193744"/>
            <a:chExt cx="1704339" cy="309880"/>
          </a:xfrm>
        </p:grpSpPr>
        <p:sp>
          <p:nvSpPr>
            <p:cNvPr id="109" name="object 109"/>
            <p:cNvSpPr/>
            <p:nvPr/>
          </p:nvSpPr>
          <p:spPr>
            <a:xfrm>
              <a:off x="5647163" y="5200094"/>
              <a:ext cx="1691639" cy="297180"/>
            </a:xfrm>
            <a:custGeom>
              <a:avLst/>
              <a:gdLst/>
              <a:ahLst/>
              <a:cxnLst/>
              <a:rect l="l" t="t" r="r" b="b"/>
              <a:pathLst>
                <a:path w="1691640" h="297179">
                  <a:moveTo>
                    <a:pt x="1567827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1567827" y="296659"/>
                  </a:lnTo>
                  <a:lnTo>
                    <a:pt x="1615865" y="286962"/>
                  </a:lnTo>
                  <a:lnTo>
                    <a:pt x="1655090" y="260518"/>
                  </a:lnTo>
                  <a:lnTo>
                    <a:pt x="1681536" y="221296"/>
                  </a:lnTo>
                  <a:lnTo>
                    <a:pt x="1691233" y="173266"/>
                  </a:lnTo>
                  <a:lnTo>
                    <a:pt x="1691233" y="123405"/>
                  </a:lnTo>
                  <a:lnTo>
                    <a:pt x="1681536" y="75373"/>
                  </a:lnTo>
                  <a:lnTo>
                    <a:pt x="1655090" y="36147"/>
                  </a:lnTo>
                  <a:lnTo>
                    <a:pt x="1615865" y="9698"/>
                  </a:lnTo>
                  <a:lnTo>
                    <a:pt x="1567827" y="0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10" name="object 110"/>
            <p:cNvSpPr/>
            <p:nvPr/>
          </p:nvSpPr>
          <p:spPr>
            <a:xfrm>
              <a:off x="5647163" y="5200094"/>
              <a:ext cx="1691639" cy="297180"/>
            </a:xfrm>
            <a:custGeom>
              <a:avLst/>
              <a:gdLst/>
              <a:ahLst/>
              <a:cxnLst/>
              <a:rect l="l" t="t" r="r" b="b"/>
              <a:pathLst>
                <a:path w="1691640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1567827" y="0"/>
                  </a:lnTo>
                  <a:lnTo>
                    <a:pt x="1615865" y="9698"/>
                  </a:lnTo>
                  <a:lnTo>
                    <a:pt x="1655090" y="36147"/>
                  </a:lnTo>
                  <a:lnTo>
                    <a:pt x="1681536" y="75373"/>
                  </a:lnTo>
                  <a:lnTo>
                    <a:pt x="1691233" y="123405"/>
                  </a:lnTo>
                  <a:lnTo>
                    <a:pt x="1691233" y="173266"/>
                  </a:lnTo>
                  <a:lnTo>
                    <a:pt x="1681536" y="221296"/>
                  </a:lnTo>
                  <a:lnTo>
                    <a:pt x="1655090" y="260518"/>
                  </a:lnTo>
                  <a:lnTo>
                    <a:pt x="1615865" y="286962"/>
                  </a:lnTo>
                  <a:lnTo>
                    <a:pt x="1567827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11" name="object 111"/>
          <p:cNvSpPr txBox="1"/>
          <p:nvPr/>
        </p:nvSpPr>
        <p:spPr>
          <a:xfrm>
            <a:off x="5803849" y="5182871"/>
            <a:ext cx="137378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Calibri"/>
                <a:cs typeface="Calibri"/>
              </a:rPr>
              <a:t>Decision</a:t>
            </a:r>
            <a:r>
              <a:rPr sz="1799" spc="-55" dirty="0">
                <a:latin typeface="Calibri"/>
                <a:cs typeface="Calibri"/>
              </a:rPr>
              <a:t> </a:t>
            </a:r>
            <a:r>
              <a:rPr sz="1799" spc="-20" dirty="0">
                <a:latin typeface="Calibri"/>
                <a:cs typeface="Calibri"/>
              </a:rPr>
              <a:t>Trees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12" name="object 112"/>
          <p:cNvGrpSpPr/>
          <p:nvPr/>
        </p:nvGrpSpPr>
        <p:grpSpPr>
          <a:xfrm>
            <a:off x="6209369" y="3174585"/>
            <a:ext cx="319957" cy="2025122"/>
            <a:chOff x="6210987" y="3174518"/>
            <a:chExt cx="320040" cy="2025650"/>
          </a:xfrm>
        </p:grpSpPr>
        <p:sp>
          <p:nvSpPr>
            <p:cNvPr id="113" name="object 113"/>
            <p:cNvSpPr/>
            <p:nvPr/>
          </p:nvSpPr>
          <p:spPr>
            <a:xfrm>
              <a:off x="6214162" y="3177693"/>
              <a:ext cx="278765" cy="1958975"/>
            </a:xfrm>
            <a:custGeom>
              <a:avLst/>
              <a:gdLst/>
              <a:ahLst/>
              <a:cxnLst/>
              <a:rect l="l" t="t" r="r" b="b"/>
              <a:pathLst>
                <a:path w="278764" h="1958975">
                  <a:moveTo>
                    <a:pt x="0" y="0"/>
                  </a:moveTo>
                  <a:lnTo>
                    <a:pt x="0" y="1640230"/>
                  </a:lnTo>
                  <a:lnTo>
                    <a:pt x="278612" y="1640230"/>
                  </a:lnTo>
                  <a:lnTo>
                    <a:pt x="278612" y="1958898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14" name="object 114"/>
            <p:cNvSpPr/>
            <p:nvPr/>
          </p:nvSpPr>
          <p:spPr>
            <a:xfrm>
              <a:off x="6454677" y="51239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15" name="object 115"/>
          <p:cNvSpPr txBox="1"/>
          <p:nvPr/>
        </p:nvSpPr>
        <p:spPr>
          <a:xfrm>
            <a:off x="6268767" y="3605386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1979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16" name="object 116"/>
          <p:cNvGrpSpPr/>
          <p:nvPr/>
        </p:nvGrpSpPr>
        <p:grpSpPr>
          <a:xfrm>
            <a:off x="5448802" y="3598507"/>
            <a:ext cx="2790098" cy="1513446"/>
            <a:chOff x="5450221" y="3598551"/>
            <a:chExt cx="2790825" cy="1513840"/>
          </a:xfrm>
        </p:grpSpPr>
        <p:sp>
          <p:nvSpPr>
            <p:cNvPr id="117" name="object 117"/>
            <p:cNvSpPr/>
            <p:nvPr/>
          </p:nvSpPr>
          <p:spPr>
            <a:xfrm>
              <a:off x="7538989" y="4748128"/>
              <a:ext cx="695325" cy="297180"/>
            </a:xfrm>
            <a:custGeom>
              <a:avLst/>
              <a:gdLst/>
              <a:ahLst/>
              <a:cxnLst/>
              <a:rect l="l" t="t" r="r" b="b"/>
              <a:pathLst>
                <a:path w="695325" h="297179">
                  <a:moveTo>
                    <a:pt x="571690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571690" y="296659"/>
                  </a:lnTo>
                  <a:lnTo>
                    <a:pt x="619720" y="286962"/>
                  </a:lnTo>
                  <a:lnTo>
                    <a:pt x="658942" y="260518"/>
                  </a:lnTo>
                  <a:lnTo>
                    <a:pt x="685386" y="221296"/>
                  </a:lnTo>
                  <a:lnTo>
                    <a:pt x="695083" y="173266"/>
                  </a:lnTo>
                  <a:lnTo>
                    <a:pt x="695083" y="123405"/>
                  </a:lnTo>
                  <a:lnTo>
                    <a:pt x="685386" y="75373"/>
                  </a:lnTo>
                  <a:lnTo>
                    <a:pt x="658942" y="36147"/>
                  </a:lnTo>
                  <a:lnTo>
                    <a:pt x="619720" y="9698"/>
                  </a:lnTo>
                  <a:lnTo>
                    <a:pt x="571690" y="0"/>
                  </a:lnTo>
                  <a:close/>
                </a:path>
              </a:pathLst>
            </a:custGeom>
            <a:solidFill>
              <a:srgbClr val="FFF1CC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18" name="object 118"/>
            <p:cNvSpPr/>
            <p:nvPr/>
          </p:nvSpPr>
          <p:spPr>
            <a:xfrm>
              <a:off x="7538989" y="4748128"/>
              <a:ext cx="695325" cy="297180"/>
            </a:xfrm>
            <a:custGeom>
              <a:avLst/>
              <a:gdLst/>
              <a:ahLst/>
              <a:cxnLst/>
              <a:rect l="l" t="t" r="r" b="b"/>
              <a:pathLst>
                <a:path w="695325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571690" y="0"/>
                  </a:lnTo>
                  <a:lnTo>
                    <a:pt x="619720" y="9698"/>
                  </a:lnTo>
                  <a:lnTo>
                    <a:pt x="658942" y="36147"/>
                  </a:lnTo>
                  <a:lnTo>
                    <a:pt x="685386" y="75373"/>
                  </a:lnTo>
                  <a:lnTo>
                    <a:pt x="695083" y="123405"/>
                  </a:lnTo>
                  <a:lnTo>
                    <a:pt x="695083" y="173266"/>
                  </a:lnTo>
                  <a:lnTo>
                    <a:pt x="685386" y="221296"/>
                  </a:lnTo>
                  <a:lnTo>
                    <a:pt x="658942" y="260518"/>
                  </a:lnTo>
                  <a:lnTo>
                    <a:pt x="619720" y="286962"/>
                  </a:lnTo>
                  <a:lnTo>
                    <a:pt x="571690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19" name="object 119"/>
            <p:cNvSpPr/>
            <p:nvPr/>
          </p:nvSpPr>
          <p:spPr>
            <a:xfrm>
              <a:off x="7886533" y="3601726"/>
              <a:ext cx="0" cy="1083310"/>
            </a:xfrm>
            <a:custGeom>
              <a:avLst/>
              <a:gdLst/>
              <a:ahLst/>
              <a:cxnLst/>
              <a:rect l="l" t="t" r="r" b="b"/>
              <a:pathLst>
                <a:path h="1083310">
                  <a:moveTo>
                    <a:pt x="0" y="0"/>
                  </a:moveTo>
                  <a:lnTo>
                    <a:pt x="0" y="1082903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20" name="object 120"/>
            <p:cNvSpPr/>
            <p:nvPr/>
          </p:nvSpPr>
          <p:spPr>
            <a:xfrm>
              <a:off x="7848438" y="4671934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21" name="object 121"/>
            <p:cNvSpPr/>
            <p:nvPr/>
          </p:nvSpPr>
          <p:spPr>
            <a:xfrm>
              <a:off x="5456570" y="4808895"/>
              <a:ext cx="625475" cy="297180"/>
            </a:xfrm>
            <a:custGeom>
              <a:avLst/>
              <a:gdLst/>
              <a:ahLst/>
              <a:cxnLst/>
              <a:rect l="l" t="t" r="r" b="b"/>
              <a:pathLst>
                <a:path w="625475" h="297179">
                  <a:moveTo>
                    <a:pt x="501548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501548" y="296659"/>
                  </a:lnTo>
                  <a:lnTo>
                    <a:pt x="549585" y="286962"/>
                  </a:lnTo>
                  <a:lnTo>
                    <a:pt x="588811" y="260518"/>
                  </a:lnTo>
                  <a:lnTo>
                    <a:pt x="615257" y="221296"/>
                  </a:lnTo>
                  <a:lnTo>
                    <a:pt x="624954" y="173266"/>
                  </a:lnTo>
                  <a:lnTo>
                    <a:pt x="624954" y="123405"/>
                  </a:lnTo>
                  <a:lnTo>
                    <a:pt x="615257" y="75373"/>
                  </a:lnTo>
                  <a:lnTo>
                    <a:pt x="588811" y="36147"/>
                  </a:lnTo>
                  <a:lnTo>
                    <a:pt x="549585" y="9698"/>
                  </a:lnTo>
                  <a:lnTo>
                    <a:pt x="501548" y="0"/>
                  </a:lnTo>
                  <a:close/>
                </a:path>
              </a:pathLst>
            </a:custGeom>
            <a:solidFill>
              <a:srgbClr val="ECECEC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22" name="object 122"/>
            <p:cNvSpPr/>
            <p:nvPr/>
          </p:nvSpPr>
          <p:spPr>
            <a:xfrm>
              <a:off x="5456571" y="4808895"/>
              <a:ext cx="625475" cy="297180"/>
            </a:xfrm>
            <a:custGeom>
              <a:avLst/>
              <a:gdLst/>
              <a:ahLst/>
              <a:cxnLst/>
              <a:rect l="l" t="t" r="r" b="b"/>
              <a:pathLst>
                <a:path w="625475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501548" y="0"/>
                  </a:lnTo>
                  <a:lnTo>
                    <a:pt x="549585" y="9698"/>
                  </a:lnTo>
                  <a:lnTo>
                    <a:pt x="588811" y="36147"/>
                  </a:lnTo>
                  <a:lnTo>
                    <a:pt x="615257" y="75373"/>
                  </a:lnTo>
                  <a:lnTo>
                    <a:pt x="624954" y="123405"/>
                  </a:lnTo>
                  <a:lnTo>
                    <a:pt x="624954" y="173266"/>
                  </a:lnTo>
                  <a:lnTo>
                    <a:pt x="615257" y="221296"/>
                  </a:lnTo>
                  <a:lnTo>
                    <a:pt x="588811" y="260518"/>
                  </a:lnTo>
                  <a:lnTo>
                    <a:pt x="549585" y="286962"/>
                  </a:lnTo>
                  <a:lnTo>
                    <a:pt x="501548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23" name="object 123"/>
          <p:cNvSpPr txBox="1"/>
          <p:nvPr/>
        </p:nvSpPr>
        <p:spPr>
          <a:xfrm>
            <a:off x="5547289" y="4791774"/>
            <a:ext cx="440575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Calibri"/>
                <a:cs typeface="Calibri"/>
              </a:rPr>
              <a:t>KNN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24" name="object 124"/>
          <p:cNvGrpSpPr/>
          <p:nvPr/>
        </p:nvGrpSpPr>
        <p:grpSpPr>
          <a:xfrm>
            <a:off x="5324953" y="3611553"/>
            <a:ext cx="481205" cy="1197298"/>
            <a:chOff x="5326341" y="3611600"/>
            <a:chExt cx="481330" cy="1197610"/>
          </a:xfrm>
        </p:grpSpPr>
        <p:sp>
          <p:nvSpPr>
            <p:cNvPr id="125" name="object 125"/>
            <p:cNvSpPr/>
            <p:nvPr/>
          </p:nvSpPr>
          <p:spPr>
            <a:xfrm>
              <a:off x="5329516" y="3614775"/>
              <a:ext cx="440055" cy="1130935"/>
            </a:xfrm>
            <a:custGeom>
              <a:avLst/>
              <a:gdLst/>
              <a:ahLst/>
              <a:cxnLst/>
              <a:rect l="l" t="t" r="r" b="b"/>
              <a:pathLst>
                <a:path w="440054" h="1130935">
                  <a:moveTo>
                    <a:pt x="0" y="0"/>
                  </a:moveTo>
                  <a:lnTo>
                    <a:pt x="0" y="597065"/>
                  </a:lnTo>
                  <a:lnTo>
                    <a:pt x="439534" y="597065"/>
                  </a:lnTo>
                  <a:lnTo>
                    <a:pt x="439534" y="1130617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26" name="object 126"/>
            <p:cNvSpPr/>
            <p:nvPr/>
          </p:nvSpPr>
          <p:spPr>
            <a:xfrm>
              <a:off x="5730944" y="473269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27" name="object 127"/>
          <p:cNvSpPr txBox="1"/>
          <p:nvPr/>
        </p:nvSpPr>
        <p:spPr>
          <a:xfrm>
            <a:off x="5386216" y="3602048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1967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28" name="object 128"/>
          <p:cNvGrpSpPr/>
          <p:nvPr/>
        </p:nvGrpSpPr>
        <p:grpSpPr>
          <a:xfrm>
            <a:off x="90653" y="3252834"/>
            <a:ext cx="1785155" cy="367569"/>
            <a:chOff x="90677" y="3252787"/>
            <a:chExt cx="1785620" cy="367665"/>
          </a:xfrm>
        </p:grpSpPr>
        <p:sp>
          <p:nvSpPr>
            <p:cNvPr id="129" name="object 129"/>
            <p:cNvSpPr/>
            <p:nvPr/>
          </p:nvSpPr>
          <p:spPr>
            <a:xfrm>
              <a:off x="97027" y="3259137"/>
              <a:ext cx="1772920" cy="354965"/>
            </a:xfrm>
            <a:custGeom>
              <a:avLst/>
              <a:gdLst/>
              <a:ahLst/>
              <a:cxnLst/>
              <a:rect l="l" t="t" r="r" b="b"/>
              <a:pathLst>
                <a:path w="1772920" h="354964">
                  <a:moveTo>
                    <a:pt x="1772805" y="0"/>
                  </a:moveTo>
                  <a:lnTo>
                    <a:pt x="0" y="0"/>
                  </a:lnTo>
                  <a:lnTo>
                    <a:pt x="0" y="354926"/>
                  </a:lnTo>
                  <a:lnTo>
                    <a:pt x="1772805" y="354926"/>
                  </a:lnTo>
                  <a:lnTo>
                    <a:pt x="17728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97027" y="3259137"/>
              <a:ext cx="1772920" cy="354965"/>
            </a:xfrm>
            <a:custGeom>
              <a:avLst/>
              <a:gdLst/>
              <a:ahLst/>
              <a:cxnLst/>
              <a:rect l="l" t="t" r="r" b="b"/>
              <a:pathLst>
                <a:path w="1772920" h="354964">
                  <a:moveTo>
                    <a:pt x="0" y="0"/>
                  </a:moveTo>
                  <a:lnTo>
                    <a:pt x="1772805" y="0"/>
                  </a:lnTo>
                  <a:lnTo>
                    <a:pt x="1772805" y="354926"/>
                  </a:lnTo>
                  <a:lnTo>
                    <a:pt x="0" y="354926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31" name="object 131"/>
          <p:cNvSpPr txBox="1"/>
          <p:nvPr/>
        </p:nvSpPr>
        <p:spPr>
          <a:xfrm>
            <a:off x="281298" y="3271540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1800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1195460" y="3271540"/>
            <a:ext cx="4894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1900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133" name="object 133"/>
          <p:cNvSpPr txBox="1"/>
          <p:nvPr/>
        </p:nvSpPr>
        <p:spPr>
          <a:xfrm>
            <a:off x="2007921" y="3194522"/>
            <a:ext cx="24250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Calibri"/>
                <a:cs typeface="Calibri"/>
              </a:rPr>
              <a:t>….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34" name="object 134"/>
          <p:cNvGrpSpPr/>
          <p:nvPr/>
        </p:nvGrpSpPr>
        <p:grpSpPr>
          <a:xfrm>
            <a:off x="126452" y="4318335"/>
            <a:ext cx="1231579" cy="584683"/>
            <a:chOff x="126485" y="4318566"/>
            <a:chExt cx="1231900" cy="584835"/>
          </a:xfrm>
        </p:grpSpPr>
        <p:sp>
          <p:nvSpPr>
            <p:cNvPr id="135" name="object 135"/>
            <p:cNvSpPr/>
            <p:nvPr/>
          </p:nvSpPr>
          <p:spPr>
            <a:xfrm>
              <a:off x="132835" y="4324916"/>
              <a:ext cx="1219200" cy="572135"/>
            </a:xfrm>
            <a:custGeom>
              <a:avLst/>
              <a:gdLst/>
              <a:ahLst/>
              <a:cxnLst/>
              <a:rect l="l" t="t" r="r" b="b"/>
              <a:pathLst>
                <a:path w="1219200" h="572135">
                  <a:moveTo>
                    <a:pt x="980846" y="0"/>
                  </a:moveTo>
                  <a:lnTo>
                    <a:pt x="237744" y="0"/>
                  </a:lnTo>
                  <a:lnTo>
                    <a:pt x="189829" y="4829"/>
                  </a:lnTo>
                  <a:lnTo>
                    <a:pt x="145202" y="18682"/>
                  </a:lnTo>
                  <a:lnTo>
                    <a:pt x="104817" y="40602"/>
                  </a:lnTo>
                  <a:lnTo>
                    <a:pt x="69632" y="69632"/>
                  </a:lnTo>
                  <a:lnTo>
                    <a:pt x="40602" y="104817"/>
                  </a:lnTo>
                  <a:lnTo>
                    <a:pt x="18682" y="145202"/>
                  </a:lnTo>
                  <a:lnTo>
                    <a:pt x="4829" y="189829"/>
                  </a:lnTo>
                  <a:lnTo>
                    <a:pt x="0" y="237744"/>
                  </a:lnTo>
                  <a:lnTo>
                    <a:pt x="0" y="333794"/>
                  </a:lnTo>
                  <a:lnTo>
                    <a:pt x="4829" y="381709"/>
                  </a:lnTo>
                  <a:lnTo>
                    <a:pt x="18682" y="426338"/>
                  </a:lnTo>
                  <a:lnTo>
                    <a:pt x="40602" y="466724"/>
                  </a:lnTo>
                  <a:lnTo>
                    <a:pt x="69632" y="501911"/>
                  </a:lnTo>
                  <a:lnTo>
                    <a:pt x="104817" y="530944"/>
                  </a:lnTo>
                  <a:lnTo>
                    <a:pt x="145202" y="552866"/>
                  </a:lnTo>
                  <a:lnTo>
                    <a:pt x="189829" y="566720"/>
                  </a:lnTo>
                  <a:lnTo>
                    <a:pt x="237744" y="571550"/>
                  </a:lnTo>
                  <a:lnTo>
                    <a:pt x="980846" y="571550"/>
                  </a:lnTo>
                  <a:lnTo>
                    <a:pt x="1028760" y="566720"/>
                  </a:lnTo>
                  <a:lnTo>
                    <a:pt x="1073388" y="552866"/>
                  </a:lnTo>
                  <a:lnTo>
                    <a:pt x="1113772" y="530944"/>
                  </a:lnTo>
                  <a:lnTo>
                    <a:pt x="1148957" y="501911"/>
                  </a:lnTo>
                  <a:lnTo>
                    <a:pt x="1177988" y="466724"/>
                  </a:lnTo>
                  <a:lnTo>
                    <a:pt x="1199907" y="426338"/>
                  </a:lnTo>
                  <a:lnTo>
                    <a:pt x="1213760" y="381709"/>
                  </a:lnTo>
                  <a:lnTo>
                    <a:pt x="1218590" y="333794"/>
                  </a:lnTo>
                  <a:lnTo>
                    <a:pt x="1218590" y="237744"/>
                  </a:lnTo>
                  <a:lnTo>
                    <a:pt x="1213760" y="189829"/>
                  </a:lnTo>
                  <a:lnTo>
                    <a:pt x="1199907" y="145202"/>
                  </a:lnTo>
                  <a:lnTo>
                    <a:pt x="1177988" y="104817"/>
                  </a:lnTo>
                  <a:lnTo>
                    <a:pt x="1148957" y="69632"/>
                  </a:lnTo>
                  <a:lnTo>
                    <a:pt x="1113772" y="40602"/>
                  </a:lnTo>
                  <a:lnTo>
                    <a:pt x="1073388" y="18682"/>
                  </a:lnTo>
                  <a:lnTo>
                    <a:pt x="1028760" y="4829"/>
                  </a:lnTo>
                  <a:lnTo>
                    <a:pt x="980846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36" name="object 136"/>
            <p:cNvSpPr/>
            <p:nvPr/>
          </p:nvSpPr>
          <p:spPr>
            <a:xfrm>
              <a:off x="132835" y="4324916"/>
              <a:ext cx="1219200" cy="572135"/>
            </a:xfrm>
            <a:custGeom>
              <a:avLst/>
              <a:gdLst/>
              <a:ahLst/>
              <a:cxnLst/>
              <a:rect l="l" t="t" r="r" b="b"/>
              <a:pathLst>
                <a:path w="1219200" h="572135">
                  <a:moveTo>
                    <a:pt x="0" y="237744"/>
                  </a:moveTo>
                  <a:lnTo>
                    <a:pt x="4829" y="189829"/>
                  </a:lnTo>
                  <a:lnTo>
                    <a:pt x="18682" y="145202"/>
                  </a:lnTo>
                  <a:lnTo>
                    <a:pt x="40602" y="104817"/>
                  </a:lnTo>
                  <a:lnTo>
                    <a:pt x="69632" y="69632"/>
                  </a:lnTo>
                  <a:lnTo>
                    <a:pt x="104817" y="40602"/>
                  </a:lnTo>
                  <a:lnTo>
                    <a:pt x="145202" y="18682"/>
                  </a:lnTo>
                  <a:lnTo>
                    <a:pt x="189829" y="4829"/>
                  </a:lnTo>
                  <a:lnTo>
                    <a:pt x="237744" y="0"/>
                  </a:lnTo>
                  <a:lnTo>
                    <a:pt x="980846" y="0"/>
                  </a:lnTo>
                  <a:lnTo>
                    <a:pt x="1028760" y="4829"/>
                  </a:lnTo>
                  <a:lnTo>
                    <a:pt x="1073388" y="18682"/>
                  </a:lnTo>
                  <a:lnTo>
                    <a:pt x="1113772" y="40602"/>
                  </a:lnTo>
                  <a:lnTo>
                    <a:pt x="1148957" y="69632"/>
                  </a:lnTo>
                  <a:lnTo>
                    <a:pt x="1177988" y="104817"/>
                  </a:lnTo>
                  <a:lnTo>
                    <a:pt x="1199907" y="145202"/>
                  </a:lnTo>
                  <a:lnTo>
                    <a:pt x="1213760" y="189829"/>
                  </a:lnTo>
                  <a:lnTo>
                    <a:pt x="1218590" y="237744"/>
                  </a:lnTo>
                  <a:lnTo>
                    <a:pt x="1218590" y="333794"/>
                  </a:lnTo>
                  <a:lnTo>
                    <a:pt x="1213760" y="381709"/>
                  </a:lnTo>
                  <a:lnTo>
                    <a:pt x="1199907" y="426338"/>
                  </a:lnTo>
                  <a:lnTo>
                    <a:pt x="1177988" y="466724"/>
                  </a:lnTo>
                  <a:lnTo>
                    <a:pt x="1148957" y="501911"/>
                  </a:lnTo>
                  <a:lnTo>
                    <a:pt x="1113772" y="530944"/>
                  </a:lnTo>
                  <a:lnTo>
                    <a:pt x="1073388" y="552866"/>
                  </a:lnTo>
                  <a:lnTo>
                    <a:pt x="1028760" y="566720"/>
                  </a:lnTo>
                  <a:lnTo>
                    <a:pt x="980846" y="571550"/>
                  </a:lnTo>
                  <a:lnTo>
                    <a:pt x="237744" y="571550"/>
                  </a:lnTo>
                  <a:lnTo>
                    <a:pt x="189829" y="566720"/>
                  </a:lnTo>
                  <a:lnTo>
                    <a:pt x="145202" y="552866"/>
                  </a:lnTo>
                  <a:lnTo>
                    <a:pt x="104817" y="530944"/>
                  </a:lnTo>
                  <a:lnTo>
                    <a:pt x="69632" y="501911"/>
                  </a:lnTo>
                  <a:lnTo>
                    <a:pt x="40602" y="466724"/>
                  </a:lnTo>
                  <a:lnTo>
                    <a:pt x="18682" y="426338"/>
                  </a:lnTo>
                  <a:lnTo>
                    <a:pt x="4829" y="381709"/>
                  </a:lnTo>
                  <a:lnTo>
                    <a:pt x="0" y="333794"/>
                  </a:lnTo>
                  <a:lnTo>
                    <a:pt x="0" y="237744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37" name="object 137"/>
          <p:cNvSpPr txBox="1"/>
          <p:nvPr/>
        </p:nvSpPr>
        <p:spPr>
          <a:xfrm>
            <a:off x="222344" y="4308199"/>
            <a:ext cx="1036685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 indent="220913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Linear Regression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38" name="object 138"/>
          <p:cNvGrpSpPr/>
          <p:nvPr/>
        </p:nvGrpSpPr>
        <p:grpSpPr>
          <a:xfrm>
            <a:off x="703851" y="3598507"/>
            <a:ext cx="76180" cy="726251"/>
            <a:chOff x="704035" y="3598551"/>
            <a:chExt cx="76200" cy="726440"/>
          </a:xfrm>
        </p:grpSpPr>
        <p:sp>
          <p:nvSpPr>
            <p:cNvPr id="139" name="object 139"/>
            <p:cNvSpPr/>
            <p:nvPr/>
          </p:nvSpPr>
          <p:spPr>
            <a:xfrm>
              <a:off x="742130" y="3601726"/>
              <a:ext cx="0" cy="659765"/>
            </a:xfrm>
            <a:custGeom>
              <a:avLst/>
              <a:gdLst/>
              <a:ahLst/>
              <a:cxnLst/>
              <a:rect l="l" t="t" r="r" b="b"/>
              <a:pathLst>
                <a:path h="659764">
                  <a:moveTo>
                    <a:pt x="0" y="0"/>
                  </a:moveTo>
                  <a:lnTo>
                    <a:pt x="0" y="659688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40" name="object 140"/>
            <p:cNvSpPr/>
            <p:nvPr/>
          </p:nvSpPr>
          <p:spPr>
            <a:xfrm>
              <a:off x="704035" y="42487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41" name="object 141"/>
          <p:cNvSpPr txBox="1"/>
          <p:nvPr/>
        </p:nvSpPr>
        <p:spPr>
          <a:xfrm>
            <a:off x="741639" y="3602047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1805</a:t>
            </a:r>
            <a:endParaRPr sz="1200" dirty="0">
              <a:latin typeface="Calibri"/>
              <a:cs typeface="Calibri"/>
            </a:endParaRPr>
          </a:p>
        </p:txBody>
      </p:sp>
      <p:grpSp>
        <p:nvGrpSpPr>
          <p:cNvPr id="142" name="object 142"/>
          <p:cNvGrpSpPr/>
          <p:nvPr/>
        </p:nvGrpSpPr>
        <p:grpSpPr>
          <a:xfrm>
            <a:off x="1759377" y="4521970"/>
            <a:ext cx="1627081" cy="309799"/>
            <a:chOff x="1759835" y="4522255"/>
            <a:chExt cx="1627505" cy="309880"/>
          </a:xfrm>
        </p:grpSpPr>
        <p:sp>
          <p:nvSpPr>
            <p:cNvPr id="143" name="object 143"/>
            <p:cNvSpPr/>
            <p:nvPr/>
          </p:nvSpPr>
          <p:spPr>
            <a:xfrm>
              <a:off x="1766185" y="4528605"/>
              <a:ext cx="1614805" cy="297180"/>
            </a:xfrm>
            <a:custGeom>
              <a:avLst/>
              <a:gdLst/>
              <a:ahLst/>
              <a:cxnLst/>
              <a:rect l="l" t="t" r="r" b="b"/>
              <a:pathLst>
                <a:path w="1614804" h="297179">
                  <a:moveTo>
                    <a:pt x="1490903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1490903" y="296659"/>
                  </a:lnTo>
                  <a:lnTo>
                    <a:pt x="1538935" y="286962"/>
                  </a:lnTo>
                  <a:lnTo>
                    <a:pt x="1578162" y="260518"/>
                  </a:lnTo>
                  <a:lnTo>
                    <a:pt x="1604610" y="221296"/>
                  </a:lnTo>
                  <a:lnTo>
                    <a:pt x="1614309" y="173266"/>
                  </a:lnTo>
                  <a:lnTo>
                    <a:pt x="1614309" y="123405"/>
                  </a:lnTo>
                  <a:lnTo>
                    <a:pt x="1604610" y="75373"/>
                  </a:lnTo>
                  <a:lnTo>
                    <a:pt x="1578162" y="36147"/>
                  </a:lnTo>
                  <a:lnTo>
                    <a:pt x="1538935" y="9698"/>
                  </a:lnTo>
                  <a:lnTo>
                    <a:pt x="1490903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44" name="object 144"/>
            <p:cNvSpPr/>
            <p:nvPr/>
          </p:nvSpPr>
          <p:spPr>
            <a:xfrm>
              <a:off x="1766185" y="4528605"/>
              <a:ext cx="1614805" cy="297180"/>
            </a:xfrm>
            <a:custGeom>
              <a:avLst/>
              <a:gdLst/>
              <a:ahLst/>
              <a:cxnLst/>
              <a:rect l="l" t="t" r="r" b="b"/>
              <a:pathLst>
                <a:path w="1614804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1490903" y="0"/>
                  </a:lnTo>
                  <a:lnTo>
                    <a:pt x="1538935" y="9698"/>
                  </a:lnTo>
                  <a:lnTo>
                    <a:pt x="1578162" y="36147"/>
                  </a:lnTo>
                  <a:lnTo>
                    <a:pt x="1604610" y="75373"/>
                  </a:lnTo>
                  <a:lnTo>
                    <a:pt x="1614309" y="123405"/>
                  </a:lnTo>
                  <a:lnTo>
                    <a:pt x="1614309" y="173266"/>
                  </a:lnTo>
                  <a:lnTo>
                    <a:pt x="1604610" y="221296"/>
                  </a:lnTo>
                  <a:lnTo>
                    <a:pt x="1578162" y="260518"/>
                  </a:lnTo>
                  <a:lnTo>
                    <a:pt x="1538935" y="286962"/>
                  </a:lnTo>
                  <a:lnTo>
                    <a:pt x="1490903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45" name="object 145"/>
          <p:cNvSpPr txBox="1"/>
          <p:nvPr/>
        </p:nvSpPr>
        <p:spPr>
          <a:xfrm>
            <a:off x="1833655" y="4511556"/>
            <a:ext cx="1477260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Calibri"/>
                <a:cs typeface="Calibri"/>
              </a:rPr>
              <a:t>Turing</a:t>
            </a:r>
            <a:r>
              <a:rPr sz="1799" spc="-35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Machine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46" name="object 146"/>
          <p:cNvGrpSpPr/>
          <p:nvPr/>
        </p:nvGrpSpPr>
        <p:grpSpPr>
          <a:xfrm>
            <a:off x="2534582" y="3611552"/>
            <a:ext cx="2185736" cy="1906408"/>
            <a:chOff x="2535242" y="3611599"/>
            <a:chExt cx="2186305" cy="1906905"/>
          </a:xfrm>
        </p:grpSpPr>
        <p:sp>
          <p:nvSpPr>
            <p:cNvPr id="147" name="object 147"/>
            <p:cNvSpPr/>
            <p:nvPr/>
          </p:nvSpPr>
          <p:spPr>
            <a:xfrm>
              <a:off x="2573337" y="3614774"/>
              <a:ext cx="0" cy="850900"/>
            </a:xfrm>
            <a:custGeom>
              <a:avLst/>
              <a:gdLst/>
              <a:ahLst/>
              <a:cxnLst/>
              <a:rect l="l" t="t" r="r" b="b"/>
              <a:pathLst>
                <a:path h="850900">
                  <a:moveTo>
                    <a:pt x="0" y="0"/>
                  </a:moveTo>
                  <a:lnTo>
                    <a:pt x="0" y="850341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48" name="object 148"/>
            <p:cNvSpPr/>
            <p:nvPr/>
          </p:nvSpPr>
          <p:spPr>
            <a:xfrm>
              <a:off x="2535242" y="445241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49" name="object 149"/>
            <p:cNvSpPr/>
            <p:nvPr/>
          </p:nvSpPr>
          <p:spPr>
            <a:xfrm>
              <a:off x="3100495" y="4988562"/>
              <a:ext cx="1614805" cy="523875"/>
            </a:xfrm>
            <a:custGeom>
              <a:avLst/>
              <a:gdLst/>
              <a:ahLst/>
              <a:cxnLst/>
              <a:rect l="l" t="t" r="r" b="b"/>
              <a:pathLst>
                <a:path w="1614804" h="523875">
                  <a:moveTo>
                    <a:pt x="1396580" y="0"/>
                  </a:moveTo>
                  <a:lnTo>
                    <a:pt x="217728" y="0"/>
                  </a:lnTo>
                  <a:lnTo>
                    <a:pt x="167803" y="5750"/>
                  </a:lnTo>
                  <a:lnTo>
                    <a:pt x="121973" y="22131"/>
                  </a:lnTo>
                  <a:lnTo>
                    <a:pt x="81547" y="47834"/>
                  </a:lnTo>
                  <a:lnTo>
                    <a:pt x="47830" y="81552"/>
                  </a:lnTo>
                  <a:lnTo>
                    <a:pt x="22128" y="121979"/>
                  </a:lnTo>
                  <a:lnTo>
                    <a:pt x="5749" y="167807"/>
                  </a:lnTo>
                  <a:lnTo>
                    <a:pt x="0" y="217728"/>
                  </a:lnTo>
                  <a:lnTo>
                    <a:pt x="0" y="305688"/>
                  </a:lnTo>
                  <a:lnTo>
                    <a:pt x="5749" y="355614"/>
                  </a:lnTo>
                  <a:lnTo>
                    <a:pt x="22128" y="401444"/>
                  </a:lnTo>
                  <a:lnTo>
                    <a:pt x="47830" y="441870"/>
                  </a:lnTo>
                  <a:lnTo>
                    <a:pt x="81547" y="475587"/>
                  </a:lnTo>
                  <a:lnTo>
                    <a:pt x="121973" y="501288"/>
                  </a:lnTo>
                  <a:lnTo>
                    <a:pt x="167803" y="517667"/>
                  </a:lnTo>
                  <a:lnTo>
                    <a:pt x="217728" y="523417"/>
                  </a:lnTo>
                  <a:lnTo>
                    <a:pt x="1396580" y="523417"/>
                  </a:lnTo>
                  <a:lnTo>
                    <a:pt x="1446502" y="517667"/>
                  </a:lnTo>
                  <a:lnTo>
                    <a:pt x="1492330" y="501288"/>
                  </a:lnTo>
                  <a:lnTo>
                    <a:pt x="1532757" y="475587"/>
                  </a:lnTo>
                  <a:lnTo>
                    <a:pt x="1566475" y="441870"/>
                  </a:lnTo>
                  <a:lnTo>
                    <a:pt x="1592178" y="401444"/>
                  </a:lnTo>
                  <a:lnTo>
                    <a:pt x="1608559" y="355614"/>
                  </a:lnTo>
                  <a:lnTo>
                    <a:pt x="1614309" y="305688"/>
                  </a:lnTo>
                  <a:lnTo>
                    <a:pt x="1614309" y="217728"/>
                  </a:lnTo>
                  <a:lnTo>
                    <a:pt x="1608559" y="167807"/>
                  </a:lnTo>
                  <a:lnTo>
                    <a:pt x="1592178" y="121979"/>
                  </a:lnTo>
                  <a:lnTo>
                    <a:pt x="1566475" y="81552"/>
                  </a:lnTo>
                  <a:lnTo>
                    <a:pt x="1532757" y="47834"/>
                  </a:lnTo>
                  <a:lnTo>
                    <a:pt x="1492330" y="22131"/>
                  </a:lnTo>
                  <a:lnTo>
                    <a:pt x="1446502" y="5750"/>
                  </a:lnTo>
                  <a:lnTo>
                    <a:pt x="1396580" y="0"/>
                  </a:lnTo>
                  <a:close/>
                </a:path>
              </a:pathLst>
            </a:custGeom>
            <a:solidFill>
              <a:srgbClr val="AEABAB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50" name="object 150"/>
            <p:cNvSpPr/>
            <p:nvPr/>
          </p:nvSpPr>
          <p:spPr>
            <a:xfrm>
              <a:off x="3100495" y="4988562"/>
              <a:ext cx="1614805" cy="523875"/>
            </a:xfrm>
            <a:custGeom>
              <a:avLst/>
              <a:gdLst/>
              <a:ahLst/>
              <a:cxnLst/>
              <a:rect l="l" t="t" r="r" b="b"/>
              <a:pathLst>
                <a:path w="1614804" h="523875">
                  <a:moveTo>
                    <a:pt x="0" y="217728"/>
                  </a:moveTo>
                  <a:lnTo>
                    <a:pt x="5749" y="167807"/>
                  </a:lnTo>
                  <a:lnTo>
                    <a:pt x="22128" y="121979"/>
                  </a:lnTo>
                  <a:lnTo>
                    <a:pt x="47830" y="81552"/>
                  </a:lnTo>
                  <a:lnTo>
                    <a:pt x="81547" y="47834"/>
                  </a:lnTo>
                  <a:lnTo>
                    <a:pt x="121973" y="22131"/>
                  </a:lnTo>
                  <a:lnTo>
                    <a:pt x="167803" y="5750"/>
                  </a:lnTo>
                  <a:lnTo>
                    <a:pt x="217728" y="0"/>
                  </a:lnTo>
                  <a:lnTo>
                    <a:pt x="1396580" y="0"/>
                  </a:lnTo>
                  <a:lnTo>
                    <a:pt x="1446502" y="5750"/>
                  </a:lnTo>
                  <a:lnTo>
                    <a:pt x="1492330" y="22131"/>
                  </a:lnTo>
                  <a:lnTo>
                    <a:pt x="1532757" y="47834"/>
                  </a:lnTo>
                  <a:lnTo>
                    <a:pt x="1566475" y="81552"/>
                  </a:lnTo>
                  <a:lnTo>
                    <a:pt x="1592178" y="121979"/>
                  </a:lnTo>
                  <a:lnTo>
                    <a:pt x="1608559" y="167807"/>
                  </a:lnTo>
                  <a:lnTo>
                    <a:pt x="1614309" y="217728"/>
                  </a:lnTo>
                  <a:lnTo>
                    <a:pt x="1614309" y="305688"/>
                  </a:lnTo>
                  <a:lnTo>
                    <a:pt x="1608559" y="355614"/>
                  </a:lnTo>
                  <a:lnTo>
                    <a:pt x="1592178" y="401444"/>
                  </a:lnTo>
                  <a:lnTo>
                    <a:pt x="1566475" y="441870"/>
                  </a:lnTo>
                  <a:lnTo>
                    <a:pt x="1532757" y="475587"/>
                  </a:lnTo>
                  <a:lnTo>
                    <a:pt x="1492330" y="501288"/>
                  </a:lnTo>
                  <a:lnTo>
                    <a:pt x="1446502" y="517667"/>
                  </a:lnTo>
                  <a:lnTo>
                    <a:pt x="1396580" y="523417"/>
                  </a:lnTo>
                  <a:lnTo>
                    <a:pt x="217728" y="523417"/>
                  </a:lnTo>
                  <a:lnTo>
                    <a:pt x="167803" y="517667"/>
                  </a:lnTo>
                  <a:lnTo>
                    <a:pt x="121973" y="501288"/>
                  </a:lnTo>
                  <a:lnTo>
                    <a:pt x="81547" y="475587"/>
                  </a:lnTo>
                  <a:lnTo>
                    <a:pt x="47830" y="441870"/>
                  </a:lnTo>
                  <a:lnTo>
                    <a:pt x="22128" y="401444"/>
                  </a:lnTo>
                  <a:lnTo>
                    <a:pt x="5749" y="355614"/>
                  </a:lnTo>
                  <a:lnTo>
                    <a:pt x="0" y="305688"/>
                  </a:lnTo>
                  <a:lnTo>
                    <a:pt x="0" y="217728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51" name="object 151"/>
          <p:cNvSpPr txBox="1"/>
          <p:nvPr/>
        </p:nvSpPr>
        <p:spPr>
          <a:xfrm>
            <a:off x="3309663" y="4947618"/>
            <a:ext cx="1194124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90143" marR="5078" indent="-78082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Evolutionary Algorithms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52" name="object 152"/>
          <p:cNvGrpSpPr/>
          <p:nvPr/>
        </p:nvGrpSpPr>
        <p:grpSpPr>
          <a:xfrm>
            <a:off x="3868544" y="3387878"/>
            <a:ext cx="262187" cy="1600418"/>
            <a:chOff x="3869552" y="3387867"/>
            <a:chExt cx="262255" cy="1600835"/>
          </a:xfrm>
        </p:grpSpPr>
        <p:sp>
          <p:nvSpPr>
            <p:cNvPr id="153" name="object 153"/>
            <p:cNvSpPr/>
            <p:nvPr/>
          </p:nvSpPr>
          <p:spPr>
            <a:xfrm>
              <a:off x="3907655" y="3391042"/>
              <a:ext cx="220979" cy="1534160"/>
            </a:xfrm>
            <a:custGeom>
              <a:avLst/>
              <a:gdLst/>
              <a:ahLst/>
              <a:cxnLst/>
              <a:rect l="l" t="t" r="r" b="b"/>
              <a:pathLst>
                <a:path w="220979" h="1534160">
                  <a:moveTo>
                    <a:pt x="220751" y="0"/>
                  </a:moveTo>
                  <a:lnTo>
                    <a:pt x="220751" y="798766"/>
                  </a:lnTo>
                  <a:lnTo>
                    <a:pt x="0" y="798766"/>
                  </a:lnTo>
                  <a:lnTo>
                    <a:pt x="0" y="153402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54" name="object 154"/>
            <p:cNvSpPr/>
            <p:nvPr/>
          </p:nvSpPr>
          <p:spPr>
            <a:xfrm>
              <a:off x="3869552" y="491236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55" name="object 155"/>
          <p:cNvSpPr txBox="1"/>
          <p:nvPr/>
        </p:nvSpPr>
        <p:spPr>
          <a:xfrm>
            <a:off x="2609049" y="3176371"/>
            <a:ext cx="1496940" cy="627851"/>
          </a:xfrm>
          <a:prstGeom prst="rect">
            <a:avLst/>
          </a:prstGeom>
        </p:spPr>
        <p:txBody>
          <a:bodyPr vert="horz" wrap="square" lIns="0" tIns="99669" rIns="0" bIns="0" rtlCol="0">
            <a:spAutoFit/>
          </a:bodyPr>
          <a:lstStyle/>
          <a:p>
            <a:pPr marL="62846">
              <a:spcBef>
                <a:spcPts val="785"/>
              </a:spcBef>
              <a:tabLst>
                <a:tab pos="976972" algn="l"/>
              </a:tabLst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1940</a:t>
            </a:r>
            <a:r>
              <a:rPr sz="1799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1950</a:t>
            </a:r>
            <a:endParaRPr sz="1799">
              <a:latin typeface="Calibri"/>
              <a:cs typeface="Calibri"/>
            </a:endParaRPr>
          </a:p>
          <a:p>
            <a:pPr marL="12696">
              <a:spcBef>
                <a:spcPts val="455"/>
              </a:spcBef>
              <a:tabLst>
                <a:tab pos="1172493" algn="l"/>
              </a:tabLst>
            </a:pPr>
            <a:r>
              <a:rPr sz="1799" spc="-30" baseline="2314" dirty="0">
                <a:latin typeface="Calibri"/>
                <a:cs typeface="Calibri"/>
              </a:rPr>
              <a:t>1936</a:t>
            </a:r>
            <a:r>
              <a:rPr sz="1799" baseline="2314" dirty="0">
                <a:latin typeface="Calibri"/>
                <a:cs typeface="Calibri"/>
              </a:rPr>
              <a:t>	</a:t>
            </a:r>
            <a:r>
              <a:rPr sz="1200" spc="-20" dirty="0">
                <a:latin typeface="Calibri"/>
                <a:cs typeface="Calibri"/>
              </a:rPr>
              <a:t>1954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6" name="object 156"/>
          <p:cNvGrpSpPr/>
          <p:nvPr/>
        </p:nvGrpSpPr>
        <p:grpSpPr>
          <a:xfrm>
            <a:off x="7705592" y="3449866"/>
            <a:ext cx="1627081" cy="2037183"/>
            <a:chOff x="7707599" y="3449871"/>
            <a:chExt cx="1627505" cy="2037714"/>
          </a:xfrm>
        </p:grpSpPr>
        <p:sp>
          <p:nvSpPr>
            <p:cNvPr id="157" name="object 157"/>
            <p:cNvSpPr/>
            <p:nvPr/>
          </p:nvSpPr>
          <p:spPr>
            <a:xfrm>
              <a:off x="7713949" y="5184198"/>
              <a:ext cx="1614805" cy="297180"/>
            </a:xfrm>
            <a:custGeom>
              <a:avLst/>
              <a:gdLst/>
              <a:ahLst/>
              <a:cxnLst/>
              <a:rect l="l" t="t" r="r" b="b"/>
              <a:pathLst>
                <a:path w="1614804" h="297179">
                  <a:moveTo>
                    <a:pt x="1490903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1490903" y="296659"/>
                  </a:lnTo>
                  <a:lnTo>
                    <a:pt x="1538935" y="286962"/>
                  </a:lnTo>
                  <a:lnTo>
                    <a:pt x="1578162" y="260518"/>
                  </a:lnTo>
                  <a:lnTo>
                    <a:pt x="1604610" y="221296"/>
                  </a:lnTo>
                  <a:lnTo>
                    <a:pt x="1614309" y="173266"/>
                  </a:lnTo>
                  <a:lnTo>
                    <a:pt x="1614309" y="123405"/>
                  </a:lnTo>
                  <a:lnTo>
                    <a:pt x="1604610" y="75373"/>
                  </a:lnTo>
                  <a:lnTo>
                    <a:pt x="1578162" y="36147"/>
                  </a:lnTo>
                  <a:lnTo>
                    <a:pt x="1538935" y="9698"/>
                  </a:lnTo>
                  <a:lnTo>
                    <a:pt x="1490903" y="0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58" name="object 158"/>
            <p:cNvSpPr/>
            <p:nvPr/>
          </p:nvSpPr>
          <p:spPr>
            <a:xfrm>
              <a:off x="7713949" y="5184198"/>
              <a:ext cx="1614805" cy="297180"/>
            </a:xfrm>
            <a:custGeom>
              <a:avLst/>
              <a:gdLst/>
              <a:ahLst/>
              <a:cxnLst/>
              <a:rect l="l" t="t" r="r" b="b"/>
              <a:pathLst>
                <a:path w="1614804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1490903" y="0"/>
                  </a:lnTo>
                  <a:lnTo>
                    <a:pt x="1538935" y="9698"/>
                  </a:lnTo>
                  <a:lnTo>
                    <a:pt x="1578162" y="36147"/>
                  </a:lnTo>
                  <a:lnTo>
                    <a:pt x="1604610" y="75373"/>
                  </a:lnTo>
                  <a:lnTo>
                    <a:pt x="1614309" y="123405"/>
                  </a:lnTo>
                  <a:lnTo>
                    <a:pt x="1614309" y="173266"/>
                  </a:lnTo>
                  <a:lnTo>
                    <a:pt x="1604610" y="221296"/>
                  </a:lnTo>
                  <a:lnTo>
                    <a:pt x="1578162" y="260518"/>
                  </a:lnTo>
                  <a:lnTo>
                    <a:pt x="1538935" y="286962"/>
                  </a:lnTo>
                  <a:lnTo>
                    <a:pt x="1490903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59" name="object 159"/>
            <p:cNvSpPr/>
            <p:nvPr/>
          </p:nvSpPr>
          <p:spPr>
            <a:xfrm>
              <a:off x="8499944" y="3453046"/>
              <a:ext cx="20955" cy="1668145"/>
            </a:xfrm>
            <a:custGeom>
              <a:avLst/>
              <a:gdLst/>
              <a:ahLst/>
              <a:cxnLst/>
              <a:rect l="l" t="t" r="r" b="b"/>
              <a:pathLst>
                <a:path w="20954" h="1668145">
                  <a:moveTo>
                    <a:pt x="0" y="0"/>
                  </a:moveTo>
                  <a:lnTo>
                    <a:pt x="20383" y="1667662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60" name="object 160"/>
            <p:cNvSpPr/>
            <p:nvPr/>
          </p:nvSpPr>
          <p:spPr>
            <a:xfrm>
              <a:off x="8482070" y="5107545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76200" y="0"/>
                  </a:moveTo>
                  <a:lnTo>
                    <a:pt x="0" y="927"/>
                  </a:lnTo>
                  <a:lnTo>
                    <a:pt x="39027" y="76657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61" name="object 161"/>
          <p:cNvSpPr txBox="1"/>
          <p:nvPr/>
        </p:nvSpPr>
        <p:spPr>
          <a:xfrm>
            <a:off x="7923175" y="3154368"/>
            <a:ext cx="954791" cy="664037"/>
          </a:xfrm>
          <a:prstGeom prst="rect">
            <a:avLst/>
          </a:prstGeom>
        </p:spPr>
        <p:txBody>
          <a:bodyPr vert="horz" wrap="square" lIns="0" tIns="121253" rIns="0" bIns="0" rtlCol="0">
            <a:spAutoFit/>
          </a:bodyPr>
          <a:lstStyle/>
          <a:p>
            <a:pPr marR="14600" algn="ctr">
              <a:spcBef>
                <a:spcPts val="955"/>
              </a:spcBef>
            </a:pPr>
            <a:r>
              <a:rPr sz="1799" spc="-20" dirty="0">
                <a:solidFill>
                  <a:srgbClr val="FFFFFF"/>
                </a:solidFill>
                <a:latin typeface="Calibri"/>
                <a:cs typeface="Calibri"/>
              </a:rPr>
              <a:t>2000</a:t>
            </a:r>
            <a:endParaRPr sz="1799">
              <a:latin typeface="Calibri"/>
              <a:cs typeface="Calibri"/>
            </a:endParaRPr>
          </a:p>
          <a:p>
            <a:pPr algn="ctr">
              <a:spcBef>
                <a:spcPts val="575"/>
              </a:spcBef>
              <a:tabLst>
                <a:tab pos="617670" algn="l"/>
              </a:tabLst>
            </a:pPr>
            <a:r>
              <a:rPr sz="1799" spc="-30" baseline="2314" dirty="0">
                <a:latin typeface="Calibri"/>
                <a:cs typeface="Calibri"/>
              </a:rPr>
              <a:t>1995</a:t>
            </a:r>
            <a:r>
              <a:rPr sz="1799" baseline="2314" dirty="0">
                <a:latin typeface="Calibri"/>
                <a:cs typeface="Calibri"/>
              </a:rPr>
              <a:t>	</a:t>
            </a:r>
            <a:r>
              <a:rPr sz="1200" spc="-20" dirty="0">
                <a:latin typeface="Calibri"/>
                <a:cs typeface="Calibri"/>
              </a:rPr>
              <a:t>2000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62" name="object 162"/>
          <p:cNvGrpSpPr/>
          <p:nvPr/>
        </p:nvGrpSpPr>
        <p:grpSpPr>
          <a:xfrm>
            <a:off x="1195138" y="5090622"/>
            <a:ext cx="690065" cy="309799"/>
            <a:chOff x="1195449" y="5091055"/>
            <a:chExt cx="690245" cy="309880"/>
          </a:xfrm>
        </p:grpSpPr>
        <p:sp>
          <p:nvSpPr>
            <p:cNvPr id="163" name="object 163"/>
            <p:cNvSpPr/>
            <p:nvPr/>
          </p:nvSpPr>
          <p:spPr>
            <a:xfrm>
              <a:off x="1201799" y="5097405"/>
              <a:ext cx="677545" cy="297180"/>
            </a:xfrm>
            <a:custGeom>
              <a:avLst/>
              <a:gdLst/>
              <a:ahLst/>
              <a:cxnLst/>
              <a:rect l="l" t="t" r="r" b="b"/>
              <a:pathLst>
                <a:path w="677544" h="297179">
                  <a:moveTo>
                    <a:pt x="554126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554126" y="296659"/>
                  </a:lnTo>
                  <a:lnTo>
                    <a:pt x="602158" y="286962"/>
                  </a:lnTo>
                  <a:lnTo>
                    <a:pt x="641384" y="260518"/>
                  </a:lnTo>
                  <a:lnTo>
                    <a:pt x="667833" y="221296"/>
                  </a:lnTo>
                  <a:lnTo>
                    <a:pt x="677532" y="173266"/>
                  </a:lnTo>
                  <a:lnTo>
                    <a:pt x="677532" y="123405"/>
                  </a:lnTo>
                  <a:lnTo>
                    <a:pt x="667833" y="75373"/>
                  </a:lnTo>
                  <a:lnTo>
                    <a:pt x="641384" y="36147"/>
                  </a:lnTo>
                  <a:lnTo>
                    <a:pt x="602158" y="9698"/>
                  </a:lnTo>
                  <a:lnTo>
                    <a:pt x="554126" y="0"/>
                  </a:lnTo>
                  <a:close/>
                </a:path>
              </a:pathLst>
            </a:custGeom>
            <a:solidFill>
              <a:srgbClr val="B4C6E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64" name="object 164"/>
            <p:cNvSpPr/>
            <p:nvPr/>
          </p:nvSpPr>
          <p:spPr>
            <a:xfrm>
              <a:off x="1201799" y="5097405"/>
              <a:ext cx="677545" cy="297180"/>
            </a:xfrm>
            <a:custGeom>
              <a:avLst/>
              <a:gdLst/>
              <a:ahLst/>
              <a:cxnLst/>
              <a:rect l="l" t="t" r="r" b="b"/>
              <a:pathLst>
                <a:path w="677544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554126" y="0"/>
                  </a:lnTo>
                  <a:lnTo>
                    <a:pt x="602158" y="9698"/>
                  </a:lnTo>
                  <a:lnTo>
                    <a:pt x="641384" y="36147"/>
                  </a:lnTo>
                  <a:lnTo>
                    <a:pt x="667833" y="75373"/>
                  </a:lnTo>
                  <a:lnTo>
                    <a:pt x="677532" y="123405"/>
                  </a:lnTo>
                  <a:lnTo>
                    <a:pt x="677532" y="173266"/>
                  </a:lnTo>
                  <a:lnTo>
                    <a:pt x="667833" y="221296"/>
                  </a:lnTo>
                  <a:lnTo>
                    <a:pt x="641384" y="260518"/>
                  </a:lnTo>
                  <a:lnTo>
                    <a:pt x="602158" y="286962"/>
                  </a:lnTo>
                  <a:lnTo>
                    <a:pt x="554126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65" name="object 165"/>
          <p:cNvSpPr txBox="1"/>
          <p:nvPr/>
        </p:nvSpPr>
        <p:spPr>
          <a:xfrm>
            <a:off x="1340950" y="5080208"/>
            <a:ext cx="397406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Calibri"/>
                <a:cs typeface="Calibri"/>
              </a:rPr>
              <a:t>PCA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66" name="object 166"/>
          <p:cNvGrpSpPr/>
          <p:nvPr/>
        </p:nvGrpSpPr>
        <p:grpSpPr>
          <a:xfrm>
            <a:off x="1502325" y="3358148"/>
            <a:ext cx="76180" cy="1739447"/>
            <a:chOff x="1502717" y="3358130"/>
            <a:chExt cx="76200" cy="1739900"/>
          </a:xfrm>
        </p:grpSpPr>
        <p:sp>
          <p:nvSpPr>
            <p:cNvPr id="167" name="object 167"/>
            <p:cNvSpPr/>
            <p:nvPr/>
          </p:nvSpPr>
          <p:spPr>
            <a:xfrm>
              <a:off x="1540772" y="3361305"/>
              <a:ext cx="5715" cy="1673225"/>
            </a:xfrm>
            <a:custGeom>
              <a:avLst/>
              <a:gdLst/>
              <a:ahLst/>
              <a:cxnLst/>
              <a:rect l="l" t="t" r="r" b="b"/>
              <a:pathLst>
                <a:path w="5715" h="1673225">
                  <a:moveTo>
                    <a:pt x="5638" y="0"/>
                  </a:moveTo>
                  <a:lnTo>
                    <a:pt x="0" y="1672602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68" name="object 168"/>
            <p:cNvSpPr/>
            <p:nvPr/>
          </p:nvSpPr>
          <p:spPr>
            <a:xfrm>
              <a:off x="1502717" y="502108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0" y="0"/>
                  </a:moveTo>
                  <a:lnTo>
                    <a:pt x="37846" y="76326"/>
                  </a:lnTo>
                  <a:lnTo>
                    <a:pt x="76200" y="2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69" name="object 169"/>
          <p:cNvSpPr txBox="1"/>
          <p:nvPr/>
        </p:nvSpPr>
        <p:spPr>
          <a:xfrm>
            <a:off x="1551278" y="3604069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1901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0" name="object 170"/>
          <p:cNvGrpSpPr/>
          <p:nvPr/>
        </p:nvGrpSpPr>
        <p:grpSpPr>
          <a:xfrm>
            <a:off x="8978477" y="4745093"/>
            <a:ext cx="999865" cy="309799"/>
            <a:chOff x="8980816" y="4745436"/>
            <a:chExt cx="1000125" cy="309880"/>
          </a:xfrm>
        </p:grpSpPr>
        <p:sp>
          <p:nvSpPr>
            <p:cNvPr id="171" name="object 171"/>
            <p:cNvSpPr/>
            <p:nvPr/>
          </p:nvSpPr>
          <p:spPr>
            <a:xfrm>
              <a:off x="8987167" y="4751786"/>
              <a:ext cx="987425" cy="297180"/>
            </a:xfrm>
            <a:custGeom>
              <a:avLst/>
              <a:gdLst/>
              <a:ahLst/>
              <a:cxnLst/>
              <a:rect l="l" t="t" r="r" b="b"/>
              <a:pathLst>
                <a:path w="987425" h="297179">
                  <a:moveTo>
                    <a:pt x="863828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863828" y="296659"/>
                  </a:lnTo>
                  <a:lnTo>
                    <a:pt x="911866" y="286962"/>
                  </a:lnTo>
                  <a:lnTo>
                    <a:pt x="951091" y="260518"/>
                  </a:lnTo>
                  <a:lnTo>
                    <a:pt x="977537" y="221296"/>
                  </a:lnTo>
                  <a:lnTo>
                    <a:pt x="987234" y="173266"/>
                  </a:lnTo>
                  <a:lnTo>
                    <a:pt x="987234" y="123405"/>
                  </a:lnTo>
                  <a:lnTo>
                    <a:pt x="977537" y="75373"/>
                  </a:lnTo>
                  <a:lnTo>
                    <a:pt x="951091" y="36147"/>
                  </a:lnTo>
                  <a:lnTo>
                    <a:pt x="911866" y="9698"/>
                  </a:lnTo>
                  <a:lnTo>
                    <a:pt x="8638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72" name="object 172"/>
            <p:cNvSpPr/>
            <p:nvPr/>
          </p:nvSpPr>
          <p:spPr>
            <a:xfrm>
              <a:off x="8987166" y="4751786"/>
              <a:ext cx="987425" cy="297180"/>
            </a:xfrm>
            <a:custGeom>
              <a:avLst/>
              <a:gdLst/>
              <a:ahLst/>
              <a:cxnLst/>
              <a:rect l="l" t="t" r="r" b="b"/>
              <a:pathLst>
                <a:path w="987425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863828" y="0"/>
                  </a:lnTo>
                  <a:lnTo>
                    <a:pt x="911866" y="9698"/>
                  </a:lnTo>
                  <a:lnTo>
                    <a:pt x="951091" y="36147"/>
                  </a:lnTo>
                  <a:lnTo>
                    <a:pt x="977537" y="75373"/>
                  </a:lnTo>
                  <a:lnTo>
                    <a:pt x="987234" y="123405"/>
                  </a:lnTo>
                  <a:lnTo>
                    <a:pt x="987234" y="173266"/>
                  </a:lnTo>
                  <a:lnTo>
                    <a:pt x="977537" y="221296"/>
                  </a:lnTo>
                  <a:lnTo>
                    <a:pt x="951091" y="260518"/>
                  </a:lnTo>
                  <a:lnTo>
                    <a:pt x="911866" y="286962"/>
                  </a:lnTo>
                  <a:lnTo>
                    <a:pt x="863828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73" name="object 173"/>
          <p:cNvSpPr txBox="1"/>
          <p:nvPr/>
        </p:nvSpPr>
        <p:spPr>
          <a:xfrm>
            <a:off x="7656733" y="4576631"/>
            <a:ext cx="2232713" cy="83917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53624" marR="5078" indent="-141563">
              <a:lnSpc>
                <a:spcPct val="157600"/>
              </a:lnSpc>
              <a:spcBef>
                <a:spcPts val="100"/>
              </a:spcBef>
              <a:tabLst>
                <a:tab pos="1423243" algn="l"/>
              </a:tabLst>
            </a:pPr>
            <a:r>
              <a:rPr sz="2699" spc="-37" baseline="1543" dirty="0">
                <a:latin typeface="Calibri"/>
                <a:cs typeface="Calibri"/>
              </a:rPr>
              <a:t>SVM</a:t>
            </a:r>
            <a:r>
              <a:rPr sz="2699" baseline="1543" dirty="0">
                <a:latin typeface="Calibri"/>
                <a:cs typeface="Calibri"/>
              </a:rPr>
              <a:t>	</a:t>
            </a:r>
            <a:r>
              <a:rPr sz="1799" spc="-10" dirty="0">
                <a:latin typeface="Calibri"/>
                <a:cs typeface="Calibri"/>
              </a:rPr>
              <a:t>XGBoost </a:t>
            </a:r>
            <a:r>
              <a:rPr sz="1799" dirty="0">
                <a:latin typeface="Calibri"/>
                <a:cs typeface="Calibri"/>
              </a:rPr>
              <a:t>Random</a:t>
            </a:r>
            <a:r>
              <a:rPr sz="1799" spc="-45" dirty="0">
                <a:latin typeface="Calibri"/>
                <a:cs typeface="Calibri"/>
              </a:rPr>
              <a:t> </a:t>
            </a:r>
            <a:r>
              <a:rPr sz="1799" spc="-10" dirty="0">
                <a:latin typeface="Calibri"/>
                <a:cs typeface="Calibri"/>
              </a:rPr>
              <a:t>Forest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74" name="object 174"/>
          <p:cNvGrpSpPr/>
          <p:nvPr/>
        </p:nvGrpSpPr>
        <p:grpSpPr>
          <a:xfrm>
            <a:off x="9440231" y="3595771"/>
            <a:ext cx="302181" cy="1156034"/>
            <a:chOff x="9442690" y="3595814"/>
            <a:chExt cx="302260" cy="1156335"/>
          </a:xfrm>
        </p:grpSpPr>
        <p:sp>
          <p:nvSpPr>
            <p:cNvPr id="175" name="object 175"/>
            <p:cNvSpPr/>
            <p:nvPr/>
          </p:nvSpPr>
          <p:spPr>
            <a:xfrm>
              <a:off x="9480787" y="3598989"/>
              <a:ext cx="260985" cy="1089660"/>
            </a:xfrm>
            <a:custGeom>
              <a:avLst/>
              <a:gdLst/>
              <a:ahLst/>
              <a:cxnLst/>
              <a:rect l="l" t="t" r="r" b="b"/>
              <a:pathLst>
                <a:path w="260984" h="1089660">
                  <a:moveTo>
                    <a:pt x="260756" y="0"/>
                  </a:moveTo>
                  <a:lnTo>
                    <a:pt x="260756" y="576402"/>
                  </a:lnTo>
                  <a:lnTo>
                    <a:pt x="0" y="576402"/>
                  </a:lnTo>
                  <a:lnTo>
                    <a:pt x="0" y="1089304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76" name="object 176"/>
            <p:cNvSpPr/>
            <p:nvPr/>
          </p:nvSpPr>
          <p:spPr>
            <a:xfrm>
              <a:off x="9442690" y="467559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77" name="object 177"/>
          <p:cNvSpPr txBox="1"/>
          <p:nvPr/>
        </p:nvSpPr>
        <p:spPr>
          <a:xfrm>
            <a:off x="9356589" y="3602047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2014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8" name="object 178"/>
          <p:cNvGrpSpPr/>
          <p:nvPr/>
        </p:nvGrpSpPr>
        <p:grpSpPr>
          <a:xfrm>
            <a:off x="9862185" y="5178555"/>
            <a:ext cx="999865" cy="309799"/>
            <a:chOff x="9864754" y="5179011"/>
            <a:chExt cx="1000125" cy="309880"/>
          </a:xfrm>
        </p:grpSpPr>
        <p:sp>
          <p:nvSpPr>
            <p:cNvPr id="179" name="object 179"/>
            <p:cNvSpPr/>
            <p:nvPr/>
          </p:nvSpPr>
          <p:spPr>
            <a:xfrm>
              <a:off x="9871104" y="5185361"/>
              <a:ext cx="987425" cy="297180"/>
            </a:xfrm>
            <a:custGeom>
              <a:avLst/>
              <a:gdLst/>
              <a:ahLst/>
              <a:cxnLst/>
              <a:rect l="l" t="t" r="r" b="b"/>
              <a:pathLst>
                <a:path w="987425" h="297179">
                  <a:moveTo>
                    <a:pt x="863828" y="0"/>
                  </a:moveTo>
                  <a:lnTo>
                    <a:pt x="123405" y="0"/>
                  </a:lnTo>
                  <a:lnTo>
                    <a:pt x="75368" y="9698"/>
                  </a:lnTo>
                  <a:lnTo>
                    <a:pt x="36142" y="36147"/>
                  </a:lnTo>
                  <a:lnTo>
                    <a:pt x="9697" y="75373"/>
                  </a:lnTo>
                  <a:lnTo>
                    <a:pt x="0" y="123405"/>
                  </a:lnTo>
                  <a:lnTo>
                    <a:pt x="0" y="173266"/>
                  </a:lnTo>
                  <a:lnTo>
                    <a:pt x="9697" y="221296"/>
                  </a:lnTo>
                  <a:lnTo>
                    <a:pt x="36142" y="260518"/>
                  </a:lnTo>
                  <a:lnTo>
                    <a:pt x="75368" y="286962"/>
                  </a:lnTo>
                  <a:lnTo>
                    <a:pt x="123405" y="296659"/>
                  </a:lnTo>
                  <a:lnTo>
                    <a:pt x="863828" y="296659"/>
                  </a:lnTo>
                  <a:lnTo>
                    <a:pt x="911866" y="286962"/>
                  </a:lnTo>
                  <a:lnTo>
                    <a:pt x="951091" y="260518"/>
                  </a:lnTo>
                  <a:lnTo>
                    <a:pt x="977537" y="221296"/>
                  </a:lnTo>
                  <a:lnTo>
                    <a:pt x="987234" y="173266"/>
                  </a:lnTo>
                  <a:lnTo>
                    <a:pt x="987234" y="123405"/>
                  </a:lnTo>
                  <a:lnTo>
                    <a:pt x="977537" y="75373"/>
                  </a:lnTo>
                  <a:lnTo>
                    <a:pt x="951091" y="36147"/>
                  </a:lnTo>
                  <a:lnTo>
                    <a:pt x="911866" y="9698"/>
                  </a:lnTo>
                  <a:lnTo>
                    <a:pt x="8638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0" name="object 180"/>
            <p:cNvSpPr/>
            <p:nvPr/>
          </p:nvSpPr>
          <p:spPr>
            <a:xfrm>
              <a:off x="9871104" y="5185361"/>
              <a:ext cx="987425" cy="297180"/>
            </a:xfrm>
            <a:custGeom>
              <a:avLst/>
              <a:gdLst/>
              <a:ahLst/>
              <a:cxnLst/>
              <a:rect l="l" t="t" r="r" b="b"/>
              <a:pathLst>
                <a:path w="987425" h="297179">
                  <a:moveTo>
                    <a:pt x="0" y="123405"/>
                  </a:moveTo>
                  <a:lnTo>
                    <a:pt x="9697" y="75373"/>
                  </a:lnTo>
                  <a:lnTo>
                    <a:pt x="36142" y="36147"/>
                  </a:lnTo>
                  <a:lnTo>
                    <a:pt x="75368" y="9698"/>
                  </a:lnTo>
                  <a:lnTo>
                    <a:pt x="123405" y="0"/>
                  </a:lnTo>
                  <a:lnTo>
                    <a:pt x="863828" y="0"/>
                  </a:lnTo>
                  <a:lnTo>
                    <a:pt x="911866" y="9698"/>
                  </a:lnTo>
                  <a:lnTo>
                    <a:pt x="951091" y="36147"/>
                  </a:lnTo>
                  <a:lnTo>
                    <a:pt x="977537" y="75373"/>
                  </a:lnTo>
                  <a:lnTo>
                    <a:pt x="987234" y="123405"/>
                  </a:lnTo>
                  <a:lnTo>
                    <a:pt x="987234" y="173266"/>
                  </a:lnTo>
                  <a:lnTo>
                    <a:pt x="977537" y="221296"/>
                  </a:lnTo>
                  <a:lnTo>
                    <a:pt x="951091" y="260518"/>
                  </a:lnTo>
                  <a:lnTo>
                    <a:pt x="911866" y="286962"/>
                  </a:lnTo>
                  <a:lnTo>
                    <a:pt x="863828" y="296659"/>
                  </a:lnTo>
                  <a:lnTo>
                    <a:pt x="123405" y="296659"/>
                  </a:lnTo>
                  <a:lnTo>
                    <a:pt x="75368" y="286962"/>
                  </a:lnTo>
                  <a:lnTo>
                    <a:pt x="36142" y="260518"/>
                  </a:lnTo>
                  <a:lnTo>
                    <a:pt x="9697" y="221296"/>
                  </a:lnTo>
                  <a:lnTo>
                    <a:pt x="0" y="173266"/>
                  </a:lnTo>
                  <a:lnTo>
                    <a:pt x="0" y="12340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81" name="object 181"/>
          <p:cNvSpPr txBox="1"/>
          <p:nvPr/>
        </p:nvSpPr>
        <p:spPr>
          <a:xfrm>
            <a:off x="9928812" y="5168142"/>
            <a:ext cx="865280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Calibri"/>
                <a:cs typeface="Calibri"/>
              </a:rPr>
              <a:t>CatBoost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82" name="object 182"/>
          <p:cNvGrpSpPr/>
          <p:nvPr/>
        </p:nvGrpSpPr>
        <p:grpSpPr>
          <a:xfrm>
            <a:off x="10642313" y="4178911"/>
            <a:ext cx="999865" cy="543418"/>
            <a:chOff x="10645085" y="4179106"/>
            <a:chExt cx="1000125" cy="543560"/>
          </a:xfrm>
        </p:grpSpPr>
        <p:sp>
          <p:nvSpPr>
            <p:cNvPr id="183" name="object 183"/>
            <p:cNvSpPr/>
            <p:nvPr/>
          </p:nvSpPr>
          <p:spPr>
            <a:xfrm>
              <a:off x="10651435" y="4185456"/>
              <a:ext cx="987425" cy="530860"/>
            </a:xfrm>
            <a:custGeom>
              <a:avLst/>
              <a:gdLst/>
              <a:ahLst/>
              <a:cxnLst/>
              <a:rect l="l" t="t" r="r" b="b"/>
              <a:pathLst>
                <a:path w="987425" h="530860">
                  <a:moveTo>
                    <a:pt x="766584" y="0"/>
                  </a:moveTo>
                  <a:lnTo>
                    <a:pt x="220649" y="0"/>
                  </a:lnTo>
                  <a:lnTo>
                    <a:pt x="176182" y="4483"/>
                  </a:lnTo>
                  <a:lnTo>
                    <a:pt x="134765" y="17340"/>
                  </a:lnTo>
                  <a:lnTo>
                    <a:pt x="97284" y="37684"/>
                  </a:lnTo>
                  <a:lnTo>
                    <a:pt x="64628" y="64628"/>
                  </a:lnTo>
                  <a:lnTo>
                    <a:pt x="37684" y="97284"/>
                  </a:lnTo>
                  <a:lnTo>
                    <a:pt x="17340" y="134765"/>
                  </a:lnTo>
                  <a:lnTo>
                    <a:pt x="4483" y="176182"/>
                  </a:lnTo>
                  <a:lnTo>
                    <a:pt x="0" y="220649"/>
                  </a:lnTo>
                  <a:lnTo>
                    <a:pt x="0" y="309803"/>
                  </a:lnTo>
                  <a:lnTo>
                    <a:pt x="4483" y="354270"/>
                  </a:lnTo>
                  <a:lnTo>
                    <a:pt x="17340" y="395688"/>
                  </a:lnTo>
                  <a:lnTo>
                    <a:pt x="37684" y="433168"/>
                  </a:lnTo>
                  <a:lnTo>
                    <a:pt x="64628" y="465824"/>
                  </a:lnTo>
                  <a:lnTo>
                    <a:pt x="97284" y="492768"/>
                  </a:lnTo>
                  <a:lnTo>
                    <a:pt x="134765" y="513113"/>
                  </a:lnTo>
                  <a:lnTo>
                    <a:pt x="176182" y="525970"/>
                  </a:lnTo>
                  <a:lnTo>
                    <a:pt x="220649" y="530453"/>
                  </a:lnTo>
                  <a:lnTo>
                    <a:pt x="766584" y="530453"/>
                  </a:lnTo>
                  <a:lnTo>
                    <a:pt x="811051" y="525970"/>
                  </a:lnTo>
                  <a:lnTo>
                    <a:pt x="852469" y="513113"/>
                  </a:lnTo>
                  <a:lnTo>
                    <a:pt x="889949" y="492768"/>
                  </a:lnTo>
                  <a:lnTo>
                    <a:pt x="922605" y="465824"/>
                  </a:lnTo>
                  <a:lnTo>
                    <a:pt x="949549" y="433168"/>
                  </a:lnTo>
                  <a:lnTo>
                    <a:pt x="969894" y="395688"/>
                  </a:lnTo>
                  <a:lnTo>
                    <a:pt x="982751" y="354270"/>
                  </a:lnTo>
                  <a:lnTo>
                    <a:pt x="987234" y="309803"/>
                  </a:lnTo>
                  <a:lnTo>
                    <a:pt x="987234" y="220649"/>
                  </a:lnTo>
                  <a:lnTo>
                    <a:pt x="982751" y="176182"/>
                  </a:lnTo>
                  <a:lnTo>
                    <a:pt x="969894" y="134765"/>
                  </a:lnTo>
                  <a:lnTo>
                    <a:pt x="949549" y="97284"/>
                  </a:lnTo>
                  <a:lnTo>
                    <a:pt x="922605" y="64628"/>
                  </a:lnTo>
                  <a:lnTo>
                    <a:pt x="889949" y="37684"/>
                  </a:lnTo>
                  <a:lnTo>
                    <a:pt x="852469" y="17340"/>
                  </a:lnTo>
                  <a:lnTo>
                    <a:pt x="811051" y="4483"/>
                  </a:lnTo>
                  <a:lnTo>
                    <a:pt x="766584" y="0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4" name="object 184"/>
            <p:cNvSpPr/>
            <p:nvPr/>
          </p:nvSpPr>
          <p:spPr>
            <a:xfrm>
              <a:off x="10651435" y="4185456"/>
              <a:ext cx="987425" cy="530860"/>
            </a:xfrm>
            <a:custGeom>
              <a:avLst/>
              <a:gdLst/>
              <a:ahLst/>
              <a:cxnLst/>
              <a:rect l="l" t="t" r="r" b="b"/>
              <a:pathLst>
                <a:path w="987425" h="530860">
                  <a:moveTo>
                    <a:pt x="0" y="220649"/>
                  </a:moveTo>
                  <a:lnTo>
                    <a:pt x="4483" y="176182"/>
                  </a:lnTo>
                  <a:lnTo>
                    <a:pt x="17340" y="134765"/>
                  </a:lnTo>
                  <a:lnTo>
                    <a:pt x="37684" y="97284"/>
                  </a:lnTo>
                  <a:lnTo>
                    <a:pt x="64628" y="64628"/>
                  </a:lnTo>
                  <a:lnTo>
                    <a:pt x="97284" y="37684"/>
                  </a:lnTo>
                  <a:lnTo>
                    <a:pt x="134765" y="17340"/>
                  </a:lnTo>
                  <a:lnTo>
                    <a:pt x="176182" y="4483"/>
                  </a:lnTo>
                  <a:lnTo>
                    <a:pt x="220649" y="0"/>
                  </a:lnTo>
                  <a:lnTo>
                    <a:pt x="766584" y="0"/>
                  </a:lnTo>
                  <a:lnTo>
                    <a:pt x="811051" y="4483"/>
                  </a:lnTo>
                  <a:lnTo>
                    <a:pt x="852469" y="17340"/>
                  </a:lnTo>
                  <a:lnTo>
                    <a:pt x="889949" y="37684"/>
                  </a:lnTo>
                  <a:lnTo>
                    <a:pt x="922605" y="64628"/>
                  </a:lnTo>
                  <a:lnTo>
                    <a:pt x="949549" y="97284"/>
                  </a:lnTo>
                  <a:lnTo>
                    <a:pt x="969894" y="134765"/>
                  </a:lnTo>
                  <a:lnTo>
                    <a:pt x="982751" y="176182"/>
                  </a:lnTo>
                  <a:lnTo>
                    <a:pt x="987234" y="220649"/>
                  </a:lnTo>
                  <a:lnTo>
                    <a:pt x="987234" y="309803"/>
                  </a:lnTo>
                  <a:lnTo>
                    <a:pt x="982751" y="354270"/>
                  </a:lnTo>
                  <a:lnTo>
                    <a:pt x="969894" y="395688"/>
                  </a:lnTo>
                  <a:lnTo>
                    <a:pt x="949549" y="433168"/>
                  </a:lnTo>
                  <a:lnTo>
                    <a:pt x="922605" y="465824"/>
                  </a:lnTo>
                  <a:lnTo>
                    <a:pt x="889949" y="492768"/>
                  </a:lnTo>
                  <a:lnTo>
                    <a:pt x="852469" y="513113"/>
                  </a:lnTo>
                  <a:lnTo>
                    <a:pt x="811051" y="525970"/>
                  </a:lnTo>
                  <a:lnTo>
                    <a:pt x="766584" y="530453"/>
                  </a:lnTo>
                  <a:lnTo>
                    <a:pt x="220649" y="530453"/>
                  </a:lnTo>
                  <a:lnTo>
                    <a:pt x="176182" y="525970"/>
                  </a:lnTo>
                  <a:lnTo>
                    <a:pt x="134765" y="513113"/>
                  </a:lnTo>
                  <a:lnTo>
                    <a:pt x="97284" y="492768"/>
                  </a:lnTo>
                  <a:lnTo>
                    <a:pt x="64628" y="465824"/>
                  </a:lnTo>
                  <a:lnTo>
                    <a:pt x="37684" y="433168"/>
                  </a:lnTo>
                  <a:lnTo>
                    <a:pt x="17340" y="395688"/>
                  </a:lnTo>
                  <a:lnTo>
                    <a:pt x="4483" y="354270"/>
                  </a:lnTo>
                  <a:lnTo>
                    <a:pt x="0" y="309803"/>
                  </a:lnTo>
                  <a:lnTo>
                    <a:pt x="0" y="22064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85" name="object 185"/>
          <p:cNvSpPr txBox="1"/>
          <p:nvPr/>
        </p:nvSpPr>
        <p:spPr>
          <a:xfrm>
            <a:off x="10836618" y="4148232"/>
            <a:ext cx="611346" cy="57389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 indent="48246">
              <a:spcBef>
                <a:spcPts val="100"/>
              </a:spcBef>
            </a:pPr>
            <a:r>
              <a:rPr sz="1799" spc="-20" dirty="0">
                <a:latin typeface="Calibri"/>
                <a:cs typeface="Calibri"/>
              </a:rPr>
              <a:t>Deep </a:t>
            </a:r>
            <a:r>
              <a:rPr sz="1799" spc="-10" dirty="0">
                <a:latin typeface="Calibri"/>
                <a:cs typeface="Calibri"/>
              </a:rPr>
              <a:t>Forest</a:t>
            </a:r>
            <a:endParaRPr sz="1799">
              <a:latin typeface="Calibri"/>
              <a:cs typeface="Calibri"/>
            </a:endParaRPr>
          </a:p>
        </p:txBody>
      </p:sp>
      <p:grpSp>
        <p:nvGrpSpPr>
          <p:cNvPr id="186" name="object 186"/>
          <p:cNvGrpSpPr/>
          <p:nvPr/>
        </p:nvGrpSpPr>
        <p:grpSpPr>
          <a:xfrm>
            <a:off x="10323424" y="3363484"/>
            <a:ext cx="857027" cy="1821975"/>
            <a:chOff x="10326114" y="3363467"/>
            <a:chExt cx="857250" cy="1822450"/>
          </a:xfrm>
        </p:grpSpPr>
        <p:sp>
          <p:nvSpPr>
            <p:cNvPr id="187" name="object 187"/>
            <p:cNvSpPr/>
            <p:nvPr/>
          </p:nvSpPr>
          <p:spPr>
            <a:xfrm>
              <a:off x="10352519" y="3366642"/>
              <a:ext cx="12065" cy="1755775"/>
            </a:xfrm>
            <a:custGeom>
              <a:avLst/>
              <a:gdLst/>
              <a:ahLst/>
              <a:cxnLst/>
              <a:rect l="l" t="t" r="r" b="b"/>
              <a:pathLst>
                <a:path w="12065" h="1755775">
                  <a:moveTo>
                    <a:pt x="0" y="0"/>
                  </a:moveTo>
                  <a:lnTo>
                    <a:pt x="11772" y="1755228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8" name="object 188"/>
            <p:cNvSpPr/>
            <p:nvPr/>
          </p:nvSpPr>
          <p:spPr>
            <a:xfrm>
              <a:off x="10326114" y="5108912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76200" y="0"/>
                  </a:moveTo>
                  <a:lnTo>
                    <a:pt x="0" y="507"/>
                  </a:lnTo>
                  <a:lnTo>
                    <a:pt x="38608" y="76453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9" name="object 189"/>
            <p:cNvSpPr/>
            <p:nvPr/>
          </p:nvSpPr>
          <p:spPr>
            <a:xfrm>
              <a:off x="10364722" y="3963319"/>
              <a:ext cx="780415" cy="158750"/>
            </a:xfrm>
            <a:custGeom>
              <a:avLst/>
              <a:gdLst/>
              <a:ahLst/>
              <a:cxnLst/>
              <a:rect l="l" t="t" r="r" b="b"/>
              <a:pathLst>
                <a:path w="780415" h="158750">
                  <a:moveTo>
                    <a:pt x="0" y="0"/>
                  </a:moveTo>
                  <a:lnTo>
                    <a:pt x="780326" y="0"/>
                  </a:lnTo>
                  <a:lnTo>
                    <a:pt x="780326" y="158635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90" name="object 190"/>
            <p:cNvSpPr/>
            <p:nvPr/>
          </p:nvSpPr>
          <p:spPr>
            <a:xfrm>
              <a:off x="11106955" y="410925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381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91" name="object 191"/>
          <p:cNvSpPr txBox="1"/>
          <p:nvPr/>
        </p:nvSpPr>
        <p:spPr>
          <a:xfrm>
            <a:off x="10431694" y="3598292"/>
            <a:ext cx="336462" cy="1974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200" spc="-20" dirty="0">
                <a:latin typeface="Calibri"/>
                <a:cs typeface="Calibri"/>
              </a:rPr>
              <a:t>2017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2" name="object 192"/>
          <p:cNvGrpSpPr/>
          <p:nvPr/>
        </p:nvGrpSpPr>
        <p:grpSpPr>
          <a:xfrm>
            <a:off x="2799683" y="5595274"/>
            <a:ext cx="2793272" cy="884325"/>
            <a:chOff x="2800413" y="5595838"/>
            <a:chExt cx="2794000" cy="884555"/>
          </a:xfrm>
        </p:grpSpPr>
        <p:pic>
          <p:nvPicPr>
            <p:cNvPr id="193" name="object 19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0413" y="5595838"/>
              <a:ext cx="548639" cy="884061"/>
            </a:xfrm>
            <a:prstGeom prst="rect">
              <a:avLst/>
            </a:prstGeom>
          </p:spPr>
        </p:pic>
        <p:pic>
          <p:nvPicPr>
            <p:cNvPr id="194" name="object 19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38997" y="5608447"/>
              <a:ext cx="548638" cy="820267"/>
            </a:xfrm>
            <a:prstGeom prst="rect">
              <a:avLst/>
            </a:prstGeom>
          </p:spPr>
        </p:pic>
        <p:pic>
          <p:nvPicPr>
            <p:cNvPr id="195" name="object 19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30383" y="5597400"/>
              <a:ext cx="542099" cy="832876"/>
            </a:xfrm>
            <a:prstGeom prst="rect">
              <a:avLst/>
            </a:prstGeom>
          </p:spPr>
        </p:pic>
        <p:pic>
          <p:nvPicPr>
            <p:cNvPr id="196" name="object 19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11243" y="5595848"/>
              <a:ext cx="1083086" cy="823878"/>
            </a:xfrm>
            <a:prstGeom prst="rect">
              <a:avLst/>
            </a:prstGeom>
          </p:spPr>
        </p:pic>
      </p:grpSp>
      <p:sp>
        <p:nvSpPr>
          <p:cNvPr id="197" name="object 197"/>
          <p:cNvSpPr txBox="1"/>
          <p:nvPr/>
        </p:nvSpPr>
        <p:spPr>
          <a:xfrm>
            <a:off x="4624387" y="6453327"/>
            <a:ext cx="866549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B.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Widrow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M.</a:t>
            </a:r>
            <a:r>
              <a:rPr sz="800" spc="-30" dirty="0">
                <a:latin typeface="Calibri"/>
                <a:cs typeface="Calibri"/>
              </a:rPr>
              <a:t> </a:t>
            </a:r>
            <a:r>
              <a:rPr sz="800" spc="-20" dirty="0">
                <a:latin typeface="Calibri"/>
                <a:cs typeface="Calibri"/>
              </a:rPr>
              <a:t>Hoff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198" name="object 19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641889" y="5602000"/>
            <a:ext cx="1182484" cy="832655"/>
          </a:xfrm>
          <a:prstGeom prst="rect">
            <a:avLst/>
          </a:prstGeom>
        </p:spPr>
      </p:pic>
      <p:sp>
        <p:nvSpPr>
          <p:cNvPr id="199" name="object 199"/>
          <p:cNvSpPr txBox="1"/>
          <p:nvPr/>
        </p:nvSpPr>
        <p:spPr>
          <a:xfrm>
            <a:off x="5711340" y="6453327"/>
            <a:ext cx="921145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M.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Minsky</a:t>
            </a:r>
            <a:r>
              <a:rPr sz="800" spc="-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S.</a:t>
            </a:r>
            <a:r>
              <a:rPr sz="800" spc="-35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Papert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200" name="object 200"/>
          <p:cNvGrpSpPr/>
          <p:nvPr/>
        </p:nvGrpSpPr>
        <p:grpSpPr>
          <a:xfrm>
            <a:off x="15451" y="5593372"/>
            <a:ext cx="1948306" cy="841791"/>
            <a:chOff x="15455" y="5593936"/>
            <a:chExt cx="1948814" cy="842010"/>
          </a:xfrm>
        </p:grpSpPr>
        <p:pic>
          <p:nvPicPr>
            <p:cNvPr id="201" name="object 20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455" y="5599252"/>
              <a:ext cx="1320900" cy="820263"/>
            </a:xfrm>
            <a:prstGeom prst="rect">
              <a:avLst/>
            </a:prstGeom>
          </p:spPr>
        </p:pic>
        <p:pic>
          <p:nvPicPr>
            <p:cNvPr id="202" name="object 20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67032" y="5593936"/>
              <a:ext cx="596793" cy="841496"/>
            </a:xfrm>
            <a:prstGeom prst="rect">
              <a:avLst/>
            </a:prstGeom>
          </p:spPr>
        </p:pic>
      </p:grpSp>
      <p:grpSp>
        <p:nvGrpSpPr>
          <p:cNvPr id="203" name="object 203"/>
          <p:cNvGrpSpPr/>
          <p:nvPr/>
        </p:nvGrpSpPr>
        <p:grpSpPr>
          <a:xfrm>
            <a:off x="7529726" y="5593380"/>
            <a:ext cx="1442344" cy="832902"/>
            <a:chOff x="7531688" y="5593943"/>
            <a:chExt cx="1442720" cy="833119"/>
          </a:xfrm>
        </p:grpSpPr>
        <p:pic>
          <p:nvPicPr>
            <p:cNvPr id="204" name="object 20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531688" y="5602566"/>
              <a:ext cx="480030" cy="816949"/>
            </a:xfrm>
            <a:prstGeom prst="rect">
              <a:avLst/>
            </a:prstGeom>
          </p:spPr>
        </p:pic>
        <p:pic>
          <p:nvPicPr>
            <p:cNvPr id="205" name="object 20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013941" y="5593943"/>
              <a:ext cx="480021" cy="832870"/>
            </a:xfrm>
            <a:prstGeom prst="rect">
              <a:avLst/>
            </a:prstGeom>
          </p:spPr>
        </p:pic>
        <p:pic>
          <p:nvPicPr>
            <p:cNvPr id="206" name="object 20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493760" y="5593943"/>
              <a:ext cx="480021" cy="825572"/>
            </a:xfrm>
            <a:prstGeom prst="rect">
              <a:avLst/>
            </a:prstGeom>
          </p:spPr>
        </p:pic>
      </p:grpSp>
      <p:sp>
        <p:nvSpPr>
          <p:cNvPr id="207" name="object 207"/>
          <p:cNvSpPr txBox="1"/>
          <p:nvPr/>
        </p:nvSpPr>
        <p:spPr>
          <a:xfrm>
            <a:off x="7435600" y="6444130"/>
            <a:ext cx="1588991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D.</a:t>
            </a:r>
            <a:r>
              <a:rPr sz="800" spc="-3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Rumelhart</a:t>
            </a:r>
            <a:r>
              <a:rPr sz="800" spc="-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2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G.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Hinton</a:t>
            </a:r>
            <a:r>
              <a:rPr sz="800" spc="-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2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R.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Wiliams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208" name="object 208"/>
          <p:cNvSpPr txBox="1"/>
          <p:nvPr/>
        </p:nvSpPr>
        <p:spPr>
          <a:xfrm>
            <a:off x="230898" y="6444130"/>
            <a:ext cx="937016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A.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Legendre</a:t>
            </a:r>
            <a:r>
              <a:rPr sz="800" spc="-1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J.</a:t>
            </a:r>
            <a:r>
              <a:rPr sz="800" spc="-20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Gauss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209" name="object 209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2216792" y="5601442"/>
            <a:ext cx="548492" cy="823455"/>
          </a:xfrm>
          <a:prstGeom prst="rect">
            <a:avLst/>
          </a:prstGeom>
        </p:spPr>
      </p:pic>
      <p:sp>
        <p:nvSpPr>
          <p:cNvPr id="210" name="object 210"/>
          <p:cNvSpPr txBox="1"/>
          <p:nvPr/>
        </p:nvSpPr>
        <p:spPr>
          <a:xfrm>
            <a:off x="2293446" y="6447701"/>
            <a:ext cx="2162882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  <a:tabLst>
                <a:tab pos="526892" algn="l"/>
                <a:tab pos="1612416" algn="l"/>
              </a:tabLst>
            </a:pPr>
            <a:r>
              <a:rPr sz="1200" baseline="3472" dirty="0">
                <a:latin typeface="Calibri"/>
                <a:cs typeface="Calibri"/>
              </a:rPr>
              <a:t>A.</a:t>
            </a:r>
            <a:r>
              <a:rPr sz="1200" spc="-22" baseline="3472" dirty="0">
                <a:latin typeface="Calibri"/>
                <a:cs typeface="Calibri"/>
              </a:rPr>
              <a:t> </a:t>
            </a:r>
            <a:r>
              <a:rPr sz="1200" spc="-15" baseline="3472" dirty="0">
                <a:latin typeface="Calibri"/>
                <a:cs typeface="Calibri"/>
              </a:rPr>
              <a:t>Turing</a:t>
            </a:r>
            <a:r>
              <a:rPr sz="1200" baseline="3472" dirty="0">
                <a:latin typeface="Calibri"/>
                <a:cs typeface="Calibri"/>
              </a:rPr>
              <a:t>	</a:t>
            </a:r>
            <a:r>
              <a:rPr sz="800" dirty="0">
                <a:latin typeface="Calibri"/>
                <a:cs typeface="Calibri"/>
              </a:rPr>
              <a:t>S.</a:t>
            </a:r>
            <a:r>
              <a:rPr sz="800" spc="-4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McCulloch</a:t>
            </a:r>
            <a:r>
              <a:rPr sz="800" spc="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–</a:t>
            </a:r>
            <a:r>
              <a:rPr sz="800" spc="-20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W.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spc="-20" dirty="0">
                <a:latin typeface="Calibri"/>
                <a:cs typeface="Calibri"/>
              </a:rPr>
              <a:t>Pitts</a:t>
            </a:r>
            <a:r>
              <a:rPr sz="800" dirty="0">
                <a:latin typeface="Calibri"/>
                <a:cs typeface="Calibri"/>
              </a:rPr>
              <a:t>	F.</a:t>
            </a:r>
            <a:r>
              <a:rPr sz="800" spc="-20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Rosenblatt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211" name="object 211"/>
          <p:cNvSpPr txBox="1"/>
          <p:nvPr/>
        </p:nvSpPr>
        <p:spPr>
          <a:xfrm>
            <a:off x="1417370" y="6446984"/>
            <a:ext cx="459620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K.</a:t>
            </a:r>
            <a:r>
              <a:rPr sz="800" spc="-10" dirty="0">
                <a:latin typeface="Calibri"/>
                <a:cs typeface="Calibri"/>
              </a:rPr>
              <a:t> Pearson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212" name="object 21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6885365" y="5604204"/>
            <a:ext cx="548493" cy="816669"/>
          </a:xfrm>
          <a:prstGeom prst="rect">
            <a:avLst/>
          </a:prstGeom>
        </p:spPr>
      </p:pic>
      <p:sp>
        <p:nvSpPr>
          <p:cNvPr id="213" name="object 213"/>
          <p:cNvSpPr txBox="1"/>
          <p:nvPr/>
        </p:nvSpPr>
        <p:spPr>
          <a:xfrm>
            <a:off x="6998898" y="6440842"/>
            <a:ext cx="315513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J.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spc="-10" dirty="0">
                <a:latin typeface="Calibri"/>
                <a:cs typeface="Calibri"/>
              </a:rPr>
              <a:t>Pearl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214" name="object 214"/>
          <p:cNvGrpSpPr/>
          <p:nvPr/>
        </p:nvGrpSpPr>
        <p:grpSpPr>
          <a:xfrm>
            <a:off x="9083760" y="5597737"/>
            <a:ext cx="1449327" cy="824650"/>
            <a:chOff x="9086126" y="5598301"/>
            <a:chExt cx="1449705" cy="824865"/>
          </a:xfrm>
        </p:grpSpPr>
        <p:pic>
          <p:nvPicPr>
            <p:cNvPr id="215" name="object 21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086126" y="5598301"/>
              <a:ext cx="948004" cy="817926"/>
            </a:xfrm>
            <a:prstGeom prst="rect">
              <a:avLst/>
            </a:prstGeom>
          </p:spPr>
        </p:pic>
        <p:pic>
          <p:nvPicPr>
            <p:cNvPr id="216" name="object 21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0060597" y="5607443"/>
              <a:ext cx="474712" cy="815642"/>
            </a:xfrm>
            <a:prstGeom prst="rect">
              <a:avLst/>
            </a:prstGeom>
          </p:spPr>
        </p:pic>
      </p:grpSp>
      <p:sp>
        <p:nvSpPr>
          <p:cNvPr id="217" name="object 217"/>
          <p:cNvSpPr txBox="1"/>
          <p:nvPr/>
        </p:nvSpPr>
        <p:spPr>
          <a:xfrm>
            <a:off x="9143143" y="6453210"/>
            <a:ext cx="1469007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V.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Vapnik– C.</a:t>
            </a:r>
            <a:r>
              <a:rPr sz="800" spc="-25" dirty="0">
                <a:latin typeface="Calibri"/>
                <a:cs typeface="Calibri"/>
              </a:rPr>
              <a:t> </a:t>
            </a:r>
            <a:r>
              <a:rPr sz="800" dirty="0">
                <a:latin typeface="Calibri"/>
                <a:cs typeface="Calibri"/>
              </a:rPr>
              <a:t>Cortes</a:t>
            </a:r>
            <a:r>
              <a:rPr sz="800" spc="370" dirty="0">
                <a:latin typeface="Calibri"/>
                <a:cs typeface="Calibri"/>
              </a:rPr>
              <a:t> </a:t>
            </a:r>
            <a:r>
              <a:rPr sz="1200" baseline="3472" dirty="0">
                <a:latin typeface="Calibri"/>
                <a:cs typeface="Calibri"/>
              </a:rPr>
              <a:t>A.</a:t>
            </a:r>
            <a:r>
              <a:rPr sz="1200" spc="-30" baseline="3472" dirty="0">
                <a:latin typeface="Calibri"/>
                <a:cs typeface="Calibri"/>
              </a:rPr>
              <a:t> </a:t>
            </a:r>
            <a:r>
              <a:rPr sz="1200" spc="-15" baseline="3472" dirty="0">
                <a:latin typeface="Calibri"/>
                <a:cs typeface="Calibri"/>
              </a:rPr>
              <a:t>Krizhevsky</a:t>
            </a:r>
            <a:endParaRPr sz="1200" baseline="3472">
              <a:latin typeface="Calibri"/>
              <a:cs typeface="Calibri"/>
            </a:endParaRPr>
          </a:p>
        </p:txBody>
      </p:sp>
      <p:grpSp>
        <p:nvGrpSpPr>
          <p:cNvPr id="218" name="object 218"/>
          <p:cNvGrpSpPr/>
          <p:nvPr/>
        </p:nvGrpSpPr>
        <p:grpSpPr>
          <a:xfrm>
            <a:off x="10608405" y="5600012"/>
            <a:ext cx="990977" cy="815763"/>
            <a:chOff x="10611168" y="5600577"/>
            <a:chExt cx="991235" cy="815975"/>
          </a:xfrm>
        </p:grpSpPr>
        <p:pic>
          <p:nvPicPr>
            <p:cNvPr id="219" name="object 21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611168" y="5608446"/>
              <a:ext cx="474712" cy="807780"/>
            </a:xfrm>
            <a:prstGeom prst="rect">
              <a:avLst/>
            </a:prstGeom>
          </p:spPr>
        </p:pic>
        <p:pic>
          <p:nvPicPr>
            <p:cNvPr id="220" name="object 22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1127143" y="5600577"/>
              <a:ext cx="474709" cy="815639"/>
            </a:xfrm>
            <a:prstGeom prst="rect">
              <a:avLst/>
            </a:prstGeom>
          </p:spPr>
        </p:pic>
      </p:grpSp>
      <p:sp>
        <p:nvSpPr>
          <p:cNvPr id="221" name="object 221"/>
          <p:cNvSpPr txBox="1"/>
          <p:nvPr/>
        </p:nvSpPr>
        <p:spPr>
          <a:xfrm>
            <a:off x="10720749" y="6440842"/>
            <a:ext cx="245681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A.</a:t>
            </a:r>
            <a:r>
              <a:rPr sz="800" spc="-15" dirty="0">
                <a:latin typeface="Calibri"/>
                <a:cs typeface="Calibri"/>
              </a:rPr>
              <a:t> </a:t>
            </a:r>
            <a:r>
              <a:rPr sz="800" spc="-25" dirty="0">
                <a:latin typeface="Calibri"/>
                <a:cs typeface="Calibri"/>
              </a:rPr>
              <a:t>Ng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222" name="object 222"/>
          <p:cNvSpPr txBox="1"/>
          <p:nvPr/>
        </p:nvSpPr>
        <p:spPr>
          <a:xfrm>
            <a:off x="11176797" y="6440842"/>
            <a:ext cx="377727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Y.</a:t>
            </a:r>
            <a:r>
              <a:rPr sz="800" spc="-10" dirty="0">
                <a:latin typeface="Calibri"/>
                <a:cs typeface="Calibri"/>
              </a:rPr>
              <a:t> LeCun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223" name="object 223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1648745" y="5600012"/>
            <a:ext cx="475364" cy="815427"/>
          </a:xfrm>
          <a:prstGeom prst="rect">
            <a:avLst/>
          </a:prstGeom>
        </p:spPr>
      </p:pic>
      <p:sp>
        <p:nvSpPr>
          <p:cNvPr id="224" name="object 224"/>
          <p:cNvSpPr txBox="1"/>
          <p:nvPr/>
        </p:nvSpPr>
        <p:spPr>
          <a:xfrm>
            <a:off x="11672253" y="6440842"/>
            <a:ext cx="406928" cy="13590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800" dirty="0">
                <a:latin typeface="Calibri"/>
                <a:cs typeface="Calibri"/>
              </a:rPr>
              <a:t>Y.</a:t>
            </a:r>
            <a:r>
              <a:rPr sz="800" spc="-10" dirty="0">
                <a:latin typeface="Calibri"/>
                <a:cs typeface="Calibri"/>
              </a:rPr>
              <a:t> Bengio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Network</a:t>
            </a:r>
            <a:r>
              <a:rPr lang="en-US" spc="-35"/>
              <a:t> </a:t>
            </a:r>
            <a:r>
              <a:rPr lang="en-US"/>
              <a:t>Based</a:t>
            </a:r>
            <a:r>
              <a:rPr lang="en-US" spc="-30"/>
              <a:t> </a:t>
            </a:r>
            <a:r>
              <a:rPr lang="en-US"/>
              <a:t>Computing</a:t>
            </a:r>
            <a:r>
              <a:rPr lang="en-US" spc="-50"/>
              <a:t> </a:t>
            </a:r>
            <a:r>
              <a:rPr lang="en-US" spc="-10"/>
              <a:t>Laboratory</a:t>
            </a:r>
            <a:endParaRPr spc="-10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4</a:t>
            </a:fld>
            <a:endParaRPr spc="-50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 idx="4294967295"/>
          </p:nvPr>
        </p:nvSpPr>
        <p:spPr>
          <a:xfrm>
            <a:off x="-722830" y="0"/>
            <a:ext cx="10360025" cy="690563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>
                <a:solidFill>
                  <a:srgbClr val="DC4400"/>
                </a:solidFill>
                <a:latin typeface="Impact"/>
              </a:rPr>
              <a:t>DL and High-Performance Architectures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71534" y="5908453"/>
            <a:ext cx="5152953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b="1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2"/>
              </a:rPr>
              <a:t>*</a:t>
            </a:r>
            <a:r>
              <a:rPr sz="1799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2"/>
              </a:rPr>
              <a:t>https://blogs.nvidia.com/blog/2014/09/07/imagenet/</a:t>
            </a:r>
            <a:endParaRPr sz="1799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1778" y="920730"/>
            <a:ext cx="9006399" cy="4874552"/>
          </a:xfrm>
          <a:prstGeom prst="rect">
            <a:avLst/>
          </a:prstGeom>
        </p:spPr>
        <p:txBody>
          <a:bodyPr vert="horz" wrap="square" lIns="0" tIns="70467" rIns="0" bIns="0" rtlCol="0">
            <a:spAutoFit/>
          </a:bodyPr>
          <a:lstStyle/>
          <a:p>
            <a:pPr marL="354859" indent="-342162">
              <a:spcBef>
                <a:spcPts val="555"/>
              </a:spcBef>
              <a:buChar char="•"/>
              <a:tabLst>
                <a:tab pos="354859" algn="l"/>
              </a:tabLst>
            </a:pPr>
            <a:r>
              <a:rPr sz="1899" dirty="0">
                <a:latin typeface="Calibri"/>
                <a:cs typeface="Calibri"/>
              </a:rPr>
              <a:t>NVIDIA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GPUs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are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the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main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driving</a:t>
            </a:r>
            <a:r>
              <a:rPr sz="1899" spc="-1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force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faster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training</a:t>
            </a:r>
            <a:r>
              <a:rPr sz="1899" spc="-1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of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DL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models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The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ImageNet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Challenge</a:t>
            </a:r>
            <a:r>
              <a:rPr sz="1899" spc="-1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-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(ILSVRC)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spc="-25" dirty="0">
                <a:latin typeface="Calibri"/>
                <a:cs typeface="Calibri"/>
              </a:rPr>
              <a:t>-</a:t>
            </a:r>
            <a:r>
              <a:rPr sz="1899" dirty="0">
                <a:latin typeface="Calibri"/>
                <a:cs typeface="Calibri"/>
              </a:rPr>
              <a:t>-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90%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of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the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teams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used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GPUs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(2014)</a:t>
            </a:r>
            <a:r>
              <a:rPr sz="1899" b="1" spc="-10" dirty="0">
                <a:solidFill>
                  <a:srgbClr val="0909FF"/>
                </a:solidFill>
                <a:latin typeface="Calibri"/>
                <a:cs typeface="Calibri"/>
              </a:rPr>
              <a:t>*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Kaggle</a:t>
            </a:r>
            <a:r>
              <a:rPr sz="1899" spc="-1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is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community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ML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and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data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science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and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known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hosting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competitions:</a:t>
            </a:r>
            <a:endParaRPr sz="1899" dirty="0">
              <a:latin typeface="Calibri"/>
              <a:cs typeface="Calibri"/>
            </a:endParaRPr>
          </a:p>
          <a:p>
            <a:pPr marL="1155353" lvl="2" indent="-228531">
              <a:spcBef>
                <a:spcPts val="430"/>
              </a:spcBef>
              <a:buChar char="•"/>
              <a:tabLst>
                <a:tab pos="1155353" algn="l"/>
              </a:tabLst>
            </a:pPr>
            <a:r>
              <a:rPr sz="1699" dirty="0">
                <a:latin typeface="Calibri"/>
                <a:cs typeface="Calibri"/>
              </a:rPr>
              <a:t>Provides</a:t>
            </a:r>
            <a:r>
              <a:rPr sz="1699" spc="-4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free</a:t>
            </a:r>
            <a:r>
              <a:rPr sz="1699" spc="-1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GPU</a:t>
            </a:r>
            <a:r>
              <a:rPr sz="1699" spc="-2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access</a:t>
            </a:r>
            <a:r>
              <a:rPr sz="1699" spc="-20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to</a:t>
            </a:r>
            <a:r>
              <a:rPr sz="1699" spc="-10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participants</a:t>
            </a:r>
            <a:r>
              <a:rPr sz="1699" spc="-4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due</a:t>
            </a:r>
            <a:r>
              <a:rPr sz="1699" spc="-3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to</a:t>
            </a:r>
            <a:r>
              <a:rPr sz="1699" spc="-10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wide</a:t>
            </a:r>
            <a:r>
              <a:rPr sz="1699" spc="-3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acceptance</a:t>
            </a:r>
            <a:r>
              <a:rPr sz="1699" spc="-3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by</a:t>
            </a:r>
            <a:r>
              <a:rPr sz="1699" spc="-15" dirty="0">
                <a:latin typeface="Calibri"/>
                <a:cs typeface="Calibri"/>
              </a:rPr>
              <a:t> </a:t>
            </a:r>
            <a:r>
              <a:rPr sz="1699" dirty="0">
                <a:latin typeface="Calibri"/>
                <a:cs typeface="Calibri"/>
              </a:rPr>
              <a:t>the</a:t>
            </a:r>
            <a:r>
              <a:rPr sz="1699" spc="-20" dirty="0">
                <a:latin typeface="Calibri"/>
                <a:cs typeface="Calibri"/>
              </a:rPr>
              <a:t> </a:t>
            </a:r>
            <a:r>
              <a:rPr sz="1699" spc="-10" dirty="0">
                <a:latin typeface="Calibri"/>
                <a:cs typeface="Calibri"/>
              </a:rPr>
              <a:t>community</a:t>
            </a:r>
            <a:endParaRPr sz="1699" dirty="0">
              <a:latin typeface="Calibri"/>
              <a:cs typeface="Calibri"/>
            </a:endParaRPr>
          </a:p>
          <a:p>
            <a:pPr marL="354859" indent="-342162">
              <a:spcBef>
                <a:spcPts val="434"/>
              </a:spcBef>
              <a:buChar char="•"/>
              <a:tabLst>
                <a:tab pos="354859" algn="l"/>
              </a:tabLst>
            </a:pPr>
            <a:r>
              <a:rPr sz="1899" dirty="0">
                <a:latin typeface="Calibri"/>
                <a:cs typeface="Calibri"/>
              </a:rPr>
              <a:t>However,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High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Performance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Architectures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DL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and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HPC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are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evolving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194/500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Top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HPC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systems</a:t>
            </a:r>
            <a:r>
              <a:rPr sz="1899" spc="-6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are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using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accelerator/co-</a:t>
            </a:r>
            <a:r>
              <a:rPr sz="1899" dirty="0">
                <a:latin typeface="Calibri"/>
                <a:cs typeface="Calibri"/>
              </a:rPr>
              <a:t>processor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(June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spc="-20" dirty="0">
                <a:latin typeface="Calibri"/>
                <a:cs typeface="Calibri"/>
              </a:rPr>
              <a:t>’24)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9"/>
              </a:spcBef>
              <a:buChar char="–"/>
              <a:tabLst>
                <a:tab pos="754154" algn="l"/>
              </a:tabLst>
            </a:pPr>
            <a:r>
              <a:rPr sz="1899" spc="-25" dirty="0">
                <a:latin typeface="Calibri"/>
                <a:cs typeface="Calibri"/>
              </a:rPr>
              <a:t>DGX-</a:t>
            </a:r>
            <a:r>
              <a:rPr sz="1899" dirty="0">
                <a:latin typeface="Calibri"/>
                <a:cs typeface="Calibri"/>
              </a:rPr>
              <a:t>1</a:t>
            </a:r>
            <a:r>
              <a:rPr sz="1899" spc="-1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(Pascal),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spc="-25" dirty="0">
                <a:latin typeface="Calibri"/>
                <a:cs typeface="Calibri"/>
              </a:rPr>
              <a:t>DGX-</a:t>
            </a:r>
            <a:r>
              <a:rPr sz="1899" dirty="0">
                <a:latin typeface="Calibri"/>
                <a:cs typeface="Calibri"/>
              </a:rPr>
              <a:t>2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(Volta),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DGX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A100,</a:t>
            </a:r>
            <a:r>
              <a:rPr sz="1899" spc="-2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DGX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H100,</a:t>
            </a:r>
            <a:r>
              <a:rPr sz="1899" spc="-1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HGX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A100,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HGX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spc="-20" dirty="0">
                <a:latin typeface="Calibri"/>
                <a:cs typeface="Calibri"/>
              </a:rPr>
              <a:t>H100</a:t>
            </a:r>
            <a:endParaRPr sz="1899" dirty="0">
              <a:latin typeface="Calibri"/>
              <a:cs typeface="Calibri"/>
            </a:endParaRPr>
          </a:p>
          <a:p>
            <a:pPr marL="1153449" lvl="2" indent="-226627">
              <a:spcBef>
                <a:spcPts val="455"/>
              </a:spcBef>
              <a:buChar char="•"/>
              <a:tabLst>
                <a:tab pos="1153449" algn="l"/>
              </a:tabLst>
            </a:pPr>
            <a:r>
              <a:rPr sz="1899" dirty="0">
                <a:latin typeface="Calibri"/>
                <a:cs typeface="Calibri"/>
              </a:rPr>
              <a:t>Dedicated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DL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supercomputers</a:t>
            </a:r>
            <a:endParaRPr sz="1899" dirty="0">
              <a:latin typeface="Calibri"/>
              <a:cs typeface="Calibri"/>
            </a:endParaRPr>
          </a:p>
          <a:p>
            <a:pPr marL="1153449" lvl="2" indent="-226627">
              <a:spcBef>
                <a:spcPts val="455"/>
              </a:spcBef>
              <a:buChar char="•"/>
              <a:tabLst>
                <a:tab pos="1153449" algn="l"/>
              </a:tabLst>
            </a:pPr>
            <a:r>
              <a:rPr sz="1899" dirty="0">
                <a:latin typeface="Calibri"/>
                <a:cs typeface="Calibri"/>
              </a:rPr>
              <a:t>NVIDIA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Eos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–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An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Exaflop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AI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Supercomputer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using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DGX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H100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(Announced)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Sapphire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Rapids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Xeon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CPUs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have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52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cores/socket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(Aurora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–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#2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on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Top500)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AMD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EPYC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(Rome/Milan)</a:t>
            </a:r>
            <a:r>
              <a:rPr sz="1899" spc="-2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CPUs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have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64</a:t>
            </a:r>
            <a:r>
              <a:rPr sz="1899" spc="-6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cores/socket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(Frontier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–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#1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on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Top500)</a:t>
            </a:r>
            <a:endParaRPr sz="1899" dirty="0">
              <a:latin typeface="Calibri"/>
              <a:cs typeface="Calibri"/>
            </a:endParaRPr>
          </a:p>
          <a:p>
            <a:pPr marL="754788" marR="120614" lvl="1" indent="-285664">
              <a:spcBef>
                <a:spcPts val="459"/>
              </a:spcBef>
              <a:buChar char="–"/>
              <a:tabLst>
                <a:tab pos="754788" algn="l"/>
              </a:tabLst>
            </a:pPr>
            <a:r>
              <a:rPr sz="1899" dirty="0">
                <a:latin typeface="Calibri"/>
                <a:cs typeface="Calibri"/>
              </a:rPr>
              <a:t>AMD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Instinct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MI250X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GPUs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power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Frontier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–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the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#1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Top500</a:t>
            </a:r>
            <a:r>
              <a:rPr sz="1899" spc="-4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DOE’s</a:t>
            </a:r>
            <a:r>
              <a:rPr sz="1899" spc="-3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Exascale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System </a:t>
            </a:r>
            <a:r>
              <a:rPr sz="1899" dirty="0">
                <a:latin typeface="Calibri"/>
                <a:cs typeface="Calibri"/>
              </a:rPr>
              <a:t>at</a:t>
            </a:r>
            <a:r>
              <a:rPr sz="1899" spc="-20" dirty="0">
                <a:latin typeface="Calibri"/>
                <a:cs typeface="Calibri"/>
              </a:rPr>
              <a:t> ORNL</a:t>
            </a:r>
            <a:endParaRPr sz="1899" dirty="0">
              <a:latin typeface="Calibri"/>
              <a:cs typeface="Calibri"/>
            </a:endParaRPr>
          </a:p>
          <a:p>
            <a:pPr marL="754154" lvl="1" indent="-284395">
              <a:spcBef>
                <a:spcPts val="455"/>
              </a:spcBef>
              <a:buChar char="–"/>
              <a:tabLst>
                <a:tab pos="754154" algn="l"/>
              </a:tabLst>
            </a:pPr>
            <a:r>
              <a:rPr sz="1899" dirty="0">
                <a:latin typeface="Calibri"/>
                <a:cs typeface="Calibri"/>
              </a:rPr>
              <a:t>Domain</a:t>
            </a:r>
            <a:r>
              <a:rPr sz="1899" spc="-3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Specific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Accelerators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for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DNNs</a:t>
            </a:r>
            <a:r>
              <a:rPr sz="1899" spc="-45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are</a:t>
            </a:r>
            <a:r>
              <a:rPr sz="1899" spc="-50" dirty="0">
                <a:latin typeface="Calibri"/>
                <a:cs typeface="Calibri"/>
              </a:rPr>
              <a:t> </a:t>
            </a:r>
            <a:r>
              <a:rPr sz="1899" dirty="0">
                <a:latin typeface="Calibri"/>
                <a:cs typeface="Calibri"/>
              </a:rPr>
              <a:t>also</a:t>
            </a:r>
            <a:r>
              <a:rPr sz="1899" spc="-55" dirty="0">
                <a:latin typeface="Calibri"/>
                <a:cs typeface="Calibri"/>
              </a:rPr>
              <a:t> </a:t>
            </a:r>
            <a:r>
              <a:rPr sz="1899" spc="-10" dirty="0">
                <a:latin typeface="Calibri"/>
                <a:cs typeface="Calibri"/>
              </a:rPr>
              <a:t>emerging</a:t>
            </a:r>
            <a:endParaRPr sz="1899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882173" y="5749450"/>
            <a:ext cx="1835307" cy="84813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061" marR="5078" algn="ctr">
              <a:spcBef>
                <a:spcPts val="100"/>
              </a:spcBef>
            </a:pPr>
            <a:r>
              <a:rPr sz="1799" b="1" spc="-10" dirty="0">
                <a:solidFill>
                  <a:srgbClr val="0909FF"/>
                </a:solidFill>
                <a:latin typeface="Calibri"/>
                <a:cs typeface="Calibri"/>
              </a:rPr>
              <a:t>Accelerator/CP </a:t>
            </a:r>
            <a:r>
              <a:rPr sz="1799" b="1" dirty="0">
                <a:solidFill>
                  <a:srgbClr val="0909FF"/>
                </a:solidFill>
                <a:latin typeface="Calibri"/>
                <a:cs typeface="Calibri"/>
              </a:rPr>
              <a:t>Performance</a:t>
            </a:r>
            <a:r>
              <a:rPr sz="1799" b="1" spc="-85" dirty="0">
                <a:solidFill>
                  <a:srgbClr val="0909FF"/>
                </a:solidFill>
                <a:latin typeface="Calibri"/>
                <a:cs typeface="Calibri"/>
              </a:rPr>
              <a:t> </a:t>
            </a:r>
            <a:r>
              <a:rPr sz="1799" b="1" spc="-10" dirty="0">
                <a:solidFill>
                  <a:srgbClr val="0909FF"/>
                </a:solidFill>
                <a:latin typeface="Calibri"/>
                <a:cs typeface="Calibri"/>
              </a:rPr>
              <a:t>Share </a:t>
            </a:r>
            <a:r>
              <a:rPr sz="1799" b="1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www.top500.org</a:t>
            </a:r>
            <a:endParaRPr sz="1799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56213" y="551413"/>
            <a:ext cx="2203811" cy="202299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887138" y="2711930"/>
            <a:ext cx="1942593" cy="26567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9979" y="1711274"/>
            <a:ext cx="5854431" cy="3444842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5</a:t>
            </a:fld>
            <a:endParaRPr spc="-50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-384648" y="72074"/>
            <a:ext cx="12315825" cy="68992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>
                <a:solidFill>
                  <a:srgbClr val="DC4400"/>
                </a:solidFill>
                <a:latin typeface="Impact"/>
              </a:rPr>
              <a:t>Artificial Intelligence Use Cases and Growth Trends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26754" y="967734"/>
            <a:ext cx="5396126" cy="536505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98216" y="6280181"/>
            <a:ext cx="9118130" cy="258337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2696">
              <a:spcBef>
                <a:spcPts val="95"/>
              </a:spcBef>
            </a:pPr>
            <a:r>
              <a:rPr sz="1600" b="1" dirty="0">
                <a:solidFill>
                  <a:srgbClr val="0909FF"/>
                </a:solidFill>
                <a:latin typeface="Calibri"/>
                <a:cs typeface="Calibri"/>
              </a:rPr>
              <a:t>Courtesy:</a:t>
            </a:r>
            <a:r>
              <a:rPr sz="1600" b="1" spc="300" dirty="0">
                <a:solidFill>
                  <a:srgbClr val="0909FF"/>
                </a:solidFill>
                <a:latin typeface="Calibri"/>
                <a:cs typeface="Calibri"/>
              </a:rPr>
              <a:t> </a:t>
            </a:r>
            <a:r>
              <a:rPr sz="16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https://www.top500.org/news/market-for-</a:t>
            </a:r>
            <a:r>
              <a:rPr sz="1600" u="sng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artificial-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intelligence-</a:t>
            </a:r>
            <a:r>
              <a:rPr sz="16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projected-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to-</a:t>
            </a:r>
            <a:r>
              <a:rPr sz="1600" u="sng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hit-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36-</a:t>
            </a:r>
            <a:r>
              <a:rPr sz="1600" u="sng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billion-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by-2025/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6</a:t>
            </a:fld>
            <a:endParaRPr spc="-50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 idx="4294967295"/>
          </p:nvPr>
        </p:nvSpPr>
        <p:spPr>
          <a:xfrm>
            <a:off x="-697167" y="0"/>
            <a:ext cx="10360025" cy="690563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>
                <a:solidFill>
                  <a:srgbClr val="DC4400"/>
                </a:solidFill>
                <a:latin typeface="Impact"/>
              </a:rPr>
              <a:t>Three Main Types of Machine Learning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69696" y="311987"/>
            <a:ext cx="5024716" cy="6048070"/>
            <a:chOff x="1069975" y="311175"/>
            <a:chExt cx="5026025" cy="60496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2532" y="311175"/>
              <a:ext cx="4488307" cy="359064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9975" y="3570998"/>
              <a:ext cx="5026024" cy="2789440"/>
            </a:xfrm>
            <a:prstGeom prst="rect">
              <a:avLst/>
            </a:prstGeom>
          </p:spPr>
        </p:pic>
      </p:grp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14301" y="669310"/>
            <a:ext cx="5024712" cy="571958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28529" y="6380500"/>
            <a:ext cx="10327490" cy="22820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400" b="1" spc="-10" dirty="0">
                <a:latin typeface="Calibri"/>
                <a:cs typeface="Calibri"/>
              </a:rPr>
              <a:t>Courtesy:</a:t>
            </a:r>
            <a:r>
              <a:rPr sz="1400" b="1" spc="140" dirty="0">
                <a:latin typeface="Calibri"/>
                <a:cs typeface="Calibri"/>
              </a:rPr>
              <a:t>  </a:t>
            </a:r>
            <a:r>
              <a:rPr sz="14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https://bigdata-</a:t>
            </a:r>
            <a:r>
              <a:rPr sz="14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madesimple.com/machine-learning-explained-</a:t>
            </a:r>
            <a:r>
              <a:rPr sz="14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understanding-</a:t>
            </a:r>
            <a:r>
              <a:rPr sz="14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supervised-unsupervised-and-</a:t>
            </a:r>
            <a:r>
              <a:rPr sz="14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reinforcement-</a:t>
            </a:r>
            <a:r>
              <a:rPr sz="14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5"/>
              </a:rPr>
              <a:t>learning/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72170" y="1138970"/>
            <a:ext cx="10127517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54859" indent="-342162">
              <a:spcBef>
                <a:spcPts val="100"/>
              </a:spcBef>
              <a:buChar char="•"/>
              <a:tabLst>
                <a:tab pos="354859" algn="l"/>
              </a:tabLst>
            </a:pPr>
            <a:r>
              <a:rPr sz="2399" dirty="0">
                <a:latin typeface="Calibri"/>
                <a:cs typeface="Calibri"/>
              </a:rPr>
              <a:t>Example</a:t>
            </a:r>
            <a:r>
              <a:rPr sz="2399" spc="-5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of</a:t>
            </a:r>
            <a:r>
              <a:rPr sz="2399" spc="-2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a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spc="-10" dirty="0">
                <a:latin typeface="Calibri"/>
                <a:cs typeface="Calibri"/>
              </a:rPr>
              <a:t>3-</a:t>
            </a:r>
            <a:r>
              <a:rPr sz="2399" dirty="0">
                <a:latin typeface="Calibri"/>
                <a:cs typeface="Calibri"/>
              </a:rPr>
              <a:t>layer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Deep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Neural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Network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(DNN)</a:t>
            </a:r>
            <a:r>
              <a:rPr sz="2399" spc="-4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–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(input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layer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is</a:t>
            </a:r>
            <a:r>
              <a:rPr sz="2399" spc="-4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not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spc="-10" dirty="0">
                <a:latin typeface="Calibri"/>
                <a:cs typeface="Calibri"/>
              </a:rPr>
              <a:t>counted)</a:t>
            </a:r>
            <a:endParaRPr sz="2399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-195439" y="137177"/>
            <a:ext cx="10360168" cy="68975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dirty="0"/>
              <a:t>So</a:t>
            </a:r>
            <a:r>
              <a:rPr spc="-55" dirty="0"/>
              <a:t> </a:t>
            </a:r>
            <a:r>
              <a:rPr dirty="0"/>
              <a:t>what</a:t>
            </a:r>
            <a:r>
              <a:rPr spc="-50" dirty="0"/>
              <a:t> </a:t>
            </a:r>
            <a:r>
              <a:rPr dirty="0"/>
              <a:t>is</a:t>
            </a:r>
            <a:r>
              <a:rPr spc="-50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dirty="0"/>
              <a:t>Deep</a:t>
            </a:r>
            <a:r>
              <a:rPr spc="-40" dirty="0"/>
              <a:t> </a:t>
            </a:r>
            <a:r>
              <a:rPr dirty="0"/>
              <a:t>Neural</a:t>
            </a:r>
            <a:r>
              <a:rPr spc="-60" dirty="0"/>
              <a:t> </a:t>
            </a:r>
            <a:r>
              <a:rPr spc="-10" dirty="0"/>
              <a:t>Network?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20292" y="1695492"/>
            <a:ext cx="8278243" cy="40292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71534" y="6163099"/>
            <a:ext cx="4460983" cy="258337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2696">
              <a:spcBef>
                <a:spcPts val="95"/>
              </a:spcBef>
            </a:pPr>
            <a:r>
              <a:rPr sz="1600" b="1" dirty="0">
                <a:solidFill>
                  <a:srgbClr val="0909FF"/>
                </a:solidFill>
                <a:latin typeface="Calibri"/>
                <a:cs typeface="Calibri"/>
              </a:rPr>
              <a:t>Courtesy:</a:t>
            </a:r>
            <a:r>
              <a:rPr sz="1600" b="1" spc="90" dirty="0">
                <a:solidFill>
                  <a:srgbClr val="0909FF"/>
                </a:solidFill>
                <a:latin typeface="Calibri"/>
                <a:cs typeface="Calibri"/>
              </a:rPr>
              <a:t> 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http://cs231n.github.io/neural-</a:t>
            </a:r>
            <a:r>
              <a:rPr sz="16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networks-</a:t>
            </a:r>
            <a:r>
              <a:rPr sz="1600" u="sng" spc="-25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3"/>
              </a:rPr>
              <a:t>1/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xfrm>
            <a:off x="51578" y="6685776"/>
            <a:ext cx="284607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Network</a:t>
            </a:r>
            <a:r>
              <a:rPr lang="en-US" spc="-35"/>
              <a:t> </a:t>
            </a:r>
            <a:r>
              <a:rPr lang="en-US"/>
              <a:t>Based</a:t>
            </a:r>
            <a:r>
              <a:rPr lang="en-US" spc="-30"/>
              <a:t> </a:t>
            </a:r>
            <a:r>
              <a:rPr lang="en-US"/>
              <a:t>Computing</a:t>
            </a:r>
            <a:r>
              <a:rPr lang="en-US" spc="-50"/>
              <a:t> </a:t>
            </a:r>
            <a:r>
              <a:rPr lang="en-US" spc="-10"/>
              <a:t>Laboratory</a:t>
            </a:r>
            <a:endParaRPr spc="-10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xfrm>
            <a:off x="5833609" y="6676328"/>
            <a:ext cx="43561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SC’24</a:t>
            </a:r>
            <a:endParaRPr spc="-10" dirty="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11846931" y="6689846"/>
            <a:ext cx="297179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67590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7</a:t>
            </a:fld>
            <a:endParaRPr spc="-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364997" y="120268"/>
            <a:ext cx="11913082" cy="68992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580851">
              <a:spcBef>
                <a:spcPts val="100"/>
              </a:spcBef>
            </a:pPr>
            <a:r>
              <a:rPr spc="-10" dirty="0"/>
              <a:t>Graphical/Mathematical</a:t>
            </a:r>
            <a:r>
              <a:rPr spc="-80" dirty="0"/>
              <a:t> </a:t>
            </a:r>
            <a:r>
              <a:rPr dirty="0"/>
              <a:t>Intuitions</a:t>
            </a:r>
            <a:r>
              <a:rPr spc="-70" dirty="0"/>
              <a:t> </a:t>
            </a:r>
            <a:r>
              <a:rPr dirty="0"/>
              <a:t>for</a:t>
            </a:r>
            <a:r>
              <a:rPr spc="-105" dirty="0"/>
              <a:t> </a:t>
            </a:r>
            <a:r>
              <a:rPr spc="-20" dirty="0"/>
              <a:t>DNNs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567" y="1601590"/>
            <a:ext cx="12116454" cy="2982453"/>
            <a:chOff x="28575" y="1601114"/>
            <a:chExt cx="12119610" cy="298323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8100" y="1610639"/>
              <a:ext cx="6934199" cy="29353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3337" y="1605876"/>
              <a:ext cx="6943725" cy="2973705"/>
            </a:xfrm>
            <a:custGeom>
              <a:avLst/>
              <a:gdLst/>
              <a:ahLst/>
              <a:cxnLst/>
              <a:rect l="l" t="t" r="r" b="b"/>
              <a:pathLst>
                <a:path w="6943725" h="2973704">
                  <a:moveTo>
                    <a:pt x="0" y="0"/>
                  </a:moveTo>
                  <a:lnTo>
                    <a:pt x="6943725" y="0"/>
                  </a:lnTo>
                  <a:lnTo>
                    <a:pt x="6943725" y="2973489"/>
                  </a:lnTo>
                  <a:lnTo>
                    <a:pt x="0" y="2973489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91362" y="1610639"/>
              <a:ext cx="5146950" cy="296395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986587" y="1605876"/>
              <a:ext cx="5156835" cy="2973705"/>
            </a:xfrm>
            <a:custGeom>
              <a:avLst/>
              <a:gdLst/>
              <a:ahLst/>
              <a:cxnLst/>
              <a:rect l="l" t="t" r="r" b="b"/>
              <a:pathLst>
                <a:path w="5156834" h="2973704">
                  <a:moveTo>
                    <a:pt x="0" y="0"/>
                  </a:moveTo>
                  <a:lnTo>
                    <a:pt x="5156492" y="0"/>
                  </a:lnTo>
                  <a:lnTo>
                    <a:pt x="5156492" y="2973489"/>
                  </a:lnTo>
                  <a:lnTo>
                    <a:pt x="0" y="2973489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847407" y="4796943"/>
            <a:ext cx="3281460" cy="33074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Drawing</a:t>
            </a:r>
            <a:r>
              <a:rPr sz="1999" b="1" u="sng" spc="-4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of</a:t>
            </a:r>
            <a:r>
              <a:rPr sz="1999" b="1" u="sng" spc="-5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a</a:t>
            </a:r>
            <a:r>
              <a:rPr sz="1999" b="1" u="sng" spc="-4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Biological</a:t>
            </a:r>
            <a:r>
              <a:rPr sz="1999" b="1" u="sng" spc="-7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Neuron</a:t>
            </a:r>
            <a:endParaRPr sz="1999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51578" y="6685776"/>
            <a:ext cx="284607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Network</a:t>
            </a:r>
            <a:r>
              <a:rPr lang="en-US" spc="-35"/>
              <a:t> </a:t>
            </a:r>
            <a:r>
              <a:rPr lang="en-US"/>
              <a:t>Based</a:t>
            </a:r>
            <a:r>
              <a:rPr lang="en-US" spc="-30"/>
              <a:t> </a:t>
            </a:r>
            <a:r>
              <a:rPr lang="en-US"/>
              <a:t>Computing</a:t>
            </a:r>
            <a:r>
              <a:rPr lang="en-US" spc="-50"/>
              <a:t> </a:t>
            </a:r>
            <a:r>
              <a:rPr lang="en-US" spc="-10"/>
              <a:t>Laboratory</a:t>
            </a:r>
            <a:endParaRPr spc="-10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5833609" y="6676328"/>
            <a:ext cx="43561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SC’24</a:t>
            </a:r>
            <a:endParaRPr spc="-10" dirty="0"/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xfrm>
            <a:off x="11846931" y="6689846"/>
            <a:ext cx="297179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90143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8</a:t>
            </a:fld>
            <a:endParaRPr spc="-25" dirty="0"/>
          </a:p>
        </p:txBody>
      </p:sp>
      <p:sp>
        <p:nvSpPr>
          <p:cNvPr id="9" name="object 9"/>
          <p:cNvSpPr txBox="1"/>
          <p:nvPr/>
        </p:nvSpPr>
        <p:spPr>
          <a:xfrm>
            <a:off x="8177483" y="4796943"/>
            <a:ext cx="2740581" cy="330749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The</a:t>
            </a:r>
            <a:r>
              <a:rPr sz="1999" b="1" u="sng" spc="-6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Mathematical</a:t>
            </a:r>
            <a:r>
              <a:rPr sz="1999" b="1" u="sng" spc="-6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999" b="1" u="sng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Model</a:t>
            </a:r>
            <a:r>
              <a:rPr sz="1999" b="1" u="sng" spc="50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endParaRPr sz="1999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13554" y="6099596"/>
            <a:ext cx="4460983" cy="258337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2696">
              <a:spcBef>
                <a:spcPts val="95"/>
              </a:spcBef>
            </a:pPr>
            <a:r>
              <a:rPr sz="1600" b="1" dirty="0">
                <a:solidFill>
                  <a:srgbClr val="0909FF"/>
                </a:solidFill>
                <a:latin typeface="Calibri"/>
                <a:cs typeface="Calibri"/>
              </a:rPr>
              <a:t>Courtesy:</a:t>
            </a:r>
            <a:r>
              <a:rPr sz="1600" b="1" spc="90" dirty="0">
                <a:solidFill>
                  <a:srgbClr val="0909FF"/>
                </a:solidFill>
                <a:latin typeface="Calibri"/>
                <a:cs typeface="Calibri"/>
              </a:rPr>
              <a:t> 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http://cs231n.github.io/neural-</a:t>
            </a:r>
            <a:r>
              <a:rPr sz="1600" u="sng" spc="-2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networks-</a:t>
            </a:r>
            <a:r>
              <a:rPr sz="1600" u="sng" spc="-25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"/>
                <a:cs typeface="Calibri"/>
                <a:hlinkClick r:id="rId4"/>
              </a:rPr>
              <a:t>1/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9454" y="188416"/>
            <a:ext cx="10360168" cy="545391"/>
          </a:xfrm>
          <a:prstGeom prst="rect">
            <a:avLst/>
          </a:prstGeom>
        </p:spPr>
        <p:txBody>
          <a:bodyPr vert="horz" wrap="square" lIns="0" tIns="14600" rIns="0" bIns="0" rtlCol="0">
            <a:spAutoFit/>
          </a:bodyPr>
          <a:lstStyle/>
          <a:p>
            <a:pPr marL="394217">
              <a:spcBef>
                <a:spcPts val="114"/>
              </a:spcBef>
            </a:pPr>
            <a:r>
              <a:rPr sz="3449" dirty="0"/>
              <a:t>Key</a:t>
            </a:r>
            <a:r>
              <a:rPr sz="3449" spc="-20" dirty="0"/>
              <a:t> </a:t>
            </a:r>
            <a:r>
              <a:rPr sz="3449" dirty="0"/>
              <a:t>Phases</a:t>
            </a:r>
            <a:r>
              <a:rPr sz="3449" spc="15" dirty="0"/>
              <a:t> </a:t>
            </a:r>
            <a:r>
              <a:rPr sz="3449" dirty="0"/>
              <a:t>of Deep</a:t>
            </a:r>
            <a:r>
              <a:rPr sz="3449" spc="5" dirty="0"/>
              <a:t> </a:t>
            </a:r>
            <a:r>
              <a:rPr sz="3449" spc="-10" dirty="0"/>
              <a:t>Learning</a:t>
            </a:r>
            <a:endParaRPr sz="3449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5936" y="1614019"/>
            <a:ext cx="7227452" cy="310753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518383" y="4742376"/>
            <a:ext cx="3190679" cy="258337"/>
          </a:xfrm>
          <a:prstGeom prst="rect">
            <a:avLst/>
          </a:prstGeom>
        </p:spPr>
        <p:txBody>
          <a:bodyPr vert="horz" wrap="square" lIns="0" tIns="12062" rIns="0" bIns="0" rtlCol="0">
            <a:spAutoFit/>
          </a:bodyPr>
          <a:lstStyle/>
          <a:p>
            <a:pPr marL="12696">
              <a:spcBef>
                <a:spcPts val="95"/>
              </a:spcBef>
            </a:pPr>
            <a:r>
              <a:rPr sz="1600" spc="-10" dirty="0">
                <a:solidFill>
                  <a:srgbClr val="0909FF"/>
                </a:solidFill>
                <a:latin typeface="Calibri Light"/>
                <a:cs typeface="Calibri Light"/>
              </a:rPr>
              <a:t>Courtesy:</a:t>
            </a:r>
            <a:r>
              <a:rPr sz="1600" spc="-5" dirty="0">
                <a:solidFill>
                  <a:srgbClr val="0909FF"/>
                </a:solidFill>
                <a:latin typeface="Calibri Light"/>
                <a:cs typeface="Calibri Light"/>
              </a:rPr>
              <a:t> </a:t>
            </a:r>
            <a:r>
              <a:rPr sz="1600" u="sng" spc="-10" dirty="0">
                <a:solidFill>
                  <a:srgbClr val="330099"/>
                </a:solidFill>
                <a:uFill>
                  <a:solidFill>
                    <a:srgbClr val="330099"/>
                  </a:solidFill>
                </a:uFill>
                <a:latin typeface="Calibri Light"/>
                <a:cs typeface="Calibri Light"/>
                <a:hlinkClick r:id="rId3"/>
              </a:rPr>
              <a:t>https://devblogs.nvidia.com/</a:t>
            </a:r>
            <a:endParaRPr sz="1600">
              <a:latin typeface="Calibri Light"/>
              <a:cs typeface="Calibri Ligh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51578" y="6685776"/>
            <a:ext cx="284607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Network</a:t>
            </a:r>
            <a:r>
              <a:rPr lang="en-US" spc="-35"/>
              <a:t> </a:t>
            </a:r>
            <a:r>
              <a:rPr lang="en-US"/>
              <a:t>Based</a:t>
            </a:r>
            <a:r>
              <a:rPr lang="en-US" spc="-30"/>
              <a:t> </a:t>
            </a:r>
            <a:r>
              <a:rPr lang="en-US"/>
              <a:t>Computing</a:t>
            </a:r>
            <a:r>
              <a:rPr lang="en-US" spc="-50"/>
              <a:t> </a:t>
            </a:r>
            <a:r>
              <a:rPr lang="en-US" spc="-10"/>
              <a:t>Laboratory</a:t>
            </a:r>
            <a:endParaRPr spc="-10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5833609" y="6676328"/>
            <a:ext cx="435610" cy="2038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696">
              <a:lnSpc>
                <a:spcPts val="1435"/>
              </a:lnSpc>
            </a:pPr>
            <a:r>
              <a:rPr lang="en-US" spc="-10"/>
              <a:t>SC’24</a:t>
            </a:r>
            <a:endParaRPr spc="-10" dirty="0"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1846931" y="6689846"/>
            <a:ext cx="297179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90143">
              <a:lnSpc>
                <a:spcPts val="1240"/>
              </a:lnSpc>
            </a:pPr>
            <a:fld id="{81D60167-4931-47E6-BA6A-407CBD079E47}" type="slidenum">
              <a:rPr lang="en-US" spc="-50" smtClean="0"/>
              <a:pPr marL="167640">
                <a:lnSpc>
                  <a:spcPts val="1240"/>
                </a:lnSpc>
              </a:pPr>
              <a:t>9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516331" y="733807"/>
            <a:ext cx="4394960" cy="3781204"/>
          </a:xfrm>
          <a:prstGeom prst="rect">
            <a:avLst/>
          </a:prstGeom>
        </p:spPr>
        <p:txBody>
          <a:bodyPr vert="horz" wrap="square" lIns="0" tIns="182832" rIns="0" bIns="0" rtlCol="0">
            <a:spAutoFit/>
          </a:bodyPr>
          <a:lstStyle/>
          <a:p>
            <a:pPr marL="354859" indent="-342162">
              <a:spcBef>
                <a:spcPts val="1440"/>
              </a:spcBef>
              <a:buChar char="•"/>
              <a:tabLst>
                <a:tab pos="354859" algn="l"/>
              </a:tabLst>
            </a:pPr>
            <a:r>
              <a:rPr sz="2649" dirty="0">
                <a:latin typeface="Calibri"/>
                <a:cs typeface="Calibri"/>
              </a:rPr>
              <a:t>Training</a:t>
            </a:r>
            <a:r>
              <a:rPr sz="2649" spc="-15" dirty="0">
                <a:latin typeface="Calibri"/>
                <a:cs typeface="Calibri"/>
              </a:rPr>
              <a:t> </a:t>
            </a:r>
            <a:r>
              <a:rPr sz="2649" dirty="0">
                <a:latin typeface="Calibri"/>
                <a:cs typeface="Calibri"/>
              </a:rPr>
              <a:t>is</a:t>
            </a:r>
            <a:r>
              <a:rPr sz="2649" spc="-10" dirty="0">
                <a:latin typeface="Calibri"/>
                <a:cs typeface="Calibri"/>
              </a:rPr>
              <a:t> </a:t>
            </a:r>
            <a:r>
              <a:rPr sz="2649" dirty="0">
                <a:latin typeface="Calibri"/>
                <a:cs typeface="Calibri"/>
              </a:rPr>
              <a:t>compute</a:t>
            </a:r>
            <a:r>
              <a:rPr sz="2649" spc="-20" dirty="0">
                <a:latin typeface="Calibri"/>
                <a:cs typeface="Calibri"/>
              </a:rPr>
              <a:t> </a:t>
            </a:r>
            <a:r>
              <a:rPr sz="2649" spc="-10" dirty="0">
                <a:latin typeface="Calibri"/>
                <a:cs typeface="Calibri"/>
              </a:rPr>
              <a:t>intensive</a:t>
            </a:r>
            <a:endParaRPr sz="2649" dirty="0">
              <a:latin typeface="Calibri"/>
              <a:cs typeface="Calibri"/>
            </a:endParaRPr>
          </a:p>
          <a:p>
            <a:pPr marL="756058" lvl="1" indent="-286299">
              <a:spcBef>
                <a:spcPts val="1195"/>
              </a:spcBef>
              <a:buChar char="–"/>
              <a:tabLst>
                <a:tab pos="756058" algn="l"/>
              </a:tabLst>
            </a:pPr>
            <a:r>
              <a:rPr sz="2399" dirty="0">
                <a:latin typeface="Calibri"/>
                <a:cs typeface="Calibri"/>
              </a:rPr>
              <a:t>Many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passes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over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spc="-20" dirty="0">
                <a:latin typeface="Calibri"/>
                <a:cs typeface="Calibri"/>
              </a:rPr>
              <a:t>data</a:t>
            </a:r>
            <a:endParaRPr sz="2399" dirty="0">
              <a:latin typeface="Calibri"/>
              <a:cs typeface="Calibri"/>
            </a:endParaRPr>
          </a:p>
          <a:p>
            <a:pPr marL="756058" lvl="1" indent="-286299">
              <a:spcBef>
                <a:spcPts val="1155"/>
              </a:spcBef>
              <a:buChar char="–"/>
              <a:tabLst>
                <a:tab pos="756058" algn="l"/>
              </a:tabLst>
            </a:pPr>
            <a:r>
              <a:rPr sz="2399" dirty="0">
                <a:latin typeface="Calibri"/>
                <a:cs typeface="Calibri"/>
              </a:rPr>
              <a:t>Can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take</a:t>
            </a:r>
            <a:r>
              <a:rPr sz="2399" spc="-3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days</a:t>
            </a:r>
            <a:r>
              <a:rPr sz="2399" spc="-3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to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spc="-20" dirty="0">
                <a:latin typeface="Calibri"/>
                <a:cs typeface="Calibri"/>
              </a:rPr>
              <a:t>weeks</a:t>
            </a:r>
            <a:endParaRPr sz="2399" dirty="0">
              <a:latin typeface="Calibri"/>
              <a:cs typeface="Calibri"/>
            </a:endParaRPr>
          </a:p>
          <a:p>
            <a:pPr marL="756058" lvl="1" indent="-286299">
              <a:spcBef>
                <a:spcPts val="1150"/>
              </a:spcBef>
              <a:buChar char="–"/>
              <a:tabLst>
                <a:tab pos="756058" algn="l"/>
              </a:tabLst>
            </a:pPr>
            <a:r>
              <a:rPr sz="2399" dirty="0">
                <a:latin typeface="Calibri"/>
                <a:cs typeface="Calibri"/>
              </a:rPr>
              <a:t>Model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adjustment</a:t>
            </a:r>
            <a:r>
              <a:rPr sz="2399" spc="-5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is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spc="-20" dirty="0">
                <a:latin typeface="Calibri"/>
                <a:cs typeface="Calibri"/>
              </a:rPr>
              <a:t>done</a:t>
            </a:r>
            <a:endParaRPr sz="2399" dirty="0">
              <a:latin typeface="Calibri"/>
              <a:cs typeface="Calibri"/>
            </a:endParaRPr>
          </a:p>
          <a:p>
            <a:pPr marL="354859" indent="-342162">
              <a:spcBef>
                <a:spcPts val="1250"/>
              </a:spcBef>
              <a:buChar char="•"/>
              <a:tabLst>
                <a:tab pos="354859" algn="l"/>
              </a:tabLst>
            </a:pPr>
            <a:r>
              <a:rPr sz="2649" spc="-10" dirty="0">
                <a:latin typeface="Calibri"/>
                <a:cs typeface="Calibri"/>
              </a:rPr>
              <a:t>Inference</a:t>
            </a:r>
            <a:endParaRPr sz="2649" dirty="0">
              <a:latin typeface="Calibri"/>
              <a:cs typeface="Calibri"/>
            </a:endParaRPr>
          </a:p>
          <a:p>
            <a:pPr marL="756058" lvl="1" indent="-286299">
              <a:spcBef>
                <a:spcPts val="1200"/>
              </a:spcBef>
              <a:buChar char="–"/>
              <a:tabLst>
                <a:tab pos="756058" algn="l"/>
              </a:tabLst>
            </a:pPr>
            <a:r>
              <a:rPr sz="2399" dirty="0">
                <a:latin typeface="Calibri"/>
                <a:cs typeface="Calibri"/>
              </a:rPr>
              <a:t>Single</a:t>
            </a:r>
            <a:r>
              <a:rPr sz="2399" spc="-4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pass</a:t>
            </a:r>
            <a:r>
              <a:rPr sz="2399" spc="-4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over</a:t>
            </a:r>
            <a:r>
              <a:rPr sz="2399" spc="-2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the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spc="-20" dirty="0">
                <a:latin typeface="Calibri"/>
                <a:cs typeface="Calibri"/>
              </a:rPr>
              <a:t>data</a:t>
            </a:r>
            <a:endParaRPr sz="2399" dirty="0">
              <a:latin typeface="Calibri"/>
              <a:cs typeface="Calibri"/>
            </a:endParaRPr>
          </a:p>
          <a:p>
            <a:pPr marL="756058" lvl="1" indent="-286299">
              <a:spcBef>
                <a:spcPts val="1150"/>
              </a:spcBef>
              <a:buChar char="–"/>
              <a:tabLst>
                <a:tab pos="756058" algn="l"/>
              </a:tabLst>
            </a:pPr>
            <a:r>
              <a:rPr sz="2399" dirty="0">
                <a:latin typeface="Calibri"/>
                <a:cs typeface="Calibri"/>
              </a:rPr>
              <a:t>Should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take</a:t>
            </a:r>
            <a:r>
              <a:rPr sz="2399" spc="-45" dirty="0">
                <a:latin typeface="Calibri"/>
                <a:cs typeface="Calibri"/>
              </a:rPr>
              <a:t> </a:t>
            </a:r>
            <a:r>
              <a:rPr sz="2399" spc="-10" dirty="0">
                <a:latin typeface="Calibri"/>
                <a:cs typeface="Calibri"/>
              </a:rPr>
              <a:t>seconds</a:t>
            </a:r>
            <a:endParaRPr sz="2399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6331" y="4445094"/>
            <a:ext cx="6257565" cy="1615654"/>
          </a:xfrm>
          <a:prstGeom prst="rect">
            <a:avLst/>
          </a:prstGeom>
        </p:spPr>
        <p:txBody>
          <a:bodyPr vert="horz" wrap="square" lIns="0" tIns="155534" rIns="0" bIns="0" rtlCol="0">
            <a:spAutoFit/>
          </a:bodyPr>
          <a:lstStyle/>
          <a:p>
            <a:pPr marL="469759">
              <a:spcBef>
                <a:spcPts val="1225"/>
              </a:spcBef>
              <a:tabLst>
                <a:tab pos="756058" algn="l"/>
              </a:tabLst>
            </a:pPr>
            <a:r>
              <a:rPr sz="2399" spc="-50" dirty="0">
                <a:latin typeface="Calibri"/>
                <a:cs typeface="Calibri"/>
              </a:rPr>
              <a:t>–</a:t>
            </a:r>
            <a:r>
              <a:rPr sz="2399" dirty="0">
                <a:latin typeface="Calibri"/>
                <a:cs typeface="Calibri"/>
              </a:rPr>
              <a:t>	No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model</a:t>
            </a:r>
            <a:r>
              <a:rPr sz="2399" spc="-35" dirty="0">
                <a:latin typeface="Calibri"/>
                <a:cs typeface="Calibri"/>
              </a:rPr>
              <a:t> </a:t>
            </a:r>
            <a:r>
              <a:rPr sz="2399" spc="-10" dirty="0">
                <a:latin typeface="Calibri"/>
                <a:cs typeface="Calibri"/>
              </a:rPr>
              <a:t>adjustment</a:t>
            </a:r>
            <a:endParaRPr sz="2399">
              <a:latin typeface="Calibri"/>
              <a:cs typeface="Calibri"/>
            </a:endParaRPr>
          </a:p>
          <a:p>
            <a:pPr marL="354859" indent="-342162">
              <a:spcBef>
                <a:spcPts val="1260"/>
              </a:spcBef>
              <a:buChar char="•"/>
              <a:tabLst>
                <a:tab pos="354859" algn="l"/>
              </a:tabLst>
            </a:pPr>
            <a:r>
              <a:rPr sz="2649" dirty="0">
                <a:latin typeface="Calibri"/>
                <a:cs typeface="Calibri"/>
              </a:rPr>
              <a:t>Challenge:</a:t>
            </a:r>
            <a:r>
              <a:rPr sz="2649" spc="-15" dirty="0">
                <a:latin typeface="Calibri"/>
                <a:cs typeface="Calibri"/>
              </a:rPr>
              <a:t> </a:t>
            </a:r>
            <a:r>
              <a:rPr sz="2649" dirty="0">
                <a:latin typeface="Calibri"/>
                <a:cs typeface="Calibri"/>
              </a:rPr>
              <a:t>How to</a:t>
            </a:r>
            <a:r>
              <a:rPr sz="2649" spc="-5" dirty="0">
                <a:latin typeface="Calibri"/>
                <a:cs typeface="Calibri"/>
              </a:rPr>
              <a:t> </a:t>
            </a:r>
            <a:r>
              <a:rPr sz="2649" dirty="0">
                <a:latin typeface="Calibri"/>
                <a:cs typeface="Calibri"/>
              </a:rPr>
              <a:t>make</a:t>
            </a:r>
            <a:r>
              <a:rPr sz="2649" spc="-15" dirty="0">
                <a:latin typeface="Calibri"/>
                <a:cs typeface="Calibri"/>
              </a:rPr>
              <a:t> </a:t>
            </a:r>
            <a:r>
              <a:rPr sz="2649" b="1" u="sng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“Training”</a:t>
            </a:r>
            <a:r>
              <a:rPr sz="2649" b="1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649" spc="-10" dirty="0">
                <a:latin typeface="Calibri"/>
                <a:cs typeface="Calibri"/>
              </a:rPr>
              <a:t>faster?</a:t>
            </a:r>
            <a:endParaRPr sz="2649">
              <a:latin typeface="Calibri"/>
              <a:cs typeface="Calibri"/>
            </a:endParaRPr>
          </a:p>
          <a:p>
            <a:pPr marL="469759">
              <a:spcBef>
                <a:spcPts val="1200"/>
              </a:spcBef>
              <a:tabLst>
                <a:tab pos="756058" algn="l"/>
              </a:tabLst>
            </a:pPr>
            <a:r>
              <a:rPr sz="2399" spc="-50" dirty="0">
                <a:latin typeface="Calibri"/>
                <a:cs typeface="Calibri"/>
              </a:rPr>
              <a:t>–</a:t>
            </a:r>
            <a:r>
              <a:rPr sz="2399" dirty="0">
                <a:latin typeface="Calibri"/>
                <a:cs typeface="Calibri"/>
              </a:rPr>
              <a:t>	Need</a:t>
            </a:r>
            <a:r>
              <a:rPr sz="2399" spc="-65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Parallel</a:t>
            </a:r>
            <a:r>
              <a:rPr sz="2399" spc="-7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and</a:t>
            </a:r>
            <a:r>
              <a:rPr sz="2399" spc="-60" dirty="0">
                <a:latin typeface="Calibri"/>
                <a:cs typeface="Calibri"/>
              </a:rPr>
              <a:t> </a:t>
            </a:r>
            <a:r>
              <a:rPr sz="2399" dirty="0">
                <a:latin typeface="Calibri"/>
                <a:cs typeface="Calibri"/>
              </a:rPr>
              <a:t>Distributed</a:t>
            </a:r>
            <a:r>
              <a:rPr sz="2399" spc="-75" dirty="0">
                <a:latin typeface="Calibri"/>
                <a:cs typeface="Calibri"/>
              </a:rPr>
              <a:t> </a:t>
            </a:r>
            <a:r>
              <a:rPr sz="2399" spc="-10" dirty="0">
                <a:latin typeface="Calibri"/>
                <a:cs typeface="Calibri"/>
              </a:rPr>
              <a:t>Training…</a:t>
            </a:r>
            <a:endParaRPr sz="2399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3026" y="576037"/>
            <a:ext cx="9527594" cy="48731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lnSpc>
                <a:spcPts val="3659"/>
              </a:lnSpc>
              <a:spcBef>
                <a:spcPts val="100"/>
              </a:spcBef>
            </a:pPr>
            <a:r>
              <a:rPr dirty="0"/>
              <a:t>Understand</a:t>
            </a:r>
            <a:r>
              <a:rPr spc="-50" dirty="0"/>
              <a:t> </a:t>
            </a:r>
            <a:r>
              <a:rPr lang="en-US" dirty="0"/>
              <a:t>DNN</a:t>
            </a:r>
            <a:r>
              <a:rPr spc="-215" dirty="0"/>
              <a:t> </a:t>
            </a:r>
            <a:r>
              <a:rPr spc="-10" dirty="0"/>
              <a:t>Applications: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938137" y="3679379"/>
            <a:ext cx="5763029" cy="2164786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Convolutional</a:t>
            </a:r>
            <a:r>
              <a:rPr sz="2799" b="1" spc="-12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799" b="1" spc="-114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799" dirty="0">
              <a:latin typeface="Arial"/>
              <a:cs typeface="Arial"/>
            </a:endParaRP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Recurrent</a:t>
            </a:r>
            <a:r>
              <a:rPr sz="2799" b="1" spc="-8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799" b="1" spc="-9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799" dirty="0">
              <a:latin typeface="Arial"/>
              <a:cs typeface="Arial"/>
            </a:endParaRPr>
          </a:p>
          <a:p>
            <a:pPr marL="469124" indent="-456428">
              <a:lnSpc>
                <a:spcPts val="3324"/>
              </a:lnSpc>
              <a:buFont typeface="Arial MT"/>
              <a:buChar char="•"/>
              <a:tabLst>
                <a:tab pos="469124" algn="l"/>
              </a:tabLst>
            </a:pPr>
            <a:r>
              <a:rPr sz="2799" b="1" spc="-10" dirty="0">
                <a:solidFill>
                  <a:srgbClr val="ED7D31"/>
                </a:solidFill>
                <a:latin typeface="Arial"/>
                <a:cs typeface="Arial"/>
              </a:rPr>
              <a:t>Transformers</a:t>
            </a:r>
            <a:endParaRPr sz="2799" dirty="0">
              <a:latin typeface="Arial"/>
              <a:cs typeface="Arial"/>
            </a:endParaRPr>
          </a:p>
          <a:p>
            <a:pPr marL="469124" indent="-456428">
              <a:spcBef>
                <a:spcPts val="5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Graph</a:t>
            </a:r>
            <a:r>
              <a:rPr sz="2799" b="1" spc="-7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799" b="1" spc="-7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7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799" dirty="0">
              <a:latin typeface="Arial"/>
              <a:cs typeface="Arial"/>
            </a:endParaRPr>
          </a:p>
          <a:p>
            <a:pPr marL="469124" indent="-456428">
              <a:spcBef>
                <a:spcPts val="2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spc="-20" dirty="0">
                <a:solidFill>
                  <a:srgbClr val="ED7D31"/>
                </a:solidFill>
                <a:latin typeface="Arial"/>
                <a:cs typeface="Arial"/>
              </a:rPr>
              <a:t>Mixture-</a:t>
            </a:r>
            <a:r>
              <a:rPr sz="2799" b="1" spc="-10" dirty="0">
                <a:solidFill>
                  <a:srgbClr val="ED7D31"/>
                </a:solidFill>
                <a:latin typeface="Arial"/>
                <a:cs typeface="Arial"/>
              </a:rPr>
              <a:t>of-Experts</a:t>
            </a:r>
            <a:endParaRPr sz="2799" dirty="0"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84B988-F443-76D9-F325-8CA65141BACE}"/>
              </a:ext>
            </a:extLst>
          </p:cNvPr>
          <p:cNvSpPr txBox="1"/>
          <p:nvPr/>
        </p:nvSpPr>
        <p:spPr>
          <a:xfrm>
            <a:off x="1830789" y="2752556"/>
            <a:ext cx="8189859" cy="523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696">
              <a:spcBef>
                <a:spcPts val="100"/>
              </a:spcBef>
              <a:tabLst>
                <a:tab pos="469124" algn="l"/>
              </a:tabLst>
            </a:pPr>
            <a:r>
              <a:rPr lang="en-US" sz="2799" b="1" dirty="0">
                <a:latin typeface="Arial"/>
                <a:cs typeface="Arial"/>
              </a:rPr>
              <a:t>An Overview of Deep Learning Models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2624" y="83966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CNNs</a:t>
            </a:r>
            <a:r>
              <a:rPr spc="-45" dirty="0"/>
              <a:t> </a:t>
            </a:r>
            <a:r>
              <a:rPr dirty="0"/>
              <a:t>are</a:t>
            </a:r>
            <a:r>
              <a:rPr spc="-45" dirty="0"/>
              <a:t> </a:t>
            </a:r>
            <a:r>
              <a:rPr dirty="0"/>
              <a:t>widely</a:t>
            </a:r>
            <a:r>
              <a:rPr spc="-40" dirty="0"/>
              <a:t> </a:t>
            </a:r>
            <a:r>
              <a:rPr dirty="0"/>
              <a:t>used</a:t>
            </a:r>
            <a:r>
              <a:rPr spc="-45" dirty="0"/>
              <a:t> </a:t>
            </a:r>
            <a:r>
              <a:rPr dirty="0"/>
              <a:t>in</a:t>
            </a:r>
            <a:r>
              <a:rPr spc="-45" dirty="0"/>
              <a:t> </a:t>
            </a:r>
            <a:r>
              <a:rPr dirty="0"/>
              <a:t>vision</a:t>
            </a:r>
            <a:r>
              <a:rPr spc="-45" dirty="0"/>
              <a:t> </a:t>
            </a:r>
            <a:r>
              <a:rPr spc="-10" dirty="0"/>
              <a:t>tasks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6451" y="1124578"/>
            <a:ext cx="2752067" cy="229287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51546" y="1124577"/>
            <a:ext cx="3065407" cy="229287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462564" y="3448806"/>
            <a:ext cx="1523603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Classification</a:t>
            </a:r>
            <a:endParaRPr sz="1999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270035" y="3448806"/>
            <a:ext cx="1027797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Retrieval</a:t>
            </a:r>
            <a:endParaRPr sz="1999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52954" y="3448806"/>
            <a:ext cx="1098264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Detection</a:t>
            </a:r>
            <a:endParaRPr sz="1999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169383" y="1193429"/>
            <a:ext cx="2973265" cy="2235571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42597" y="3934520"/>
            <a:ext cx="3175903" cy="2106125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774754" y="6169962"/>
            <a:ext cx="1590896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Segmentation</a:t>
            </a:r>
            <a:endParaRPr sz="1999">
              <a:latin typeface="Arial MT"/>
              <a:cs typeface="Arial MT"/>
            </a:endParaRPr>
          </a:p>
        </p:txBody>
      </p:sp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251546" y="3829005"/>
            <a:ext cx="3074901" cy="232133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114498" y="6169962"/>
            <a:ext cx="1339501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Self-Driving</a:t>
            </a:r>
            <a:endParaRPr sz="1999">
              <a:latin typeface="Arial MT"/>
              <a:cs typeface="Arial MT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017777" y="3843712"/>
            <a:ext cx="3090192" cy="234268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8992646" y="6157773"/>
            <a:ext cx="1126831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ED7D31"/>
                </a:solidFill>
                <a:latin typeface="Arial MT"/>
                <a:cs typeface="Arial MT"/>
              </a:rPr>
              <a:t>Synthesis</a:t>
            </a:r>
            <a:endParaRPr sz="1999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1042" y="269901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Recap:</a:t>
            </a:r>
            <a:r>
              <a:rPr spc="-50" dirty="0"/>
              <a:t> </a:t>
            </a:r>
            <a:r>
              <a:rPr spc="-10" dirty="0"/>
              <a:t>Convolution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700" y="1572743"/>
            <a:ext cx="9423485" cy="723711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Convolve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the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filter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with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the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image: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slide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over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the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image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spatially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25" dirty="0">
                <a:latin typeface="Arial MT"/>
                <a:cs typeface="Arial MT"/>
              </a:rPr>
              <a:t>and 	</a:t>
            </a:r>
            <a:r>
              <a:rPr sz="2399" dirty="0">
                <a:latin typeface="Arial MT"/>
                <a:cs typeface="Arial MT"/>
              </a:rPr>
              <a:t>compute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dot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products</a:t>
            </a:r>
            <a:endParaRPr sz="2399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1009" y="2480483"/>
            <a:ext cx="6110737" cy="416395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2623" y="121101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pc="-20" dirty="0"/>
              <a:t>CNNs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94392" y="1210887"/>
            <a:ext cx="10342726" cy="723711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A</a:t>
            </a:r>
            <a:r>
              <a:rPr sz="2399" spc="-1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sequence</a:t>
            </a:r>
            <a:r>
              <a:rPr sz="2399" spc="-11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convolutional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layers,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interspersed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by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pooling,</a:t>
            </a:r>
            <a:r>
              <a:rPr sz="2399" spc="-8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normalization, 	</a:t>
            </a:r>
            <a:r>
              <a:rPr sz="2399" dirty="0">
                <a:latin typeface="Arial MT"/>
                <a:cs typeface="Arial MT"/>
              </a:rPr>
              <a:t>and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activation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functions</a:t>
            </a:r>
            <a:endParaRPr sz="2399" dirty="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3594" y="2203951"/>
            <a:ext cx="8484512" cy="392653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5186" y="6598172"/>
            <a:ext cx="1954021" cy="2051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696">
              <a:lnSpc>
                <a:spcPts val="1645"/>
              </a:lnSpc>
            </a:pPr>
            <a:r>
              <a:rPr sz="1400" dirty="0">
                <a:latin typeface="Arial MT"/>
                <a:cs typeface="Arial MT"/>
              </a:rPr>
              <a:t>[Zeiler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and</a:t>
            </a:r>
            <a:r>
              <a:rPr sz="1400" spc="-3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Fergus</a:t>
            </a:r>
            <a:r>
              <a:rPr sz="1400" spc="-30" dirty="0">
                <a:latin typeface="Arial MT"/>
                <a:cs typeface="Arial MT"/>
              </a:rPr>
              <a:t> </a:t>
            </a:r>
            <a:r>
              <a:rPr sz="1400" spc="-10" dirty="0">
                <a:latin typeface="Arial MT"/>
                <a:cs typeface="Arial MT"/>
              </a:rPr>
              <a:t>2013]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0040" y="449779"/>
            <a:ext cx="10360168" cy="96155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lnSpc>
                <a:spcPts val="3669"/>
              </a:lnSpc>
              <a:spcBef>
                <a:spcPts val="100"/>
              </a:spcBef>
            </a:pPr>
            <a:r>
              <a:rPr lang="en-US" dirty="0"/>
              <a:t>Computation</a:t>
            </a:r>
            <a:r>
              <a:rPr spc="-45" dirty="0"/>
              <a:t> </a:t>
            </a:r>
            <a:r>
              <a:rPr dirty="0"/>
              <a:t>Challenges</a:t>
            </a:r>
            <a:r>
              <a:rPr spc="-40" dirty="0"/>
              <a:t> </a:t>
            </a:r>
            <a:r>
              <a:rPr dirty="0"/>
              <a:t>in</a:t>
            </a:r>
            <a:r>
              <a:rPr spc="-45" dirty="0"/>
              <a:t> </a:t>
            </a:r>
            <a:r>
              <a:rPr spc="-10" dirty="0"/>
              <a:t>CNNs:</a:t>
            </a:r>
          </a:p>
          <a:p>
            <a:pPr marL="38089">
              <a:lnSpc>
                <a:spcPts val="3669"/>
              </a:lnSpc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- </a:t>
            </a:r>
            <a:r>
              <a:rPr sz="2400" dirty="0">
                <a:solidFill>
                  <a:schemeClr val="tx1"/>
                </a:solidFill>
              </a:rPr>
              <a:t>Increasing</a:t>
            </a:r>
            <a:r>
              <a:rPr sz="2400" spc="-85" dirty="0">
                <a:solidFill>
                  <a:schemeClr val="tx1"/>
                </a:solidFill>
              </a:rPr>
              <a:t> </a:t>
            </a:r>
            <a:r>
              <a:rPr sz="2400" dirty="0">
                <a:solidFill>
                  <a:schemeClr val="tx1"/>
                </a:solidFill>
              </a:rPr>
              <a:t>Computational</a:t>
            </a:r>
            <a:r>
              <a:rPr sz="2400" spc="-75" dirty="0">
                <a:solidFill>
                  <a:schemeClr val="tx1"/>
                </a:solidFill>
              </a:rPr>
              <a:t> </a:t>
            </a:r>
            <a:r>
              <a:rPr sz="2400" spc="-10" dirty="0">
                <a:solidFill>
                  <a:schemeClr val="tx1"/>
                </a:solidFill>
              </a:rPr>
              <a:t>Requirements</a:t>
            </a:r>
            <a:endParaRPr spc="-10" dirty="0">
              <a:solidFill>
                <a:schemeClr val="tx1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06618" y="1681917"/>
            <a:ext cx="3082122" cy="3260511"/>
            <a:chOff x="2007141" y="1681462"/>
            <a:chExt cx="3082925" cy="3261360"/>
          </a:xfrm>
        </p:grpSpPr>
        <p:sp>
          <p:nvSpPr>
            <p:cNvPr id="4" name="object 4"/>
            <p:cNvSpPr/>
            <p:nvPr/>
          </p:nvSpPr>
          <p:spPr>
            <a:xfrm>
              <a:off x="2076102" y="2215896"/>
              <a:ext cx="3011170" cy="2127885"/>
            </a:xfrm>
            <a:custGeom>
              <a:avLst/>
              <a:gdLst/>
              <a:ahLst/>
              <a:cxnLst/>
              <a:rect l="l" t="t" r="r" b="b"/>
              <a:pathLst>
                <a:path w="3011170" h="2127885">
                  <a:moveTo>
                    <a:pt x="0" y="2127504"/>
                  </a:moveTo>
                  <a:lnTo>
                    <a:pt x="1383377" y="2127504"/>
                  </a:lnTo>
                </a:path>
                <a:path w="3011170" h="2127885">
                  <a:moveTo>
                    <a:pt x="1627217" y="2127504"/>
                  </a:moveTo>
                  <a:lnTo>
                    <a:pt x="1986881" y="2127504"/>
                  </a:lnTo>
                </a:path>
                <a:path w="3011170" h="2127885">
                  <a:moveTo>
                    <a:pt x="2227673" y="2127504"/>
                  </a:moveTo>
                  <a:lnTo>
                    <a:pt x="2590385" y="2127504"/>
                  </a:lnTo>
                </a:path>
                <a:path w="3011170" h="2127885">
                  <a:moveTo>
                    <a:pt x="2831177" y="2127504"/>
                  </a:moveTo>
                  <a:lnTo>
                    <a:pt x="3010606" y="2127504"/>
                  </a:lnTo>
                </a:path>
                <a:path w="3011170" h="2127885">
                  <a:moveTo>
                    <a:pt x="0" y="1594104"/>
                  </a:moveTo>
                  <a:lnTo>
                    <a:pt x="1383377" y="1594104"/>
                  </a:lnTo>
                </a:path>
                <a:path w="3011170" h="2127885">
                  <a:moveTo>
                    <a:pt x="1627217" y="1594104"/>
                  </a:moveTo>
                  <a:lnTo>
                    <a:pt x="1986881" y="1594104"/>
                  </a:lnTo>
                </a:path>
                <a:path w="3011170" h="2127885">
                  <a:moveTo>
                    <a:pt x="2227673" y="1594104"/>
                  </a:moveTo>
                  <a:lnTo>
                    <a:pt x="2590385" y="1594104"/>
                  </a:lnTo>
                </a:path>
                <a:path w="3011170" h="2127885">
                  <a:moveTo>
                    <a:pt x="2831177" y="1594104"/>
                  </a:moveTo>
                  <a:lnTo>
                    <a:pt x="3010606" y="1594104"/>
                  </a:lnTo>
                </a:path>
                <a:path w="3011170" h="2127885">
                  <a:moveTo>
                    <a:pt x="2831177" y="1063752"/>
                  </a:moveTo>
                  <a:lnTo>
                    <a:pt x="3010606" y="1063752"/>
                  </a:lnTo>
                </a:path>
                <a:path w="3011170" h="2127885">
                  <a:moveTo>
                    <a:pt x="2227673" y="1063752"/>
                  </a:moveTo>
                  <a:lnTo>
                    <a:pt x="2590385" y="1063752"/>
                  </a:lnTo>
                </a:path>
                <a:path w="3011170" h="2127885">
                  <a:moveTo>
                    <a:pt x="0" y="1063752"/>
                  </a:moveTo>
                  <a:lnTo>
                    <a:pt x="1986881" y="1063752"/>
                  </a:lnTo>
                </a:path>
                <a:path w="3011170" h="2127885">
                  <a:moveTo>
                    <a:pt x="0" y="530352"/>
                  </a:moveTo>
                  <a:lnTo>
                    <a:pt x="2590385" y="530352"/>
                  </a:lnTo>
                </a:path>
                <a:path w="3011170" h="2127885">
                  <a:moveTo>
                    <a:pt x="2831177" y="530352"/>
                  </a:moveTo>
                  <a:lnTo>
                    <a:pt x="3010606" y="530352"/>
                  </a:lnTo>
                </a:path>
                <a:path w="3011170" h="2127885">
                  <a:moveTo>
                    <a:pt x="0" y="0"/>
                  </a:moveTo>
                  <a:lnTo>
                    <a:pt x="2590385" y="0"/>
                  </a:lnTo>
                </a:path>
                <a:path w="3011170" h="2127885">
                  <a:moveTo>
                    <a:pt x="2831177" y="0"/>
                  </a:moveTo>
                  <a:lnTo>
                    <a:pt x="3010606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" name="object 5"/>
            <p:cNvSpPr/>
            <p:nvPr/>
          </p:nvSpPr>
          <p:spPr>
            <a:xfrm>
              <a:off x="2076102" y="1684637"/>
              <a:ext cx="3011170" cy="0"/>
            </a:xfrm>
            <a:custGeom>
              <a:avLst/>
              <a:gdLst/>
              <a:ahLst/>
              <a:cxnLst/>
              <a:rect l="l" t="t" r="r" b="b"/>
              <a:pathLst>
                <a:path w="3011170">
                  <a:moveTo>
                    <a:pt x="0" y="0"/>
                  </a:moveTo>
                  <a:lnTo>
                    <a:pt x="3010606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6" name="object 6"/>
            <p:cNvSpPr/>
            <p:nvPr/>
          </p:nvSpPr>
          <p:spPr>
            <a:xfrm>
              <a:off x="2255520" y="2066543"/>
              <a:ext cx="2651760" cy="2807335"/>
            </a:xfrm>
            <a:custGeom>
              <a:avLst/>
              <a:gdLst/>
              <a:ahLst/>
              <a:cxnLst/>
              <a:rect l="l" t="t" r="r" b="b"/>
              <a:pathLst>
                <a:path w="2651760" h="2807335">
                  <a:moveTo>
                    <a:pt x="240792" y="2679192"/>
                  </a:moveTo>
                  <a:lnTo>
                    <a:pt x="0" y="2679192"/>
                  </a:lnTo>
                  <a:lnTo>
                    <a:pt x="0" y="2806801"/>
                  </a:lnTo>
                  <a:lnTo>
                    <a:pt x="240792" y="2806801"/>
                  </a:lnTo>
                  <a:lnTo>
                    <a:pt x="240792" y="2679192"/>
                  </a:lnTo>
                  <a:close/>
                </a:path>
                <a:path w="2651760" h="2807335">
                  <a:moveTo>
                    <a:pt x="844296" y="2606040"/>
                  </a:moveTo>
                  <a:lnTo>
                    <a:pt x="603504" y="2606040"/>
                  </a:lnTo>
                  <a:lnTo>
                    <a:pt x="603504" y="2806801"/>
                  </a:lnTo>
                  <a:lnTo>
                    <a:pt x="844296" y="2806801"/>
                  </a:lnTo>
                  <a:lnTo>
                    <a:pt x="844296" y="2606040"/>
                  </a:lnTo>
                  <a:close/>
                </a:path>
                <a:path w="2651760" h="2807335">
                  <a:moveTo>
                    <a:pt x="1447800" y="1722120"/>
                  </a:moveTo>
                  <a:lnTo>
                    <a:pt x="1203960" y="1722120"/>
                  </a:lnTo>
                  <a:lnTo>
                    <a:pt x="1203960" y="2806801"/>
                  </a:lnTo>
                  <a:lnTo>
                    <a:pt x="1447800" y="2806801"/>
                  </a:lnTo>
                  <a:lnTo>
                    <a:pt x="1447800" y="1722120"/>
                  </a:lnTo>
                  <a:close/>
                </a:path>
                <a:path w="2651760" h="2807335">
                  <a:moveTo>
                    <a:pt x="2048256" y="1191768"/>
                  </a:moveTo>
                  <a:lnTo>
                    <a:pt x="1807464" y="1191768"/>
                  </a:lnTo>
                  <a:lnTo>
                    <a:pt x="1807464" y="2806801"/>
                  </a:lnTo>
                  <a:lnTo>
                    <a:pt x="2048256" y="2806801"/>
                  </a:lnTo>
                  <a:lnTo>
                    <a:pt x="2048256" y="1191768"/>
                  </a:lnTo>
                  <a:close/>
                </a:path>
                <a:path w="2651760" h="2807335">
                  <a:moveTo>
                    <a:pt x="2651760" y="0"/>
                  </a:moveTo>
                  <a:lnTo>
                    <a:pt x="2410968" y="0"/>
                  </a:lnTo>
                  <a:lnTo>
                    <a:pt x="2410968" y="2806801"/>
                  </a:lnTo>
                  <a:lnTo>
                    <a:pt x="2651760" y="2806801"/>
                  </a:lnTo>
                  <a:lnTo>
                    <a:pt x="2651760" y="0"/>
                  </a:lnTo>
                  <a:close/>
                </a:path>
              </a:pathLst>
            </a:custGeom>
            <a:solidFill>
              <a:srgbClr val="EF8A46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" name="object 7"/>
            <p:cNvSpPr/>
            <p:nvPr/>
          </p:nvSpPr>
          <p:spPr>
            <a:xfrm>
              <a:off x="2076102" y="1684637"/>
              <a:ext cx="0" cy="3188970"/>
            </a:xfrm>
            <a:custGeom>
              <a:avLst/>
              <a:gdLst/>
              <a:ahLst/>
              <a:cxnLst/>
              <a:rect l="l" t="t" r="r" b="b"/>
              <a:pathLst>
                <a:path h="3188970">
                  <a:moveTo>
                    <a:pt x="0" y="3188703"/>
                  </a:moveTo>
                  <a:lnTo>
                    <a:pt x="1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" name="object 8"/>
            <p:cNvSpPr/>
            <p:nvPr/>
          </p:nvSpPr>
          <p:spPr>
            <a:xfrm>
              <a:off x="2007141" y="1684637"/>
              <a:ext cx="69215" cy="3188970"/>
            </a:xfrm>
            <a:custGeom>
              <a:avLst/>
              <a:gdLst/>
              <a:ahLst/>
              <a:cxnLst/>
              <a:rect l="l" t="t" r="r" b="b"/>
              <a:pathLst>
                <a:path w="69214" h="3188970">
                  <a:moveTo>
                    <a:pt x="0" y="3188703"/>
                  </a:moveTo>
                  <a:lnTo>
                    <a:pt x="68961" y="3188703"/>
                  </a:lnTo>
                </a:path>
                <a:path w="69214" h="3188970">
                  <a:moveTo>
                    <a:pt x="0" y="2658763"/>
                  </a:moveTo>
                  <a:lnTo>
                    <a:pt x="68961" y="2658763"/>
                  </a:lnTo>
                </a:path>
                <a:path w="69214" h="3188970">
                  <a:moveTo>
                    <a:pt x="0" y="2125363"/>
                  </a:moveTo>
                  <a:lnTo>
                    <a:pt x="68961" y="2125363"/>
                  </a:lnTo>
                </a:path>
                <a:path w="69214" h="3188970">
                  <a:moveTo>
                    <a:pt x="0" y="1595011"/>
                  </a:moveTo>
                  <a:lnTo>
                    <a:pt x="68961" y="1595011"/>
                  </a:lnTo>
                </a:path>
                <a:path w="69214" h="3188970">
                  <a:moveTo>
                    <a:pt x="0" y="1061611"/>
                  </a:moveTo>
                  <a:lnTo>
                    <a:pt x="68961" y="1061611"/>
                  </a:lnTo>
                </a:path>
                <a:path w="69214" h="3188970">
                  <a:moveTo>
                    <a:pt x="0" y="531259"/>
                  </a:moveTo>
                  <a:lnTo>
                    <a:pt x="68961" y="531259"/>
                  </a:lnTo>
                </a:path>
                <a:path w="69214" h="3188970">
                  <a:moveTo>
                    <a:pt x="0" y="0"/>
                  </a:moveTo>
                  <a:lnTo>
                    <a:pt x="68961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" name="object 9"/>
            <p:cNvSpPr/>
            <p:nvPr/>
          </p:nvSpPr>
          <p:spPr>
            <a:xfrm>
              <a:off x="2076102" y="4873340"/>
              <a:ext cx="3011170" cy="69215"/>
            </a:xfrm>
            <a:custGeom>
              <a:avLst/>
              <a:gdLst/>
              <a:ahLst/>
              <a:cxnLst/>
              <a:rect l="l" t="t" r="r" b="b"/>
              <a:pathLst>
                <a:path w="3011170" h="69214">
                  <a:moveTo>
                    <a:pt x="0" y="0"/>
                  </a:moveTo>
                  <a:lnTo>
                    <a:pt x="3010606" y="1"/>
                  </a:lnTo>
                </a:path>
                <a:path w="3011170" h="69214">
                  <a:moveTo>
                    <a:pt x="0" y="0"/>
                  </a:moveTo>
                  <a:lnTo>
                    <a:pt x="0" y="68961"/>
                  </a:lnTo>
                </a:path>
                <a:path w="3011170" h="69214">
                  <a:moveTo>
                    <a:pt x="603090" y="0"/>
                  </a:moveTo>
                  <a:lnTo>
                    <a:pt x="603090" y="68961"/>
                  </a:lnTo>
                </a:path>
                <a:path w="3011170" h="69214">
                  <a:moveTo>
                    <a:pt x="1203546" y="0"/>
                  </a:moveTo>
                  <a:lnTo>
                    <a:pt x="1203546" y="68961"/>
                  </a:lnTo>
                </a:path>
                <a:path w="3011170" h="69214">
                  <a:moveTo>
                    <a:pt x="1807050" y="0"/>
                  </a:moveTo>
                  <a:lnTo>
                    <a:pt x="1807050" y="68961"/>
                  </a:lnTo>
                </a:path>
                <a:path w="3011170" h="69214">
                  <a:moveTo>
                    <a:pt x="2407506" y="0"/>
                  </a:moveTo>
                  <a:lnTo>
                    <a:pt x="2407506" y="68961"/>
                  </a:lnTo>
                </a:path>
                <a:path w="3011170" h="69214">
                  <a:moveTo>
                    <a:pt x="3010606" y="0"/>
                  </a:moveTo>
                  <a:lnTo>
                    <a:pt x="3010606" y="68961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236751" y="4400551"/>
            <a:ext cx="27996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12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38716" y="4327418"/>
            <a:ext cx="27996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19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377134" y="3443728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102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79098" y="2913513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152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81063" y="1722056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264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739226" y="4696129"/>
            <a:ext cx="152995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50" dirty="0">
                <a:latin typeface="Arial MT"/>
                <a:cs typeface="Arial MT"/>
              </a:rPr>
              <a:t>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612132" y="4165915"/>
            <a:ext cx="27996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50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485038" y="3632654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100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485038" y="3102440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150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485038" y="2572226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200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485038" y="2038965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250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485038" y="1508752"/>
            <a:ext cx="40692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300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 rot="18900000">
            <a:off x="1069187" y="5527066"/>
            <a:ext cx="154064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dirty="0">
                <a:latin typeface="Arial MT"/>
                <a:cs typeface="Arial MT"/>
              </a:rPr>
              <a:t>AlexNet</a:t>
            </a:r>
            <a:r>
              <a:rPr sz="1799" spc="-5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(2012)</a:t>
            </a:r>
            <a:endParaRPr sz="1799" dirty="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 rot="18900000">
            <a:off x="1918569" y="5423016"/>
            <a:ext cx="125322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dirty="0">
                <a:latin typeface="Arial MT"/>
                <a:cs typeface="Arial MT"/>
              </a:rPr>
              <a:t>VGG</a:t>
            </a:r>
            <a:r>
              <a:rPr sz="1799" spc="-1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(2014)</a:t>
            </a:r>
            <a:endParaRPr sz="1799" dirty="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 rot="18900000">
            <a:off x="2165164" y="5573580"/>
            <a:ext cx="1666317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dirty="0">
                <a:latin typeface="Arial MT"/>
                <a:cs typeface="Arial MT"/>
              </a:rPr>
              <a:t>Inception</a:t>
            </a:r>
            <a:r>
              <a:rPr sz="1799" spc="-4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(2015)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 rot="18900000">
            <a:off x="2907423" y="5513111"/>
            <a:ext cx="150298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dirty="0">
                <a:latin typeface="Arial MT"/>
                <a:cs typeface="Arial MT"/>
              </a:rPr>
              <a:t>ResNet</a:t>
            </a:r>
            <a:r>
              <a:rPr sz="1799" spc="-5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(2015)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 rot="18900000">
            <a:off x="3293722" y="5603109"/>
            <a:ext cx="1754396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dirty="0">
                <a:latin typeface="Arial MT"/>
                <a:cs typeface="Arial MT"/>
              </a:rPr>
              <a:t>DenseNet</a:t>
            </a:r>
            <a:r>
              <a:rPr sz="1799" spc="-60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(2016)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93269" y="2295520"/>
            <a:ext cx="269304" cy="1969257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696">
              <a:lnSpc>
                <a:spcPts val="2089"/>
              </a:lnSpc>
            </a:pPr>
            <a:r>
              <a:rPr sz="1799" b="1" dirty="0">
                <a:latin typeface="Arial"/>
                <a:cs typeface="Arial"/>
              </a:rPr>
              <a:t>Number</a:t>
            </a:r>
            <a:r>
              <a:rPr sz="1799" b="1" spc="-10" dirty="0">
                <a:latin typeface="Arial"/>
                <a:cs typeface="Arial"/>
              </a:rPr>
              <a:t> </a:t>
            </a:r>
            <a:r>
              <a:rPr sz="1799" b="1" dirty="0">
                <a:latin typeface="Arial"/>
                <a:cs typeface="Arial"/>
              </a:rPr>
              <a:t>of</a:t>
            </a:r>
            <a:r>
              <a:rPr sz="1799" b="1" spc="-10" dirty="0">
                <a:latin typeface="Arial"/>
                <a:cs typeface="Arial"/>
              </a:rPr>
              <a:t> Layers</a:t>
            </a:r>
            <a:endParaRPr sz="1799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7390348" y="1669220"/>
            <a:ext cx="3275112" cy="3449056"/>
            <a:chOff x="7392273" y="1668762"/>
            <a:chExt cx="3275965" cy="3449954"/>
          </a:xfrm>
        </p:grpSpPr>
        <p:sp>
          <p:nvSpPr>
            <p:cNvPr id="29" name="object 29"/>
            <p:cNvSpPr/>
            <p:nvPr/>
          </p:nvSpPr>
          <p:spPr>
            <a:xfrm>
              <a:off x="7461235" y="2093976"/>
              <a:ext cx="3207385" cy="2533015"/>
            </a:xfrm>
            <a:custGeom>
              <a:avLst/>
              <a:gdLst/>
              <a:ahLst/>
              <a:cxnLst/>
              <a:rect l="l" t="t" r="r" b="b"/>
              <a:pathLst>
                <a:path w="3207384" h="2533015">
                  <a:moveTo>
                    <a:pt x="0" y="2532888"/>
                  </a:moveTo>
                  <a:lnTo>
                    <a:pt x="2466100" y="2532888"/>
                  </a:lnTo>
                </a:path>
                <a:path w="3207384" h="2533015">
                  <a:moveTo>
                    <a:pt x="2895868" y="2532888"/>
                  </a:moveTo>
                  <a:lnTo>
                    <a:pt x="3206765" y="2532888"/>
                  </a:lnTo>
                </a:path>
                <a:path w="3207384" h="2533015">
                  <a:moveTo>
                    <a:pt x="0" y="2112264"/>
                  </a:moveTo>
                  <a:lnTo>
                    <a:pt x="2466100" y="2112264"/>
                  </a:lnTo>
                </a:path>
                <a:path w="3207384" h="2533015">
                  <a:moveTo>
                    <a:pt x="2895868" y="2112264"/>
                  </a:moveTo>
                  <a:lnTo>
                    <a:pt x="3206765" y="2112264"/>
                  </a:lnTo>
                </a:path>
                <a:path w="3207384" h="2533015">
                  <a:moveTo>
                    <a:pt x="0" y="1688592"/>
                  </a:moveTo>
                  <a:lnTo>
                    <a:pt x="2466100" y="1688592"/>
                  </a:lnTo>
                </a:path>
                <a:path w="3207384" h="2533015">
                  <a:moveTo>
                    <a:pt x="2895868" y="1688592"/>
                  </a:moveTo>
                  <a:lnTo>
                    <a:pt x="3206765" y="1688592"/>
                  </a:lnTo>
                </a:path>
                <a:path w="3207384" h="2533015">
                  <a:moveTo>
                    <a:pt x="0" y="1267968"/>
                  </a:moveTo>
                  <a:lnTo>
                    <a:pt x="2466100" y="1267968"/>
                  </a:lnTo>
                </a:path>
                <a:path w="3207384" h="2533015">
                  <a:moveTo>
                    <a:pt x="2895868" y="1267968"/>
                  </a:moveTo>
                  <a:lnTo>
                    <a:pt x="3206765" y="1267968"/>
                  </a:lnTo>
                </a:path>
                <a:path w="3207384" h="2533015">
                  <a:moveTo>
                    <a:pt x="0" y="844296"/>
                  </a:moveTo>
                  <a:lnTo>
                    <a:pt x="2466100" y="844296"/>
                  </a:lnTo>
                </a:path>
                <a:path w="3207384" h="2533015">
                  <a:moveTo>
                    <a:pt x="2895868" y="844296"/>
                  </a:moveTo>
                  <a:lnTo>
                    <a:pt x="3206765" y="844296"/>
                  </a:lnTo>
                </a:path>
                <a:path w="3207384" h="2533015">
                  <a:moveTo>
                    <a:pt x="0" y="423672"/>
                  </a:moveTo>
                  <a:lnTo>
                    <a:pt x="2466100" y="423672"/>
                  </a:lnTo>
                </a:path>
                <a:path w="3207384" h="2533015">
                  <a:moveTo>
                    <a:pt x="2895868" y="423672"/>
                  </a:moveTo>
                  <a:lnTo>
                    <a:pt x="3206765" y="423672"/>
                  </a:lnTo>
                </a:path>
                <a:path w="3207384" h="2533015">
                  <a:moveTo>
                    <a:pt x="2895868" y="0"/>
                  </a:moveTo>
                  <a:lnTo>
                    <a:pt x="3206765" y="0"/>
                  </a:lnTo>
                </a:path>
                <a:path w="3207384" h="2533015">
                  <a:moveTo>
                    <a:pt x="0" y="0"/>
                  </a:moveTo>
                  <a:lnTo>
                    <a:pt x="2466100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0" name="object 30"/>
            <p:cNvSpPr/>
            <p:nvPr/>
          </p:nvSpPr>
          <p:spPr>
            <a:xfrm>
              <a:off x="7461235" y="1671937"/>
              <a:ext cx="3207385" cy="0"/>
            </a:xfrm>
            <a:custGeom>
              <a:avLst/>
              <a:gdLst/>
              <a:ahLst/>
              <a:cxnLst/>
              <a:rect l="l" t="t" r="r" b="b"/>
              <a:pathLst>
                <a:path w="3207384">
                  <a:moveTo>
                    <a:pt x="0" y="0"/>
                  </a:moveTo>
                  <a:lnTo>
                    <a:pt x="3206765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1" name="object 31"/>
            <p:cNvSpPr/>
            <p:nvPr/>
          </p:nvSpPr>
          <p:spPr>
            <a:xfrm>
              <a:off x="7781544" y="2072639"/>
              <a:ext cx="2575560" cy="2976880"/>
            </a:xfrm>
            <a:custGeom>
              <a:avLst/>
              <a:gdLst/>
              <a:ahLst/>
              <a:cxnLst/>
              <a:rect l="l" t="t" r="r" b="b"/>
              <a:pathLst>
                <a:path w="2575559" h="2976879">
                  <a:moveTo>
                    <a:pt x="429768" y="2962656"/>
                  </a:moveTo>
                  <a:lnTo>
                    <a:pt x="0" y="2962656"/>
                  </a:lnTo>
                  <a:lnTo>
                    <a:pt x="0" y="2976727"/>
                  </a:lnTo>
                  <a:lnTo>
                    <a:pt x="429768" y="2976727"/>
                  </a:lnTo>
                  <a:lnTo>
                    <a:pt x="429768" y="2962656"/>
                  </a:lnTo>
                  <a:close/>
                </a:path>
                <a:path w="2575559" h="2976879">
                  <a:moveTo>
                    <a:pt x="1502664" y="2682240"/>
                  </a:moveTo>
                  <a:lnTo>
                    <a:pt x="1072896" y="2682240"/>
                  </a:lnTo>
                  <a:lnTo>
                    <a:pt x="1072896" y="2976727"/>
                  </a:lnTo>
                  <a:lnTo>
                    <a:pt x="1502664" y="2976727"/>
                  </a:lnTo>
                  <a:lnTo>
                    <a:pt x="1502664" y="2682240"/>
                  </a:lnTo>
                  <a:close/>
                </a:path>
                <a:path w="2575559" h="2976879">
                  <a:moveTo>
                    <a:pt x="2575560" y="0"/>
                  </a:moveTo>
                  <a:lnTo>
                    <a:pt x="2145792" y="0"/>
                  </a:lnTo>
                  <a:lnTo>
                    <a:pt x="2145792" y="2976727"/>
                  </a:lnTo>
                  <a:lnTo>
                    <a:pt x="2575560" y="2976727"/>
                  </a:lnTo>
                  <a:lnTo>
                    <a:pt x="2575560" y="0"/>
                  </a:lnTo>
                  <a:close/>
                </a:path>
              </a:pathLst>
            </a:custGeom>
            <a:solidFill>
              <a:srgbClr val="007486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2" name="object 32"/>
            <p:cNvSpPr/>
            <p:nvPr/>
          </p:nvSpPr>
          <p:spPr>
            <a:xfrm>
              <a:off x="7461234" y="1671936"/>
              <a:ext cx="0" cy="3377565"/>
            </a:xfrm>
            <a:custGeom>
              <a:avLst/>
              <a:gdLst/>
              <a:ahLst/>
              <a:cxnLst/>
              <a:rect l="l" t="t" r="r" b="b"/>
              <a:pathLst>
                <a:path h="3377565">
                  <a:moveTo>
                    <a:pt x="0" y="3377423"/>
                  </a:moveTo>
                  <a:lnTo>
                    <a:pt x="1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3" name="object 33"/>
            <p:cNvSpPr/>
            <p:nvPr/>
          </p:nvSpPr>
          <p:spPr>
            <a:xfrm>
              <a:off x="7392273" y="1671937"/>
              <a:ext cx="69215" cy="3377565"/>
            </a:xfrm>
            <a:custGeom>
              <a:avLst/>
              <a:gdLst/>
              <a:ahLst/>
              <a:cxnLst/>
              <a:rect l="l" t="t" r="r" b="b"/>
              <a:pathLst>
                <a:path w="69215" h="3377565">
                  <a:moveTo>
                    <a:pt x="0" y="3377423"/>
                  </a:moveTo>
                  <a:lnTo>
                    <a:pt x="68961" y="3377423"/>
                  </a:lnTo>
                </a:path>
                <a:path w="69215" h="3377565">
                  <a:moveTo>
                    <a:pt x="0" y="2954927"/>
                  </a:moveTo>
                  <a:lnTo>
                    <a:pt x="68961" y="2954927"/>
                  </a:lnTo>
                </a:path>
                <a:path w="69215" h="3377565">
                  <a:moveTo>
                    <a:pt x="0" y="2534303"/>
                  </a:moveTo>
                  <a:lnTo>
                    <a:pt x="68961" y="2534303"/>
                  </a:lnTo>
                </a:path>
                <a:path w="69215" h="3377565">
                  <a:moveTo>
                    <a:pt x="0" y="2110631"/>
                  </a:moveTo>
                  <a:lnTo>
                    <a:pt x="68961" y="2110631"/>
                  </a:lnTo>
                </a:path>
                <a:path w="69215" h="3377565">
                  <a:moveTo>
                    <a:pt x="0" y="1690007"/>
                  </a:moveTo>
                  <a:lnTo>
                    <a:pt x="68961" y="1690007"/>
                  </a:lnTo>
                </a:path>
                <a:path w="69215" h="3377565">
                  <a:moveTo>
                    <a:pt x="0" y="1266335"/>
                  </a:moveTo>
                  <a:lnTo>
                    <a:pt x="68961" y="1266335"/>
                  </a:lnTo>
                </a:path>
                <a:path w="69215" h="3377565">
                  <a:moveTo>
                    <a:pt x="0" y="845711"/>
                  </a:moveTo>
                  <a:lnTo>
                    <a:pt x="68961" y="845711"/>
                  </a:lnTo>
                </a:path>
                <a:path w="69215" h="3377565">
                  <a:moveTo>
                    <a:pt x="0" y="422039"/>
                  </a:moveTo>
                  <a:lnTo>
                    <a:pt x="68961" y="422039"/>
                  </a:lnTo>
                </a:path>
                <a:path w="69215" h="3377565">
                  <a:moveTo>
                    <a:pt x="0" y="0"/>
                  </a:moveTo>
                  <a:lnTo>
                    <a:pt x="68961" y="0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4" name="object 34"/>
            <p:cNvSpPr/>
            <p:nvPr/>
          </p:nvSpPr>
          <p:spPr>
            <a:xfrm>
              <a:off x="7461235" y="5049359"/>
              <a:ext cx="3207385" cy="69215"/>
            </a:xfrm>
            <a:custGeom>
              <a:avLst/>
              <a:gdLst/>
              <a:ahLst/>
              <a:cxnLst/>
              <a:rect l="l" t="t" r="r" b="b"/>
              <a:pathLst>
                <a:path w="3207384" h="69214">
                  <a:moveTo>
                    <a:pt x="0" y="0"/>
                  </a:moveTo>
                  <a:lnTo>
                    <a:pt x="3206765" y="0"/>
                  </a:lnTo>
                </a:path>
                <a:path w="3207384" h="69214">
                  <a:moveTo>
                    <a:pt x="0" y="0"/>
                  </a:moveTo>
                  <a:lnTo>
                    <a:pt x="0" y="68961"/>
                  </a:lnTo>
                </a:path>
                <a:path w="3207384" h="69214">
                  <a:moveTo>
                    <a:pt x="1073165" y="0"/>
                  </a:moveTo>
                  <a:lnTo>
                    <a:pt x="1073165" y="68961"/>
                  </a:lnTo>
                </a:path>
                <a:path w="3207384" h="69214">
                  <a:moveTo>
                    <a:pt x="2146061" y="0"/>
                  </a:moveTo>
                  <a:lnTo>
                    <a:pt x="2146061" y="68961"/>
                  </a:lnTo>
                </a:path>
              </a:pathLst>
            </a:custGeom>
            <a:ln w="6350">
              <a:solidFill>
                <a:srgbClr val="898989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760347" y="4690035"/>
            <a:ext cx="470411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latin typeface="Arial MT"/>
                <a:cs typeface="Arial MT"/>
              </a:rPr>
              <a:t>0.06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8896164" y="4409692"/>
            <a:ext cx="343446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5" dirty="0">
                <a:latin typeface="Arial MT"/>
                <a:cs typeface="Arial MT"/>
              </a:rPr>
              <a:t>1.4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904886" y="1728151"/>
            <a:ext cx="470411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20" dirty="0">
                <a:latin typeface="Arial MT"/>
                <a:cs typeface="Arial MT"/>
              </a:rPr>
              <a:t>14.1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6995862" y="1350297"/>
            <a:ext cx="279962" cy="3882232"/>
          </a:xfrm>
          <a:prstGeom prst="rect">
            <a:avLst/>
          </a:prstGeom>
        </p:spPr>
        <p:txBody>
          <a:bodyPr vert="horz" wrap="square" lIns="0" tIns="158709" rIns="0" bIns="0" rtlCol="0">
            <a:spAutoFit/>
          </a:bodyPr>
          <a:lstStyle/>
          <a:p>
            <a:pPr marL="12696">
              <a:spcBef>
                <a:spcPts val="1250"/>
              </a:spcBef>
            </a:pPr>
            <a:r>
              <a:rPr sz="1799" spc="-25" dirty="0">
                <a:latin typeface="Arial MT"/>
                <a:cs typeface="Arial MT"/>
              </a:rPr>
              <a:t>16</a:t>
            </a:r>
            <a:endParaRPr sz="1799">
              <a:latin typeface="Arial MT"/>
              <a:cs typeface="Arial MT"/>
            </a:endParaRPr>
          </a:p>
          <a:p>
            <a:pPr marL="12696">
              <a:spcBef>
                <a:spcPts val="1155"/>
              </a:spcBef>
            </a:pPr>
            <a:r>
              <a:rPr sz="1799" spc="-25" dirty="0">
                <a:latin typeface="Arial MT"/>
                <a:cs typeface="Arial MT"/>
              </a:rPr>
              <a:t>14</a:t>
            </a:r>
            <a:endParaRPr sz="1799">
              <a:latin typeface="Arial MT"/>
              <a:cs typeface="Arial MT"/>
            </a:endParaRPr>
          </a:p>
          <a:p>
            <a:pPr marL="12696">
              <a:spcBef>
                <a:spcPts val="1175"/>
              </a:spcBef>
            </a:pPr>
            <a:r>
              <a:rPr sz="1799" spc="-25" dirty="0">
                <a:latin typeface="Arial MT"/>
                <a:cs typeface="Arial MT"/>
              </a:rPr>
              <a:t>12</a:t>
            </a:r>
            <a:endParaRPr sz="1799">
              <a:latin typeface="Arial MT"/>
              <a:cs typeface="Arial MT"/>
            </a:endParaRPr>
          </a:p>
          <a:p>
            <a:pPr marL="12696">
              <a:spcBef>
                <a:spcPts val="1150"/>
              </a:spcBef>
            </a:pPr>
            <a:r>
              <a:rPr sz="1799" spc="-25" dirty="0">
                <a:latin typeface="Arial MT"/>
                <a:cs typeface="Arial MT"/>
              </a:rPr>
              <a:t>10</a:t>
            </a:r>
            <a:endParaRPr sz="1799">
              <a:latin typeface="Arial MT"/>
              <a:cs typeface="Arial MT"/>
            </a:endParaRPr>
          </a:p>
          <a:p>
            <a:pPr marL="139658">
              <a:spcBef>
                <a:spcPts val="1175"/>
              </a:spcBef>
            </a:pPr>
            <a:r>
              <a:rPr sz="1799" spc="-50" dirty="0">
                <a:latin typeface="Arial MT"/>
                <a:cs typeface="Arial MT"/>
              </a:rPr>
              <a:t>8</a:t>
            </a:r>
            <a:endParaRPr sz="1799">
              <a:latin typeface="Arial MT"/>
              <a:cs typeface="Arial MT"/>
            </a:endParaRPr>
          </a:p>
          <a:p>
            <a:pPr marL="139658">
              <a:spcBef>
                <a:spcPts val="1155"/>
              </a:spcBef>
            </a:pPr>
            <a:r>
              <a:rPr sz="1799" spc="-50" dirty="0">
                <a:latin typeface="Arial MT"/>
                <a:cs typeface="Arial MT"/>
              </a:rPr>
              <a:t>6</a:t>
            </a:r>
            <a:endParaRPr sz="1799">
              <a:latin typeface="Arial MT"/>
              <a:cs typeface="Arial MT"/>
            </a:endParaRPr>
          </a:p>
          <a:p>
            <a:pPr marL="139658">
              <a:spcBef>
                <a:spcPts val="1175"/>
              </a:spcBef>
            </a:pPr>
            <a:r>
              <a:rPr sz="1799" spc="-50" dirty="0">
                <a:latin typeface="Arial MT"/>
                <a:cs typeface="Arial MT"/>
              </a:rPr>
              <a:t>4</a:t>
            </a:r>
            <a:endParaRPr sz="1799">
              <a:latin typeface="Arial MT"/>
              <a:cs typeface="Arial MT"/>
            </a:endParaRPr>
          </a:p>
          <a:p>
            <a:pPr marL="139658">
              <a:spcBef>
                <a:spcPts val="1150"/>
              </a:spcBef>
            </a:pPr>
            <a:r>
              <a:rPr sz="1799" spc="-50" dirty="0">
                <a:latin typeface="Arial MT"/>
                <a:cs typeface="Arial MT"/>
              </a:rPr>
              <a:t>2</a:t>
            </a:r>
            <a:endParaRPr sz="1799">
              <a:latin typeface="Arial MT"/>
              <a:cs typeface="Arial MT"/>
            </a:endParaRPr>
          </a:p>
          <a:p>
            <a:pPr marL="139658">
              <a:spcBef>
                <a:spcPts val="1180"/>
              </a:spcBef>
            </a:pPr>
            <a:r>
              <a:rPr sz="1799" spc="-50" dirty="0">
                <a:latin typeface="Arial MT"/>
                <a:cs typeface="Arial MT"/>
              </a:rPr>
              <a:t>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39" name="object 39"/>
          <p:cNvSpPr txBox="1"/>
          <p:nvPr/>
        </p:nvSpPr>
        <p:spPr>
          <a:xfrm rot="18900000">
            <a:off x="7181724" y="5495849"/>
            <a:ext cx="96756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spc="-10" dirty="0">
                <a:latin typeface="Arial MT"/>
                <a:cs typeface="Arial MT"/>
              </a:rPr>
              <a:t>CIFAR10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0" name="object 40"/>
          <p:cNvSpPr txBox="1"/>
          <p:nvPr/>
        </p:nvSpPr>
        <p:spPr>
          <a:xfrm rot="18900000">
            <a:off x="7910961" y="5638450"/>
            <a:ext cx="136574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spc="-10" dirty="0">
                <a:latin typeface="Arial MT"/>
                <a:cs typeface="Arial MT"/>
              </a:rPr>
              <a:t>ImageNet-</a:t>
            </a:r>
            <a:r>
              <a:rPr sz="1799" spc="-25" dirty="0">
                <a:latin typeface="Arial MT"/>
                <a:cs typeface="Arial MT"/>
              </a:rPr>
              <a:t>1K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1" name="object 41"/>
          <p:cNvSpPr txBox="1"/>
          <p:nvPr/>
        </p:nvSpPr>
        <p:spPr>
          <a:xfrm rot="18900000">
            <a:off x="8875571" y="5684944"/>
            <a:ext cx="1491696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99"/>
              </a:lnSpc>
            </a:pPr>
            <a:r>
              <a:rPr sz="1799" spc="-10" dirty="0">
                <a:latin typeface="Arial MT"/>
                <a:cs typeface="Arial MT"/>
              </a:rPr>
              <a:t>ImageNet-</a:t>
            </a:r>
            <a:r>
              <a:rPr sz="1799" spc="-25" dirty="0">
                <a:latin typeface="Arial MT"/>
                <a:cs typeface="Arial MT"/>
              </a:rPr>
              <a:t>22K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704095" y="1697174"/>
            <a:ext cx="269304" cy="3506191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696">
              <a:lnSpc>
                <a:spcPts val="2089"/>
              </a:lnSpc>
            </a:pPr>
            <a:r>
              <a:rPr sz="1799" b="1" dirty="0">
                <a:latin typeface="Arial"/>
                <a:cs typeface="Arial"/>
              </a:rPr>
              <a:t>Number</a:t>
            </a:r>
            <a:r>
              <a:rPr sz="1799" b="1" spc="-10" dirty="0">
                <a:latin typeface="Arial"/>
                <a:cs typeface="Arial"/>
              </a:rPr>
              <a:t> </a:t>
            </a:r>
            <a:r>
              <a:rPr sz="1799" b="1" dirty="0">
                <a:latin typeface="Arial"/>
                <a:cs typeface="Arial"/>
              </a:rPr>
              <a:t>of</a:t>
            </a:r>
            <a:r>
              <a:rPr sz="1799" b="1" spc="-10" dirty="0">
                <a:latin typeface="Arial"/>
                <a:cs typeface="Arial"/>
              </a:rPr>
              <a:t> </a:t>
            </a:r>
            <a:r>
              <a:rPr sz="1799" b="1" dirty="0">
                <a:latin typeface="Arial"/>
                <a:cs typeface="Arial"/>
              </a:rPr>
              <a:t>Samples</a:t>
            </a:r>
            <a:r>
              <a:rPr sz="1799" b="1" spc="-10" dirty="0">
                <a:latin typeface="Arial"/>
                <a:cs typeface="Arial"/>
              </a:rPr>
              <a:t> </a:t>
            </a:r>
            <a:r>
              <a:rPr sz="1799" b="1" dirty="0">
                <a:latin typeface="Arial"/>
                <a:cs typeface="Arial"/>
              </a:rPr>
              <a:t>(in</a:t>
            </a:r>
            <a:r>
              <a:rPr sz="1799" b="1" spc="-10" dirty="0">
                <a:latin typeface="Arial"/>
                <a:cs typeface="Arial"/>
              </a:rPr>
              <a:t> Millions)</a:t>
            </a:r>
            <a:endParaRPr sz="1799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E693-70CE-6C82-1486-EE89FAA8E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F8EC7D8-A44A-F68E-F66F-3D732F2B15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3026" y="576037"/>
            <a:ext cx="9527594" cy="48731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lnSpc>
                <a:spcPts val="3659"/>
              </a:lnSpc>
              <a:spcBef>
                <a:spcPts val="100"/>
              </a:spcBef>
            </a:pPr>
            <a:r>
              <a:rPr dirty="0"/>
              <a:t>Understand</a:t>
            </a:r>
            <a:r>
              <a:rPr spc="-50" dirty="0"/>
              <a:t> </a:t>
            </a:r>
            <a:r>
              <a:rPr lang="en-US" dirty="0"/>
              <a:t>ML</a:t>
            </a:r>
            <a:r>
              <a:rPr spc="-215" dirty="0"/>
              <a:t> </a:t>
            </a:r>
            <a:r>
              <a:rPr spc="-10" dirty="0"/>
              <a:t>Applications: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AD859BC-778F-3101-18C9-800DCB9F555D}"/>
              </a:ext>
            </a:extLst>
          </p:cNvPr>
          <p:cNvSpPr txBox="1"/>
          <p:nvPr/>
        </p:nvSpPr>
        <p:spPr>
          <a:xfrm>
            <a:off x="2938137" y="3679379"/>
            <a:ext cx="5763029" cy="21899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Convolutional Neural Networks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Recurrent</a:t>
            </a:r>
            <a:r>
              <a:rPr sz="2799" b="1" spc="-85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2799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Neural</a:t>
            </a:r>
            <a:r>
              <a:rPr sz="2799" b="1" spc="-9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2799" b="1" spc="-1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Networks</a:t>
            </a:r>
            <a:endParaRPr sz="2799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469124" indent="-456428">
              <a:lnSpc>
                <a:spcPts val="3324"/>
              </a:lnSpc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Transformers</a:t>
            </a:r>
          </a:p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Graph Neural Networks</a:t>
            </a:r>
          </a:p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Mixture-of-Experts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88E0EE-8AAE-D975-7DEB-F557513BBBAD}"/>
              </a:ext>
            </a:extLst>
          </p:cNvPr>
          <p:cNvSpPr txBox="1"/>
          <p:nvPr/>
        </p:nvSpPr>
        <p:spPr>
          <a:xfrm>
            <a:off x="1830789" y="2752556"/>
            <a:ext cx="8189859" cy="523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696">
              <a:spcBef>
                <a:spcPts val="100"/>
              </a:spcBef>
              <a:tabLst>
                <a:tab pos="469124" algn="l"/>
              </a:tabLst>
            </a:pPr>
            <a:r>
              <a:rPr lang="en-US" sz="2799" b="1" dirty="0">
                <a:latin typeface="Arial"/>
                <a:cs typeface="Arial"/>
              </a:rPr>
              <a:t>An Overview of Deep Learning Models</a:t>
            </a:r>
          </a:p>
        </p:txBody>
      </p:sp>
    </p:spTree>
    <p:extLst>
      <p:ext uri="{BB962C8B-B14F-4D97-AF65-F5344CB8AC3E}">
        <p14:creationId xmlns:p14="http://schemas.microsoft.com/office/powerpoint/2010/main" val="2605319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3B090-29DD-828C-ED27-74E2D1B90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8BBAE60-4940-B717-B91D-FD6C698C1CCA}"/>
              </a:ext>
            </a:extLst>
          </p:cNvPr>
          <p:cNvSpPr txBox="1">
            <a:spLocks/>
          </p:cNvSpPr>
          <p:nvPr/>
        </p:nvSpPr>
        <p:spPr>
          <a:xfrm>
            <a:off x="572987" y="85343"/>
            <a:ext cx="10360168" cy="849915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199" b="0" i="0" kern="1200">
                <a:solidFill>
                  <a:srgbClr val="8B1514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sz="4000" dirty="0">
                <a:solidFill>
                  <a:srgbClr val="DC4400"/>
                </a:solidFill>
                <a:latin typeface="Impact"/>
              </a:rPr>
              <a:t>Recurrent Neural Networks: Process Sequences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B9CD01BD-7663-320A-D9F1-1BE9FA4EDCF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6413" y="1607024"/>
            <a:ext cx="1483215" cy="3624906"/>
          </a:xfrm>
          <a:prstGeom prst="rect">
            <a:avLst/>
          </a:prstGeom>
        </p:spPr>
      </p:pic>
      <p:sp>
        <p:nvSpPr>
          <p:cNvPr id="5" name="object 4">
            <a:extLst>
              <a:ext uri="{FF2B5EF4-FFF2-40B4-BE49-F238E27FC236}">
                <a16:creationId xmlns:a16="http://schemas.microsoft.com/office/drawing/2014/main" id="{D32F8343-10E0-E7A3-F1AF-2AB5C35E5346}"/>
              </a:ext>
            </a:extLst>
          </p:cNvPr>
          <p:cNvSpPr/>
          <p:nvPr/>
        </p:nvSpPr>
        <p:spPr>
          <a:xfrm>
            <a:off x="1004852" y="5308110"/>
            <a:ext cx="335193" cy="450733"/>
          </a:xfrm>
          <a:custGeom>
            <a:avLst/>
            <a:gdLst/>
            <a:ahLst/>
            <a:cxnLst/>
            <a:rect l="l" t="t" r="r" b="b"/>
            <a:pathLst>
              <a:path w="335280" h="450850">
                <a:moveTo>
                  <a:pt x="82634" y="81234"/>
                </a:moveTo>
                <a:lnTo>
                  <a:pt x="51821" y="103643"/>
                </a:lnTo>
                <a:lnTo>
                  <a:pt x="303907" y="450261"/>
                </a:lnTo>
                <a:lnTo>
                  <a:pt x="334719" y="427852"/>
                </a:lnTo>
                <a:lnTo>
                  <a:pt x="82634" y="81234"/>
                </a:lnTo>
                <a:close/>
              </a:path>
              <a:path w="335280" h="450850">
                <a:moveTo>
                  <a:pt x="0" y="0"/>
                </a:moveTo>
                <a:lnTo>
                  <a:pt x="21008" y="126052"/>
                </a:lnTo>
                <a:lnTo>
                  <a:pt x="51821" y="103643"/>
                </a:lnTo>
                <a:lnTo>
                  <a:pt x="40616" y="88237"/>
                </a:lnTo>
                <a:lnTo>
                  <a:pt x="71429" y="65827"/>
                </a:lnTo>
                <a:lnTo>
                  <a:pt x="103818" y="65827"/>
                </a:lnTo>
                <a:lnTo>
                  <a:pt x="113447" y="58825"/>
                </a:lnTo>
                <a:lnTo>
                  <a:pt x="0" y="0"/>
                </a:lnTo>
                <a:close/>
              </a:path>
              <a:path w="335280" h="450850">
                <a:moveTo>
                  <a:pt x="71429" y="65827"/>
                </a:moveTo>
                <a:lnTo>
                  <a:pt x="40616" y="88237"/>
                </a:lnTo>
                <a:lnTo>
                  <a:pt x="51821" y="103643"/>
                </a:lnTo>
                <a:lnTo>
                  <a:pt x="82634" y="81234"/>
                </a:lnTo>
                <a:lnTo>
                  <a:pt x="71429" y="65827"/>
                </a:lnTo>
                <a:close/>
              </a:path>
              <a:path w="335280" h="450850">
                <a:moveTo>
                  <a:pt x="103818" y="65827"/>
                </a:moveTo>
                <a:lnTo>
                  <a:pt x="71429" y="65827"/>
                </a:lnTo>
                <a:lnTo>
                  <a:pt x="82634" y="81234"/>
                </a:lnTo>
                <a:lnTo>
                  <a:pt x="103818" y="65827"/>
                </a:lnTo>
                <a:close/>
              </a:path>
            </a:pathLst>
          </a:custGeom>
          <a:solidFill>
            <a:srgbClr val="ED7D31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7BAB209F-9E18-4229-C3E3-7028D399D63E}"/>
              </a:ext>
            </a:extLst>
          </p:cNvPr>
          <p:cNvSpPr txBox="1"/>
          <p:nvPr/>
        </p:nvSpPr>
        <p:spPr>
          <a:xfrm>
            <a:off x="742575" y="5767731"/>
            <a:ext cx="2903099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Vanilla</a:t>
            </a:r>
            <a:r>
              <a:rPr sz="1999" b="1" spc="-7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1999" b="1" spc="-7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1999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5843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71AF1-625D-009E-4DDB-65E4D948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E8ED5-5329-215F-FDC8-351464D9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310E25A9-FFC3-5269-320D-1FC3C67E5CE0}"/>
              </a:ext>
            </a:extLst>
          </p:cNvPr>
          <p:cNvSpPr txBox="1">
            <a:spLocks/>
          </p:cNvSpPr>
          <p:nvPr/>
        </p:nvSpPr>
        <p:spPr>
          <a:xfrm>
            <a:off x="572987" y="85343"/>
            <a:ext cx="10360168" cy="849915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199" b="0" i="0" kern="1200">
                <a:solidFill>
                  <a:srgbClr val="8B1514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sz="4000" dirty="0">
                <a:solidFill>
                  <a:srgbClr val="DC4400"/>
                </a:solidFill>
                <a:latin typeface="Impact"/>
              </a:rPr>
              <a:t>Recurrent Neural Networks: Process Sequences</a:t>
            </a:r>
          </a:p>
        </p:txBody>
      </p:sp>
      <p:grpSp>
        <p:nvGrpSpPr>
          <p:cNvPr id="7" name="object 3">
            <a:extLst>
              <a:ext uri="{FF2B5EF4-FFF2-40B4-BE49-F238E27FC236}">
                <a16:creationId xmlns:a16="http://schemas.microsoft.com/office/drawing/2014/main" id="{9CD602D3-6D0D-56F9-C223-331F600FBDC3}"/>
              </a:ext>
            </a:extLst>
          </p:cNvPr>
          <p:cNvGrpSpPr/>
          <p:nvPr/>
        </p:nvGrpSpPr>
        <p:grpSpPr>
          <a:xfrm>
            <a:off x="266573" y="1600676"/>
            <a:ext cx="3661725" cy="4155628"/>
            <a:chOff x="266642" y="1600200"/>
            <a:chExt cx="3662679" cy="4156710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CBEB1AAF-3408-9B04-9E29-4953B1CB2F5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6642" y="1600200"/>
              <a:ext cx="3662433" cy="3657600"/>
            </a:xfrm>
            <a:prstGeom prst="rect">
              <a:avLst/>
            </a:prstGeom>
          </p:spPr>
        </p:pic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F7417A4B-249D-B0C8-3CC4-486A0FE53C96}"/>
                </a:ext>
              </a:extLst>
            </p:cNvPr>
            <p:cNvSpPr/>
            <p:nvPr/>
          </p:nvSpPr>
          <p:spPr>
            <a:xfrm>
              <a:off x="2928256" y="5225143"/>
              <a:ext cx="283210" cy="531495"/>
            </a:xfrm>
            <a:custGeom>
              <a:avLst/>
              <a:gdLst/>
              <a:ahLst/>
              <a:cxnLst/>
              <a:rect l="l" t="t" r="r" b="b"/>
              <a:pathLst>
                <a:path w="283210" h="531495">
                  <a:moveTo>
                    <a:pt x="68800" y="93240"/>
                  </a:moveTo>
                  <a:lnTo>
                    <a:pt x="34841" y="110513"/>
                  </a:lnTo>
                  <a:lnTo>
                    <a:pt x="248803" y="531150"/>
                  </a:lnTo>
                  <a:lnTo>
                    <a:pt x="282762" y="513876"/>
                  </a:lnTo>
                  <a:lnTo>
                    <a:pt x="68800" y="93240"/>
                  </a:lnTo>
                  <a:close/>
                </a:path>
                <a:path w="283210" h="531495">
                  <a:moveTo>
                    <a:pt x="0" y="0"/>
                  </a:moveTo>
                  <a:lnTo>
                    <a:pt x="524" y="75966"/>
                  </a:lnTo>
                  <a:lnTo>
                    <a:pt x="644" y="93240"/>
                  </a:lnTo>
                  <a:lnTo>
                    <a:pt x="763" y="110513"/>
                  </a:lnTo>
                  <a:lnTo>
                    <a:pt x="882" y="127787"/>
                  </a:lnTo>
                  <a:lnTo>
                    <a:pt x="34841" y="110513"/>
                  </a:lnTo>
                  <a:lnTo>
                    <a:pt x="26205" y="93534"/>
                  </a:lnTo>
                  <a:lnTo>
                    <a:pt x="60163" y="76260"/>
                  </a:lnTo>
                  <a:lnTo>
                    <a:pt x="102180" y="76260"/>
                  </a:lnTo>
                  <a:lnTo>
                    <a:pt x="102759" y="75966"/>
                  </a:lnTo>
                  <a:lnTo>
                    <a:pt x="0" y="0"/>
                  </a:lnTo>
                  <a:close/>
                </a:path>
                <a:path w="283210" h="531495">
                  <a:moveTo>
                    <a:pt x="60163" y="76260"/>
                  </a:moveTo>
                  <a:lnTo>
                    <a:pt x="26205" y="93534"/>
                  </a:lnTo>
                  <a:lnTo>
                    <a:pt x="34841" y="110513"/>
                  </a:lnTo>
                  <a:lnTo>
                    <a:pt x="68800" y="93240"/>
                  </a:lnTo>
                  <a:lnTo>
                    <a:pt x="60163" y="76260"/>
                  </a:lnTo>
                  <a:close/>
                </a:path>
                <a:path w="283210" h="531495">
                  <a:moveTo>
                    <a:pt x="102180" y="76260"/>
                  </a:moveTo>
                  <a:lnTo>
                    <a:pt x="60163" y="76260"/>
                  </a:lnTo>
                  <a:lnTo>
                    <a:pt x="68800" y="93240"/>
                  </a:lnTo>
                  <a:lnTo>
                    <a:pt x="102180" y="7626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0" name="object 6">
            <a:extLst>
              <a:ext uri="{FF2B5EF4-FFF2-40B4-BE49-F238E27FC236}">
                <a16:creationId xmlns:a16="http://schemas.microsoft.com/office/drawing/2014/main" id="{01AD795E-45D9-EE7C-5BE9-3F025047B57D}"/>
              </a:ext>
            </a:extLst>
          </p:cNvPr>
          <p:cNvSpPr txBox="1"/>
          <p:nvPr/>
        </p:nvSpPr>
        <p:spPr>
          <a:xfrm>
            <a:off x="1460845" y="5767731"/>
            <a:ext cx="3430011" cy="63483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>
              <a:spcBef>
                <a:spcPts val="100"/>
              </a:spcBef>
            </a:pP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e.g.,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image</a:t>
            </a:r>
            <a:r>
              <a:rPr sz="1999" b="1" spc="-4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captioning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Image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-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&gt;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sequence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of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words</a:t>
            </a:r>
            <a:endParaRPr sz="1999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23770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48DC7D0-2464-FC19-80DB-0E74F89570D8}"/>
              </a:ext>
            </a:extLst>
          </p:cNvPr>
          <p:cNvSpPr txBox="1">
            <a:spLocks/>
          </p:cNvSpPr>
          <p:nvPr/>
        </p:nvSpPr>
        <p:spPr>
          <a:xfrm>
            <a:off x="572987" y="85343"/>
            <a:ext cx="10360168" cy="849915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199" b="0" i="0" kern="1200">
                <a:solidFill>
                  <a:srgbClr val="8B1514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sz="4000" dirty="0">
                <a:solidFill>
                  <a:srgbClr val="DC4400"/>
                </a:solidFill>
                <a:latin typeface="Impact"/>
              </a:rPr>
              <a:t>Recurrent Neural Networks: Process Sequences</a:t>
            </a: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4766464-9F3E-9AF4-BBE8-A2477C06FDEC}"/>
              </a:ext>
            </a:extLst>
          </p:cNvPr>
          <p:cNvGrpSpPr/>
          <p:nvPr/>
        </p:nvGrpSpPr>
        <p:grpSpPr>
          <a:xfrm>
            <a:off x="266610" y="1600676"/>
            <a:ext cx="5903327" cy="4155628"/>
            <a:chOff x="266679" y="1600200"/>
            <a:chExt cx="5904865" cy="4156710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A5CB8F8-F6CD-E5BF-2D86-306F6D2C7DE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6679" y="1600200"/>
              <a:ext cx="5904631" cy="3657600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36714EF2-875B-82CE-3321-BDF972CB3DE2}"/>
                </a:ext>
              </a:extLst>
            </p:cNvPr>
            <p:cNvSpPr/>
            <p:nvPr/>
          </p:nvSpPr>
          <p:spPr>
            <a:xfrm>
              <a:off x="5181600" y="5225143"/>
              <a:ext cx="283210" cy="531495"/>
            </a:xfrm>
            <a:custGeom>
              <a:avLst/>
              <a:gdLst/>
              <a:ahLst/>
              <a:cxnLst/>
              <a:rect l="l" t="t" r="r" b="b"/>
              <a:pathLst>
                <a:path w="283210" h="531495">
                  <a:moveTo>
                    <a:pt x="68800" y="93240"/>
                  </a:moveTo>
                  <a:lnTo>
                    <a:pt x="34840" y="110514"/>
                  </a:lnTo>
                  <a:lnTo>
                    <a:pt x="248803" y="531150"/>
                  </a:lnTo>
                  <a:lnTo>
                    <a:pt x="282761" y="513876"/>
                  </a:lnTo>
                  <a:lnTo>
                    <a:pt x="68800" y="93240"/>
                  </a:lnTo>
                  <a:close/>
                </a:path>
                <a:path w="283210" h="531495">
                  <a:moveTo>
                    <a:pt x="0" y="0"/>
                  </a:moveTo>
                  <a:lnTo>
                    <a:pt x="524" y="75966"/>
                  </a:lnTo>
                  <a:lnTo>
                    <a:pt x="644" y="93240"/>
                  </a:lnTo>
                  <a:lnTo>
                    <a:pt x="763" y="110514"/>
                  </a:lnTo>
                  <a:lnTo>
                    <a:pt x="882" y="127787"/>
                  </a:lnTo>
                  <a:lnTo>
                    <a:pt x="34840" y="110514"/>
                  </a:lnTo>
                  <a:lnTo>
                    <a:pt x="26203" y="93534"/>
                  </a:lnTo>
                  <a:lnTo>
                    <a:pt x="60163" y="76260"/>
                  </a:lnTo>
                  <a:lnTo>
                    <a:pt x="102180" y="76260"/>
                  </a:lnTo>
                  <a:lnTo>
                    <a:pt x="102759" y="75966"/>
                  </a:lnTo>
                  <a:lnTo>
                    <a:pt x="0" y="0"/>
                  </a:lnTo>
                  <a:close/>
                </a:path>
                <a:path w="283210" h="531495">
                  <a:moveTo>
                    <a:pt x="60163" y="76260"/>
                  </a:moveTo>
                  <a:lnTo>
                    <a:pt x="26203" y="93534"/>
                  </a:lnTo>
                  <a:lnTo>
                    <a:pt x="34840" y="110514"/>
                  </a:lnTo>
                  <a:lnTo>
                    <a:pt x="68800" y="93240"/>
                  </a:lnTo>
                  <a:lnTo>
                    <a:pt x="60163" y="76260"/>
                  </a:lnTo>
                  <a:close/>
                </a:path>
                <a:path w="283210" h="531495">
                  <a:moveTo>
                    <a:pt x="102180" y="76260"/>
                  </a:moveTo>
                  <a:lnTo>
                    <a:pt x="60163" y="76260"/>
                  </a:lnTo>
                  <a:lnTo>
                    <a:pt x="68800" y="93240"/>
                  </a:lnTo>
                  <a:lnTo>
                    <a:pt x="102180" y="7626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C2358C2-C098-834C-F57C-A6940A3F4137}"/>
              </a:ext>
            </a:extLst>
          </p:cNvPr>
          <p:cNvSpPr txBox="1"/>
          <p:nvPr/>
        </p:nvSpPr>
        <p:spPr>
          <a:xfrm>
            <a:off x="4725709" y="5767731"/>
            <a:ext cx="4261645" cy="63483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e.g.,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action</a:t>
            </a:r>
            <a:r>
              <a:rPr sz="1999" b="1" spc="-3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prediction</a:t>
            </a:r>
            <a:endParaRPr sz="1999">
              <a:latin typeface="Arial"/>
              <a:cs typeface="Arial"/>
            </a:endParaRPr>
          </a:p>
          <a:p>
            <a:pPr marL="12696"/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sequence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of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video</a:t>
            </a:r>
            <a:r>
              <a:rPr sz="1999" b="1" spc="-4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frames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-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&gt;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action</a:t>
            </a:r>
            <a:endParaRPr sz="1999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1486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EDD9207-78DE-EAA1-BD07-8CA0C020F4D3}"/>
              </a:ext>
            </a:extLst>
          </p:cNvPr>
          <p:cNvSpPr txBox="1">
            <a:spLocks/>
          </p:cNvSpPr>
          <p:nvPr/>
        </p:nvSpPr>
        <p:spPr>
          <a:xfrm>
            <a:off x="912741" y="1251413"/>
            <a:ext cx="10360168" cy="1588225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/>
              <a:t>Recurrent</a:t>
            </a:r>
            <a:r>
              <a:rPr lang="en-US" spc="-60"/>
              <a:t> </a:t>
            </a:r>
            <a:r>
              <a:rPr lang="en-US"/>
              <a:t>Neural</a:t>
            </a:r>
            <a:r>
              <a:rPr lang="en-US" spc="-55"/>
              <a:t> </a:t>
            </a:r>
            <a:r>
              <a:rPr lang="en-US"/>
              <a:t>Networks:</a:t>
            </a:r>
            <a:r>
              <a:rPr lang="en-US" spc="-60"/>
              <a:t> </a:t>
            </a:r>
            <a:r>
              <a:rPr lang="en-US"/>
              <a:t>Process</a:t>
            </a:r>
            <a:r>
              <a:rPr lang="en-US" spc="-60"/>
              <a:t> </a:t>
            </a:r>
            <a:r>
              <a:rPr lang="en-US" spc="-10"/>
              <a:t>Sequences</a:t>
            </a:r>
            <a:endParaRPr lang="en-US" spc="-10" dirty="0"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C53FCD6-2E6E-B7DB-9411-72505DC408E8}"/>
              </a:ext>
            </a:extLst>
          </p:cNvPr>
          <p:cNvGrpSpPr/>
          <p:nvPr/>
        </p:nvGrpSpPr>
        <p:grpSpPr>
          <a:xfrm>
            <a:off x="266635" y="1600677"/>
            <a:ext cx="11592715" cy="3894710"/>
            <a:chOff x="266704" y="1600200"/>
            <a:chExt cx="11595735" cy="3895725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D6224C02-769C-12F0-7BD6-059DAA6AFFE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6704" y="1600200"/>
              <a:ext cx="11595444" cy="3657600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8078448-32D6-A0F6-0247-EA64D4E07BE3}"/>
                </a:ext>
              </a:extLst>
            </p:cNvPr>
            <p:cNvSpPr/>
            <p:nvPr/>
          </p:nvSpPr>
          <p:spPr>
            <a:xfrm>
              <a:off x="6003799" y="5154085"/>
              <a:ext cx="636905" cy="341630"/>
            </a:xfrm>
            <a:custGeom>
              <a:avLst/>
              <a:gdLst/>
              <a:ahLst/>
              <a:cxnLst/>
              <a:rect l="l" t="t" r="r" b="b"/>
              <a:pathLst>
                <a:path w="636904" h="341629">
                  <a:moveTo>
                    <a:pt x="526196" y="35548"/>
                  </a:moveTo>
                  <a:lnTo>
                    <a:pt x="0" y="307454"/>
                  </a:lnTo>
                  <a:lnTo>
                    <a:pt x="17490" y="341302"/>
                  </a:lnTo>
                  <a:lnTo>
                    <a:pt x="543687" y="69396"/>
                  </a:lnTo>
                  <a:lnTo>
                    <a:pt x="526196" y="35548"/>
                  </a:lnTo>
                  <a:close/>
                </a:path>
                <a:path w="636904" h="341629">
                  <a:moveTo>
                    <a:pt x="616936" y="26803"/>
                  </a:moveTo>
                  <a:lnTo>
                    <a:pt x="543120" y="26803"/>
                  </a:lnTo>
                  <a:lnTo>
                    <a:pt x="560612" y="60651"/>
                  </a:lnTo>
                  <a:lnTo>
                    <a:pt x="543687" y="69396"/>
                  </a:lnTo>
                  <a:lnTo>
                    <a:pt x="561178" y="103244"/>
                  </a:lnTo>
                  <a:lnTo>
                    <a:pt x="616936" y="26803"/>
                  </a:lnTo>
                  <a:close/>
                </a:path>
                <a:path w="636904" h="341629">
                  <a:moveTo>
                    <a:pt x="543120" y="26803"/>
                  </a:moveTo>
                  <a:lnTo>
                    <a:pt x="526196" y="35548"/>
                  </a:lnTo>
                  <a:lnTo>
                    <a:pt x="543687" y="69396"/>
                  </a:lnTo>
                  <a:lnTo>
                    <a:pt x="560612" y="60651"/>
                  </a:lnTo>
                  <a:lnTo>
                    <a:pt x="543120" y="26803"/>
                  </a:lnTo>
                  <a:close/>
                </a:path>
                <a:path w="636904" h="341629">
                  <a:moveTo>
                    <a:pt x="636487" y="0"/>
                  </a:moveTo>
                  <a:lnTo>
                    <a:pt x="508706" y="1700"/>
                  </a:lnTo>
                  <a:lnTo>
                    <a:pt x="526196" y="35548"/>
                  </a:lnTo>
                  <a:lnTo>
                    <a:pt x="543120" y="26803"/>
                  </a:lnTo>
                  <a:lnTo>
                    <a:pt x="616936" y="26803"/>
                  </a:lnTo>
                  <a:lnTo>
                    <a:pt x="636487" y="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19614439-08BD-60AD-02D3-7460A34825B2}"/>
              </a:ext>
            </a:extLst>
          </p:cNvPr>
          <p:cNvSpPr txBox="1"/>
          <p:nvPr/>
        </p:nvSpPr>
        <p:spPr>
          <a:xfrm>
            <a:off x="3860520" y="5499577"/>
            <a:ext cx="4261645" cy="9395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>
              <a:spcBef>
                <a:spcPts val="100"/>
              </a:spcBef>
            </a:pP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Video</a:t>
            </a:r>
            <a:r>
              <a:rPr sz="1999" b="1" spc="-10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captioning:</a:t>
            </a:r>
            <a:r>
              <a:rPr sz="1999" b="1" spc="-10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sequence</a:t>
            </a:r>
            <a:r>
              <a:rPr sz="1999" b="1" spc="-10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25" dirty="0">
                <a:solidFill>
                  <a:srgbClr val="ED7D31"/>
                </a:solidFill>
                <a:latin typeface="Arial"/>
                <a:cs typeface="Arial"/>
              </a:rPr>
              <a:t>of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video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frames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-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&gt;</a:t>
            </a:r>
            <a:r>
              <a:rPr sz="19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sequence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of</a:t>
            </a:r>
            <a:r>
              <a:rPr sz="19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words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Machine</a:t>
            </a:r>
            <a:r>
              <a:rPr sz="1999" b="1" spc="-7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translation</a:t>
            </a:r>
            <a:endParaRPr sz="1999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994E733-5247-A353-D40D-DC66D3449470}"/>
              </a:ext>
            </a:extLst>
          </p:cNvPr>
          <p:cNvSpPr/>
          <p:nvPr/>
        </p:nvSpPr>
        <p:spPr>
          <a:xfrm>
            <a:off x="10132252" y="5216316"/>
            <a:ext cx="761802" cy="583413"/>
          </a:xfrm>
          <a:custGeom>
            <a:avLst/>
            <a:gdLst/>
            <a:ahLst/>
            <a:cxnLst/>
            <a:rect l="l" t="t" r="r" b="b"/>
            <a:pathLst>
              <a:path w="762000" h="583564">
                <a:moveTo>
                  <a:pt x="659090" y="53825"/>
                </a:moveTo>
                <a:lnTo>
                  <a:pt x="0" y="553021"/>
                </a:lnTo>
                <a:lnTo>
                  <a:pt x="23003" y="583393"/>
                </a:lnTo>
                <a:lnTo>
                  <a:pt x="682093" y="84196"/>
                </a:lnTo>
                <a:lnTo>
                  <a:pt x="659090" y="53825"/>
                </a:lnTo>
                <a:close/>
              </a:path>
              <a:path w="762000" h="583564">
                <a:moveTo>
                  <a:pt x="740795" y="42324"/>
                </a:moveTo>
                <a:lnTo>
                  <a:pt x="674276" y="42324"/>
                </a:lnTo>
                <a:lnTo>
                  <a:pt x="697279" y="72694"/>
                </a:lnTo>
                <a:lnTo>
                  <a:pt x="682093" y="84196"/>
                </a:lnTo>
                <a:lnTo>
                  <a:pt x="705097" y="114569"/>
                </a:lnTo>
                <a:lnTo>
                  <a:pt x="740795" y="42324"/>
                </a:lnTo>
                <a:close/>
              </a:path>
              <a:path w="762000" h="583564">
                <a:moveTo>
                  <a:pt x="674276" y="42324"/>
                </a:moveTo>
                <a:lnTo>
                  <a:pt x="659090" y="53825"/>
                </a:lnTo>
                <a:lnTo>
                  <a:pt x="682093" y="84196"/>
                </a:lnTo>
                <a:lnTo>
                  <a:pt x="697279" y="72694"/>
                </a:lnTo>
                <a:lnTo>
                  <a:pt x="674276" y="42324"/>
                </a:lnTo>
                <a:close/>
              </a:path>
              <a:path w="762000" h="583564">
                <a:moveTo>
                  <a:pt x="761707" y="0"/>
                </a:moveTo>
                <a:lnTo>
                  <a:pt x="636087" y="23453"/>
                </a:lnTo>
                <a:lnTo>
                  <a:pt x="659090" y="53825"/>
                </a:lnTo>
                <a:lnTo>
                  <a:pt x="674276" y="42324"/>
                </a:lnTo>
                <a:lnTo>
                  <a:pt x="740795" y="42324"/>
                </a:lnTo>
                <a:lnTo>
                  <a:pt x="761707" y="0"/>
                </a:lnTo>
                <a:close/>
              </a:path>
            </a:pathLst>
          </a:custGeom>
          <a:solidFill>
            <a:srgbClr val="ED7D31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CBCB6FD-4DDB-F206-6AB7-35AE9A3735DD}"/>
              </a:ext>
            </a:extLst>
          </p:cNvPr>
          <p:cNvSpPr txBox="1"/>
          <p:nvPr/>
        </p:nvSpPr>
        <p:spPr>
          <a:xfrm>
            <a:off x="8895667" y="5804297"/>
            <a:ext cx="2389518" cy="63483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 marR="5078">
              <a:spcBef>
                <a:spcPts val="100"/>
              </a:spcBef>
            </a:pP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Video</a:t>
            </a:r>
            <a:r>
              <a:rPr sz="1999" b="1" spc="-9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classification </a:t>
            </a:r>
            <a:r>
              <a:rPr sz="1999" b="1" dirty="0">
                <a:solidFill>
                  <a:srgbClr val="ED7D31"/>
                </a:solidFill>
                <a:latin typeface="Arial"/>
                <a:cs typeface="Arial"/>
              </a:rPr>
              <a:t>on</a:t>
            </a:r>
            <a:r>
              <a:rPr sz="1999" b="1" spc="-3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frames</a:t>
            </a:r>
            <a:endParaRPr sz="1999">
              <a:latin typeface="Arial"/>
              <a:cs typeface="Arial"/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B5448794-A971-D824-9B50-C6583C29CE7C}"/>
              </a:ext>
            </a:extLst>
          </p:cNvPr>
          <p:cNvSpPr txBox="1">
            <a:spLocks/>
          </p:cNvSpPr>
          <p:nvPr/>
        </p:nvSpPr>
        <p:spPr>
          <a:xfrm>
            <a:off x="572987" y="85343"/>
            <a:ext cx="10360168" cy="849915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199" b="0" i="0" kern="1200">
                <a:solidFill>
                  <a:srgbClr val="8B1514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sz="4000" dirty="0">
                <a:solidFill>
                  <a:srgbClr val="DC4400"/>
                </a:solidFill>
                <a:latin typeface="Impact"/>
              </a:rPr>
              <a:t>Recurrent Neural Networks: Process Sequences</a:t>
            </a:r>
          </a:p>
        </p:txBody>
      </p:sp>
    </p:spTree>
    <p:extLst>
      <p:ext uri="{BB962C8B-B14F-4D97-AF65-F5344CB8AC3E}">
        <p14:creationId xmlns:p14="http://schemas.microsoft.com/office/powerpoint/2010/main" val="859388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0015" y="158420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Recurrent</a:t>
            </a:r>
            <a:r>
              <a:rPr spc="-60" dirty="0"/>
              <a:t> </a:t>
            </a:r>
            <a:r>
              <a:rPr dirty="0"/>
              <a:t>Neural</a:t>
            </a:r>
            <a:r>
              <a:rPr spc="-5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67703" y="1720386"/>
            <a:ext cx="1349658" cy="512698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233618" rIns="0" bIns="0" rtlCol="0">
            <a:spAutoFit/>
          </a:bodyPr>
          <a:lstStyle/>
          <a:p>
            <a:pPr marL="210757">
              <a:spcBef>
                <a:spcPts val="1838"/>
              </a:spcBef>
            </a:pPr>
            <a:r>
              <a:rPr sz="1799" spc="-10" dirty="0">
                <a:latin typeface="Arial MT"/>
                <a:cs typeface="Arial MT"/>
              </a:rPr>
              <a:t>outputs[i]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55769" y="3178693"/>
            <a:ext cx="2173674" cy="1106682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82198" rIns="0" bIns="0" rtlCol="0">
            <a:spAutoFit/>
          </a:bodyPr>
          <a:lstStyle/>
          <a:p>
            <a:pPr marL="486263" marR="479281" algn="ctr">
              <a:spcBef>
                <a:spcPts val="1435"/>
              </a:spcBef>
            </a:pPr>
            <a:r>
              <a:rPr sz="1999" b="1" spc="-10" dirty="0">
                <a:solidFill>
                  <a:srgbClr val="FFFFFF"/>
                </a:solidFill>
                <a:latin typeface="Arial"/>
                <a:cs typeface="Arial"/>
              </a:rPr>
              <a:t>Recurrent Neural Networks</a:t>
            </a:r>
            <a:endParaRPr sz="1999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67703" y="5202910"/>
            <a:ext cx="1349658" cy="513340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234254" rIns="0" bIns="0" rtlCol="0">
            <a:spAutoFit/>
          </a:bodyPr>
          <a:lstStyle/>
          <a:p>
            <a:pPr marL="280586">
              <a:spcBef>
                <a:spcPts val="1844"/>
              </a:spcBef>
            </a:pPr>
            <a:r>
              <a:rPr sz="1799" spc="-10" dirty="0">
                <a:latin typeface="Arial MT"/>
                <a:cs typeface="Arial MT"/>
              </a:rPr>
              <a:t>inputs[i]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871023" y="4484640"/>
            <a:ext cx="142838" cy="718633"/>
          </a:xfrm>
          <a:custGeom>
            <a:avLst/>
            <a:gdLst/>
            <a:ahLst/>
            <a:cxnLst/>
            <a:rect l="l" t="t" r="r" b="b"/>
            <a:pathLst>
              <a:path w="142875" h="718820">
                <a:moveTo>
                  <a:pt x="85725" y="128587"/>
                </a:moveTo>
                <a:lnTo>
                  <a:pt x="57150" y="128587"/>
                </a:lnTo>
                <a:lnTo>
                  <a:pt x="57148" y="718458"/>
                </a:lnTo>
                <a:lnTo>
                  <a:pt x="85723" y="718458"/>
                </a:lnTo>
                <a:lnTo>
                  <a:pt x="85725" y="128587"/>
                </a:lnTo>
                <a:close/>
              </a:path>
              <a:path w="142875" h="718820">
                <a:moveTo>
                  <a:pt x="71437" y="0"/>
                </a:moveTo>
                <a:lnTo>
                  <a:pt x="0" y="142875"/>
                </a:lnTo>
                <a:lnTo>
                  <a:pt x="57149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718820">
                <a:moveTo>
                  <a:pt x="135731" y="128587"/>
                </a:moveTo>
                <a:lnTo>
                  <a:pt x="85725" y="128587"/>
                </a:lnTo>
                <a:lnTo>
                  <a:pt x="85724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7" name="object 7"/>
          <p:cNvSpPr/>
          <p:nvPr/>
        </p:nvSpPr>
        <p:spPr>
          <a:xfrm>
            <a:off x="4871022" y="2460423"/>
            <a:ext cx="142838" cy="718633"/>
          </a:xfrm>
          <a:custGeom>
            <a:avLst/>
            <a:gdLst/>
            <a:ahLst/>
            <a:cxnLst/>
            <a:rect l="l" t="t" r="r" b="b"/>
            <a:pathLst>
              <a:path w="142875" h="718819">
                <a:moveTo>
                  <a:pt x="85725" y="128586"/>
                </a:moveTo>
                <a:lnTo>
                  <a:pt x="57150" y="128586"/>
                </a:lnTo>
                <a:lnTo>
                  <a:pt x="57151" y="718456"/>
                </a:lnTo>
                <a:lnTo>
                  <a:pt x="85726" y="718456"/>
                </a:lnTo>
                <a:lnTo>
                  <a:pt x="85725" y="128586"/>
                </a:lnTo>
                <a:close/>
              </a:path>
              <a:path w="142875" h="718819">
                <a:moveTo>
                  <a:pt x="71437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6"/>
                </a:lnTo>
                <a:lnTo>
                  <a:pt x="135731" y="128586"/>
                </a:lnTo>
                <a:lnTo>
                  <a:pt x="71437" y="0"/>
                </a:lnTo>
                <a:close/>
              </a:path>
              <a:path w="142875" h="718819">
                <a:moveTo>
                  <a:pt x="135731" y="128586"/>
                </a:moveTo>
                <a:lnTo>
                  <a:pt x="85725" y="128586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6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8" name="object 8"/>
          <p:cNvSpPr/>
          <p:nvPr/>
        </p:nvSpPr>
        <p:spPr>
          <a:xfrm>
            <a:off x="6091045" y="3529389"/>
            <a:ext cx="616424" cy="601823"/>
          </a:xfrm>
          <a:custGeom>
            <a:avLst/>
            <a:gdLst/>
            <a:ahLst/>
            <a:cxnLst/>
            <a:rect l="l" t="t" r="r" b="b"/>
            <a:pathLst>
              <a:path w="616584" h="601979">
                <a:moveTo>
                  <a:pt x="129348" y="469761"/>
                </a:moveTo>
                <a:lnTo>
                  <a:pt x="25138" y="590828"/>
                </a:lnTo>
                <a:lnTo>
                  <a:pt x="184517" y="601555"/>
                </a:lnTo>
                <a:lnTo>
                  <a:pt x="164751" y="554337"/>
                </a:lnTo>
                <a:lnTo>
                  <a:pt x="149313" y="554337"/>
                </a:lnTo>
                <a:lnTo>
                  <a:pt x="138193" y="528015"/>
                </a:lnTo>
                <a:lnTo>
                  <a:pt x="151398" y="522436"/>
                </a:lnTo>
                <a:lnTo>
                  <a:pt x="129348" y="469761"/>
                </a:lnTo>
                <a:close/>
              </a:path>
              <a:path w="616584" h="601979">
                <a:moveTo>
                  <a:pt x="151398" y="522436"/>
                </a:moveTo>
                <a:lnTo>
                  <a:pt x="138193" y="528015"/>
                </a:lnTo>
                <a:lnTo>
                  <a:pt x="149313" y="554337"/>
                </a:lnTo>
                <a:lnTo>
                  <a:pt x="162431" y="548795"/>
                </a:lnTo>
                <a:lnTo>
                  <a:pt x="151398" y="522436"/>
                </a:lnTo>
                <a:close/>
              </a:path>
              <a:path w="616584" h="601979">
                <a:moveTo>
                  <a:pt x="162431" y="548795"/>
                </a:moveTo>
                <a:lnTo>
                  <a:pt x="149313" y="554337"/>
                </a:lnTo>
                <a:lnTo>
                  <a:pt x="164751" y="554337"/>
                </a:lnTo>
                <a:lnTo>
                  <a:pt x="162431" y="548795"/>
                </a:lnTo>
                <a:close/>
              </a:path>
              <a:path w="616584" h="601979">
                <a:moveTo>
                  <a:pt x="615339" y="266312"/>
                </a:moveTo>
                <a:lnTo>
                  <a:pt x="586149" y="266312"/>
                </a:lnTo>
                <a:lnTo>
                  <a:pt x="585737" y="267329"/>
                </a:lnTo>
                <a:lnTo>
                  <a:pt x="585485" y="268395"/>
                </a:lnTo>
                <a:lnTo>
                  <a:pt x="585305" y="268395"/>
                </a:lnTo>
                <a:lnTo>
                  <a:pt x="583152" y="274017"/>
                </a:lnTo>
                <a:lnTo>
                  <a:pt x="582702" y="274814"/>
                </a:lnTo>
                <a:lnTo>
                  <a:pt x="582354" y="275672"/>
                </a:lnTo>
                <a:lnTo>
                  <a:pt x="582218" y="275672"/>
                </a:lnTo>
                <a:lnTo>
                  <a:pt x="578609" y="282229"/>
                </a:lnTo>
                <a:lnTo>
                  <a:pt x="575018" y="287261"/>
                </a:lnTo>
                <a:lnTo>
                  <a:pt x="572512" y="290865"/>
                </a:lnTo>
                <a:lnTo>
                  <a:pt x="566237" y="298212"/>
                </a:lnTo>
                <a:lnTo>
                  <a:pt x="564887" y="299849"/>
                </a:lnTo>
                <a:lnTo>
                  <a:pt x="555912" y="308951"/>
                </a:lnTo>
                <a:lnTo>
                  <a:pt x="555782" y="309119"/>
                </a:lnTo>
                <a:lnTo>
                  <a:pt x="545256" y="318625"/>
                </a:lnTo>
                <a:lnTo>
                  <a:pt x="505402" y="348490"/>
                </a:lnTo>
                <a:lnTo>
                  <a:pt x="455811" y="379064"/>
                </a:lnTo>
                <a:lnTo>
                  <a:pt x="416939" y="400389"/>
                </a:lnTo>
                <a:lnTo>
                  <a:pt x="375017" y="421802"/>
                </a:lnTo>
                <a:lnTo>
                  <a:pt x="329997" y="443519"/>
                </a:lnTo>
                <a:lnTo>
                  <a:pt x="282326" y="465490"/>
                </a:lnTo>
                <a:lnTo>
                  <a:pt x="232451" y="487668"/>
                </a:lnTo>
                <a:lnTo>
                  <a:pt x="180926" y="509962"/>
                </a:lnTo>
                <a:lnTo>
                  <a:pt x="151398" y="522436"/>
                </a:lnTo>
                <a:lnTo>
                  <a:pt x="162431" y="548795"/>
                </a:lnTo>
                <a:lnTo>
                  <a:pt x="244000" y="513807"/>
                </a:lnTo>
                <a:lnTo>
                  <a:pt x="294205" y="491481"/>
                </a:lnTo>
                <a:lnTo>
                  <a:pt x="342305" y="469310"/>
                </a:lnTo>
                <a:lnTo>
                  <a:pt x="387880" y="447323"/>
                </a:lnTo>
                <a:lnTo>
                  <a:pt x="430516" y="425541"/>
                </a:lnTo>
                <a:lnTo>
                  <a:pt x="469802" y="403981"/>
                </a:lnTo>
                <a:lnTo>
                  <a:pt x="505249" y="382701"/>
                </a:lnTo>
                <a:lnTo>
                  <a:pt x="550734" y="351030"/>
                </a:lnTo>
                <a:lnTo>
                  <a:pt x="585593" y="319548"/>
                </a:lnTo>
                <a:lnTo>
                  <a:pt x="608490" y="287261"/>
                </a:lnTo>
                <a:lnTo>
                  <a:pt x="613127" y="275672"/>
                </a:lnTo>
                <a:lnTo>
                  <a:pt x="582354" y="275672"/>
                </a:lnTo>
                <a:lnTo>
                  <a:pt x="582768" y="274814"/>
                </a:lnTo>
                <a:lnTo>
                  <a:pt x="613329" y="274814"/>
                </a:lnTo>
                <a:lnTo>
                  <a:pt x="614847" y="268395"/>
                </a:lnTo>
                <a:lnTo>
                  <a:pt x="585485" y="268395"/>
                </a:lnTo>
                <a:lnTo>
                  <a:pt x="585825" y="267329"/>
                </a:lnTo>
                <a:lnTo>
                  <a:pt x="615098" y="267329"/>
                </a:lnTo>
                <a:lnTo>
                  <a:pt x="615339" y="266312"/>
                </a:lnTo>
                <a:close/>
              </a:path>
              <a:path w="616584" h="601979">
                <a:moveTo>
                  <a:pt x="616064" y="259170"/>
                </a:moveTo>
                <a:lnTo>
                  <a:pt x="587665" y="259170"/>
                </a:lnTo>
                <a:lnTo>
                  <a:pt x="587375" y="260396"/>
                </a:lnTo>
                <a:lnTo>
                  <a:pt x="587305" y="261653"/>
                </a:lnTo>
                <a:lnTo>
                  <a:pt x="587078" y="261653"/>
                </a:lnTo>
                <a:lnTo>
                  <a:pt x="585737" y="267329"/>
                </a:lnTo>
                <a:lnTo>
                  <a:pt x="586149" y="266312"/>
                </a:lnTo>
                <a:lnTo>
                  <a:pt x="615339" y="266312"/>
                </a:lnTo>
                <a:lnTo>
                  <a:pt x="615763" y="264518"/>
                </a:lnTo>
                <a:lnTo>
                  <a:pt x="615924" y="261653"/>
                </a:lnTo>
                <a:lnTo>
                  <a:pt x="587305" y="261653"/>
                </a:lnTo>
                <a:lnTo>
                  <a:pt x="587487" y="260396"/>
                </a:lnTo>
                <a:lnTo>
                  <a:pt x="615995" y="260396"/>
                </a:lnTo>
                <a:lnTo>
                  <a:pt x="616064" y="259170"/>
                </a:lnTo>
                <a:close/>
              </a:path>
              <a:path w="616584" h="601979">
                <a:moveTo>
                  <a:pt x="616388" y="252567"/>
                </a:moveTo>
                <a:lnTo>
                  <a:pt x="587816" y="252567"/>
                </a:lnTo>
                <a:lnTo>
                  <a:pt x="587919" y="255258"/>
                </a:lnTo>
                <a:lnTo>
                  <a:pt x="587665" y="255258"/>
                </a:lnTo>
                <a:lnTo>
                  <a:pt x="587445" y="259170"/>
                </a:lnTo>
                <a:lnTo>
                  <a:pt x="587375" y="260396"/>
                </a:lnTo>
                <a:lnTo>
                  <a:pt x="587665" y="259170"/>
                </a:lnTo>
                <a:lnTo>
                  <a:pt x="616064" y="259170"/>
                </a:lnTo>
                <a:lnTo>
                  <a:pt x="616285" y="255258"/>
                </a:lnTo>
                <a:lnTo>
                  <a:pt x="587919" y="255258"/>
                </a:lnTo>
                <a:lnTo>
                  <a:pt x="587740" y="253916"/>
                </a:lnTo>
                <a:lnTo>
                  <a:pt x="616360" y="253916"/>
                </a:lnTo>
                <a:lnTo>
                  <a:pt x="616388" y="252567"/>
                </a:lnTo>
                <a:close/>
              </a:path>
              <a:path w="616584" h="601979">
                <a:moveTo>
                  <a:pt x="587826" y="252823"/>
                </a:moveTo>
                <a:lnTo>
                  <a:pt x="587740" y="253916"/>
                </a:lnTo>
                <a:lnTo>
                  <a:pt x="587919" y="255258"/>
                </a:lnTo>
                <a:lnTo>
                  <a:pt x="587826" y="252823"/>
                </a:lnTo>
                <a:close/>
              </a:path>
              <a:path w="616584" h="601979">
                <a:moveTo>
                  <a:pt x="615554" y="246315"/>
                </a:moveTo>
                <a:lnTo>
                  <a:pt x="586727" y="246315"/>
                </a:lnTo>
                <a:lnTo>
                  <a:pt x="586898" y="247602"/>
                </a:lnTo>
                <a:lnTo>
                  <a:pt x="587301" y="248841"/>
                </a:lnTo>
                <a:lnTo>
                  <a:pt x="587064" y="248841"/>
                </a:lnTo>
                <a:lnTo>
                  <a:pt x="587740" y="253916"/>
                </a:lnTo>
                <a:lnTo>
                  <a:pt x="587816" y="252567"/>
                </a:lnTo>
                <a:lnTo>
                  <a:pt x="616388" y="252567"/>
                </a:lnTo>
                <a:lnTo>
                  <a:pt x="615891" y="248841"/>
                </a:lnTo>
                <a:lnTo>
                  <a:pt x="587301" y="248841"/>
                </a:lnTo>
                <a:lnTo>
                  <a:pt x="587019" y="247602"/>
                </a:lnTo>
                <a:lnTo>
                  <a:pt x="615726" y="247602"/>
                </a:lnTo>
                <a:lnTo>
                  <a:pt x="615554" y="246315"/>
                </a:lnTo>
                <a:close/>
              </a:path>
              <a:path w="616584" h="601979">
                <a:moveTo>
                  <a:pt x="614485" y="240037"/>
                </a:moveTo>
                <a:lnTo>
                  <a:pt x="584441" y="240037"/>
                </a:lnTo>
                <a:lnTo>
                  <a:pt x="584854" y="241249"/>
                </a:lnTo>
                <a:lnTo>
                  <a:pt x="585332" y="242175"/>
                </a:lnTo>
                <a:lnTo>
                  <a:pt x="585135" y="242175"/>
                </a:lnTo>
                <a:lnTo>
                  <a:pt x="586898" y="247602"/>
                </a:lnTo>
                <a:lnTo>
                  <a:pt x="586727" y="246315"/>
                </a:lnTo>
                <a:lnTo>
                  <a:pt x="615554" y="246315"/>
                </a:lnTo>
                <a:lnTo>
                  <a:pt x="615002" y="242175"/>
                </a:lnTo>
                <a:lnTo>
                  <a:pt x="585332" y="242175"/>
                </a:lnTo>
                <a:lnTo>
                  <a:pt x="584946" y="241249"/>
                </a:lnTo>
                <a:lnTo>
                  <a:pt x="614879" y="241249"/>
                </a:lnTo>
                <a:lnTo>
                  <a:pt x="614485" y="240037"/>
                </a:lnTo>
                <a:close/>
              </a:path>
              <a:path w="616584" h="601979">
                <a:moveTo>
                  <a:pt x="612364" y="233506"/>
                </a:moveTo>
                <a:lnTo>
                  <a:pt x="580857" y="233506"/>
                </a:lnTo>
                <a:lnTo>
                  <a:pt x="581311" y="234386"/>
                </a:lnTo>
                <a:lnTo>
                  <a:pt x="581886" y="235198"/>
                </a:lnTo>
                <a:lnTo>
                  <a:pt x="581731" y="235198"/>
                </a:lnTo>
                <a:lnTo>
                  <a:pt x="584854" y="241249"/>
                </a:lnTo>
                <a:lnTo>
                  <a:pt x="584441" y="240037"/>
                </a:lnTo>
                <a:lnTo>
                  <a:pt x="614485" y="240037"/>
                </a:lnTo>
                <a:lnTo>
                  <a:pt x="612914" y="235198"/>
                </a:lnTo>
                <a:lnTo>
                  <a:pt x="581886" y="235198"/>
                </a:lnTo>
                <a:lnTo>
                  <a:pt x="581392" y="234386"/>
                </a:lnTo>
                <a:lnTo>
                  <a:pt x="612650" y="234386"/>
                </a:lnTo>
                <a:lnTo>
                  <a:pt x="612364" y="233506"/>
                </a:lnTo>
                <a:close/>
              </a:path>
              <a:path w="616584" h="601979">
                <a:moveTo>
                  <a:pt x="609480" y="226658"/>
                </a:moveTo>
                <a:lnTo>
                  <a:pt x="575851" y="226658"/>
                </a:lnTo>
                <a:lnTo>
                  <a:pt x="581311" y="234386"/>
                </a:lnTo>
                <a:lnTo>
                  <a:pt x="580857" y="233506"/>
                </a:lnTo>
                <a:lnTo>
                  <a:pt x="612364" y="233506"/>
                </a:lnTo>
                <a:lnTo>
                  <a:pt x="611258" y="230102"/>
                </a:lnTo>
                <a:lnTo>
                  <a:pt x="609480" y="226658"/>
                </a:lnTo>
                <a:close/>
              </a:path>
              <a:path w="616584" h="601979">
                <a:moveTo>
                  <a:pt x="6734" y="0"/>
                </a:moveTo>
                <a:lnTo>
                  <a:pt x="0" y="27769"/>
                </a:lnTo>
                <a:lnTo>
                  <a:pt x="110920" y="54670"/>
                </a:lnTo>
                <a:lnTo>
                  <a:pt x="218369" y="81852"/>
                </a:lnTo>
                <a:lnTo>
                  <a:pt x="269635" y="95617"/>
                </a:lnTo>
                <a:lnTo>
                  <a:pt x="318697" y="109543"/>
                </a:lnTo>
                <a:lnTo>
                  <a:pt x="365110" y="123664"/>
                </a:lnTo>
                <a:lnTo>
                  <a:pt x="408433" y="138007"/>
                </a:lnTo>
                <a:lnTo>
                  <a:pt x="448213" y="152593"/>
                </a:lnTo>
                <a:lnTo>
                  <a:pt x="484008" y="167434"/>
                </a:lnTo>
                <a:lnTo>
                  <a:pt x="528366" y="189699"/>
                </a:lnTo>
                <a:lnTo>
                  <a:pt x="557770" y="209491"/>
                </a:lnTo>
                <a:lnTo>
                  <a:pt x="561295" y="212209"/>
                </a:lnTo>
                <a:lnTo>
                  <a:pt x="569337" y="219534"/>
                </a:lnTo>
                <a:lnTo>
                  <a:pt x="576327" y="227332"/>
                </a:lnTo>
                <a:lnTo>
                  <a:pt x="575851" y="226658"/>
                </a:lnTo>
                <a:lnTo>
                  <a:pt x="609480" y="226658"/>
                </a:lnTo>
                <a:lnTo>
                  <a:pt x="605804" y="219534"/>
                </a:lnTo>
                <a:lnTo>
                  <a:pt x="580252" y="190820"/>
                </a:lnTo>
                <a:lnTo>
                  <a:pt x="542983" y="165143"/>
                </a:lnTo>
                <a:lnTo>
                  <a:pt x="495236" y="141145"/>
                </a:lnTo>
                <a:lnTo>
                  <a:pt x="458355" y="125864"/>
                </a:lnTo>
                <a:lnTo>
                  <a:pt x="417645" y="110949"/>
                </a:lnTo>
                <a:lnTo>
                  <a:pt x="373603" y="96376"/>
                </a:lnTo>
                <a:lnTo>
                  <a:pt x="326633" y="82090"/>
                </a:lnTo>
                <a:lnTo>
                  <a:pt x="277148" y="68045"/>
                </a:lnTo>
                <a:lnTo>
                  <a:pt x="225563" y="54197"/>
                </a:lnTo>
                <a:lnTo>
                  <a:pt x="117782" y="26931"/>
                </a:lnTo>
                <a:lnTo>
                  <a:pt x="6734" y="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9" name="object 9"/>
          <p:cNvSpPr txBox="1"/>
          <p:nvPr/>
        </p:nvSpPr>
        <p:spPr>
          <a:xfrm>
            <a:off x="7325104" y="3065874"/>
            <a:ext cx="3515079" cy="1497575"/>
          </a:xfrm>
          <a:prstGeom prst="rect">
            <a:avLst/>
          </a:prstGeom>
        </p:spPr>
        <p:txBody>
          <a:bodyPr vert="horz" wrap="square" lIns="0" tIns="9523" rIns="0" bIns="0" rtlCol="0">
            <a:spAutoFit/>
          </a:bodyPr>
          <a:lstStyle/>
          <a:p>
            <a:pPr marL="12696" marR="5078">
              <a:lnSpc>
                <a:spcPct val="100800"/>
              </a:lnSpc>
              <a:spcBef>
                <a:spcPts val="75"/>
              </a:spcBef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Key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idea: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RNNs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have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25" dirty="0">
                <a:solidFill>
                  <a:srgbClr val="ED7D31"/>
                </a:solidFill>
                <a:latin typeface="Arial"/>
                <a:cs typeface="Arial"/>
              </a:rPr>
              <a:t>an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internal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state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that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25" dirty="0">
                <a:solidFill>
                  <a:srgbClr val="ED7D31"/>
                </a:solidFill>
                <a:latin typeface="Arial"/>
                <a:cs typeface="Arial"/>
              </a:rPr>
              <a:t>is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updated</a:t>
            </a:r>
            <a:r>
              <a:rPr sz="2399" b="1" spc="-4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as</a:t>
            </a:r>
            <a:r>
              <a:rPr sz="2399" b="1" spc="-3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a</a:t>
            </a:r>
            <a:r>
              <a:rPr sz="2399" b="1" spc="-3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sequence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is</a:t>
            </a:r>
            <a:r>
              <a:rPr sz="2399" b="1" spc="-2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processed</a:t>
            </a:r>
            <a:endParaRPr sz="2399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771722" y="1895746"/>
            <a:ext cx="279390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Arbitrary</a:t>
            </a:r>
            <a:r>
              <a:rPr sz="1799" spc="-35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number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of</a:t>
            </a:r>
            <a:r>
              <a:rPr sz="1799" spc="-3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outputs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650365" y="5464025"/>
            <a:ext cx="2654244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Arbitrary</a:t>
            </a:r>
            <a:r>
              <a:rPr sz="1799" spc="-35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number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of</a:t>
            </a:r>
            <a:r>
              <a:rPr sz="1799" spc="-3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inputs</a:t>
            </a:r>
            <a:endParaRPr sz="1799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0FF8805-4340-1B88-A462-42A6110DFEAF}"/>
              </a:ext>
            </a:extLst>
          </p:cNvPr>
          <p:cNvSpPr txBox="1">
            <a:spLocks/>
          </p:cNvSpPr>
          <p:nvPr/>
        </p:nvSpPr>
        <p:spPr>
          <a:xfrm>
            <a:off x="0" y="56013"/>
            <a:ext cx="11482459" cy="911470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dirty="0">
                <a:solidFill>
                  <a:srgbClr val="DC4400"/>
                </a:solidFill>
                <a:latin typeface="Impact"/>
              </a:rPr>
              <a:t>How to Represent RNNs in Computation Graphs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E3CC93A-5A8C-08EC-0F68-4326EA38B7B8}"/>
              </a:ext>
            </a:extLst>
          </p:cNvPr>
          <p:cNvSpPr txBox="1"/>
          <p:nvPr/>
        </p:nvSpPr>
        <p:spPr>
          <a:xfrm>
            <a:off x="916700" y="1572743"/>
            <a:ext cx="10268450" cy="1180792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Computation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graphs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must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direct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acyclic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graphs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(DAGs)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but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RNNs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have 	</a:t>
            </a:r>
            <a:r>
              <a:rPr sz="2399" dirty="0">
                <a:latin typeface="Arial MT"/>
                <a:cs typeface="Arial MT"/>
              </a:rPr>
              <a:t>self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loops</a:t>
            </a:r>
            <a:endParaRPr sz="2399" dirty="0">
              <a:latin typeface="Arial MT"/>
              <a:cs typeface="Arial MT"/>
            </a:endParaRPr>
          </a:p>
          <a:p>
            <a:pPr marL="239957" indent="-227261">
              <a:spcBef>
                <a:spcPts val="670"/>
              </a:spcBef>
              <a:buFont typeface="Arial MT"/>
              <a:buChar char="•"/>
              <a:tabLst>
                <a:tab pos="239957" algn="l"/>
              </a:tabLst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Solution</a:t>
            </a:r>
            <a:r>
              <a:rPr sz="2399" dirty="0">
                <a:latin typeface="Arial MT"/>
                <a:cs typeface="Arial MT"/>
              </a:rPr>
              <a:t>: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unrolling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RNNs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(define</a:t>
            </a:r>
            <a:r>
              <a:rPr sz="2399" spc="-8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maximum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depth)</a:t>
            </a:r>
            <a:endParaRPr sz="2399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0A13C02-097F-9698-168B-EED7414C0CF2}"/>
              </a:ext>
            </a:extLst>
          </p:cNvPr>
          <p:cNvSpPr txBox="1"/>
          <p:nvPr/>
        </p:nvSpPr>
        <p:spPr>
          <a:xfrm>
            <a:off x="1531199" y="3358795"/>
            <a:ext cx="1227135" cy="418467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298" rIns="0" bIns="0" rtlCol="0">
            <a:spAutoFit/>
          </a:bodyPr>
          <a:lstStyle/>
          <a:p>
            <a:pPr marL="215200">
              <a:spcBef>
                <a:spcPts val="1105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349DCA8-188C-5305-141F-2861D9400570}"/>
              </a:ext>
            </a:extLst>
          </p:cNvPr>
          <p:cNvSpPr txBox="1"/>
          <p:nvPr/>
        </p:nvSpPr>
        <p:spPr>
          <a:xfrm>
            <a:off x="1531199" y="4468071"/>
            <a:ext cx="1227135" cy="447954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029" rIns="0" bIns="0" rtlCol="0">
            <a:spAutoFit/>
          </a:bodyPr>
          <a:lstStyle/>
          <a:p>
            <a:pPr marL="337084">
              <a:spcBef>
                <a:spcPts val="1095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3B520D4-76CB-2B1C-B186-217F3CD8E1A5}"/>
              </a:ext>
            </a:extLst>
          </p:cNvPr>
          <p:cNvSpPr txBox="1"/>
          <p:nvPr/>
        </p:nvSpPr>
        <p:spPr>
          <a:xfrm>
            <a:off x="1531199" y="5627852"/>
            <a:ext cx="1227135" cy="419108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91378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F119D49-0BD8-1077-42F9-D27400FF7C46}"/>
              </a:ext>
            </a:extLst>
          </p:cNvPr>
          <p:cNvSpPr/>
          <p:nvPr/>
        </p:nvSpPr>
        <p:spPr>
          <a:xfrm>
            <a:off x="2073178" y="5077305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6"/>
                </a:moveTo>
                <a:lnTo>
                  <a:pt x="57150" y="128586"/>
                </a:lnTo>
                <a:lnTo>
                  <a:pt x="57149" y="550690"/>
                </a:lnTo>
                <a:lnTo>
                  <a:pt x="85724" y="550690"/>
                </a:lnTo>
                <a:lnTo>
                  <a:pt x="85725" y="128586"/>
                </a:lnTo>
                <a:close/>
              </a:path>
              <a:path w="142875" h="551179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6"/>
                </a:lnTo>
                <a:lnTo>
                  <a:pt x="135731" y="128586"/>
                </a:lnTo>
                <a:lnTo>
                  <a:pt x="71438" y="0"/>
                </a:lnTo>
                <a:close/>
              </a:path>
              <a:path w="142875" h="551179">
                <a:moveTo>
                  <a:pt x="135731" y="128586"/>
                </a:moveTo>
                <a:lnTo>
                  <a:pt x="85725" y="128586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6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762A3B-1F3D-2A47-F395-176021A19326}"/>
              </a:ext>
            </a:extLst>
          </p:cNvPr>
          <p:cNvSpPr/>
          <p:nvPr/>
        </p:nvSpPr>
        <p:spPr>
          <a:xfrm>
            <a:off x="2073179" y="3914795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48" y="553419"/>
                </a:lnTo>
                <a:lnTo>
                  <a:pt x="85723" y="553419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7" y="0"/>
                </a:moveTo>
                <a:lnTo>
                  <a:pt x="0" y="142875"/>
                </a:lnTo>
                <a:lnTo>
                  <a:pt x="57149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4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D7B92C83-41D4-E64C-E6E7-0524984AF4A7}"/>
              </a:ext>
            </a:extLst>
          </p:cNvPr>
          <p:cNvSpPr/>
          <p:nvPr/>
        </p:nvSpPr>
        <p:spPr>
          <a:xfrm>
            <a:off x="977785" y="4701268"/>
            <a:ext cx="553576" cy="142838"/>
          </a:xfrm>
          <a:custGeom>
            <a:avLst/>
            <a:gdLst/>
            <a:ahLst/>
            <a:cxnLst/>
            <a:rect l="l" t="t" r="r" b="b"/>
            <a:pathLst>
              <a:path w="553719" h="142875">
                <a:moveTo>
                  <a:pt x="410682" y="0"/>
                </a:moveTo>
                <a:lnTo>
                  <a:pt x="410682" y="142875"/>
                </a:lnTo>
                <a:lnTo>
                  <a:pt x="524984" y="85725"/>
                </a:lnTo>
                <a:lnTo>
                  <a:pt x="424969" y="85725"/>
                </a:lnTo>
                <a:lnTo>
                  <a:pt x="424969" y="57150"/>
                </a:lnTo>
                <a:lnTo>
                  <a:pt x="524980" y="57150"/>
                </a:lnTo>
                <a:lnTo>
                  <a:pt x="410682" y="0"/>
                </a:lnTo>
                <a:close/>
              </a:path>
              <a:path w="553719" h="142875">
                <a:moveTo>
                  <a:pt x="410682" y="57150"/>
                </a:moveTo>
                <a:lnTo>
                  <a:pt x="0" y="57150"/>
                </a:lnTo>
                <a:lnTo>
                  <a:pt x="0" y="85725"/>
                </a:lnTo>
                <a:lnTo>
                  <a:pt x="410682" y="85725"/>
                </a:lnTo>
                <a:lnTo>
                  <a:pt x="410682" y="57150"/>
                </a:lnTo>
                <a:close/>
              </a:path>
              <a:path w="553719" h="142875">
                <a:moveTo>
                  <a:pt x="524980" y="57150"/>
                </a:moveTo>
                <a:lnTo>
                  <a:pt x="424969" y="57150"/>
                </a:lnTo>
                <a:lnTo>
                  <a:pt x="424969" y="85725"/>
                </a:lnTo>
                <a:lnTo>
                  <a:pt x="524984" y="85725"/>
                </a:lnTo>
                <a:lnTo>
                  <a:pt x="553557" y="71438"/>
                </a:lnTo>
                <a:lnTo>
                  <a:pt x="524980" y="5715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04C65D1C-BB61-FD33-F07A-7F8FE5837E19}"/>
              </a:ext>
            </a:extLst>
          </p:cNvPr>
          <p:cNvSpPr txBox="1"/>
          <p:nvPr/>
        </p:nvSpPr>
        <p:spPr>
          <a:xfrm>
            <a:off x="683094" y="4805829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1FDA273-F4A8-84A3-ED74-622EB1B40752}"/>
              </a:ext>
            </a:extLst>
          </p:cNvPr>
          <p:cNvSpPr txBox="1"/>
          <p:nvPr/>
        </p:nvSpPr>
        <p:spPr>
          <a:xfrm>
            <a:off x="3760647" y="3358795"/>
            <a:ext cx="1227135" cy="418467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298" rIns="0" bIns="0" rtlCol="0">
            <a:spAutoFit/>
          </a:bodyPr>
          <a:lstStyle/>
          <a:p>
            <a:pPr marL="215200">
              <a:spcBef>
                <a:spcPts val="1105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4AAA7ECB-3904-7F06-878C-BB2065C1AA58}"/>
              </a:ext>
            </a:extLst>
          </p:cNvPr>
          <p:cNvSpPr txBox="1"/>
          <p:nvPr/>
        </p:nvSpPr>
        <p:spPr>
          <a:xfrm>
            <a:off x="3760647" y="4468071"/>
            <a:ext cx="1227135" cy="447954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029" rIns="0" bIns="0" rtlCol="0">
            <a:spAutoFit/>
          </a:bodyPr>
          <a:lstStyle/>
          <a:p>
            <a:pPr marL="337084">
              <a:spcBef>
                <a:spcPts val="1095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80D0A27-2236-26B2-045E-D4CF1E4213A5}"/>
              </a:ext>
            </a:extLst>
          </p:cNvPr>
          <p:cNvSpPr txBox="1"/>
          <p:nvPr/>
        </p:nvSpPr>
        <p:spPr>
          <a:xfrm>
            <a:off x="3760647" y="5627852"/>
            <a:ext cx="1227135" cy="419108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91378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02DCE83E-799E-E407-9596-03EFBFF27F84}"/>
              </a:ext>
            </a:extLst>
          </p:cNvPr>
          <p:cNvSpPr/>
          <p:nvPr/>
        </p:nvSpPr>
        <p:spPr>
          <a:xfrm>
            <a:off x="4302626" y="5077305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6"/>
                </a:moveTo>
                <a:lnTo>
                  <a:pt x="57150" y="128586"/>
                </a:lnTo>
                <a:lnTo>
                  <a:pt x="57149" y="550690"/>
                </a:lnTo>
                <a:lnTo>
                  <a:pt x="85724" y="550690"/>
                </a:lnTo>
                <a:lnTo>
                  <a:pt x="85725" y="128586"/>
                </a:lnTo>
                <a:close/>
              </a:path>
              <a:path w="142875" h="551179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6"/>
                </a:lnTo>
                <a:lnTo>
                  <a:pt x="135731" y="128586"/>
                </a:lnTo>
                <a:lnTo>
                  <a:pt x="71438" y="0"/>
                </a:lnTo>
                <a:close/>
              </a:path>
              <a:path w="142875" h="551179">
                <a:moveTo>
                  <a:pt x="135731" y="128586"/>
                </a:moveTo>
                <a:lnTo>
                  <a:pt x="85725" y="128586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6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2287DA5-9597-2414-8E31-1ED70EFD65A3}"/>
              </a:ext>
            </a:extLst>
          </p:cNvPr>
          <p:cNvSpPr/>
          <p:nvPr/>
        </p:nvSpPr>
        <p:spPr>
          <a:xfrm>
            <a:off x="4302627" y="3914795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48" y="553419"/>
                </a:lnTo>
                <a:lnTo>
                  <a:pt x="85723" y="553419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7" y="0"/>
                </a:moveTo>
                <a:lnTo>
                  <a:pt x="0" y="142875"/>
                </a:lnTo>
                <a:lnTo>
                  <a:pt x="57149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4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B95ACD3-6A3C-A2D0-1A3A-8B796EA067D6}"/>
              </a:ext>
            </a:extLst>
          </p:cNvPr>
          <p:cNvSpPr/>
          <p:nvPr/>
        </p:nvSpPr>
        <p:spPr>
          <a:xfrm>
            <a:off x="2757995" y="4701268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7" y="0"/>
                </a:moveTo>
                <a:lnTo>
                  <a:pt x="860037" y="142875"/>
                </a:lnTo>
                <a:lnTo>
                  <a:pt x="974335" y="85726"/>
                </a:lnTo>
                <a:lnTo>
                  <a:pt x="874325" y="85726"/>
                </a:lnTo>
                <a:lnTo>
                  <a:pt x="874325" y="57151"/>
                </a:lnTo>
                <a:lnTo>
                  <a:pt x="974340" y="57151"/>
                </a:lnTo>
                <a:lnTo>
                  <a:pt x="860037" y="0"/>
                </a:lnTo>
                <a:close/>
              </a:path>
              <a:path w="1003300" h="142875">
                <a:moveTo>
                  <a:pt x="860037" y="57151"/>
                </a:moveTo>
                <a:lnTo>
                  <a:pt x="0" y="57151"/>
                </a:lnTo>
                <a:lnTo>
                  <a:pt x="0" y="85726"/>
                </a:lnTo>
                <a:lnTo>
                  <a:pt x="860037" y="85726"/>
                </a:lnTo>
                <a:lnTo>
                  <a:pt x="860037" y="57151"/>
                </a:lnTo>
                <a:close/>
              </a:path>
              <a:path w="1003300" h="142875">
                <a:moveTo>
                  <a:pt x="974340" y="57151"/>
                </a:moveTo>
                <a:lnTo>
                  <a:pt x="874325" y="57151"/>
                </a:lnTo>
                <a:lnTo>
                  <a:pt x="874325" y="85726"/>
                </a:lnTo>
                <a:lnTo>
                  <a:pt x="974335" y="85726"/>
                </a:lnTo>
                <a:lnTo>
                  <a:pt x="1002912" y="71437"/>
                </a:lnTo>
                <a:lnTo>
                  <a:pt x="974340" y="57151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014B30A-7926-5D20-269C-77F58EB3EA7E}"/>
              </a:ext>
            </a:extLst>
          </p:cNvPr>
          <p:cNvSpPr txBox="1"/>
          <p:nvPr/>
        </p:nvSpPr>
        <p:spPr>
          <a:xfrm>
            <a:off x="2912541" y="4818017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DAC86CF6-2306-8889-3522-CC27FEA4DA01}"/>
              </a:ext>
            </a:extLst>
          </p:cNvPr>
          <p:cNvSpPr txBox="1"/>
          <p:nvPr/>
        </p:nvSpPr>
        <p:spPr>
          <a:xfrm>
            <a:off x="5990095" y="3356071"/>
            <a:ext cx="1227135" cy="417826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39664" rIns="0" bIns="0" rtlCol="0">
            <a:spAutoFit/>
          </a:bodyPr>
          <a:lstStyle/>
          <a:p>
            <a:pPr marL="215200">
              <a:spcBef>
                <a:spcPts val="1100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2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F1A46710-8092-B7DF-EAA7-BBE8784EE967}"/>
              </a:ext>
            </a:extLst>
          </p:cNvPr>
          <p:cNvSpPr txBox="1"/>
          <p:nvPr/>
        </p:nvSpPr>
        <p:spPr>
          <a:xfrm>
            <a:off x="5990095" y="4465343"/>
            <a:ext cx="1227135" cy="447313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8394" rIns="0" bIns="0" rtlCol="0">
            <a:spAutoFit/>
          </a:bodyPr>
          <a:lstStyle/>
          <a:p>
            <a:pPr marL="337084">
              <a:spcBef>
                <a:spcPts val="1090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4F03A8-B424-DD8E-0FDE-314AC83270B4}"/>
              </a:ext>
            </a:extLst>
          </p:cNvPr>
          <p:cNvSpPr txBox="1"/>
          <p:nvPr/>
        </p:nvSpPr>
        <p:spPr>
          <a:xfrm>
            <a:off x="5990095" y="5625125"/>
            <a:ext cx="1227135" cy="419108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91378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3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8421348-94CD-BDDA-C386-0C3187276CE8}"/>
              </a:ext>
            </a:extLst>
          </p:cNvPr>
          <p:cNvSpPr/>
          <p:nvPr/>
        </p:nvSpPr>
        <p:spPr>
          <a:xfrm>
            <a:off x="6532074" y="5074578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50" y="550691"/>
                </a:lnTo>
                <a:lnTo>
                  <a:pt x="85725" y="550691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8" y="0"/>
                </a:moveTo>
                <a:lnTo>
                  <a:pt x="0" y="142874"/>
                </a:lnTo>
                <a:lnTo>
                  <a:pt x="57150" y="142874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5" y="142874"/>
                </a:lnTo>
                <a:lnTo>
                  <a:pt x="142875" y="142874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814D5C0-D0FE-48CD-FDA9-576ADF112A4B}"/>
              </a:ext>
            </a:extLst>
          </p:cNvPr>
          <p:cNvSpPr/>
          <p:nvPr/>
        </p:nvSpPr>
        <p:spPr>
          <a:xfrm>
            <a:off x="6532074" y="3912069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50" y="553417"/>
                </a:lnTo>
                <a:lnTo>
                  <a:pt x="85725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442F5596-B443-5E0C-38BE-E74CAAABBFB8}"/>
              </a:ext>
            </a:extLst>
          </p:cNvPr>
          <p:cNvSpPr/>
          <p:nvPr/>
        </p:nvSpPr>
        <p:spPr>
          <a:xfrm>
            <a:off x="4987442" y="4698542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7" y="0"/>
                </a:moveTo>
                <a:lnTo>
                  <a:pt x="860037" y="142875"/>
                </a:lnTo>
                <a:lnTo>
                  <a:pt x="974335" y="85725"/>
                </a:lnTo>
                <a:lnTo>
                  <a:pt x="874325" y="85725"/>
                </a:lnTo>
                <a:lnTo>
                  <a:pt x="874325" y="57150"/>
                </a:lnTo>
                <a:lnTo>
                  <a:pt x="974339" y="57150"/>
                </a:lnTo>
                <a:lnTo>
                  <a:pt x="860037" y="0"/>
                </a:lnTo>
                <a:close/>
              </a:path>
              <a:path w="1003300" h="142875">
                <a:moveTo>
                  <a:pt x="860037" y="57150"/>
                </a:moveTo>
                <a:lnTo>
                  <a:pt x="0" y="57150"/>
                </a:lnTo>
                <a:lnTo>
                  <a:pt x="0" y="85725"/>
                </a:lnTo>
                <a:lnTo>
                  <a:pt x="860037" y="85725"/>
                </a:lnTo>
                <a:lnTo>
                  <a:pt x="860037" y="57150"/>
                </a:lnTo>
                <a:close/>
              </a:path>
              <a:path w="1003300" h="142875">
                <a:moveTo>
                  <a:pt x="974339" y="57150"/>
                </a:moveTo>
                <a:lnTo>
                  <a:pt x="874325" y="57150"/>
                </a:lnTo>
                <a:lnTo>
                  <a:pt x="874325" y="85725"/>
                </a:lnTo>
                <a:lnTo>
                  <a:pt x="974335" y="85725"/>
                </a:lnTo>
                <a:lnTo>
                  <a:pt x="1002912" y="71436"/>
                </a:lnTo>
                <a:lnTo>
                  <a:pt x="974339" y="5715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CF93538C-86BF-A6F3-5DB8-825393687449}"/>
              </a:ext>
            </a:extLst>
          </p:cNvPr>
          <p:cNvSpPr txBox="1"/>
          <p:nvPr/>
        </p:nvSpPr>
        <p:spPr>
          <a:xfrm>
            <a:off x="5141989" y="4814971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2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879985A-8C37-EACC-3C8C-8979A4A03610}"/>
              </a:ext>
            </a:extLst>
          </p:cNvPr>
          <p:cNvSpPr txBox="1"/>
          <p:nvPr/>
        </p:nvSpPr>
        <p:spPr>
          <a:xfrm>
            <a:off x="8832940" y="3356071"/>
            <a:ext cx="1227135" cy="417826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39664" rIns="0" bIns="0" rtlCol="0">
            <a:spAutoFit/>
          </a:bodyPr>
          <a:lstStyle/>
          <a:p>
            <a:pPr marL="210757">
              <a:spcBef>
                <a:spcPts val="1100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75F8A41C-E4EA-FBBE-03C7-18C92406319C}"/>
              </a:ext>
            </a:extLst>
          </p:cNvPr>
          <p:cNvSpPr txBox="1"/>
          <p:nvPr/>
        </p:nvSpPr>
        <p:spPr>
          <a:xfrm>
            <a:off x="8832940" y="4465343"/>
            <a:ext cx="1227135" cy="447313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8394" rIns="0" bIns="0" rtlCol="0">
            <a:spAutoFit/>
          </a:bodyPr>
          <a:lstStyle/>
          <a:p>
            <a:pPr marL="337084">
              <a:spcBef>
                <a:spcPts val="1090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0A0B21A9-4443-38D3-B384-1A46010991A0}"/>
              </a:ext>
            </a:extLst>
          </p:cNvPr>
          <p:cNvSpPr txBox="1"/>
          <p:nvPr/>
        </p:nvSpPr>
        <p:spPr>
          <a:xfrm>
            <a:off x="8832940" y="5625125"/>
            <a:ext cx="1227135" cy="419108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86934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C6CB40F4-8B1C-E9B7-6C1A-DE508B60EE8F}"/>
              </a:ext>
            </a:extLst>
          </p:cNvPr>
          <p:cNvSpPr/>
          <p:nvPr/>
        </p:nvSpPr>
        <p:spPr>
          <a:xfrm>
            <a:off x="9374920" y="5074578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50" y="550691"/>
                </a:lnTo>
                <a:lnTo>
                  <a:pt x="85725" y="550691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8" y="0"/>
                </a:moveTo>
                <a:lnTo>
                  <a:pt x="0" y="142874"/>
                </a:lnTo>
                <a:lnTo>
                  <a:pt x="57150" y="142874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5" y="142874"/>
                </a:lnTo>
                <a:lnTo>
                  <a:pt x="142875" y="142874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484118E-F819-5DF6-A77E-E81FD2B1E885}"/>
              </a:ext>
            </a:extLst>
          </p:cNvPr>
          <p:cNvSpPr/>
          <p:nvPr/>
        </p:nvSpPr>
        <p:spPr>
          <a:xfrm>
            <a:off x="9374920" y="3912069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50" y="553417"/>
                </a:lnTo>
                <a:lnTo>
                  <a:pt x="85725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66BB938-569D-2731-17C8-3AB810732D22}"/>
              </a:ext>
            </a:extLst>
          </p:cNvPr>
          <p:cNvSpPr/>
          <p:nvPr/>
        </p:nvSpPr>
        <p:spPr>
          <a:xfrm>
            <a:off x="7830288" y="4698542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8" y="0"/>
                </a:moveTo>
                <a:lnTo>
                  <a:pt x="860038" y="142875"/>
                </a:lnTo>
                <a:lnTo>
                  <a:pt x="974336" y="85725"/>
                </a:lnTo>
                <a:lnTo>
                  <a:pt x="874326" y="85725"/>
                </a:lnTo>
                <a:lnTo>
                  <a:pt x="874326" y="57150"/>
                </a:lnTo>
                <a:lnTo>
                  <a:pt x="974340" y="57150"/>
                </a:lnTo>
                <a:lnTo>
                  <a:pt x="860038" y="0"/>
                </a:lnTo>
                <a:close/>
              </a:path>
              <a:path w="1003300" h="142875">
                <a:moveTo>
                  <a:pt x="860038" y="57150"/>
                </a:moveTo>
                <a:lnTo>
                  <a:pt x="0" y="57150"/>
                </a:lnTo>
                <a:lnTo>
                  <a:pt x="0" y="85725"/>
                </a:lnTo>
                <a:lnTo>
                  <a:pt x="860038" y="85725"/>
                </a:lnTo>
                <a:lnTo>
                  <a:pt x="860038" y="57150"/>
                </a:lnTo>
                <a:close/>
              </a:path>
              <a:path w="1003300" h="142875">
                <a:moveTo>
                  <a:pt x="974340" y="57150"/>
                </a:moveTo>
                <a:lnTo>
                  <a:pt x="874326" y="57150"/>
                </a:lnTo>
                <a:lnTo>
                  <a:pt x="874326" y="85725"/>
                </a:lnTo>
                <a:lnTo>
                  <a:pt x="974336" y="85725"/>
                </a:lnTo>
                <a:lnTo>
                  <a:pt x="1002913" y="71436"/>
                </a:lnTo>
                <a:lnTo>
                  <a:pt x="974340" y="5715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7216A438-7D1A-0D9A-90A0-47D13381FDF9}"/>
              </a:ext>
            </a:extLst>
          </p:cNvPr>
          <p:cNvSpPr txBox="1"/>
          <p:nvPr/>
        </p:nvSpPr>
        <p:spPr>
          <a:xfrm>
            <a:off x="7980074" y="4814971"/>
            <a:ext cx="70276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3817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65607" y="243880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When</a:t>
            </a:r>
            <a:r>
              <a:rPr spc="-35" dirty="0"/>
              <a:t> </a:t>
            </a:r>
            <a:r>
              <a:rPr dirty="0"/>
              <a:t>do</a:t>
            </a:r>
            <a:r>
              <a:rPr spc="-30" dirty="0"/>
              <a:t> </a:t>
            </a:r>
            <a:r>
              <a:rPr dirty="0"/>
              <a:t>we</a:t>
            </a:r>
            <a:r>
              <a:rPr spc="-30" dirty="0"/>
              <a:t> </a:t>
            </a:r>
            <a:r>
              <a:rPr dirty="0"/>
              <a:t>need</a:t>
            </a:r>
            <a:r>
              <a:rPr spc="-30" dirty="0"/>
              <a:t> </a:t>
            </a:r>
            <a:r>
              <a:rPr spc="-10" dirty="0"/>
              <a:t>RNNs?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700" y="1481327"/>
            <a:ext cx="9778993" cy="2238663"/>
          </a:xfrm>
          <a:prstGeom prst="rect">
            <a:avLst/>
          </a:prstGeom>
        </p:spPr>
        <p:txBody>
          <a:bodyPr vert="horz" wrap="square" lIns="0" tIns="104113" rIns="0" bIns="0" rtlCol="0">
            <a:spAutoFit/>
          </a:bodyPr>
          <a:lstStyle/>
          <a:p>
            <a:pPr marL="239957" indent="-227261">
              <a:spcBef>
                <a:spcPts val="82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RNNs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are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designed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to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process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sequences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(texts,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videos)</a:t>
            </a:r>
            <a:endParaRPr sz="2399" dirty="0">
              <a:latin typeface="Arial MT"/>
              <a:cs typeface="Arial MT"/>
            </a:endParaRPr>
          </a:p>
          <a:p>
            <a:pPr marL="239957" marR="5078" indent="-227261">
              <a:lnSpc>
                <a:spcPts val="2619"/>
              </a:lnSpc>
              <a:spcBef>
                <a:spcPts val="102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RNNs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are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extremely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useful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when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you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want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your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model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to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have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internal 	</a:t>
            </a:r>
            <a:r>
              <a:rPr sz="2399" dirty="0">
                <a:latin typeface="Arial MT"/>
                <a:cs typeface="Arial MT"/>
              </a:rPr>
              <a:t>states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when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sequence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is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processed</a:t>
            </a:r>
            <a:endParaRPr sz="2399" dirty="0">
              <a:latin typeface="Arial MT"/>
              <a:cs typeface="Arial MT"/>
            </a:endParaRPr>
          </a:p>
          <a:p>
            <a:pPr marL="697021" lvl="1" indent="-227261">
              <a:spcBef>
                <a:spcPts val="165"/>
              </a:spcBef>
              <a:buChar char="•"/>
              <a:tabLst>
                <a:tab pos="697021" algn="l"/>
              </a:tabLst>
            </a:pPr>
            <a:r>
              <a:rPr sz="2399" dirty="0">
                <a:latin typeface="Arial MT"/>
                <a:cs typeface="Arial MT"/>
              </a:rPr>
              <a:t>Commonly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used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reinforcement</a:t>
            </a:r>
            <a:r>
              <a:rPr sz="2399" spc="-9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learning</a:t>
            </a:r>
            <a:r>
              <a:rPr sz="2399" spc="-85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(RL)</a:t>
            </a:r>
            <a:endParaRPr sz="2399" dirty="0">
              <a:latin typeface="Arial MT"/>
              <a:cs typeface="Arial MT"/>
            </a:endParaRPr>
          </a:p>
          <a:p>
            <a:pPr lvl="1">
              <a:spcBef>
                <a:spcPts val="1560"/>
              </a:spcBef>
              <a:buFont typeface="Arial MT"/>
              <a:buChar char="•"/>
            </a:pPr>
            <a:endParaRPr sz="2399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0601-83C7-DF22-B459-5EBA63124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367A5A8-79A4-7EC6-DB03-04CE24274D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3026" y="576037"/>
            <a:ext cx="9527594" cy="48731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lnSpc>
                <a:spcPts val="3659"/>
              </a:lnSpc>
              <a:spcBef>
                <a:spcPts val="100"/>
              </a:spcBef>
            </a:pPr>
            <a:r>
              <a:rPr dirty="0"/>
              <a:t>Understand</a:t>
            </a:r>
            <a:r>
              <a:rPr spc="-50" dirty="0"/>
              <a:t> </a:t>
            </a:r>
            <a:r>
              <a:rPr lang="en-US" dirty="0"/>
              <a:t>ML</a:t>
            </a:r>
            <a:r>
              <a:rPr spc="-215" dirty="0"/>
              <a:t> </a:t>
            </a:r>
            <a:r>
              <a:rPr spc="-10" dirty="0"/>
              <a:t>Applications: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DCBA7C5-2E12-72C0-327B-937BCF31D6EB}"/>
              </a:ext>
            </a:extLst>
          </p:cNvPr>
          <p:cNvSpPr txBox="1"/>
          <p:nvPr/>
        </p:nvSpPr>
        <p:spPr>
          <a:xfrm>
            <a:off x="2938137" y="3679379"/>
            <a:ext cx="5763029" cy="21899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Convolutional Neural Networks</a:t>
            </a:r>
          </a:p>
          <a:p>
            <a:pPr marL="469124" indent="-456428">
              <a:lnSpc>
                <a:spcPts val="3324"/>
              </a:lnSpc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Recurrent Neural Networks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Transformers</a:t>
            </a:r>
          </a:p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Graph Neural Networks</a:t>
            </a:r>
          </a:p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Mixture-of-Experts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5E20C-15FC-938E-415B-500FCA3B1684}"/>
              </a:ext>
            </a:extLst>
          </p:cNvPr>
          <p:cNvSpPr txBox="1"/>
          <p:nvPr/>
        </p:nvSpPr>
        <p:spPr>
          <a:xfrm>
            <a:off x="1830789" y="2752556"/>
            <a:ext cx="8189859" cy="523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696">
              <a:spcBef>
                <a:spcPts val="100"/>
              </a:spcBef>
              <a:tabLst>
                <a:tab pos="469124" algn="l"/>
              </a:tabLst>
            </a:pPr>
            <a:r>
              <a:rPr lang="en-US" sz="2799" b="1" dirty="0">
                <a:latin typeface="Arial"/>
                <a:cs typeface="Arial"/>
              </a:rPr>
              <a:t>An Overview of Deep Learning Models</a:t>
            </a:r>
          </a:p>
        </p:txBody>
      </p:sp>
    </p:spTree>
    <p:extLst>
      <p:ext uri="{BB962C8B-B14F-4D97-AF65-F5344CB8AC3E}">
        <p14:creationId xmlns:p14="http://schemas.microsoft.com/office/powerpoint/2010/main" val="657491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1674" y="147326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Inefficiency</a:t>
            </a:r>
            <a:r>
              <a:rPr spc="-75" dirty="0"/>
              <a:t> </a:t>
            </a:r>
            <a:r>
              <a:rPr dirty="0"/>
              <a:t>in</a:t>
            </a:r>
            <a:r>
              <a:rPr spc="-75" dirty="0"/>
              <a:t> </a:t>
            </a:r>
            <a:r>
              <a:rPr spc="-10" dirty="0"/>
              <a:t>RNNs?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700" y="1572743"/>
            <a:ext cx="10246866" cy="1838481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Font typeface="Arial MT"/>
              <a:buChar char="•"/>
              <a:tabLst>
                <a:tab pos="241228" algn="l"/>
              </a:tabLst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Problem</a:t>
            </a:r>
            <a:r>
              <a:rPr sz="2399" dirty="0">
                <a:latin typeface="Arial MT"/>
                <a:cs typeface="Arial MT"/>
              </a:rPr>
              <a:t>: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lack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parallelizability.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Both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forward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and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backward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passes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have 	</a:t>
            </a:r>
            <a:r>
              <a:rPr sz="2399" dirty="0">
                <a:latin typeface="Arial MT"/>
                <a:cs typeface="Arial MT"/>
              </a:rPr>
              <a:t>O(sequence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length)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unparallelizable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operators</a:t>
            </a:r>
            <a:endParaRPr sz="2399">
              <a:latin typeface="Arial MT"/>
              <a:cs typeface="Arial MT"/>
            </a:endParaRPr>
          </a:p>
          <a:p>
            <a:pPr marL="697021" marR="779546" lvl="1" indent="-227261">
              <a:lnSpc>
                <a:spcPts val="2589"/>
              </a:lnSpc>
              <a:spcBef>
                <a:spcPts val="495"/>
              </a:spcBef>
              <a:buChar char="•"/>
              <a:tabLst>
                <a:tab pos="698290" algn="l"/>
              </a:tabLst>
            </a:pPr>
            <a:r>
              <a:rPr sz="2399" dirty="0">
                <a:latin typeface="Arial MT"/>
                <a:cs typeface="Arial MT"/>
              </a:rPr>
              <a:t>A</a:t>
            </a:r>
            <a:r>
              <a:rPr sz="2399" spc="-1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state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cannot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be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computed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before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all</a:t>
            </a:r>
            <a:r>
              <a:rPr sz="2399" spc="-5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previous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states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have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been 	</a:t>
            </a:r>
            <a:r>
              <a:rPr sz="2399" spc="-10" dirty="0">
                <a:latin typeface="Arial MT"/>
                <a:cs typeface="Arial MT"/>
              </a:rPr>
              <a:t>computed</a:t>
            </a:r>
            <a:endParaRPr sz="2399">
              <a:latin typeface="Arial MT"/>
              <a:cs typeface="Arial MT"/>
            </a:endParaRPr>
          </a:p>
          <a:p>
            <a:pPr marL="697021" lvl="1" indent="-227261">
              <a:spcBef>
                <a:spcPts val="180"/>
              </a:spcBef>
              <a:buChar char="•"/>
              <a:tabLst>
                <a:tab pos="697021" algn="l"/>
              </a:tabLst>
            </a:pPr>
            <a:r>
              <a:rPr sz="2399" dirty="0">
                <a:latin typeface="Arial MT"/>
                <a:cs typeface="Arial MT"/>
              </a:rPr>
              <a:t>Inhibits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training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on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very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long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sequences</a:t>
            </a:r>
            <a:endParaRPr sz="2399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90334" y="3687371"/>
            <a:ext cx="1227135" cy="419108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15200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890334" y="4796644"/>
            <a:ext cx="1227135" cy="448596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664" rIns="0" bIns="0" rtlCol="0">
            <a:spAutoFit/>
          </a:bodyPr>
          <a:lstStyle/>
          <a:p>
            <a:pPr marL="337084">
              <a:spcBef>
                <a:spcPts val="1100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890334" y="5956426"/>
            <a:ext cx="1227135" cy="419750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1568" rIns="0" bIns="0" rtlCol="0">
            <a:spAutoFit/>
          </a:bodyPr>
          <a:lstStyle/>
          <a:p>
            <a:pPr marL="291378">
              <a:spcBef>
                <a:spcPts val="1115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432313" y="5405878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50" y="550691"/>
                </a:lnTo>
                <a:lnTo>
                  <a:pt x="85725" y="550691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7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8" name="object 8"/>
          <p:cNvSpPr/>
          <p:nvPr/>
        </p:nvSpPr>
        <p:spPr>
          <a:xfrm>
            <a:off x="2432313" y="4243371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50" y="553417"/>
                </a:lnTo>
                <a:lnTo>
                  <a:pt x="85725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7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9" name="object 9"/>
          <p:cNvSpPr/>
          <p:nvPr/>
        </p:nvSpPr>
        <p:spPr>
          <a:xfrm>
            <a:off x="1336920" y="5029843"/>
            <a:ext cx="553576" cy="142838"/>
          </a:xfrm>
          <a:custGeom>
            <a:avLst/>
            <a:gdLst/>
            <a:ahLst/>
            <a:cxnLst/>
            <a:rect l="l" t="t" r="r" b="b"/>
            <a:pathLst>
              <a:path w="553719" h="142875">
                <a:moveTo>
                  <a:pt x="410682" y="0"/>
                </a:moveTo>
                <a:lnTo>
                  <a:pt x="410682" y="142875"/>
                </a:lnTo>
                <a:lnTo>
                  <a:pt x="524982" y="85725"/>
                </a:lnTo>
                <a:lnTo>
                  <a:pt x="424969" y="85725"/>
                </a:lnTo>
                <a:lnTo>
                  <a:pt x="424969" y="57150"/>
                </a:lnTo>
                <a:lnTo>
                  <a:pt x="524982" y="57150"/>
                </a:lnTo>
                <a:lnTo>
                  <a:pt x="410682" y="0"/>
                </a:lnTo>
                <a:close/>
              </a:path>
              <a:path w="553719" h="142875">
                <a:moveTo>
                  <a:pt x="410682" y="57150"/>
                </a:moveTo>
                <a:lnTo>
                  <a:pt x="1" y="57150"/>
                </a:lnTo>
                <a:lnTo>
                  <a:pt x="0" y="85725"/>
                </a:lnTo>
                <a:lnTo>
                  <a:pt x="410682" y="85725"/>
                </a:lnTo>
                <a:lnTo>
                  <a:pt x="410682" y="57150"/>
                </a:lnTo>
                <a:close/>
              </a:path>
              <a:path w="553719" h="142875">
                <a:moveTo>
                  <a:pt x="524982" y="57150"/>
                </a:moveTo>
                <a:lnTo>
                  <a:pt x="424969" y="57150"/>
                </a:lnTo>
                <a:lnTo>
                  <a:pt x="424969" y="85725"/>
                </a:lnTo>
                <a:lnTo>
                  <a:pt x="524982" y="85725"/>
                </a:lnTo>
                <a:lnTo>
                  <a:pt x="553557" y="71437"/>
                </a:lnTo>
                <a:lnTo>
                  <a:pt x="524982" y="5715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0" name="object 10"/>
          <p:cNvSpPr txBox="1"/>
          <p:nvPr/>
        </p:nvSpPr>
        <p:spPr>
          <a:xfrm>
            <a:off x="1042229" y="5134927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0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19782" y="3687371"/>
            <a:ext cx="1227135" cy="419108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933" rIns="0" bIns="0" rtlCol="0">
            <a:spAutoFit/>
          </a:bodyPr>
          <a:lstStyle/>
          <a:p>
            <a:pPr marL="215200">
              <a:spcBef>
                <a:spcPts val="1110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119782" y="4796644"/>
            <a:ext cx="1227135" cy="448596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664" rIns="0" bIns="0" rtlCol="0">
            <a:spAutoFit/>
          </a:bodyPr>
          <a:lstStyle/>
          <a:p>
            <a:pPr marL="337084">
              <a:spcBef>
                <a:spcPts val="1100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119782" y="5956426"/>
            <a:ext cx="1227135" cy="419750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1568" rIns="0" bIns="0" rtlCol="0">
            <a:spAutoFit/>
          </a:bodyPr>
          <a:lstStyle/>
          <a:p>
            <a:pPr marL="291378">
              <a:spcBef>
                <a:spcPts val="1115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661762" y="5405878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50" y="550691"/>
                </a:lnTo>
                <a:lnTo>
                  <a:pt x="85725" y="550691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5" name="object 15"/>
          <p:cNvSpPr/>
          <p:nvPr/>
        </p:nvSpPr>
        <p:spPr>
          <a:xfrm>
            <a:off x="4661762" y="4243371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50" y="553417"/>
                </a:lnTo>
                <a:lnTo>
                  <a:pt x="85725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8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8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6" name="object 16"/>
          <p:cNvSpPr/>
          <p:nvPr/>
        </p:nvSpPr>
        <p:spPr>
          <a:xfrm>
            <a:off x="3117129" y="5029842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7" y="0"/>
                </a:moveTo>
                <a:lnTo>
                  <a:pt x="860038" y="142875"/>
                </a:lnTo>
                <a:lnTo>
                  <a:pt x="974335" y="85726"/>
                </a:lnTo>
                <a:lnTo>
                  <a:pt x="874326" y="85726"/>
                </a:lnTo>
                <a:lnTo>
                  <a:pt x="874326" y="57151"/>
                </a:lnTo>
                <a:lnTo>
                  <a:pt x="974340" y="57151"/>
                </a:lnTo>
                <a:lnTo>
                  <a:pt x="860037" y="0"/>
                </a:lnTo>
                <a:close/>
              </a:path>
              <a:path w="1003300" h="142875">
                <a:moveTo>
                  <a:pt x="860038" y="57151"/>
                </a:moveTo>
                <a:lnTo>
                  <a:pt x="0" y="57151"/>
                </a:lnTo>
                <a:lnTo>
                  <a:pt x="0" y="85726"/>
                </a:lnTo>
                <a:lnTo>
                  <a:pt x="860038" y="85726"/>
                </a:lnTo>
                <a:lnTo>
                  <a:pt x="860038" y="57151"/>
                </a:lnTo>
                <a:close/>
              </a:path>
              <a:path w="1003300" h="142875">
                <a:moveTo>
                  <a:pt x="974340" y="57151"/>
                </a:moveTo>
                <a:lnTo>
                  <a:pt x="874326" y="57151"/>
                </a:lnTo>
                <a:lnTo>
                  <a:pt x="874326" y="85726"/>
                </a:lnTo>
                <a:lnTo>
                  <a:pt x="974335" y="85726"/>
                </a:lnTo>
                <a:lnTo>
                  <a:pt x="1002912" y="71437"/>
                </a:lnTo>
                <a:lnTo>
                  <a:pt x="974340" y="57151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17" name="object 17"/>
          <p:cNvSpPr txBox="1"/>
          <p:nvPr/>
        </p:nvSpPr>
        <p:spPr>
          <a:xfrm>
            <a:off x="3271676" y="5144069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1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349231" y="3684643"/>
            <a:ext cx="1227135" cy="418467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298" rIns="0" bIns="0" rtlCol="0">
            <a:spAutoFit/>
          </a:bodyPr>
          <a:lstStyle/>
          <a:p>
            <a:pPr marL="215200">
              <a:spcBef>
                <a:spcPts val="1105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2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349231" y="4793919"/>
            <a:ext cx="1227135" cy="447954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029" rIns="0" bIns="0" rtlCol="0">
            <a:spAutoFit/>
          </a:bodyPr>
          <a:lstStyle/>
          <a:p>
            <a:pPr marL="337084">
              <a:spcBef>
                <a:spcPts val="1095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349231" y="5953700"/>
            <a:ext cx="1227135" cy="419750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1568" rIns="0" bIns="0" rtlCol="0">
            <a:spAutoFit/>
          </a:bodyPr>
          <a:lstStyle/>
          <a:p>
            <a:pPr marL="291378">
              <a:spcBef>
                <a:spcPts val="1115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3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891211" y="5403153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50" y="550690"/>
                </a:lnTo>
                <a:lnTo>
                  <a:pt x="85725" y="550690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7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2" name="object 22"/>
          <p:cNvSpPr/>
          <p:nvPr/>
        </p:nvSpPr>
        <p:spPr>
          <a:xfrm>
            <a:off x="6891211" y="4240644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50" y="553417"/>
                </a:lnTo>
                <a:lnTo>
                  <a:pt x="85725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7" y="0"/>
                </a:moveTo>
                <a:lnTo>
                  <a:pt x="0" y="142875"/>
                </a:lnTo>
                <a:lnTo>
                  <a:pt x="57150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5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3" name="object 23"/>
          <p:cNvSpPr/>
          <p:nvPr/>
        </p:nvSpPr>
        <p:spPr>
          <a:xfrm>
            <a:off x="5346578" y="5027116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8" y="0"/>
                </a:moveTo>
                <a:lnTo>
                  <a:pt x="860038" y="142875"/>
                </a:lnTo>
                <a:lnTo>
                  <a:pt x="974336" y="85726"/>
                </a:lnTo>
                <a:lnTo>
                  <a:pt x="874326" y="85726"/>
                </a:lnTo>
                <a:lnTo>
                  <a:pt x="874326" y="57151"/>
                </a:lnTo>
                <a:lnTo>
                  <a:pt x="974341" y="57151"/>
                </a:lnTo>
                <a:lnTo>
                  <a:pt x="860038" y="0"/>
                </a:lnTo>
                <a:close/>
              </a:path>
              <a:path w="1003300" h="142875">
                <a:moveTo>
                  <a:pt x="860038" y="57151"/>
                </a:moveTo>
                <a:lnTo>
                  <a:pt x="0" y="57151"/>
                </a:lnTo>
                <a:lnTo>
                  <a:pt x="0" y="85726"/>
                </a:lnTo>
                <a:lnTo>
                  <a:pt x="860038" y="85726"/>
                </a:lnTo>
                <a:lnTo>
                  <a:pt x="860038" y="57151"/>
                </a:lnTo>
                <a:close/>
              </a:path>
              <a:path w="1003300" h="142875">
                <a:moveTo>
                  <a:pt x="974341" y="57151"/>
                </a:moveTo>
                <a:lnTo>
                  <a:pt x="874326" y="57151"/>
                </a:lnTo>
                <a:lnTo>
                  <a:pt x="874326" y="85726"/>
                </a:lnTo>
                <a:lnTo>
                  <a:pt x="974336" y="85726"/>
                </a:lnTo>
                <a:lnTo>
                  <a:pt x="1002913" y="71437"/>
                </a:lnTo>
                <a:lnTo>
                  <a:pt x="974341" y="57151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4" name="object 24"/>
          <p:cNvSpPr txBox="1"/>
          <p:nvPr/>
        </p:nvSpPr>
        <p:spPr>
          <a:xfrm>
            <a:off x="5501125" y="5144069"/>
            <a:ext cx="69450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2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192077" y="3684643"/>
            <a:ext cx="1227135" cy="418467"/>
          </a:xfrm>
          <a:prstGeom prst="rect">
            <a:avLst/>
          </a:prstGeom>
          <a:solidFill>
            <a:srgbClr val="B4C7E7"/>
          </a:solidFill>
        </p:spPr>
        <p:txBody>
          <a:bodyPr vert="horz" wrap="square" lIns="0" tIns="140298" rIns="0" bIns="0" rtlCol="0">
            <a:spAutoFit/>
          </a:bodyPr>
          <a:lstStyle/>
          <a:p>
            <a:pPr marL="210757">
              <a:spcBef>
                <a:spcPts val="1105"/>
              </a:spcBef>
            </a:pPr>
            <a:r>
              <a:rPr sz="1799" b="1" spc="-10" dirty="0">
                <a:latin typeface="Arial"/>
                <a:cs typeface="Arial"/>
              </a:rPr>
              <a:t>output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2077" y="4793919"/>
            <a:ext cx="1227135" cy="447954"/>
          </a:xfrm>
          <a:prstGeom prst="rect">
            <a:avLst/>
          </a:prstGeom>
          <a:solidFill>
            <a:srgbClr val="ED7D31"/>
          </a:solidFill>
        </p:spPr>
        <p:txBody>
          <a:bodyPr vert="horz" wrap="square" lIns="0" tIns="139029" rIns="0" bIns="0" rtlCol="0">
            <a:spAutoFit/>
          </a:bodyPr>
          <a:lstStyle/>
          <a:p>
            <a:pPr marL="337084">
              <a:spcBef>
                <a:spcPts val="1095"/>
              </a:spcBef>
            </a:pPr>
            <a:r>
              <a:rPr sz="1999" b="1" spc="-25" dirty="0">
                <a:solidFill>
                  <a:srgbClr val="FFFFFF"/>
                </a:solidFill>
                <a:latin typeface="Arial"/>
                <a:cs typeface="Arial"/>
              </a:rPr>
              <a:t>RNN</a:t>
            </a:r>
            <a:endParaRPr sz="1999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2077" y="5953700"/>
            <a:ext cx="1227135" cy="419750"/>
          </a:xfrm>
          <a:prstGeom prst="rect">
            <a:avLst/>
          </a:prstGeom>
          <a:solidFill>
            <a:srgbClr val="FFE699"/>
          </a:solidFill>
        </p:spPr>
        <p:txBody>
          <a:bodyPr vert="horz" wrap="square" lIns="0" tIns="141568" rIns="0" bIns="0" rtlCol="0">
            <a:spAutoFit/>
          </a:bodyPr>
          <a:lstStyle/>
          <a:p>
            <a:pPr marL="286934">
              <a:spcBef>
                <a:spcPts val="1115"/>
              </a:spcBef>
            </a:pPr>
            <a:r>
              <a:rPr sz="1799" b="1" spc="-10" dirty="0">
                <a:latin typeface="Arial"/>
                <a:cs typeface="Arial"/>
              </a:rPr>
              <a:t>input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734056" y="5403153"/>
            <a:ext cx="142838" cy="551036"/>
          </a:xfrm>
          <a:custGeom>
            <a:avLst/>
            <a:gdLst/>
            <a:ahLst/>
            <a:cxnLst/>
            <a:rect l="l" t="t" r="r" b="b"/>
            <a:pathLst>
              <a:path w="142875" h="551179">
                <a:moveTo>
                  <a:pt x="85725" y="128587"/>
                </a:moveTo>
                <a:lnTo>
                  <a:pt x="57150" y="128587"/>
                </a:lnTo>
                <a:lnTo>
                  <a:pt x="57148" y="550690"/>
                </a:lnTo>
                <a:lnTo>
                  <a:pt x="85723" y="550690"/>
                </a:lnTo>
                <a:lnTo>
                  <a:pt x="85725" y="128587"/>
                </a:lnTo>
                <a:close/>
              </a:path>
              <a:path w="142875" h="551179">
                <a:moveTo>
                  <a:pt x="71437" y="0"/>
                </a:moveTo>
                <a:lnTo>
                  <a:pt x="0" y="142875"/>
                </a:lnTo>
                <a:lnTo>
                  <a:pt x="57149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1179">
                <a:moveTo>
                  <a:pt x="135731" y="128587"/>
                </a:moveTo>
                <a:lnTo>
                  <a:pt x="85725" y="128587"/>
                </a:lnTo>
                <a:lnTo>
                  <a:pt x="85724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29" name="object 29"/>
          <p:cNvSpPr/>
          <p:nvPr/>
        </p:nvSpPr>
        <p:spPr>
          <a:xfrm>
            <a:off x="9734056" y="4240644"/>
            <a:ext cx="142838" cy="553576"/>
          </a:xfrm>
          <a:custGeom>
            <a:avLst/>
            <a:gdLst/>
            <a:ahLst/>
            <a:cxnLst/>
            <a:rect l="l" t="t" r="r" b="b"/>
            <a:pathLst>
              <a:path w="142875" h="553720">
                <a:moveTo>
                  <a:pt x="85725" y="128587"/>
                </a:moveTo>
                <a:lnTo>
                  <a:pt x="57150" y="128587"/>
                </a:lnTo>
                <a:lnTo>
                  <a:pt x="57148" y="553417"/>
                </a:lnTo>
                <a:lnTo>
                  <a:pt x="85723" y="553417"/>
                </a:lnTo>
                <a:lnTo>
                  <a:pt x="85725" y="128587"/>
                </a:lnTo>
                <a:close/>
              </a:path>
              <a:path w="142875" h="553720">
                <a:moveTo>
                  <a:pt x="71437" y="0"/>
                </a:moveTo>
                <a:lnTo>
                  <a:pt x="0" y="142875"/>
                </a:lnTo>
                <a:lnTo>
                  <a:pt x="57149" y="142875"/>
                </a:lnTo>
                <a:lnTo>
                  <a:pt x="57150" y="128587"/>
                </a:lnTo>
                <a:lnTo>
                  <a:pt x="135731" y="128587"/>
                </a:lnTo>
                <a:lnTo>
                  <a:pt x="71437" y="0"/>
                </a:lnTo>
                <a:close/>
              </a:path>
              <a:path w="142875" h="553720">
                <a:moveTo>
                  <a:pt x="135731" y="128587"/>
                </a:moveTo>
                <a:lnTo>
                  <a:pt x="85725" y="128587"/>
                </a:lnTo>
                <a:lnTo>
                  <a:pt x="85724" y="142875"/>
                </a:lnTo>
                <a:lnTo>
                  <a:pt x="142875" y="142875"/>
                </a:lnTo>
                <a:lnTo>
                  <a:pt x="135731" y="128587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30" name="object 30"/>
          <p:cNvSpPr/>
          <p:nvPr/>
        </p:nvSpPr>
        <p:spPr>
          <a:xfrm>
            <a:off x="8189424" y="5027116"/>
            <a:ext cx="1003039" cy="142838"/>
          </a:xfrm>
          <a:custGeom>
            <a:avLst/>
            <a:gdLst/>
            <a:ahLst/>
            <a:cxnLst/>
            <a:rect l="l" t="t" r="r" b="b"/>
            <a:pathLst>
              <a:path w="1003300" h="142875">
                <a:moveTo>
                  <a:pt x="860037" y="0"/>
                </a:moveTo>
                <a:lnTo>
                  <a:pt x="860037" y="142875"/>
                </a:lnTo>
                <a:lnTo>
                  <a:pt x="974335" y="85726"/>
                </a:lnTo>
                <a:lnTo>
                  <a:pt x="874325" y="85726"/>
                </a:lnTo>
                <a:lnTo>
                  <a:pt x="874325" y="57151"/>
                </a:lnTo>
                <a:lnTo>
                  <a:pt x="974340" y="57151"/>
                </a:lnTo>
                <a:lnTo>
                  <a:pt x="860037" y="0"/>
                </a:lnTo>
                <a:close/>
              </a:path>
              <a:path w="1003300" h="142875">
                <a:moveTo>
                  <a:pt x="860037" y="57151"/>
                </a:moveTo>
                <a:lnTo>
                  <a:pt x="0" y="57151"/>
                </a:lnTo>
                <a:lnTo>
                  <a:pt x="0" y="85726"/>
                </a:lnTo>
                <a:lnTo>
                  <a:pt x="860037" y="85726"/>
                </a:lnTo>
                <a:lnTo>
                  <a:pt x="860037" y="57151"/>
                </a:lnTo>
                <a:close/>
              </a:path>
              <a:path w="1003300" h="142875">
                <a:moveTo>
                  <a:pt x="974340" y="57151"/>
                </a:moveTo>
                <a:lnTo>
                  <a:pt x="874325" y="57151"/>
                </a:lnTo>
                <a:lnTo>
                  <a:pt x="874325" y="85726"/>
                </a:lnTo>
                <a:lnTo>
                  <a:pt x="974335" y="85726"/>
                </a:lnTo>
                <a:lnTo>
                  <a:pt x="1002912" y="71437"/>
                </a:lnTo>
                <a:lnTo>
                  <a:pt x="974340" y="57151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31" name="object 31"/>
          <p:cNvSpPr txBox="1"/>
          <p:nvPr/>
        </p:nvSpPr>
        <p:spPr>
          <a:xfrm>
            <a:off x="8339209" y="5144069"/>
            <a:ext cx="70276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z="1799" b="1" spc="-10" dirty="0">
                <a:latin typeface="Arial"/>
                <a:cs typeface="Arial"/>
              </a:rPr>
              <a:t>state</a:t>
            </a:r>
            <a:r>
              <a:rPr sz="1799" b="1" spc="-15" baseline="-13888" dirty="0">
                <a:latin typeface="Arial"/>
                <a:cs typeface="Arial"/>
              </a:rPr>
              <a:t>n</a:t>
            </a:r>
            <a:endParaRPr sz="1799" baseline="-13888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8B615EF-CFFF-A960-D109-A00401E1FDD5}"/>
              </a:ext>
            </a:extLst>
          </p:cNvPr>
          <p:cNvSpPr txBox="1">
            <a:spLocks/>
          </p:cNvSpPr>
          <p:nvPr/>
        </p:nvSpPr>
        <p:spPr>
          <a:xfrm>
            <a:off x="235407" y="162488"/>
            <a:ext cx="11476958" cy="911470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dirty="0">
                <a:solidFill>
                  <a:srgbClr val="DC4400"/>
                </a:solidFill>
                <a:latin typeface="Impact"/>
              </a:rPr>
              <a:t>Attention: Enable Parallelism within a Sequence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04E9F26-714E-D8A5-A498-241239C758C6}"/>
              </a:ext>
            </a:extLst>
          </p:cNvPr>
          <p:cNvSpPr txBox="1"/>
          <p:nvPr/>
        </p:nvSpPr>
        <p:spPr>
          <a:xfrm>
            <a:off x="916700" y="1572743"/>
            <a:ext cx="9296518" cy="723711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Idea: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treat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each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position’s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representation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query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dirty="0">
                <a:latin typeface="Arial MT"/>
                <a:cs typeface="Arial MT"/>
              </a:rPr>
              <a:t>to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access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25" dirty="0">
                <a:latin typeface="Arial MT"/>
                <a:cs typeface="Arial MT"/>
              </a:rPr>
              <a:t>and 	</a:t>
            </a:r>
            <a:r>
              <a:rPr sz="2399" dirty="0">
                <a:latin typeface="Arial MT"/>
                <a:cs typeface="Arial MT"/>
              </a:rPr>
              <a:t>incorporate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information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from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set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values</a:t>
            </a:r>
            <a:endParaRPr sz="2399">
              <a:latin typeface="Arial"/>
              <a:cs typeface="Arial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61999B6B-1216-73D2-B445-D18AA989852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66456" y="4011893"/>
            <a:ext cx="4570808" cy="2683619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17489A67-D39C-F9C1-37C4-74963DC68BD8}"/>
              </a:ext>
            </a:extLst>
          </p:cNvPr>
          <p:cNvSpPr txBox="1"/>
          <p:nvPr/>
        </p:nvSpPr>
        <p:spPr>
          <a:xfrm>
            <a:off x="695416" y="4208576"/>
            <a:ext cx="1752778" cy="199413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Attention</a:t>
            </a:r>
            <a:r>
              <a:rPr sz="1799" spc="-4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2</a:t>
            </a:r>
            <a:endParaRPr sz="1799">
              <a:latin typeface="Arial MT"/>
              <a:cs typeface="Arial MT"/>
            </a:endParaRPr>
          </a:p>
          <a:p>
            <a:pPr>
              <a:spcBef>
                <a:spcPts val="2009"/>
              </a:spcBef>
            </a:pPr>
            <a:endParaRPr sz="1799">
              <a:latin typeface="Arial MT"/>
              <a:cs typeface="Arial MT"/>
            </a:endParaRPr>
          </a:p>
          <a:p>
            <a:pPr marL="12696"/>
            <a:r>
              <a:rPr sz="1799" dirty="0">
                <a:latin typeface="Arial MT"/>
                <a:cs typeface="Arial MT"/>
              </a:rPr>
              <a:t>Attention</a:t>
            </a:r>
            <a:r>
              <a:rPr sz="1799" spc="-4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1</a:t>
            </a:r>
            <a:endParaRPr sz="1799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799">
              <a:latin typeface="Arial MT"/>
              <a:cs typeface="Arial MT"/>
            </a:endParaRPr>
          </a:p>
          <a:p>
            <a:pPr>
              <a:spcBef>
                <a:spcPts val="465"/>
              </a:spcBef>
            </a:pPr>
            <a:endParaRPr sz="1799">
              <a:latin typeface="Arial MT"/>
              <a:cs typeface="Arial MT"/>
            </a:endParaRPr>
          </a:p>
          <a:p>
            <a:pPr marL="864610"/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0</a:t>
            </a:r>
            <a:endParaRPr sz="1799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750861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AC49F1B-1EE1-841D-2183-E60122C33F13}"/>
              </a:ext>
            </a:extLst>
          </p:cNvPr>
          <p:cNvSpPr txBox="1">
            <a:spLocks/>
          </p:cNvSpPr>
          <p:nvPr/>
        </p:nvSpPr>
        <p:spPr>
          <a:xfrm>
            <a:off x="-234907" y="8037"/>
            <a:ext cx="11986640" cy="911470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8089">
              <a:spcBef>
                <a:spcPts val="100"/>
              </a:spcBef>
            </a:pPr>
            <a:r>
              <a:rPr lang="en-US" dirty="0">
                <a:solidFill>
                  <a:srgbClr val="DC4400"/>
                </a:solidFill>
                <a:latin typeface="Impact"/>
              </a:rPr>
              <a:t>Attention: Enable Parallelism within a Sequence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49C243D-FE7E-E66B-B36E-FF8C2D72F00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66456" y="4011893"/>
            <a:ext cx="4570808" cy="2683619"/>
          </a:xfrm>
          <a:prstGeom prst="rect">
            <a:avLst/>
          </a:prstGeom>
        </p:spPr>
      </p:pic>
      <p:sp>
        <p:nvSpPr>
          <p:cNvPr id="4" name="object 4">
            <a:extLst>
              <a:ext uri="{FF2B5EF4-FFF2-40B4-BE49-F238E27FC236}">
                <a16:creationId xmlns:a16="http://schemas.microsoft.com/office/drawing/2014/main" id="{FC7E08C7-156B-A913-5B75-F4FF3B964F82}"/>
              </a:ext>
            </a:extLst>
          </p:cNvPr>
          <p:cNvSpPr txBox="1"/>
          <p:nvPr/>
        </p:nvSpPr>
        <p:spPr>
          <a:xfrm>
            <a:off x="916700" y="1572743"/>
            <a:ext cx="10352248" cy="2591395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1060767" indent="-227261">
              <a:lnSpc>
                <a:spcPts val="2619"/>
              </a:lnSpc>
              <a:spcBef>
                <a:spcPts val="40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Idea: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treat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each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position’s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representation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query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dirty="0">
                <a:latin typeface="Arial MT"/>
                <a:cs typeface="Arial MT"/>
              </a:rPr>
              <a:t>to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access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25" dirty="0">
                <a:latin typeface="Arial MT"/>
                <a:cs typeface="Arial MT"/>
              </a:rPr>
              <a:t>and 	</a:t>
            </a:r>
            <a:r>
              <a:rPr sz="2399" dirty="0">
                <a:latin typeface="Arial MT"/>
                <a:cs typeface="Arial MT"/>
              </a:rPr>
              <a:t>incorporate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information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from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set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values</a:t>
            </a:r>
            <a:endParaRPr sz="2399">
              <a:latin typeface="Arial"/>
              <a:cs typeface="Arial"/>
            </a:endParaRPr>
          </a:p>
          <a:p>
            <a:pPr>
              <a:spcBef>
                <a:spcPts val="1834"/>
              </a:spcBef>
              <a:buFont typeface="Arial MT"/>
              <a:buChar char="•"/>
            </a:pPr>
            <a:endParaRPr sz="2399">
              <a:latin typeface="Arial"/>
              <a:cs typeface="Arial"/>
            </a:endParaRPr>
          </a:p>
          <a:p>
            <a:pPr marL="239957" marR="382790" indent="-227261">
              <a:lnSpc>
                <a:spcPts val="2589"/>
              </a:lnSpc>
              <a:spcBef>
                <a:spcPts val="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Massively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parallelizable: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number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8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unparallelizable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operations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does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spc="-25" dirty="0">
                <a:latin typeface="Arial MT"/>
                <a:cs typeface="Arial MT"/>
              </a:rPr>
              <a:t>not 	</a:t>
            </a:r>
            <a:r>
              <a:rPr sz="2399" dirty="0">
                <a:latin typeface="Arial MT"/>
                <a:cs typeface="Arial MT"/>
              </a:rPr>
              <a:t>increase</a:t>
            </a:r>
            <a:r>
              <a:rPr sz="2399" spc="-114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sequence</a:t>
            </a:r>
            <a:r>
              <a:rPr sz="2399" spc="-11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length</a:t>
            </a:r>
            <a:endParaRPr sz="2399">
              <a:latin typeface="Arial MT"/>
              <a:cs typeface="Arial MT"/>
            </a:endParaRPr>
          </a:p>
          <a:p>
            <a:pPr marL="6766434">
              <a:spcBef>
                <a:spcPts val="1999"/>
              </a:spcBef>
            </a:pP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We</a:t>
            </a:r>
            <a:r>
              <a:rPr sz="2399" spc="-60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will</a:t>
            </a:r>
            <a:r>
              <a:rPr sz="2399" spc="-60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learn</a:t>
            </a:r>
            <a:r>
              <a:rPr sz="2399" spc="-50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attention</a:t>
            </a:r>
            <a:r>
              <a:rPr sz="2399" spc="-65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spc="-25" dirty="0">
                <a:solidFill>
                  <a:srgbClr val="ED7D31"/>
                </a:solidFill>
                <a:latin typeface="Arial MT"/>
                <a:cs typeface="Arial MT"/>
              </a:rPr>
              <a:t>and</a:t>
            </a:r>
            <a:endParaRPr sz="2399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38A4AE6D-D2C3-2D40-442B-8466979334CE}"/>
              </a:ext>
            </a:extLst>
          </p:cNvPr>
          <p:cNvSpPr txBox="1"/>
          <p:nvPr/>
        </p:nvSpPr>
        <p:spPr>
          <a:xfrm>
            <a:off x="1547908" y="5860163"/>
            <a:ext cx="787830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0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F1F6446-6022-B7AF-AC74-E8453EF63F44}"/>
              </a:ext>
            </a:extLst>
          </p:cNvPr>
          <p:cNvSpPr txBox="1"/>
          <p:nvPr/>
        </p:nvSpPr>
        <p:spPr>
          <a:xfrm>
            <a:off x="695416" y="5000850"/>
            <a:ext cx="175277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Attention</a:t>
            </a:r>
            <a:r>
              <a:rPr sz="1799" spc="-4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1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F5B4F07-6F91-5286-2C98-9528AF814023}"/>
              </a:ext>
            </a:extLst>
          </p:cNvPr>
          <p:cNvSpPr txBox="1"/>
          <p:nvPr/>
        </p:nvSpPr>
        <p:spPr>
          <a:xfrm>
            <a:off x="695416" y="4208576"/>
            <a:ext cx="1752778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Attention</a:t>
            </a:r>
            <a:r>
              <a:rPr sz="1799" spc="-40" dirty="0">
                <a:latin typeface="Arial MT"/>
                <a:cs typeface="Arial MT"/>
              </a:rPr>
              <a:t> </a:t>
            </a:r>
            <a:r>
              <a:rPr sz="1799" dirty="0">
                <a:latin typeface="Arial MT"/>
                <a:cs typeface="Arial MT"/>
              </a:rPr>
              <a:t>Layer</a:t>
            </a:r>
            <a:r>
              <a:rPr sz="1799" spc="-30" dirty="0">
                <a:latin typeface="Arial MT"/>
                <a:cs typeface="Arial MT"/>
              </a:rPr>
              <a:t> </a:t>
            </a:r>
            <a:r>
              <a:rPr sz="1799" spc="-50" dirty="0">
                <a:latin typeface="Arial MT"/>
                <a:cs typeface="Arial MT"/>
              </a:rPr>
              <a:t>2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7C3C059-FD1D-0525-9AE0-4B2362AD3090}"/>
              </a:ext>
            </a:extLst>
          </p:cNvPr>
          <p:cNvSpPr txBox="1"/>
          <p:nvPr/>
        </p:nvSpPr>
        <p:spPr>
          <a:xfrm>
            <a:off x="7671308" y="4141537"/>
            <a:ext cx="3668074" cy="1494401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transformers</a:t>
            </a:r>
            <a:r>
              <a:rPr sz="2399" spc="-70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in</a:t>
            </a:r>
            <a:r>
              <a:rPr sz="2399" spc="-65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depth</a:t>
            </a:r>
            <a:r>
              <a:rPr sz="2399" spc="-65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spc="-10" dirty="0">
                <a:solidFill>
                  <a:srgbClr val="ED7D31"/>
                </a:solidFill>
                <a:latin typeface="Arial MT"/>
                <a:cs typeface="Arial MT"/>
              </a:rPr>
              <a:t>later:</a:t>
            </a:r>
            <a:endParaRPr sz="2399">
              <a:latin typeface="Arial MT"/>
              <a:cs typeface="Arial MT"/>
            </a:endParaRPr>
          </a:p>
          <a:p>
            <a:pPr marL="297726" indent="-285029">
              <a:buChar char="•"/>
              <a:tabLst>
                <a:tab pos="297726" algn="l"/>
              </a:tabLst>
            </a:pPr>
            <a:r>
              <a:rPr sz="2399" spc="-20" dirty="0">
                <a:solidFill>
                  <a:srgbClr val="ED7D31"/>
                </a:solidFill>
                <a:latin typeface="Arial MT"/>
                <a:cs typeface="Arial MT"/>
              </a:rPr>
              <a:t>Self-</a:t>
            </a:r>
            <a:r>
              <a:rPr sz="2399" spc="-10" dirty="0">
                <a:solidFill>
                  <a:srgbClr val="ED7D31"/>
                </a:solidFill>
                <a:latin typeface="Arial MT"/>
                <a:cs typeface="Arial MT"/>
              </a:rPr>
              <a:t>attention</a:t>
            </a:r>
            <a:endParaRPr sz="2399">
              <a:latin typeface="Arial MT"/>
              <a:cs typeface="Arial MT"/>
            </a:endParaRPr>
          </a:p>
          <a:p>
            <a:pPr marL="297726" indent="-285029">
              <a:spcBef>
                <a:spcPts val="25"/>
              </a:spcBef>
              <a:buChar char="•"/>
              <a:tabLst>
                <a:tab pos="297726" algn="l"/>
              </a:tabLst>
            </a:pP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Masked</a:t>
            </a:r>
            <a:r>
              <a:rPr sz="2399" spc="-100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spc="-10" dirty="0">
                <a:solidFill>
                  <a:srgbClr val="ED7D31"/>
                </a:solidFill>
                <a:latin typeface="Arial MT"/>
                <a:cs typeface="Arial MT"/>
              </a:rPr>
              <a:t>attention</a:t>
            </a:r>
            <a:endParaRPr sz="2399">
              <a:latin typeface="Arial MT"/>
              <a:cs typeface="Arial MT"/>
            </a:endParaRPr>
          </a:p>
          <a:p>
            <a:pPr marL="297726" indent="-285029">
              <a:spcBef>
                <a:spcPts val="20"/>
              </a:spcBef>
              <a:buChar char="•"/>
              <a:tabLst>
                <a:tab pos="297726" algn="l"/>
              </a:tabLst>
            </a:pPr>
            <a:r>
              <a:rPr sz="2399" spc="-10" dirty="0">
                <a:solidFill>
                  <a:srgbClr val="ED7D31"/>
                </a:solidFill>
                <a:latin typeface="Arial MT"/>
                <a:cs typeface="Arial MT"/>
              </a:rPr>
              <a:t>Multi-</a:t>
            </a:r>
            <a:r>
              <a:rPr sz="2399" dirty="0">
                <a:solidFill>
                  <a:srgbClr val="ED7D31"/>
                </a:solidFill>
                <a:latin typeface="Arial MT"/>
                <a:cs typeface="Arial MT"/>
              </a:rPr>
              <a:t>head</a:t>
            </a:r>
            <a:r>
              <a:rPr sz="2399" spc="-55" dirty="0">
                <a:solidFill>
                  <a:srgbClr val="ED7D31"/>
                </a:solidFill>
                <a:latin typeface="Arial MT"/>
                <a:cs typeface="Arial MT"/>
              </a:rPr>
              <a:t> </a:t>
            </a:r>
            <a:r>
              <a:rPr sz="2399" spc="-10" dirty="0">
                <a:solidFill>
                  <a:srgbClr val="ED7D31"/>
                </a:solidFill>
                <a:latin typeface="Arial MT"/>
                <a:cs typeface="Arial MT"/>
              </a:rPr>
              <a:t>attention</a:t>
            </a:r>
            <a:endParaRPr sz="2399">
              <a:latin typeface="Arial MT"/>
              <a:cs typeface="Arial MT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44762342-4B12-54E7-BA2E-5423327EBD5C}"/>
              </a:ext>
            </a:extLst>
          </p:cNvPr>
          <p:cNvGrpSpPr/>
          <p:nvPr/>
        </p:nvGrpSpPr>
        <p:grpSpPr>
          <a:xfrm>
            <a:off x="2506836" y="4420745"/>
            <a:ext cx="4648894" cy="2383804"/>
            <a:chOff x="2507489" y="4421003"/>
            <a:chExt cx="4650105" cy="238442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46F2E1F-8134-9EC0-D735-3C975E0DDE0A}"/>
                </a:ext>
              </a:extLst>
            </p:cNvPr>
            <p:cNvSpPr/>
            <p:nvPr/>
          </p:nvSpPr>
          <p:spPr>
            <a:xfrm>
              <a:off x="2545589" y="6198500"/>
              <a:ext cx="4573905" cy="568960"/>
            </a:xfrm>
            <a:custGeom>
              <a:avLst/>
              <a:gdLst/>
              <a:ahLst/>
              <a:cxnLst/>
              <a:rect l="l" t="t" r="r" b="b"/>
              <a:pathLst>
                <a:path w="4573905" h="568959">
                  <a:moveTo>
                    <a:pt x="0" y="0"/>
                  </a:moveTo>
                  <a:lnTo>
                    <a:pt x="4573667" y="0"/>
                  </a:lnTo>
                  <a:lnTo>
                    <a:pt x="4573667" y="568651"/>
                  </a:lnTo>
                  <a:lnTo>
                    <a:pt x="0" y="568651"/>
                  </a:lnTo>
                  <a:lnTo>
                    <a:pt x="0" y="0"/>
                  </a:lnTo>
                  <a:close/>
                </a:path>
              </a:pathLst>
            </a:custGeom>
            <a:ln w="76200">
              <a:solidFill>
                <a:srgbClr val="ED7D31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11" name="object 11">
              <a:extLst>
                <a:ext uri="{FF2B5EF4-FFF2-40B4-BE49-F238E27FC236}">
                  <a16:creationId xmlns:a16="http://schemas.microsoft.com/office/drawing/2014/main" id="{2D146A18-E01D-C0E8-65ED-3E1A4FC0E49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89762" y="4421003"/>
              <a:ext cx="956703" cy="1008824"/>
            </a:xfrm>
            <a:prstGeom prst="rect">
              <a:avLst/>
            </a:prstGeom>
          </p:spPr>
        </p:pic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D11AC561-466F-3A7E-0B76-7C2FA93FBBC5}"/>
              </a:ext>
            </a:extLst>
          </p:cNvPr>
          <p:cNvSpPr txBox="1"/>
          <p:nvPr/>
        </p:nvSpPr>
        <p:spPr>
          <a:xfrm>
            <a:off x="7258365" y="6279660"/>
            <a:ext cx="816397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spc="-10" dirty="0">
                <a:solidFill>
                  <a:srgbClr val="ED7D31"/>
                </a:solidFill>
                <a:latin typeface="Arial"/>
                <a:cs typeface="Arial"/>
              </a:rPr>
              <a:t>values</a:t>
            </a:r>
            <a:endParaRPr sz="1999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4D9F760-276B-E4E0-4BE9-B4344DD7B43E}"/>
              </a:ext>
            </a:extLst>
          </p:cNvPr>
          <p:cNvSpPr txBox="1"/>
          <p:nvPr/>
        </p:nvSpPr>
        <p:spPr>
          <a:xfrm>
            <a:off x="4067442" y="4442196"/>
            <a:ext cx="717363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b="1" spc="-10" dirty="0">
                <a:solidFill>
                  <a:srgbClr val="4472C4"/>
                </a:solidFill>
                <a:latin typeface="Arial"/>
                <a:cs typeface="Arial"/>
              </a:rPr>
              <a:t>query</a:t>
            </a:r>
            <a:endParaRPr sz="1999">
              <a:latin typeface="Arial"/>
              <a:cs typeface="Arial"/>
            </a:endParaRPr>
          </a:p>
        </p:txBody>
      </p:sp>
      <p:grpSp>
        <p:nvGrpSpPr>
          <p:cNvPr id="14" name="object 14">
            <a:extLst>
              <a:ext uri="{FF2B5EF4-FFF2-40B4-BE49-F238E27FC236}">
                <a16:creationId xmlns:a16="http://schemas.microsoft.com/office/drawing/2014/main" id="{F1A7136E-3DBF-FE2E-DC9C-C343924DDBE1}"/>
              </a:ext>
            </a:extLst>
          </p:cNvPr>
          <p:cNvGrpSpPr/>
          <p:nvPr/>
        </p:nvGrpSpPr>
        <p:grpSpPr>
          <a:xfrm>
            <a:off x="2609277" y="4793944"/>
            <a:ext cx="3303044" cy="845599"/>
            <a:chOff x="2609957" y="4794299"/>
            <a:chExt cx="3303904" cy="845819"/>
          </a:xfrm>
        </p:grpSpPr>
        <p:pic>
          <p:nvPicPr>
            <p:cNvPr id="15" name="object 15">
              <a:extLst>
                <a:ext uri="{FF2B5EF4-FFF2-40B4-BE49-F238E27FC236}">
                  <a16:creationId xmlns:a16="http://schemas.microsoft.com/office/drawing/2014/main" id="{160DFCBD-2127-F4CF-DDA1-FCE14B66272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09957" y="5419850"/>
              <a:ext cx="231893" cy="220164"/>
            </a:xfrm>
            <a:prstGeom prst="rect">
              <a:avLst/>
            </a:prstGeom>
          </p:spPr>
        </p:pic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A3337F5C-9559-E9DC-B608-8ECCF4438EDD}"/>
                </a:ext>
              </a:extLst>
            </p:cNvPr>
            <p:cNvSpPr/>
            <p:nvPr/>
          </p:nvSpPr>
          <p:spPr>
            <a:xfrm>
              <a:off x="2833431" y="5156026"/>
              <a:ext cx="257175" cy="49530"/>
            </a:xfrm>
            <a:custGeom>
              <a:avLst/>
              <a:gdLst/>
              <a:ahLst/>
              <a:cxnLst/>
              <a:rect l="l" t="t" r="r" b="b"/>
              <a:pathLst>
                <a:path w="257175" h="49529">
                  <a:moveTo>
                    <a:pt x="79452" y="48489"/>
                  </a:moveTo>
                  <a:lnTo>
                    <a:pt x="61908" y="48489"/>
                  </a:lnTo>
                  <a:lnTo>
                    <a:pt x="63813" y="48783"/>
                  </a:lnTo>
                  <a:lnTo>
                    <a:pt x="74266" y="49230"/>
                  </a:lnTo>
                  <a:lnTo>
                    <a:pt x="73154" y="49230"/>
                  </a:lnTo>
                  <a:lnTo>
                    <a:pt x="79452" y="48489"/>
                  </a:lnTo>
                  <a:close/>
                </a:path>
                <a:path w="257175" h="49529">
                  <a:moveTo>
                    <a:pt x="92338" y="48152"/>
                  </a:moveTo>
                  <a:lnTo>
                    <a:pt x="92147" y="48152"/>
                  </a:lnTo>
                  <a:lnTo>
                    <a:pt x="93625" y="48648"/>
                  </a:lnTo>
                  <a:lnTo>
                    <a:pt x="97133" y="49230"/>
                  </a:lnTo>
                  <a:lnTo>
                    <a:pt x="99541" y="49230"/>
                  </a:lnTo>
                  <a:lnTo>
                    <a:pt x="102799" y="48648"/>
                  </a:lnTo>
                  <a:lnTo>
                    <a:pt x="95333" y="48648"/>
                  </a:lnTo>
                  <a:lnTo>
                    <a:pt x="92338" y="48152"/>
                  </a:lnTo>
                  <a:close/>
                </a:path>
                <a:path w="257175" h="49529">
                  <a:moveTo>
                    <a:pt x="106932" y="47910"/>
                  </a:moveTo>
                  <a:lnTo>
                    <a:pt x="83492" y="47910"/>
                  </a:lnTo>
                  <a:lnTo>
                    <a:pt x="81886" y="48152"/>
                  </a:lnTo>
                  <a:lnTo>
                    <a:pt x="83799" y="48489"/>
                  </a:lnTo>
                  <a:lnTo>
                    <a:pt x="85613" y="48648"/>
                  </a:lnTo>
                  <a:lnTo>
                    <a:pt x="93602" y="48648"/>
                  </a:lnTo>
                  <a:lnTo>
                    <a:pt x="92147" y="48152"/>
                  </a:lnTo>
                  <a:lnTo>
                    <a:pt x="105579" y="48152"/>
                  </a:lnTo>
                  <a:lnTo>
                    <a:pt x="106932" y="47910"/>
                  </a:lnTo>
                  <a:close/>
                </a:path>
                <a:path w="257175" h="49529">
                  <a:moveTo>
                    <a:pt x="105579" y="48152"/>
                  </a:moveTo>
                  <a:lnTo>
                    <a:pt x="92338" y="48152"/>
                  </a:lnTo>
                  <a:lnTo>
                    <a:pt x="95333" y="48648"/>
                  </a:lnTo>
                  <a:lnTo>
                    <a:pt x="102799" y="48648"/>
                  </a:lnTo>
                  <a:lnTo>
                    <a:pt x="105579" y="48152"/>
                  </a:lnTo>
                  <a:close/>
                </a:path>
                <a:path w="257175" h="49529">
                  <a:moveTo>
                    <a:pt x="12327" y="2593"/>
                  </a:moveTo>
                  <a:lnTo>
                    <a:pt x="4837" y="6150"/>
                  </a:lnTo>
                  <a:lnTo>
                    <a:pt x="0" y="19735"/>
                  </a:lnTo>
                  <a:lnTo>
                    <a:pt x="3227" y="26611"/>
                  </a:lnTo>
                  <a:lnTo>
                    <a:pt x="3340" y="26852"/>
                  </a:lnTo>
                  <a:lnTo>
                    <a:pt x="3555" y="27205"/>
                  </a:lnTo>
                  <a:lnTo>
                    <a:pt x="23182" y="34335"/>
                  </a:lnTo>
                  <a:lnTo>
                    <a:pt x="35387" y="39218"/>
                  </a:lnTo>
                  <a:lnTo>
                    <a:pt x="49997" y="45275"/>
                  </a:lnTo>
                  <a:lnTo>
                    <a:pt x="51608" y="45824"/>
                  </a:lnTo>
                  <a:lnTo>
                    <a:pt x="61506" y="48489"/>
                  </a:lnTo>
                  <a:lnTo>
                    <a:pt x="79643" y="48489"/>
                  </a:lnTo>
                  <a:lnTo>
                    <a:pt x="81886" y="48152"/>
                  </a:lnTo>
                  <a:lnTo>
                    <a:pt x="80517" y="47910"/>
                  </a:lnTo>
                  <a:lnTo>
                    <a:pt x="106932" y="47910"/>
                  </a:lnTo>
                  <a:lnTo>
                    <a:pt x="126462" y="44372"/>
                  </a:lnTo>
                  <a:lnTo>
                    <a:pt x="127753" y="44056"/>
                  </a:lnTo>
                  <a:lnTo>
                    <a:pt x="139839" y="40311"/>
                  </a:lnTo>
                  <a:lnTo>
                    <a:pt x="150444" y="37631"/>
                  </a:lnTo>
                  <a:lnTo>
                    <a:pt x="162932" y="35196"/>
                  </a:lnTo>
                  <a:lnTo>
                    <a:pt x="177397" y="32169"/>
                  </a:lnTo>
                  <a:lnTo>
                    <a:pt x="177092" y="32169"/>
                  </a:lnTo>
                  <a:lnTo>
                    <a:pt x="188354" y="31188"/>
                  </a:lnTo>
                  <a:lnTo>
                    <a:pt x="190413" y="30787"/>
                  </a:lnTo>
                  <a:lnTo>
                    <a:pt x="195093" y="29347"/>
                  </a:lnTo>
                  <a:lnTo>
                    <a:pt x="198186" y="28618"/>
                  </a:lnTo>
                  <a:lnTo>
                    <a:pt x="82709" y="28618"/>
                  </a:lnTo>
                  <a:lnTo>
                    <a:pt x="80678" y="28096"/>
                  </a:lnTo>
                  <a:lnTo>
                    <a:pt x="81269" y="28096"/>
                  </a:lnTo>
                  <a:lnTo>
                    <a:pt x="77217" y="26611"/>
                  </a:lnTo>
                  <a:lnTo>
                    <a:pt x="69085" y="23478"/>
                  </a:lnTo>
                  <a:lnTo>
                    <a:pt x="67778" y="23051"/>
                  </a:lnTo>
                  <a:lnTo>
                    <a:pt x="60456" y="21080"/>
                  </a:lnTo>
                  <a:lnTo>
                    <a:pt x="60030" y="21080"/>
                  </a:lnTo>
                  <a:lnTo>
                    <a:pt x="58418" y="20532"/>
                  </a:lnTo>
                  <a:lnTo>
                    <a:pt x="58707" y="20532"/>
                  </a:lnTo>
                  <a:lnTo>
                    <a:pt x="45269" y="14960"/>
                  </a:lnTo>
                  <a:lnTo>
                    <a:pt x="32101" y="9700"/>
                  </a:lnTo>
                  <a:lnTo>
                    <a:pt x="12327" y="2593"/>
                  </a:lnTo>
                  <a:close/>
                </a:path>
                <a:path w="257175" h="49529">
                  <a:moveTo>
                    <a:pt x="83492" y="47910"/>
                  </a:moveTo>
                  <a:lnTo>
                    <a:pt x="80517" y="47910"/>
                  </a:lnTo>
                  <a:lnTo>
                    <a:pt x="81886" y="48152"/>
                  </a:lnTo>
                  <a:lnTo>
                    <a:pt x="83492" y="47910"/>
                  </a:lnTo>
                  <a:close/>
                </a:path>
                <a:path w="257175" h="49529">
                  <a:moveTo>
                    <a:pt x="80678" y="28096"/>
                  </a:moveTo>
                  <a:lnTo>
                    <a:pt x="82709" y="28618"/>
                  </a:lnTo>
                  <a:lnTo>
                    <a:pt x="84100" y="28618"/>
                  </a:lnTo>
                  <a:lnTo>
                    <a:pt x="80678" y="28096"/>
                  </a:lnTo>
                  <a:close/>
                </a:path>
                <a:path w="257175" h="49529">
                  <a:moveTo>
                    <a:pt x="81269" y="28096"/>
                  </a:moveTo>
                  <a:lnTo>
                    <a:pt x="80678" y="28096"/>
                  </a:lnTo>
                  <a:lnTo>
                    <a:pt x="84100" y="28618"/>
                  </a:lnTo>
                  <a:lnTo>
                    <a:pt x="82693" y="28618"/>
                  </a:lnTo>
                  <a:lnTo>
                    <a:pt x="81269" y="28096"/>
                  </a:lnTo>
                  <a:close/>
                </a:path>
                <a:path w="257175" h="49529">
                  <a:moveTo>
                    <a:pt x="93579" y="27795"/>
                  </a:moveTo>
                  <a:lnTo>
                    <a:pt x="85526" y="27795"/>
                  </a:lnTo>
                  <a:lnTo>
                    <a:pt x="83799" y="27946"/>
                  </a:lnTo>
                  <a:lnTo>
                    <a:pt x="79991" y="28618"/>
                  </a:lnTo>
                  <a:lnTo>
                    <a:pt x="198048" y="28618"/>
                  </a:lnTo>
                  <a:lnTo>
                    <a:pt x="201350" y="28096"/>
                  </a:lnTo>
                  <a:lnTo>
                    <a:pt x="92697" y="28096"/>
                  </a:lnTo>
                  <a:lnTo>
                    <a:pt x="93579" y="27795"/>
                  </a:lnTo>
                  <a:close/>
                </a:path>
                <a:path w="257175" h="49529">
                  <a:moveTo>
                    <a:pt x="97598" y="27205"/>
                  </a:moveTo>
                  <a:lnTo>
                    <a:pt x="97133" y="27205"/>
                  </a:lnTo>
                  <a:lnTo>
                    <a:pt x="93579" y="27795"/>
                  </a:lnTo>
                  <a:lnTo>
                    <a:pt x="92697" y="28096"/>
                  </a:lnTo>
                  <a:lnTo>
                    <a:pt x="93470" y="28096"/>
                  </a:lnTo>
                  <a:lnTo>
                    <a:pt x="95287" y="27795"/>
                  </a:lnTo>
                  <a:lnTo>
                    <a:pt x="203254" y="27795"/>
                  </a:lnTo>
                  <a:lnTo>
                    <a:pt x="205897" y="27377"/>
                  </a:lnTo>
                  <a:lnTo>
                    <a:pt x="96638" y="27377"/>
                  </a:lnTo>
                  <a:lnTo>
                    <a:pt x="97598" y="27205"/>
                  </a:lnTo>
                  <a:close/>
                </a:path>
                <a:path w="257175" h="49529">
                  <a:moveTo>
                    <a:pt x="203254" y="27795"/>
                  </a:moveTo>
                  <a:lnTo>
                    <a:pt x="95287" y="27795"/>
                  </a:lnTo>
                  <a:lnTo>
                    <a:pt x="93470" y="28096"/>
                  </a:lnTo>
                  <a:lnTo>
                    <a:pt x="201350" y="28096"/>
                  </a:lnTo>
                  <a:lnTo>
                    <a:pt x="203254" y="27795"/>
                  </a:lnTo>
                  <a:close/>
                </a:path>
                <a:path w="257175" h="49529">
                  <a:moveTo>
                    <a:pt x="249845" y="0"/>
                  </a:moveTo>
                  <a:lnTo>
                    <a:pt x="225401" y="3816"/>
                  </a:lnTo>
                  <a:lnTo>
                    <a:pt x="217558" y="5331"/>
                  </a:lnTo>
                  <a:lnTo>
                    <a:pt x="194876" y="8947"/>
                  </a:lnTo>
                  <a:lnTo>
                    <a:pt x="194001" y="9132"/>
                  </a:lnTo>
                  <a:lnTo>
                    <a:pt x="189691" y="10246"/>
                  </a:lnTo>
                  <a:lnTo>
                    <a:pt x="174344" y="14960"/>
                  </a:lnTo>
                  <a:lnTo>
                    <a:pt x="173786" y="15092"/>
                  </a:lnTo>
                  <a:lnTo>
                    <a:pt x="173381" y="15092"/>
                  </a:lnTo>
                  <a:lnTo>
                    <a:pt x="159671" y="17444"/>
                  </a:lnTo>
                  <a:lnTo>
                    <a:pt x="147242" y="19296"/>
                  </a:lnTo>
                  <a:lnTo>
                    <a:pt x="135572" y="21621"/>
                  </a:lnTo>
                  <a:lnTo>
                    <a:pt x="134834" y="21621"/>
                  </a:lnTo>
                  <a:lnTo>
                    <a:pt x="123573" y="22565"/>
                  </a:lnTo>
                  <a:lnTo>
                    <a:pt x="122523" y="22703"/>
                  </a:lnTo>
                  <a:lnTo>
                    <a:pt x="96638" y="27377"/>
                  </a:lnTo>
                  <a:lnTo>
                    <a:pt x="98573" y="27205"/>
                  </a:lnTo>
                  <a:lnTo>
                    <a:pt x="206981" y="27205"/>
                  </a:lnTo>
                  <a:lnTo>
                    <a:pt x="221006" y="25102"/>
                  </a:lnTo>
                  <a:lnTo>
                    <a:pt x="228623" y="23694"/>
                  </a:lnTo>
                  <a:lnTo>
                    <a:pt x="252855" y="20053"/>
                  </a:lnTo>
                  <a:lnTo>
                    <a:pt x="256521" y="15092"/>
                  </a:lnTo>
                  <a:lnTo>
                    <a:pt x="173786" y="15092"/>
                  </a:lnTo>
                  <a:lnTo>
                    <a:pt x="174220" y="14960"/>
                  </a:lnTo>
                  <a:lnTo>
                    <a:pt x="256619" y="14960"/>
                  </a:lnTo>
                  <a:lnTo>
                    <a:pt x="255973" y="10246"/>
                  </a:lnTo>
                  <a:lnTo>
                    <a:pt x="255008" y="3816"/>
                  </a:lnTo>
                  <a:lnTo>
                    <a:pt x="249845" y="0"/>
                  </a:lnTo>
                  <a:close/>
                </a:path>
                <a:path w="257175" h="49529">
                  <a:moveTo>
                    <a:pt x="206981" y="27205"/>
                  </a:moveTo>
                  <a:lnTo>
                    <a:pt x="98573" y="27205"/>
                  </a:lnTo>
                  <a:lnTo>
                    <a:pt x="96638" y="27377"/>
                  </a:lnTo>
                  <a:lnTo>
                    <a:pt x="205897" y="27377"/>
                  </a:lnTo>
                  <a:lnTo>
                    <a:pt x="206981" y="27205"/>
                  </a:lnTo>
                  <a:close/>
                </a:path>
                <a:path w="257175" h="49529">
                  <a:moveTo>
                    <a:pt x="58418" y="20532"/>
                  </a:moveTo>
                  <a:lnTo>
                    <a:pt x="60030" y="21080"/>
                  </a:lnTo>
                  <a:lnTo>
                    <a:pt x="59240" y="20753"/>
                  </a:lnTo>
                  <a:lnTo>
                    <a:pt x="58418" y="20532"/>
                  </a:lnTo>
                  <a:close/>
                </a:path>
                <a:path w="257175" h="49529">
                  <a:moveTo>
                    <a:pt x="59240" y="20753"/>
                  </a:moveTo>
                  <a:lnTo>
                    <a:pt x="60030" y="21080"/>
                  </a:lnTo>
                  <a:lnTo>
                    <a:pt x="60456" y="21080"/>
                  </a:lnTo>
                  <a:lnTo>
                    <a:pt x="59240" y="20753"/>
                  </a:lnTo>
                  <a:close/>
                </a:path>
                <a:path w="257175" h="49529">
                  <a:moveTo>
                    <a:pt x="58707" y="20532"/>
                  </a:moveTo>
                  <a:lnTo>
                    <a:pt x="58418" y="20532"/>
                  </a:lnTo>
                  <a:lnTo>
                    <a:pt x="59240" y="20753"/>
                  </a:lnTo>
                  <a:lnTo>
                    <a:pt x="58707" y="2053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17" name="object 17">
              <a:extLst>
                <a:ext uri="{FF2B5EF4-FFF2-40B4-BE49-F238E27FC236}">
                  <a16:creationId xmlns:a16="http://schemas.microsoft.com/office/drawing/2014/main" id="{8B1D10A4-C4C0-0B13-97EF-9E8FAD7F382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32287" y="5099017"/>
              <a:ext cx="127722" cy="144073"/>
            </a:xfrm>
            <a:prstGeom prst="rect">
              <a:avLst/>
            </a:prstGeom>
          </p:spPr>
        </p:pic>
        <p:pic>
          <p:nvPicPr>
            <p:cNvPr id="18" name="object 18">
              <a:extLst>
                <a:ext uri="{FF2B5EF4-FFF2-40B4-BE49-F238E27FC236}">
                  <a16:creationId xmlns:a16="http://schemas.microsoft.com/office/drawing/2014/main" id="{6E0C8B43-E7C3-425F-0AC3-739148E94D6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438754" y="5060190"/>
              <a:ext cx="272302" cy="154882"/>
            </a:xfrm>
            <a:prstGeom prst="rect">
              <a:avLst/>
            </a:prstGeom>
          </p:spPr>
        </p:pic>
        <p:pic>
          <p:nvPicPr>
            <p:cNvPr id="19" name="object 19">
              <a:extLst>
                <a:ext uri="{FF2B5EF4-FFF2-40B4-BE49-F238E27FC236}">
                  <a16:creationId xmlns:a16="http://schemas.microsoft.com/office/drawing/2014/main" id="{C59F9527-E679-547D-E297-17D68F8BADE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168765" y="4794299"/>
              <a:ext cx="744921" cy="595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63077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56061" y="279659"/>
            <a:ext cx="11140071" cy="913503"/>
          </a:xfrm>
          <a:prstGeom prst="rect">
            <a:avLst/>
          </a:prstGeom>
        </p:spPr>
        <p:txBody>
          <a:bodyPr vert="horz" wrap="square" lIns="0" tIns="63483" rIns="0" bIns="0" rtlCol="0">
            <a:spAutoFit/>
          </a:bodyPr>
          <a:lstStyle/>
          <a:p>
            <a:pPr marL="12696" marR="5078" algn="l">
              <a:lnSpc>
                <a:spcPts val="3499"/>
              </a:lnSpc>
              <a:spcBef>
                <a:spcPts val="500"/>
              </a:spcBef>
            </a:pPr>
            <a:r>
              <a:rPr sz="4400" dirty="0">
                <a:solidFill>
                  <a:srgbClr val="DC4400"/>
                </a:solidFill>
                <a:latin typeface="Impact"/>
                <a:cs typeface="+mj-cs"/>
              </a:rPr>
              <a:t>Challenges: Exponentially Increasing </a:t>
            </a:r>
            <a:br>
              <a:rPr lang="en-US" sz="4400" dirty="0">
                <a:solidFill>
                  <a:srgbClr val="DC4400"/>
                </a:solidFill>
                <a:latin typeface="Impact"/>
                <a:cs typeface="+mj-cs"/>
              </a:rPr>
            </a:br>
            <a:r>
              <a:rPr lang="en-US" sz="2400" dirty="0">
                <a:solidFill>
                  <a:schemeClr val="tx1"/>
                </a:solidFill>
                <a:latin typeface="Impact"/>
              </a:rPr>
              <a:t>- </a:t>
            </a:r>
            <a:r>
              <a:rPr sz="2400" dirty="0">
                <a:solidFill>
                  <a:schemeClr val="tx1"/>
                </a:solidFill>
                <a:latin typeface="Impact"/>
              </a:rPr>
              <a:t>Computational Costs for Transformer Models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26135" y="1778348"/>
            <a:ext cx="8913078" cy="477395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550358" y="2709352"/>
            <a:ext cx="3157667" cy="759897"/>
          </a:xfrm>
          <a:prstGeom prst="rect">
            <a:avLst/>
          </a:prstGeom>
        </p:spPr>
        <p:txBody>
          <a:bodyPr vert="horz" wrap="square" lIns="0" tIns="9523" rIns="0" bIns="0" rtlCol="0">
            <a:spAutoFit/>
          </a:bodyPr>
          <a:lstStyle/>
          <a:p>
            <a:pPr marL="12696" marR="5078">
              <a:lnSpc>
                <a:spcPct val="100800"/>
              </a:lnSpc>
              <a:spcBef>
                <a:spcPts val="75"/>
              </a:spcBef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We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have</a:t>
            </a:r>
            <a:r>
              <a:rPr sz="23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seen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similar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trend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in</a:t>
            </a:r>
            <a:r>
              <a:rPr sz="2399" b="1" spc="-4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CNNs</a:t>
            </a:r>
            <a:r>
              <a:rPr sz="2399" b="1" spc="-3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before.</a:t>
            </a:r>
            <a:endParaRPr sz="2399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8551-55FD-0993-3850-01DA1DB4B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2C74A04-F5CB-6304-9EB0-6688B896BA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3026" y="576037"/>
            <a:ext cx="9527594" cy="48731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lnSpc>
                <a:spcPts val="3659"/>
              </a:lnSpc>
              <a:spcBef>
                <a:spcPts val="100"/>
              </a:spcBef>
            </a:pPr>
            <a:r>
              <a:rPr dirty="0"/>
              <a:t>Understand</a:t>
            </a:r>
            <a:r>
              <a:rPr spc="-50" dirty="0"/>
              <a:t> </a:t>
            </a:r>
            <a:r>
              <a:rPr lang="en-US" dirty="0"/>
              <a:t>ML</a:t>
            </a:r>
            <a:r>
              <a:rPr spc="-215" dirty="0"/>
              <a:t> </a:t>
            </a:r>
            <a:r>
              <a:rPr spc="-10" dirty="0"/>
              <a:t>Applications: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D98A4A7-29E2-D1FC-8A1E-99D779D9C7CD}"/>
              </a:ext>
            </a:extLst>
          </p:cNvPr>
          <p:cNvSpPr txBox="1"/>
          <p:nvPr/>
        </p:nvSpPr>
        <p:spPr>
          <a:xfrm>
            <a:off x="2938137" y="3679379"/>
            <a:ext cx="5763029" cy="21899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Convolutional Neural Networks</a:t>
            </a:r>
          </a:p>
          <a:p>
            <a:pPr marL="469124" indent="-456428">
              <a:lnSpc>
                <a:spcPts val="3324"/>
              </a:lnSpc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Recurrent Neural Networks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Transformers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Graph Neural Networks</a:t>
            </a:r>
          </a:p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Mixture-of-Experts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8E84AF-5DEE-4783-5081-333A7957D3B5}"/>
              </a:ext>
            </a:extLst>
          </p:cNvPr>
          <p:cNvSpPr txBox="1"/>
          <p:nvPr/>
        </p:nvSpPr>
        <p:spPr>
          <a:xfrm>
            <a:off x="1830789" y="2752556"/>
            <a:ext cx="8189859" cy="523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696">
              <a:spcBef>
                <a:spcPts val="100"/>
              </a:spcBef>
              <a:tabLst>
                <a:tab pos="469124" algn="l"/>
              </a:tabLst>
            </a:pPr>
            <a:r>
              <a:rPr lang="en-US" sz="2799" b="1" dirty="0">
                <a:latin typeface="Arial"/>
                <a:cs typeface="Arial"/>
              </a:rPr>
              <a:t>An Overview of Deep Learning Models</a:t>
            </a:r>
          </a:p>
        </p:txBody>
      </p:sp>
    </p:spTree>
    <p:extLst>
      <p:ext uri="{BB962C8B-B14F-4D97-AF65-F5344CB8AC3E}">
        <p14:creationId xmlns:p14="http://schemas.microsoft.com/office/powerpoint/2010/main" val="8174907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 flipH="1">
            <a:off x="313265" y="102961"/>
            <a:ext cx="12733867" cy="726676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12696" algn="l">
              <a:lnSpc>
                <a:spcPts val="3659"/>
              </a:lnSpc>
              <a:spcBef>
                <a:spcPts val="100"/>
              </a:spcBef>
            </a:pPr>
            <a:r>
              <a:rPr sz="4400" dirty="0">
                <a:solidFill>
                  <a:srgbClr val="DC4400"/>
                </a:solidFill>
                <a:latin typeface="Impact"/>
              </a:rPr>
              <a:t>Graph Neural Networks: The Hottest Subfield in ML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61192" y="1399421"/>
            <a:ext cx="5709200" cy="536408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356" y="169936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GNNs:</a:t>
            </a:r>
            <a:r>
              <a:rPr spc="-50" dirty="0"/>
              <a:t> </a:t>
            </a:r>
            <a:r>
              <a:rPr dirty="0"/>
              <a:t>Neural</a:t>
            </a:r>
            <a:r>
              <a:rPr spc="-40" dirty="0"/>
              <a:t> </a:t>
            </a:r>
            <a:r>
              <a:rPr dirty="0"/>
              <a:t>Networks</a:t>
            </a:r>
            <a:r>
              <a:rPr spc="-50" dirty="0"/>
              <a:t> </a:t>
            </a:r>
            <a:r>
              <a:rPr dirty="0"/>
              <a:t>on</a:t>
            </a:r>
            <a:r>
              <a:rPr spc="-50" dirty="0"/>
              <a:t> </a:t>
            </a:r>
            <a:r>
              <a:rPr dirty="0"/>
              <a:t>Relational</a:t>
            </a:r>
            <a:r>
              <a:rPr spc="-45" dirty="0"/>
              <a:t> </a:t>
            </a:r>
            <a:r>
              <a:rPr spc="-20" dirty="0"/>
              <a:t>Data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2597" y="3003366"/>
            <a:ext cx="2830946" cy="137963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25708" y="2744981"/>
            <a:ext cx="3026532" cy="153936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637058" y="1583994"/>
            <a:ext cx="5214532" cy="5104070"/>
            <a:chOff x="3638006" y="1583513"/>
            <a:chExt cx="5215890" cy="5105400"/>
          </a:xfrm>
        </p:grpSpPr>
        <p:sp>
          <p:nvSpPr>
            <p:cNvPr id="6" name="object 6"/>
            <p:cNvSpPr/>
            <p:nvPr/>
          </p:nvSpPr>
          <p:spPr>
            <a:xfrm>
              <a:off x="6057900" y="1583513"/>
              <a:ext cx="76200" cy="5105400"/>
            </a:xfrm>
            <a:custGeom>
              <a:avLst/>
              <a:gdLst/>
              <a:ahLst/>
              <a:cxnLst/>
              <a:rect l="l" t="t" r="r" b="b"/>
              <a:pathLst>
                <a:path w="76200" h="5105400">
                  <a:moveTo>
                    <a:pt x="38100" y="0"/>
                  </a:moveTo>
                  <a:lnTo>
                    <a:pt x="23269" y="2994"/>
                  </a:lnTo>
                  <a:lnTo>
                    <a:pt x="11159" y="11159"/>
                  </a:lnTo>
                  <a:lnTo>
                    <a:pt x="2994" y="23269"/>
                  </a:lnTo>
                  <a:lnTo>
                    <a:pt x="0" y="38100"/>
                  </a:lnTo>
                  <a:lnTo>
                    <a:pt x="0" y="266700"/>
                  </a:lnTo>
                  <a:lnTo>
                    <a:pt x="2994" y="281529"/>
                  </a:lnTo>
                  <a:lnTo>
                    <a:pt x="11159" y="293640"/>
                  </a:lnTo>
                  <a:lnTo>
                    <a:pt x="23269" y="301805"/>
                  </a:lnTo>
                  <a:lnTo>
                    <a:pt x="38100" y="304800"/>
                  </a:lnTo>
                  <a:lnTo>
                    <a:pt x="52929" y="301805"/>
                  </a:lnTo>
                  <a:lnTo>
                    <a:pt x="65040" y="293640"/>
                  </a:lnTo>
                  <a:lnTo>
                    <a:pt x="73205" y="281529"/>
                  </a:lnTo>
                  <a:lnTo>
                    <a:pt x="76200" y="266700"/>
                  </a:lnTo>
                  <a:lnTo>
                    <a:pt x="76200" y="38100"/>
                  </a:lnTo>
                  <a:lnTo>
                    <a:pt x="73205" y="23269"/>
                  </a:lnTo>
                  <a:lnTo>
                    <a:pt x="65040" y="11159"/>
                  </a:lnTo>
                  <a:lnTo>
                    <a:pt x="52929" y="2994"/>
                  </a:lnTo>
                  <a:lnTo>
                    <a:pt x="38100" y="0"/>
                  </a:lnTo>
                  <a:close/>
                </a:path>
                <a:path w="76200" h="5105400">
                  <a:moveTo>
                    <a:pt x="38100" y="533400"/>
                  </a:moveTo>
                  <a:lnTo>
                    <a:pt x="23269" y="536394"/>
                  </a:lnTo>
                  <a:lnTo>
                    <a:pt x="11159" y="544559"/>
                  </a:lnTo>
                  <a:lnTo>
                    <a:pt x="2994" y="556669"/>
                  </a:lnTo>
                  <a:lnTo>
                    <a:pt x="0" y="571500"/>
                  </a:lnTo>
                  <a:lnTo>
                    <a:pt x="0" y="800100"/>
                  </a:lnTo>
                  <a:lnTo>
                    <a:pt x="2994" y="814929"/>
                  </a:lnTo>
                  <a:lnTo>
                    <a:pt x="11159" y="827040"/>
                  </a:lnTo>
                  <a:lnTo>
                    <a:pt x="23269" y="835205"/>
                  </a:lnTo>
                  <a:lnTo>
                    <a:pt x="38100" y="838200"/>
                  </a:lnTo>
                  <a:lnTo>
                    <a:pt x="52930" y="835205"/>
                  </a:lnTo>
                  <a:lnTo>
                    <a:pt x="65040" y="827040"/>
                  </a:lnTo>
                  <a:lnTo>
                    <a:pt x="73205" y="814929"/>
                  </a:lnTo>
                  <a:lnTo>
                    <a:pt x="76200" y="800100"/>
                  </a:lnTo>
                  <a:lnTo>
                    <a:pt x="76200" y="571500"/>
                  </a:lnTo>
                  <a:lnTo>
                    <a:pt x="73205" y="556669"/>
                  </a:lnTo>
                  <a:lnTo>
                    <a:pt x="65040" y="544559"/>
                  </a:lnTo>
                  <a:lnTo>
                    <a:pt x="52930" y="536394"/>
                  </a:lnTo>
                  <a:lnTo>
                    <a:pt x="38100" y="533400"/>
                  </a:lnTo>
                  <a:close/>
                </a:path>
                <a:path w="76200" h="5105400">
                  <a:moveTo>
                    <a:pt x="38100" y="1066800"/>
                  </a:moveTo>
                  <a:lnTo>
                    <a:pt x="23270" y="1069794"/>
                  </a:lnTo>
                  <a:lnTo>
                    <a:pt x="11159" y="1077959"/>
                  </a:lnTo>
                  <a:lnTo>
                    <a:pt x="2994" y="1090069"/>
                  </a:lnTo>
                  <a:lnTo>
                    <a:pt x="0" y="1104900"/>
                  </a:lnTo>
                  <a:lnTo>
                    <a:pt x="0" y="1333500"/>
                  </a:lnTo>
                  <a:lnTo>
                    <a:pt x="2994" y="1348329"/>
                  </a:lnTo>
                  <a:lnTo>
                    <a:pt x="11159" y="1360440"/>
                  </a:lnTo>
                  <a:lnTo>
                    <a:pt x="23270" y="1368605"/>
                  </a:lnTo>
                  <a:lnTo>
                    <a:pt x="38100" y="1371600"/>
                  </a:lnTo>
                  <a:lnTo>
                    <a:pt x="52930" y="1368605"/>
                  </a:lnTo>
                  <a:lnTo>
                    <a:pt x="65040" y="1360440"/>
                  </a:lnTo>
                  <a:lnTo>
                    <a:pt x="73205" y="1348329"/>
                  </a:lnTo>
                  <a:lnTo>
                    <a:pt x="76200" y="1333500"/>
                  </a:lnTo>
                  <a:lnTo>
                    <a:pt x="76200" y="1104900"/>
                  </a:lnTo>
                  <a:lnTo>
                    <a:pt x="73205" y="1090069"/>
                  </a:lnTo>
                  <a:lnTo>
                    <a:pt x="65040" y="1077959"/>
                  </a:lnTo>
                  <a:lnTo>
                    <a:pt x="52930" y="1069794"/>
                  </a:lnTo>
                  <a:lnTo>
                    <a:pt x="38100" y="1066800"/>
                  </a:lnTo>
                  <a:close/>
                </a:path>
                <a:path w="76200" h="5105400">
                  <a:moveTo>
                    <a:pt x="38100" y="1600200"/>
                  </a:moveTo>
                  <a:lnTo>
                    <a:pt x="23270" y="1603194"/>
                  </a:lnTo>
                  <a:lnTo>
                    <a:pt x="11159" y="1611359"/>
                  </a:lnTo>
                  <a:lnTo>
                    <a:pt x="2994" y="1623469"/>
                  </a:lnTo>
                  <a:lnTo>
                    <a:pt x="0" y="1638300"/>
                  </a:lnTo>
                  <a:lnTo>
                    <a:pt x="0" y="1866900"/>
                  </a:lnTo>
                  <a:lnTo>
                    <a:pt x="2994" y="1881729"/>
                  </a:lnTo>
                  <a:lnTo>
                    <a:pt x="11159" y="1893840"/>
                  </a:lnTo>
                  <a:lnTo>
                    <a:pt x="23270" y="1902005"/>
                  </a:lnTo>
                  <a:lnTo>
                    <a:pt x="38100" y="1905000"/>
                  </a:lnTo>
                  <a:lnTo>
                    <a:pt x="52930" y="1902005"/>
                  </a:lnTo>
                  <a:lnTo>
                    <a:pt x="65040" y="1893840"/>
                  </a:lnTo>
                  <a:lnTo>
                    <a:pt x="73205" y="1881729"/>
                  </a:lnTo>
                  <a:lnTo>
                    <a:pt x="76200" y="1866900"/>
                  </a:lnTo>
                  <a:lnTo>
                    <a:pt x="76200" y="1638300"/>
                  </a:lnTo>
                  <a:lnTo>
                    <a:pt x="73205" y="1623469"/>
                  </a:lnTo>
                  <a:lnTo>
                    <a:pt x="65040" y="1611359"/>
                  </a:lnTo>
                  <a:lnTo>
                    <a:pt x="52930" y="1603194"/>
                  </a:lnTo>
                  <a:lnTo>
                    <a:pt x="38100" y="1600200"/>
                  </a:lnTo>
                  <a:close/>
                </a:path>
                <a:path w="76200" h="5105400">
                  <a:moveTo>
                    <a:pt x="38100" y="2133600"/>
                  </a:moveTo>
                  <a:lnTo>
                    <a:pt x="23270" y="2136594"/>
                  </a:lnTo>
                  <a:lnTo>
                    <a:pt x="11159" y="2144759"/>
                  </a:lnTo>
                  <a:lnTo>
                    <a:pt x="2994" y="2156869"/>
                  </a:lnTo>
                  <a:lnTo>
                    <a:pt x="0" y="2171700"/>
                  </a:lnTo>
                  <a:lnTo>
                    <a:pt x="0" y="2400300"/>
                  </a:lnTo>
                  <a:lnTo>
                    <a:pt x="2994" y="2415129"/>
                  </a:lnTo>
                  <a:lnTo>
                    <a:pt x="11159" y="2427240"/>
                  </a:lnTo>
                  <a:lnTo>
                    <a:pt x="23270" y="2435405"/>
                  </a:lnTo>
                  <a:lnTo>
                    <a:pt x="38100" y="2438400"/>
                  </a:lnTo>
                  <a:lnTo>
                    <a:pt x="52930" y="2435405"/>
                  </a:lnTo>
                  <a:lnTo>
                    <a:pt x="65040" y="2427240"/>
                  </a:lnTo>
                  <a:lnTo>
                    <a:pt x="73205" y="2415129"/>
                  </a:lnTo>
                  <a:lnTo>
                    <a:pt x="76200" y="2400300"/>
                  </a:lnTo>
                  <a:lnTo>
                    <a:pt x="76200" y="2171700"/>
                  </a:lnTo>
                  <a:lnTo>
                    <a:pt x="73205" y="2156869"/>
                  </a:lnTo>
                  <a:lnTo>
                    <a:pt x="65040" y="2144759"/>
                  </a:lnTo>
                  <a:lnTo>
                    <a:pt x="52930" y="2136594"/>
                  </a:lnTo>
                  <a:lnTo>
                    <a:pt x="38100" y="2133600"/>
                  </a:lnTo>
                  <a:close/>
                </a:path>
                <a:path w="76200" h="5105400">
                  <a:moveTo>
                    <a:pt x="38100" y="2667000"/>
                  </a:moveTo>
                  <a:lnTo>
                    <a:pt x="23270" y="2669994"/>
                  </a:lnTo>
                  <a:lnTo>
                    <a:pt x="11159" y="2678159"/>
                  </a:lnTo>
                  <a:lnTo>
                    <a:pt x="2994" y="2690269"/>
                  </a:lnTo>
                  <a:lnTo>
                    <a:pt x="0" y="2705100"/>
                  </a:lnTo>
                  <a:lnTo>
                    <a:pt x="0" y="2933700"/>
                  </a:lnTo>
                  <a:lnTo>
                    <a:pt x="2994" y="2948529"/>
                  </a:lnTo>
                  <a:lnTo>
                    <a:pt x="11159" y="2960640"/>
                  </a:lnTo>
                  <a:lnTo>
                    <a:pt x="23270" y="2968805"/>
                  </a:lnTo>
                  <a:lnTo>
                    <a:pt x="38100" y="2971800"/>
                  </a:lnTo>
                  <a:lnTo>
                    <a:pt x="52930" y="2968805"/>
                  </a:lnTo>
                  <a:lnTo>
                    <a:pt x="65040" y="2960640"/>
                  </a:lnTo>
                  <a:lnTo>
                    <a:pt x="73205" y="2948529"/>
                  </a:lnTo>
                  <a:lnTo>
                    <a:pt x="76200" y="2933700"/>
                  </a:lnTo>
                  <a:lnTo>
                    <a:pt x="76200" y="2705100"/>
                  </a:lnTo>
                  <a:lnTo>
                    <a:pt x="73205" y="2690269"/>
                  </a:lnTo>
                  <a:lnTo>
                    <a:pt x="65040" y="2678159"/>
                  </a:lnTo>
                  <a:lnTo>
                    <a:pt x="52930" y="2669994"/>
                  </a:lnTo>
                  <a:lnTo>
                    <a:pt x="38100" y="2667000"/>
                  </a:lnTo>
                  <a:close/>
                </a:path>
                <a:path w="76200" h="5105400">
                  <a:moveTo>
                    <a:pt x="38100" y="3200400"/>
                  </a:moveTo>
                  <a:lnTo>
                    <a:pt x="23270" y="3203394"/>
                  </a:lnTo>
                  <a:lnTo>
                    <a:pt x="11159" y="3211559"/>
                  </a:lnTo>
                  <a:lnTo>
                    <a:pt x="2994" y="3223669"/>
                  </a:lnTo>
                  <a:lnTo>
                    <a:pt x="0" y="3238500"/>
                  </a:lnTo>
                  <a:lnTo>
                    <a:pt x="0" y="3467100"/>
                  </a:lnTo>
                  <a:lnTo>
                    <a:pt x="2994" y="3481929"/>
                  </a:lnTo>
                  <a:lnTo>
                    <a:pt x="11159" y="3494040"/>
                  </a:lnTo>
                  <a:lnTo>
                    <a:pt x="23270" y="3502205"/>
                  </a:lnTo>
                  <a:lnTo>
                    <a:pt x="38100" y="3505200"/>
                  </a:lnTo>
                  <a:lnTo>
                    <a:pt x="52930" y="3502205"/>
                  </a:lnTo>
                  <a:lnTo>
                    <a:pt x="65040" y="3494040"/>
                  </a:lnTo>
                  <a:lnTo>
                    <a:pt x="73205" y="3481929"/>
                  </a:lnTo>
                  <a:lnTo>
                    <a:pt x="76200" y="3467100"/>
                  </a:lnTo>
                  <a:lnTo>
                    <a:pt x="76200" y="3238500"/>
                  </a:lnTo>
                  <a:lnTo>
                    <a:pt x="73205" y="3223669"/>
                  </a:lnTo>
                  <a:lnTo>
                    <a:pt x="65040" y="3211559"/>
                  </a:lnTo>
                  <a:lnTo>
                    <a:pt x="52930" y="3203394"/>
                  </a:lnTo>
                  <a:lnTo>
                    <a:pt x="38100" y="3200400"/>
                  </a:lnTo>
                  <a:close/>
                </a:path>
                <a:path w="76200" h="5105400">
                  <a:moveTo>
                    <a:pt x="38100" y="3733800"/>
                  </a:moveTo>
                  <a:lnTo>
                    <a:pt x="23270" y="3736794"/>
                  </a:lnTo>
                  <a:lnTo>
                    <a:pt x="11159" y="3744959"/>
                  </a:lnTo>
                  <a:lnTo>
                    <a:pt x="2994" y="3757069"/>
                  </a:lnTo>
                  <a:lnTo>
                    <a:pt x="0" y="3771900"/>
                  </a:lnTo>
                  <a:lnTo>
                    <a:pt x="0" y="4000500"/>
                  </a:lnTo>
                  <a:lnTo>
                    <a:pt x="2994" y="4015329"/>
                  </a:lnTo>
                  <a:lnTo>
                    <a:pt x="11159" y="4027440"/>
                  </a:lnTo>
                  <a:lnTo>
                    <a:pt x="23270" y="4035605"/>
                  </a:lnTo>
                  <a:lnTo>
                    <a:pt x="38101" y="4038599"/>
                  </a:lnTo>
                  <a:lnTo>
                    <a:pt x="52931" y="4035605"/>
                  </a:lnTo>
                  <a:lnTo>
                    <a:pt x="65041" y="4027440"/>
                  </a:lnTo>
                  <a:lnTo>
                    <a:pt x="73206" y="4015329"/>
                  </a:lnTo>
                  <a:lnTo>
                    <a:pt x="76200" y="4000500"/>
                  </a:lnTo>
                  <a:lnTo>
                    <a:pt x="76200" y="3771900"/>
                  </a:lnTo>
                  <a:lnTo>
                    <a:pt x="73205" y="3757069"/>
                  </a:lnTo>
                  <a:lnTo>
                    <a:pt x="65040" y="3744959"/>
                  </a:lnTo>
                  <a:lnTo>
                    <a:pt x="52930" y="3736794"/>
                  </a:lnTo>
                  <a:lnTo>
                    <a:pt x="38100" y="3733800"/>
                  </a:lnTo>
                  <a:close/>
                </a:path>
                <a:path w="76200" h="5105400">
                  <a:moveTo>
                    <a:pt x="38101" y="4267199"/>
                  </a:moveTo>
                  <a:lnTo>
                    <a:pt x="23270" y="4270193"/>
                  </a:lnTo>
                  <a:lnTo>
                    <a:pt x="11160" y="4278358"/>
                  </a:lnTo>
                  <a:lnTo>
                    <a:pt x="2995" y="4290469"/>
                  </a:lnTo>
                  <a:lnTo>
                    <a:pt x="1" y="4305299"/>
                  </a:lnTo>
                  <a:lnTo>
                    <a:pt x="1" y="4533899"/>
                  </a:lnTo>
                  <a:lnTo>
                    <a:pt x="2995" y="4548729"/>
                  </a:lnTo>
                  <a:lnTo>
                    <a:pt x="11160" y="4560840"/>
                  </a:lnTo>
                  <a:lnTo>
                    <a:pt x="23270" y="4569005"/>
                  </a:lnTo>
                  <a:lnTo>
                    <a:pt x="38101" y="4571999"/>
                  </a:lnTo>
                  <a:lnTo>
                    <a:pt x="52931" y="4569005"/>
                  </a:lnTo>
                  <a:lnTo>
                    <a:pt x="65041" y="4560840"/>
                  </a:lnTo>
                  <a:lnTo>
                    <a:pt x="73207" y="4548729"/>
                  </a:lnTo>
                  <a:lnTo>
                    <a:pt x="76201" y="4533899"/>
                  </a:lnTo>
                  <a:lnTo>
                    <a:pt x="76201" y="4305299"/>
                  </a:lnTo>
                  <a:lnTo>
                    <a:pt x="73207" y="4290469"/>
                  </a:lnTo>
                  <a:lnTo>
                    <a:pt x="65041" y="4278358"/>
                  </a:lnTo>
                  <a:lnTo>
                    <a:pt x="52931" y="4270193"/>
                  </a:lnTo>
                  <a:lnTo>
                    <a:pt x="38101" y="4267199"/>
                  </a:lnTo>
                  <a:close/>
                </a:path>
                <a:path w="76200" h="5105400">
                  <a:moveTo>
                    <a:pt x="38101" y="4800599"/>
                  </a:moveTo>
                  <a:lnTo>
                    <a:pt x="23270" y="4803593"/>
                  </a:lnTo>
                  <a:lnTo>
                    <a:pt x="11160" y="4811758"/>
                  </a:lnTo>
                  <a:lnTo>
                    <a:pt x="2995" y="4823869"/>
                  </a:lnTo>
                  <a:lnTo>
                    <a:pt x="1" y="4838699"/>
                  </a:lnTo>
                  <a:lnTo>
                    <a:pt x="1" y="5067299"/>
                  </a:lnTo>
                  <a:lnTo>
                    <a:pt x="2995" y="5082129"/>
                  </a:lnTo>
                  <a:lnTo>
                    <a:pt x="11160" y="5094240"/>
                  </a:lnTo>
                  <a:lnTo>
                    <a:pt x="23270" y="5102405"/>
                  </a:lnTo>
                  <a:lnTo>
                    <a:pt x="38101" y="5105399"/>
                  </a:lnTo>
                  <a:lnTo>
                    <a:pt x="52931" y="5102405"/>
                  </a:lnTo>
                  <a:lnTo>
                    <a:pt x="65041" y="5094240"/>
                  </a:lnTo>
                  <a:lnTo>
                    <a:pt x="73207" y="5082129"/>
                  </a:lnTo>
                  <a:lnTo>
                    <a:pt x="76201" y="5067299"/>
                  </a:lnTo>
                  <a:lnTo>
                    <a:pt x="76201" y="4838699"/>
                  </a:lnTo>
                  <a:lnTo>
                    <a:pt x="73207" y="4823869"/>
                  </a:lnTo>
                  <a:lnTo>
                    <a:pt x="65041" y="4811758"/>
                  </a:lnTo>
                  <a:lnTo>
                    <a:pt x="52931" y="4803593"/>
                  </a:lnTo>
                  <a:lnTo>
                    <a:pt x="38101" y="4800599"/>
                  </a:lnTo>
                  <a:close/>
                </a:path>
              </a:pathLst>
            </a:custGeom>
            <a:solidFill>
              <a:srgbClr val="FBE5D6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7" name="object 7"/>
            <p:cNvSpPr/>
            <p:nvPr/>
          </p:nvSpPr>
          <p:spPr>
            <a:xfrm>
              <a:off x="5196794" y="2883372"/>
              <a:ext cx="2065020" cy="1241425"/>
            </a:xfrm>
            <a:custGeom>
              <a:avLst/>
              <a:gdLst/>
              <a:ahLst/>
              <a:cxnLst/>
              <a:rect l="l" t="t" r="r" b="b"/>
              <a:pathLst>
                <a:path w="2065020" h="1241425">
                  <a:moveTo>
                    <a:pt x="1444071" y="0"/>
                  </a:moveTo>
                  <a:lnTo>
                    <a:pt x="1444071" y="310250"/>
                  </a:lnTo>
                  <a:lnTo>
                    <a:pt x="0" y="310250"/>
                  </a:lnTo>
                  <a:lnTo>
                    <a:pt x="0" y="930752"/>
                  </a:lnTo>
                  <a:lnTo>
                    <a:pt x="1444071" y="930752"/>
                  </a:lnTo>
                  <a:lnTo>
                    <a:pt x="1444071" y="1241002"/>
                  </a:lnTo>
                  <a:lnTo>
                    <a:pt x="2064571" y="620501"/>
                  </a:lnTo>
                  <a:lnTo>
                    <a:pt x="1444071" y="0"/>
                  </a:lnTo>
                  <a:close/>
                </a:path>
              </a:pathLst>
            </a:custGeom>
            <a:solidFill>
              <a:srgbClr val="F4B183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638006" y="5120078"/>
              <a:ext cx="1993489" cy="11062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91217" y="4850439"/>
              <a:ext cx="2362064" cy="1558962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3307" y="5002298"/>
            <a:ext cx="3171429" cy="130610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002360" y="1981068"/>
            <a:ext cx="2430782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399" b="1" spc="-7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399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22323" y="1959738"/>
            <a:ext cx="3410965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Graph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3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399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128442" y="4947671"/>
            <a:ext cx="2427334" cy="136335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618532" y="2207070"/>
            <a:ext cx="3781710" cy="3909947"/>
            <a:chOff x="6620256" y="2206751"/>
            <a:chExt cx="3782695" cy="39109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20256" y="2206751"/>
              <a:ext cx="3782567" cy="391058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626358" y="2213701"/>
              <a:ext cx="3627120" cy="3755390"/>
            </a:xfrm>
            <a:custGeom>
              <a:avLst/>
              <a:gdLst/>
              <a:ahLst/>
              <a:cxnLst/>
              <a:rect l="l" t="t" r="r" b="b"/>
              <a:pathLst>
                <a:path w="3627120" h="3755390">
                  <a:moveTo>
                    <a:pt x="3626559" y="0"/>
                  </a:moveTo>
                  <a:lnTo>
                    <a:pt x="0" y="0"/>
                  </a:lnTo>
                  <a:lnTo>
                    <a:pt x="0" y="3754800"/>
                  </a:lnTo>
                  <a:lnTo>
                    <a:pt x="3626559" y="3754800"/>
                  </a:lnTo>
                  <a:lnTo>
                    <a:pt x="362655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50016" y="3316645"/>
              <a:ext cx="2618987" cy="1476998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7670714" y="6018616"/>
            <a:ext cx="17013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latin typeface="Arial MT"/>
                <a:cs typeface="Arial MT"/>
              </a:rPr>
              <a:t>DNN</a:t>
            </a:r>
            <a:r>
              <a:rPr sz="1799" spc="-4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Operations</a:t>
            </a:r>
            <a:endParaRPr sz="1799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813087" y="2207070"/>
            <a:ext cx="4631754" cy="3928356"/>
            <a:chOff x="1813560" y="2206751"/>
            <a:chExt cx="4632960" cy="3929379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13560" y="2206751"/>
              <a:ext cx="3904488" cy="392887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19968" y="2213701"/>
              <a:ext cx="3749040" cy="3771900"/>
            </a:xfrm>
            <a:custGeom>
              <a:avLst/>
              <a:gdLst/>
              <a:ahLst/>
              <a:cxnLst/>
              <a:rect l="l" t="t" r="r" b="b"/>
              <a:pathLst>
                <a:path w="3749040" h="3771900">
                  <a:moveTo>
                    <a:pt x="3748420" y="0"/>
                  </a:moveTo>
                  <a:lnTo>
                    <a:pt x="0" y="0"/>
                  </a:lnTo>
                  <a:lnTo>
                    <a:pt x="0" y="3771669"/>
                  </a:lnTo>
                  <a:lnTo>
                    <a:pt x="3748420" y="3771669"/>
                  </a:lnTo>
                  <a:lnTo>
                    <a:pt x="374842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0" name="object 10"/>
            <p:cNvSpPr/>
            <p:nvPr/>
          </p:nvSpPr>
          <p:spPr>
            <a:xfrm>
              <a:off x="4425969" y="3767336"/>
              <a:ext cx="2020570" cy="688975"/>
            </a:xfrm>
            <a:custGeom>
              <a:avLst/>
              <a:gdLst/>
              <a:ahLst/>
              <a:cxnLst/>
              <a:rect l="l" t="t" r="r" b="b"/>
              <a:pathLst>
                <a:path w="2020570" h="688975">
                  <a:moveTo>
                    <a:pt x="2020355" y="0"/>
                  </a:moveTo>
                  <a:lnTo>
                    <a:pt x="0" y="0"/>
                  </a:lnTo>
                  <a:lnTo>
                    <a:pt x="0" y="688977"/>
                  </a:lnTo>
                  <a:lnTo>
                    <a:pt x="2020355" y="688977"/>
                  </a:lnTo>
                  <a:lnTo>
                    <a:pt x="202035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737236" y="3796188"/>
            <a:ext cx="1394097" cy="330114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999" spc="-10" dirty="0">
                <a:solidFill>
                  <a:srgbClr val="FFFFFF"/>
                </a:solidFill>
                <a:latin typeface="Arial MT"/>
                <a:cs typeface="Arial MT"/>
              </a:rPr>
              <a:t>Aggregation</a:t>
            </a:r>
            <a:endParaRPr sz="1999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4052" y="4114114"/>
            <a:ext cx="1701357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dirty="0">
                <a:solidFill>
                  <a:srgbClr val="FFFFFF"/>
                </a:solidFill>
                <a:latin typeface="Arial MT"/>
                <a:cs typeface="Arial MT"/>
              </a:rPr>
              <a:t>(sum,</a:t>
            </a:r>
            <a:r>
              <a:rPr sz="1799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799" dirty="0">
                <a:solidFill>
                  <a:srgbClr val="FFFFFF"/>
                </a:solidFill>
                <a:latin typeface="Arial MT"/>
                <a:cs typeface="Arial MT"/>
              </a:rPr>
              <a:t>LSTM,</a:t>
            </a:r>
            <a:r>
              <a:rPr sz="1799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799" spc="-25" dirty="0">
                <a:solidFill>
                  <a:srgbClr val="FFFFFF"/>
                </a:solidFill>
                <a:latin typeface="Arial MT"/>
                <a:cs typeface="Arial MT"/>
              </a:rPr>
              <a:t>…)</a:t>
            </a:r>
            <a:endParaRPr sz="1799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056923" y="2551532"/>
            <a:ext cx="5194217" cy="3169095"/>
            <a:chOff x="2057459" y="2551304"/>
            <a:chExt cx="5195570" cy="3169920"/>
          </a:xfrm>
        </p:grpSpPr>
        <p:sp>
          <p:nvSpPr>
            <p:cNvPr id="14" name="object 14"/>
            <p:cNvSpPr/>
            <p:nvPr/>
          </p:nvSpPr>
          <p:spPr>
            <a:xfrm>
              <a:off x="2233066" y="3222993"/>
              <a:ext cx="3274695" cy="2498725"/>
            </a:xfrm>
            <a:custGeom>
              <a:avLst/>
              <a:gdLst/>
              <a:ahLst/>
              <a:cxnLst/>
              <a:rect l="l" t="t" r="r" b="b"/>
              <a:pathLst>
                <a:path w="3274695" h="2498725">
                  <a:moveTo>
                    <a:pt x="28575" y="2369578"/>
                  </a:moveTo>
                  <a:lnTo>
                    <a:pt x="0" y="2369578"/>
                  </a:lnTo>
                  <a:lnTo>
                    <a:pt x="0" y="2455303"/>
                  </a:lnTo>
                  <a:lnTo>
                    <a:pt x="28575" y="2455303"/>
                  </a:lnTo>
                  <a:lnTo>
                    <a:pt x="28575" y="2369578"/>
                  </a:lnTo>
                  <a:close/>
                </a:path>
                <a:path w="3274695" h="2498725">
                  <a:moveTo>
                    <a:pt x="28575" y="2255278"/>
                  </a:moveTo>
                  <a:lnTo>
                    <a:pt x="0" y="2255278"/>
                  </a:lnTo>
                  <a:lnTo>
                    <a:pt x="0" y="2341003"/>
                  </a:lnTo>
                  <a:lnTo>
                    <a:pt x="28575" y="2341003"/>
                  </a:lnTo>
                  <a:lnTo>
                    <a:pt x="28575" y="2255278"/>
                  </a:lnTo>
                  <a:close/>
                </a:path>
                <a:path w="3274695" h="2498725">
                  <a:moveTo>
                    <a:pt x="100012" y="2469591"/>
                  </a:moveTo>
                  <a:lnTo>
                    <a:pt x="14287" y="2469591"/>
                  </a:lnTo>
                  <a:lnTo>
                    <a:pt x="28575" y="2483878"/>
                  </a:lnTo>
                  <a:lnTo>
                    <a:pt x="0" y="2483878"/>
                  </a:lnTo>
                  <a:lnTo>
                    <a:pt x="0" y="2498166"/>
                  </a:lnTo>
                  <a:lnTo>
                    <a:pt x="100012" y="2498166"/>
                  </a:lnTo>
                  <a:lnTo>
                    <a:pt x="100012" y="2469591"/>
                  </a:lnTo>
                  <a:close/>
                </a:path>
                <a:path w="3274695" h="2498725">
                  <a:moveTo>
                    <a:pt x="214312" y="2469591"/>
                  </a:moveTo>
                  <a:lnTo>
                    <a:pt x="128587" y="2469591"/>
                  </a:lnTo>
                  <a:lnTo>
                    <a:pt x="128587" y="2498166"/>
                  </a:lnTo>
                  <a:lnTo>
                    <a:pt x="214312" y="2498166"/>
                  </a:lnTo>
                  <a:lnTo>
                    <a:pt x="214312" y="2469591"/>
                  </a:lnTo>
                  <a:close/>
                </a:path>
                <a:path w="3274695" h="2498725">
                  <a:moveTo>
                    <a:pt x="328612" y="2469591"/>
                  </a:moveTo>
                  <a:lnTo>
                    <a:pt x="242887" y="2469591"/>
                  </a:lnTo>
                  <a:lnTo>
                    <a:pt x="242887" y="2498166"/>
                  </a:lnTo>
                  <a:lnTo>
                    <a:pt x="328612" y="2498166"/>
                  </a:lnTo>
                  <a:lnTo>
                    <a:pt x="328612" y="2469591"/>
                  </a:lnTo>
                  <a:close/>
                </a:path>
                <a:path w="3274695" h="2498725">
                  <a:moveTo>
                    <a:pt x="442912" y="2469591"/>
                  </a:moveTo>
                  <a:lnTo>
                    <a:pt x="357187" y="2469591"/>
                  </a:lnTo>
                  <a:lnTo>
                    <a:pt x="357187" y="2498166"/>
                  </a:lnTo>
                  <a:lnTo>
                    <a:pt x="442912" y="2498166"/>
                  </a:lnTo>
                  <a:lnTo>
                    <a:pt x="442912" y="2469591"/>
                  </a:lnTo>
                  <a:close/>
                </a:path>
                <a:path w="3274695" h="2498725">
                  <a:moveTo>
                    <a:pt x="557212" y="2469591"/>
                  </a:moveTo>
                  <a:lnTo>
                    <a:pt x="471487" y="2469591"/>
                  </a:lnTo>
                  <a:lnTo>
                    <a:pt x="471487" y="2498166"/>
                  </a:lnTo>
                  <a:lnTo>
                    <a:pt x="557212" y="2498166"/>
                  </a:lnTo>
                  <a:lnTo>
                    <a:pt x="557212" y="2469591"/>
                  </a:lnTo>
                  <a:close/>
                </a:path>
                <a:path w="3274695" h="2498725">
                  <a:moveTo>
                    <a:pt x="671512" y="2469591"/>
                  </a:moveTo>
                  <a:lnTo>
                    <a:pt x="585787" y="2469591"/>
                  </a:lnTo>
                  <a:lnTo>
                    <a:pt x="585787" y="2498166"/>
                  </a:lnTo>
                  <a:lnTo>
                    <a:pt x="671512" y="2498166"/>
                  </a:lnTo>
                  <a:lnTo>
                    <a:pt x="671512" y="2469591"/>
                  </a:lnTo>
                  <a:close/>
                </a:path>
                <a:path w="3274695" h="2498725">
                  <a:moveTo>
                    <a:pt x="785812" y="2469591"/>
                  </a:moveTo>
                  <a:lnTo>
                    <a:pt x="700087" y="2469591"/>
                  </a:lnTo>
                  <a:lnTo>
                    <a:pt x="700087" y="2498166"/>
                  </a:lnTo>
                  <a:lnTo>
                    <a:pt x="785812" y="2498166"/>
                  </a:lnTo>
                  <a:lnTo>
                    <a:pt x="785812" y="2469591"/>
                  </a:lnTo>
                  <a:close/>
                </a:path>
                <a:path w="3274695" h="2498725">
                  <a:moveTo>
                    <a:pt x="900112" y="2469591"/>
                  </a:moveTo>
                  <a:lnTo>
                    <a:pt x="814387" y="2469591"/>
                  </a:lnTo>
                  <a:lnTo>
                    <a:pt x="814387" y="2498166"/>
                  </a:lnTo>
                  <a:lnTo>
                    <a:pt x="900112" y="2498166"/>
                  </a:lnTo>
                  <a:lnTo>
                    <a:pt x="900112" y="2469591"/>
                  </a:lnTo>
                  <a:close/>
                </a:path>
                <a:path w="3274695" h="2498725">
                  <a:moveTo>
                    <a:pt x="1014412" y="2469591"/>
                  </a:moveTo>
                  <a:lnTo>
                    <a:pt x="928687" y="2469591"/>
                  </a:lnTo>
                  <a:lnTo>
                    <a:pt x="928687" y="2498166"/>
                  </a:lnTo>
                  <a:lnTo>
                    <a:pt x="1014412" y="2498166"/>
                  </a:lnTo>
                  <a:lnTo>
                    <a:pt x="1014412" y="2469591"/>
                  </a:lnTo>
                  <a:close/>
                </a:path>
                <a:path w="3274695" h="2498725">
                  <a:moveTo>
                    <a:pt x="1128712" y="2469591"/>
                  </a:moveTo>
                  <a:lnTo>
                    <a:pt x="1042987" y="2469591"/>
                  </a:lnTo>
                  <a:lnTo>
                    <a:pt x="1042987" y="2498166"/>
                  </a:lnTo>
                  <a:lnTo>
                    <a:pt x="1128712" y="2498166"/>
                  </a:lnTo>
                  <a:lnTo>
                    <a:pt x="1128712" y="2469591"/>
                  </a:lnTo>
                  <a:close/>
                </a:path>
                <a:path w="3274695" h="2498725">
                  <a:moveTo>
                    <a:pt x="1243012" y="2469591"/>
                  </a:moveTo>
                  <a:lnTo>
                    <a:pt x="1157287" y="2469591"/>
                  </a:lnTo>
                  <a:lnTo>
                    <a:pt x="1157287" y="2498166"/>
                  </a:lnTo>
                  <a:lnTo>
                    <a:pt x="1243012" y="2498166"/>
                  </a:lnTo>
                  <a:lnTo>
                    <a:pt x="1243012" y="2469591"/>
                  </a:lnTo>
                  <a:close/>
                </a:path>
                <a:path w="3274695" h="2498725">
                  <a:moveTo>
                    <a:pt x="1357312" y="2469591"/>
                  </a:moveTo>
                  <a:lnTo>
                    <a:pt x="1271587" y="2469591"/>
                  </a:lnTo>
                  <a:lnTo>
                    <a:pt x="1271587" y="2498166"/>
                  </a:lnTo>
                  <a:lnTo>
                    <a:pt x="1357312" y="2498166"/>
                  </a:lnTo>
                  <a:lnTo>
                    <a:pt x="1357312" y="2469591"/>
                  </a:lnTo>
                  <a:close/>
                </a:path>
                <a:path w="3274695" h="2498725">
                  <a:moveTo>
                    <a:pt x="1471612" y="2469591"/>
                  </a:moveTo>
                  <a:lnTo>
                    <a:pt x="1385887" y="2469591"/>
                  </a:lnTo>
                  <a:lnTo>
                    <a:pt x="1385887" y="2498166"/>
                  </a:lnTo>
                  <a:lnTo>
                    <a:pt x="1471612" y="2498166"/>
                  </a:lnTo>
                  <a:lnTo>
                    <a:pt x="1471612" y="2469591"/>
                  </a:lnTo>
                  <a:close/>
                </a:path>
                <a:path w="3274695" h="2498725">
                  <a:moveTo>
                    <a:pt x="1535468" y="0"/>
                  </a:moveTo>
                  <a:lnTo>
                    <a:pt x="1449743" y="0"/>
                  </a:lnTo>
                  <a:lnTo>
                    <a:pt x="1449743" y="28575"/>
                  </a:lnTo>
                  <a:lnTo>
                    <a:pt x="1535468" y="28575"/>
                  </a:lnTo>
                  <a:lnTo>
                    <a:pt x="1535468" y="0"/>
                  </a:lnTo>
                  <a:close/>
                </a:path>
                <a:path w="3274695" h="2498725">
                  <a:moveTo>
                    <a:pt x="1585912" y="2469591"/>
                  </a:moveTo>
                  <a:lnTo>
                    <a:pt x="1500187" y="2469591"/>
                  </a:lnTo>
                  <a:lnTo>
                    <a:pt x="1500187" y="2498166"/>
                  </a:lnTo>
                  <a:lnTo>
                    <a:pt x="1585912" y="2498166"/>
                  </a:lnTo>
                  <a:lnTo>
                    <a:pt x="1585912" y="2469591"/>
                  </a:lnTo>
                  <a:close/>
                </a:path>
                <a:path w="3274695" h="2498725">
                  <a:moveTo>
                    <a:pt x="1649768" y="0"/>
                  </a:moveTo>
                  <a:lnTo>
                    <a:pt x="1564043" y="0"/>
                  </a:lnTo>
                  <a:lnTo>
                    <a:pt x="1564043" y="28575"/>
                  </a:lnTo>
                  <a:lnTo>
                    <a:pt x="1649768" y="28575"/>
                  </a:lnTo>
                  <a:lnTo>
                    <a:pt x="1649768" y="0"/>
                  </a:lnTo>
                  <a:close/>
                </a:path>
                <a:path w="3274695" h="2498725">
                  <a:moveTo>
                    <a:pt x="1700212" y="2469591"/>
                  </a:moveTo>
                  <a:lnTo>
                    <a:pt x="1614487" y="2469591"/>
                  </a:lnTo>
                  <a:lnTo>
                    <a:pt x="1614487" y="2498166"/>
                  </a:lnTo>
                  <a:lnTo>
                    <a:pt x="1700212" y="2498166"/>
                  </a:lnTo>
                  <a:lnTo>
                    <a:pt x="1700212" y="2469591"/>
                  </a:lnTo>
                  <a:close/>
                </a:path>
                <a:path w="3274695" h="2498725">
                  <a:moveTo>
                    <a:pt x="1764068" y="0"/>
                  </a:moveTo>
                  <a:lnTo>
                    <a:pt x="1678343" y="0"/>
                  </a:lnTo>
                  <a:lnTo>
                    <a:pt x="1678343" y="28575"/>
                  </a:lnTo>
                  <a:lnTo>
                    <a:pt x="1764068" y="28575"/>
                  </a:lnTo>
                  <a:lnTo>
                    <a:pt x="1764068" y="0"/>
                  </a:lnTo>
                  <a:close/>
                </a:path>
                <a:path w="3274695" h="2498725">
                  <a:moveTo>
                    <a:pt x="1814512" y="2469591"/>
                  </a:moveTo>
                  <a:lnTo>
                    <a:pt x="1728787" y="2469591"/>
                  </a:lnTo>
                  <a:lnTo>
                    <a:pt x="1728787" y="2498166"/>
                  </a:lnTo>
                  <a:lnTo>
                    <a:pt x="1814512" y="2498166"/>
                  </a:lnTo>
                  <a:lnTo>
                    <a:pt x="1814512" y="2469591"/>
                  </a:lnTo>
                  <a:close/>
                </a:path>
                <a:path w="3274695" h="2498725">
                  <a:moveTo>
                    <a:pt x="1878368" y="0"/>
                  </a:moveTo>
                  <a:lnTo>
                    <a:pt x="1792643" y="0"/>
                  </a:lnTo>
                  <a:lnTo>
                    <a:pt x="1792643" y="28575"/>
                  </a:lnTo>
                  <a:lnTo>
                    <a:pt x="1878368" y="28575"/>
                  </a:lnTo>
                  <a:lnTo>
                    <a:pt x="1878368" y="0"/>
                  </a:lnTo>
                  <a:close/>
                </a:path>
                <a:path w="3274695" h="2498725">
                  <a:moveTo>
                    <a:pt x="1928812" y="2469591"/>
                  </a:moveTo>
                  <a:lnTo>
                    <a:pt x="1843087" y="2469591"/>
                  </a:lnTo>
                  <a:lnTo>
                    <a:pt x="1843087" y="2498166"/>
                  </a:lnTo>
                  <a:lnTo>
                    <a:pt x="1928812" y="2498166"/>
                  </a:lnTo>
                  <a:lnTo>
                    <a:pt x="1928812" y="2469591"/>
                  </a:lnTo>
                  <a:close/>
                </a:path>
                <a:path w="3274695" h="2498725">
                  <a:moveTo>
                    <a:pt x="1955228" y="1555026"/>
                  </a:moveTo>
                  <a:lnTo>
                    <a:pt x="1869503" y="1555026"/>
                  </a:lnTo>
                  <a:lnTo>
                    <a:pt x="1869503" y="1583601"/>
                  </a:lnTo>
                  <a:lnTo>
                    <a:pt x="1955228" y="1583601"/>
                  </a:lnTo>
                  <a:lnTo>
                    <a:pt x="1955228" y="1555026"/>
                  </a:lnTo>
                  <a:close/>
                </a:path>
                <a:path w="3274695" h="2498725">
                  <a:moveTo>
                    <a:pt x="1992668" y="0"/>
                  </a:moveTo>
                  <a:lnTo>
                    <a:pt x="1906943" y="0"/>
                  </a:lnTo>
                  <a:lnTo>
                    <a:pt x="1906943" y="28575"/>
                  </a:lnTo>
                  <a:lnTo>
                    <a:pt x="1992668" y="28575"/>
                  </a:lnTo>
                  <a:lnTo>
                    <a:pt x="1992668" y="0"/>
                  </a:lnTo>
                  <a:close/>
                </a:path>
                <a:path w="3274695" h="2498725">
                  <a:moveTo>
                    <a:pt x="2043112" y="2469591"/>
                  </a:moveTo>
                  <a:lnTo>
                    <a:pt x="1957387" y="2469591"/>
                  </a:lnTo>
                  <a:lnTo>
                    <a:pt x="1957387" y="2498166"/>
                  </a:lnTo>
                  <a:lnTo>
                    <a:pt x="2043112" y="2498166"/>
                  </a:lnTo>
                  <a:lnTo>
                    <a:pt x="2043112" y="2469591"/>
                  </a:lnTo>
                  <a:close/>
                </a:path>
                <a:path w="3274695" h="2498725">
                  <a:moveTo>
                    <a:pt x="2045487" y="1530985"/>
                  </a:moveTo>
                  <a:lnTo>
                    <a:pt x="2016912" y="1530985"/>
                  </a:lnTo>
                  <a:lnTo>
                    <a:pt x="2016912" y="1555026"/>
                  </a:lnTo>
                  <a:lnTo>
                    <a:pt x="1983803" y="1555026"/>
                  </a:lnTo>
                  <a:lnTo>
                    <a:pt x="1983803" y="1583601"/>
                  </a:lnTo>
                  <a:lnTo>
                    <a:pt x="2045487" y="1583601"/>
                  </a:lnTo>
                  <a:lnTo>
                    <a:pt x="2045487" y="1569313"/>
                  </a:lnTo>
                  <a:lnTo>
                    <a:pt x="2045487" y="1555026"/>
                  </a:lnTo>
                  <a:lnTo>
                    <a:pt x="2045487" y="1530985"/>
                  </a:lnTo>
                  <a:close/>
                </a:path>
                <a:path w="3274695" h="2498725">
                  <a:moveTo>
                    <a:pt x="2045487" y="1416685"/>
                  </a:moveTo>
                  <a:lnTo>
                    <a:pt x="2016912" y="1416685"/>
                  </a:lnTo>
                  <a:lnTo>
                    <a:pt x="2016912" y="1502410"/>
                  </a:lnTo>
                  <a:lnTo>
                    <a:pt x="2045487" y="1502410"/>
                  </a:lnTo>
                  <a:lnTo>
                    <a:pt x="2045487" y="1416685"/>
                  </a:lnTo>
                  <a:close/>
                </a:path>
                <a:path w="3274695" h="2498725">
                  <a:moveTo>
                    <a:pt x="2045487" y="1302385"/>
                  </a:moveTo>
                  <a:lnTo>
                    <a:pt x="2016912" y="1302385"/>
                  </a:lnTo>
                  <a:lnTo>
                    <a:pt x="2016912" y="1388110"/>
                  </a:lnTo>
                  <a:lnTo>
                    <a:pt x="2045487" y="1388110"/>
                  </a:lnTo>
                  <a:lnTo>
                    <a:pt x="2045487" y="1302385"/>
                  </a:lnTo>
                  <a:close/>
                </a:path>
                <a:path w="3274695" h="2498725">
                  <a:moveTo>
                    <a:pt x="2045487" y="1188085"/>
                  </a:moveTo>
                  <a:lnTo>
                    <a:pt x="2016912" y="1188085"/>
                  </a:lnTo>
                  <a:lnTo>
                    <a:pt x="2016912" y="1273810"/>
                  </a:lnTo>
                  <a:lnTo>
                    <a:pt x="2045487" y="1273810"/>
                  </a:lnTo>
                  <a:lnTo>
                    <a:pt x="2045487" y="1188085"/>
                  </a:lnTo>
                  <a:close/>
                </a:path>
                <a:path w="3274695" h="2498725">
                  <a:moveTo>
                    <a:pt x="2045487" y="1073785"/>
                  </a:moveTo>
                  <a:lnTo>
                    <a:pt x="2016912" y="1073785"/>
                  </a:lnTo>
                  <a:lnTo>
                    <a:pt x="2016912" y="1159510"/>
                  </a:lnTo>
                  <a:lnTo>
                    <a:pt x="2045487" y="1159510"/>
                  </a:lnTo>
                  <a:lnTo>
                    <a:pt x="2045487" y="1073785"/>
                  </a:lnTo>
                  <a:close/>
                </a:path>
                <a:path w="3274695" h="2498725">
                  <a:moveTo>
                    <a:pt x="2045487" y="959485"/>
                  </a:moveTo>
                  <a:lnTo>
                    <a:pt x="2016912" y="959485"/>
                  </a:lnTo>
                  <a:lnTo>
                    <a:pt x="2016912" y="1045210"/>
                  </a:lnTo>
                  <a:lnTo>
                    <a:pt x="2045487" y="1045210"/>
                  </a:lnTo>
                  <a:lnTo>
                    <a:pt x="2045487" y="959485"/>
                  </a:lnTo>
                  <a:close/>
                </a:path>
                <a:path w="3274695" h="2498725">
                  <a:moveTo>
                    <a:pt x="2106968" y="0"/>
                  </a:moveTo>
                  <a:lnTo>
                    <a:pt x="2021243" y="0"/>
                  </a:lnTo>
                  <a:lnTo>
                    <a:pt x="2021243" y="28575"/>
                  </a:lnTo>
                  <a:lnTo>
                    <a:pt x="2106968" y="28575"/>
                  </a:lnTo>
                  <a:lnTo>
                    <a:pt x="2106968" y="0"/>
                  </a:lnTo>
                  <a:close/>
                </a:path>
                <a:path w="3274695" h="2498725">
                  <a:moveTo>
                    <a:pt x="2157412" y="2469591"/>
                  </a:moveTo>
                  <a:lnTo>
                    <a:pt x="2071687" y="2469591"/>
                  </a:lnTo>
                  <a:lnTo>
                    <a:pt x="2071687" y="2498166"/>
                  </a:lnTo>
                  <a:lnTo>
                    <a:pt x="2157412" y="2498166"/>
                  </a:lnTo>
                  <a:lnTo>
                    <a:pt x="2157412" y="2469591"/>
                  </a:lnTo>
                  <a:close/>
                </a:path>
                <a:path w="3274695" h="2498725">
                  <a:moveTo>
                    <a:pt x="2192896" y="888834"/>
                  </a:moveTo>
                  <a:lnTo>
                    <a:pt x="2164321" y="874547"/>
                  </a:lnTo>
                  <a:lnTo>
                    <a:pt x="2050021" y="817397"/>
                  </a:lnTo>
                  <a:lnTo>
                    <a:pt x="2050021" y="874547"/>
                  </a:lnTo>
                  <a:lnTo>
                    <a:pt x="2016912" y="874547"/>
                  </a:lnTo>
                  <a:lnTo>
                    <a:pt x="2016912" y="930910"/>
                  </a:lnTo>
                  <a:lnTo>
                    <a:pt x="2045487" y="930910"/>
                  </a:lnTo>
                  <a:lnTo>
                    <a:pt x="2045487" y="903122"/>
                  </a:lnTo>
                  <a:lnTo>
                    <a:pt x="2050021" y="903122"/>
                  </a:lnTo>
                  <a:lnTo>
                    <a:pt x="2050021" y="960272"/>
                  </a:lnTo>
                  <a:lnTo>
                    <a:pt x="2164321" y="903122"/>
                  </a:lnTo>
                  <a:lnTo>
                    <a:pt x="2192896" y="888834"/>
                  </a:lnTo>
                  <a:close/>
                </a:path>
                <a:path w="3274695" h="2498725">
                  <a:moveTo>
                    <a:pt x="2221268" y="0"/>
                  </a:moveTo>
                  <a:lnTo>
                    <a:pt x="2135543" y="0"/>
                  </a:lnTo>
                  <a:lnTo>
                    <a:pt x="2135543" y="28575"/>
                  </a:lnTo>
                  <a:lnTo>
                    <a:pt x="2221268" y="28575"/>
                  </a:lnTo>
                  <a:lnTo>
                    <a:pt x="2221268" y="0"/>
                  </a:lnTo>
                  <a:close/>
                </a:path>
                <a:path w="3274695" h="2498725">
                  <a:moveTo>
                    <a:pt x="2271712" y="2469591"/>
                  </a:moveTo>
                  <a:lnTo>
                    <a:pt x="2185987" y="2469591"/>
                  </a:lnTo>
                  <a:lnTo>
                    <a:pt x="2185987" y="2498166"/>
                  </a:lnTo>
                  <a:lnTo>
                    <a:pt x="2271712" y="2498166"/>
                  </a:lnTo>
                  <a:lnTo>
                    <a:pt x="2271712" y="2469591"/>
                  </a:lnTo>
                  <a:close/>
                </a:path>
                <a:path w="3274695" h="2498725">
                  <a:moveTo>
                    <a:pt x="2335568" y="0"/>
                  </a:moveTo>
                  <a:lnTo>
                    <a:pt x="2249843" y="0"/>
                  </a:lnTo>
                  <a:lnTo>
                    <a:pt x="2249843" y="28575"/>
                  </a:lnTo>
                  <a:lnTo>
                    <a:pt x="2335568" y="28575"/>
                  </a:lnTo>
                  <a:lnTo>
                    <a:pt x="2335568" y="0"/>
                  </a:lnTo>
                  <a:close/>
                </a:path>
                <a:path w="3274695" h="2498725">
                  <a:moveTo>
                    <a:pt x="2386012" y="2469591"/>
                  </a:moveTo>
                  <a:lnTo>
                    <a:pt x="2300287" y="2469591"/>
                  </a:lnTo>
                  <a:lnTo>
                    <a:pt x="2300287" y="2498166"/>
                  </a:lnTo>
                  <a:lnTo>
                    <a:pt x="2386012" y="2498166"/>
                  </a:lnTo>
                  <a:lnTo>
                    <a:pt x="2386012" y="2469591"/>
                  </a:lnTo>
                  <a:close/>
                </a:path>
                <a:path w="3274695" h="2498725">
                  <a:moveTo>
                    <a:pt x="2449868" y="0"/>
                  </a:moveTo>
                  <a:lnTo>
                    <a:pt x="2364143" y="0"/>
                  </a:lnTo>
                  <a:lnTo>
                    <a:pt x="2364143" y="28575"/>
                  </a:lnTo>
                  <a:lnTo>
                    <a:pt x="2449868" y="28575"/>
                  </a:lnTo>
                  <a:lnTo>
                    <a:pt x="2449868" y="0"/>
                  </a:lnTo>
                  <a:close/>
                </a:path>
                <a:path w="3274695" h="2498725">
                  <a:moveTo>
                    <a:pt x="2500312" y="2469591"/>
                  </a:moveTo>
                  <a:lnTo>
                    <a:pt x="2414587" y="2469591"/>
                  </a:lnTo>
                  <a:lnTo>
                    <a:pt x="2414587" y="2498166"/>
                  </a:lnTo>
                  <a:lnTo>
                    <a:pt x="2500312" y="2498166"/>
                  </a:lnTo>
                  <a:lnTo>
                    <a:pt x="2500312" y="2469591"/>
                  </a:lnTo>
                  <a:close/>
                </a:path>
                <a:path w="3274695" h="2498725">
                  <a:moveTo>
                    <a:pt x="2564168" y="0"/>
                  </a:moveTo>
                  <a:lnTo>
                    <a:pt x="2478443" y="0"/>
                  </a:lnTo>
                  <a:lnTo>
                    <a:pt x="2478443" y="28575"/>
                  </a:lnTo>
                  <a:lnTo>
                    <a:pt x="2564168" y="28575"/>
                  </a:lnTo>
                  <a:lnTo>
                    <a:pt x="2564168" y="0"/>
                  </a:lnTo>
                  <a:close/>
                </a:path>
                <a:path w="3274695" h="2498725">
                  <a:moveTo>
                    <a:pt x="2614612" y="2469591"/>
                  </a:moveTo>
                  <a:lnTo>
                    <a:pt x="2528887" y="2469591"/>
                  </a:lnTo>
                  <a:lnTo>
                    <a:pt x="2528887" y="2498166"/>
                  </a:lnTo>
                  <a:lnTo>
                    <a:pt x="2614612" y="2498166"/>
                  </a:lnTo>
                  <a:lnTo>
                    <a:pt x="2614612" y="2469591"/>
                  </a:lnTo>
                  <a:close/>
                </a:path>
                <a:path w="3274695" h="2498725">
                  <a:moveTo>
                    <a:pt x="2678468" y="0"/>
                  </a:moveTo>
                  <a:lnTo>
                    <a:pt x="2592743" y="0"/>
                  </a:lnTo>
                  <a:lnTo>
                    <a:pt x="2592743" y="28575"/>
                  </a:lnTo>
                  <a:lnTo>
                    <a:pt x="2678468" y="28575"/>
                  </a:lnTo>
                  <a:lnTo>
                    <a:pt x="2678468" y="0"/>
                  </a:lnTo>
                  <a:close/>
                </a:path>
                <a:path w="3274695" h="2498725">
                  <a:moveTo>
                    <a:pt x="2728912" y="2469591"/>
                  </a:moveTo>
                  <a:lnTo>
                    <a:pt x="2643187" y="2469591"/>
                  </a:lnTo>
                  <a:lnTo>
                    <a:pt x="2643187" y="2498166"/>
                  </a:lnTo>
                  <a:lnTo>
                    <a:pt x="2728912" y="2498166"/>
                  </a:lnTo>
                  <a:lnTo>
                    <a:pt x="2728912" y="2469591"/>
                  </a:lnTo>
                  <a:close/>
                </a:path>
                <a:path w="3274695" h="2498725">
                  <a:moveTo>
                    <a:pt x="2792768" y="0"/>
                  </a:moveTo>
                  <a:lnTo>
                    <a:pt x="2707043" y="0"/>
                  </a:lnTo>
                  <a:lnTo>
                    <a:pt x="2707043" y="28575"/>
                  </a:lnTo>
                  <a:lnTo>
                    <a:pt x="2792768" y="28575"/>
                  </a:lnTo>
                  <a:lnTo>
                    <a:pt x="2792768" y="0"/>
                  </a:lnTo>
                  <a:close/>
                </a:path>
                <a:path w="3274695" h="2498725">
                  <a:moveTo>
                    <a:pt x="2843212" y="2469591"/>
                  </a:moveTo>
                  <a:lnTo>
                    <a:pt x="2757487" y="2469591"/>
                  </a:lnTo>
                  <a:lnTo>
                    <a:pt x="2757487" y="2498166"/>
                  </a:lnTo>
                  <a:lnTo>
                    <a:pt x="2843212" y="2498166"/>
                  </a:lnTo>
                  <a:lnTo>
                    <a:pt x="2843212" y="2469591"/>
                  </a:lnTo>
                  <a:close/>
                </a:path>
                <a:path w="3274695" h="2498725">
                  <a:moveTo>
                    <a:pt x="2907068" y="0"/>
                  </a:moveTo>
                  <a:lnTo>
                    <a:pt x="2821343" y="0"/>
                  </a:lnTo>
                  <a:lnTo>
                    <a:pt x="2821343" y="28575"/>
                  </a:lnTo>
                  <a:lnTo>
                    <a:pt x="2907068" y="28575"/>
                  </a:lnTo>
                  <a:lnTo>
                    <a:pt x="2907068" y="0"/>
                  </a:lnTo>
                  <a:close/>
                </a:path>
                <a:path w="3274695" h="2498725">
                  <a:moveTo>
                    <a:pt x="2957512" y="2469591"/>
                  </a:moveTo>
                  <a:lnTo>
                    <a:pt x="2871787" y="2469591"/>
                  </a:lnTo>
                  <a:lnTo>
                    <a:pt x="2871787" y="2498166"/>
                  </a:lnTo>
                  <a:lnTo>
                    <a:pt x="2957512" y="2498166"/>
                  </a:lnTo>
                  <a:lnTo>
                    <a:pt x="2957512" y="2469591"/>
                  </a:lnTo>
                  <a:close/>
                </a:path>
                <a:path w="3274695" h="2498725">
                  <a:moveTo>
                    <a:pt x="3021368" y="0"/>
                  </a:moveTo>
                  <a:lnTo>
                    <a:pt x="2935643" y="0"/>
                  </a:lnTo>
                  <a:lnTo>
                    <a:pt x="2935643" y="28575"/>
                  </a:lnTo>
                  <a:lnTo>
                    <a:pt x="3021368" y="28575"/>
                  </a:lnTo>
                  <a:lnTo>
                    <a:pt x="3021368" y="0"/>
                  </a:lnTo>
                  <a:close/>
                </a:path>
                <a:path w="3274695" h="2498725">
                  <a:moveTo>
                    <a:pt x="3071812" y="2469591"/>
                  </a:moveTo>
                  <a:lnTo>
                    <a:pt x="2986087" y="2469591"/>
                  </a:lnTo>
                  <a:lnTo>
                    <a:pt x="2986087" y="2498166"/>
                  </a:lnTo>
                  <a:lnTo>
                    <a:pt x="3071812" y="2498166"/>
                  </a:lnTo>
                  <a:lnTo>
                    <a:pt x="3071812" y="2469591"/>
                  </a:lnTo>
                  <a:close/>
                </a:path>
                <a:path w="3274695" h="2498725">
                  <a:moveTo>
                    <a:pt x="3135668" y="0"/>
                  </a:moveTo>
                  <a:lnTo>
                    <a:pt x="3049943" y="0"/>
                  </a:lnTo>
                  <a:lnTo>
                    <a:pt x="3049943" y="28575"/>
                  </a:lnTo>
                  <a:lnTo>
                    <a:pt x="3135668" y="28575"/>
                  </a:lnTo>
                  <a:lnTo>
                    <a:pt x="3135668" y="0"/>
                  </a:lnTo>
                  <a:close/>
                </a:path>
                <a:path w="3274695" h="2498725">
                  <a:moveTo>
                    <a:pt x="3186112" y="2469591"/>
                  </a:moveTo>
                  <a:lnTo>
                    <a:pt x="3100387" y="2469591"/>
                  </a:lnTo>
                  <a:lnTo>
                    <a:pt x="3100387" y="2498166"/>
                  </a:lnTo>
                  <a:lnTo>
                    <a:pt x="3186112" y="2498166"/>
                  </a:lnTo>
                  <a:lnTo>
                    <a:pt x="3186112" y="2469591"/>
                  </a:lnTo>
                  <a:close/>
                </a:path>
                <a:path w="3274695" h="2498725">
                  <a:moveTo>
                    <a:pt x="3217367" y="2386546"/>
                  </a:moveTo>
                  <a:lnTo>
                    <a:pt x="3188792" y="2386546"/>
                  </a:lnTo>
                  <a:lnTo>
                    <a:pt x="3188792" y="2472271"/>
                  </a:lnTo>
                  <a:lnTo>
                    <a:pt x="3217367" y="2472271"/>
                  </a:lnTo>
                  <a:lnTo>
                    <a:pt x="3217367" y="2386546"/>
                  </a:lnTo>
                  <a:close/>
                </a:path>
                <a:path w="3274695" h="2498725">
                  <a:moveTo>
                    <a:pt x="3217367" y="2272246"/>
                  </a:moveTo>
                  <a:lnTo>
                    <a:pt x="3188792" y="2272246"/>
                  </a:lnTo>
                  <a:lnTo>
                    <a:pt x="3188792" y="2357971"/>
                  </a:lnTo>
                  <a:lnTo>
                    <a:pt x="3217367" y="2357971"/>
                  </a:lnTo>
                  <a:lnTo>
                    <a:pt x="3217367" y="2272246"/>
                  </a:lnTo>
                  <a:close/>
                </a:path>
                <a:path w="3274695" h="2498725">
                  <a:moveTo>
                    <a:pt x="3217367" y="2157946"/>
                  </a:moveTo>
                  <a:lnTo>
                    <a:pt x="3188792" y="2157946"/>
                  </a:lnTo>
                  <a:lnTo>
                    <a:pt x="3188792" y="2243671"/>
                  </a:lnTo>
                  <a:lnTo>
                    <a:pt x="3217367" y="2243671"/>
                  </a:lnTo>
                  <a:lnTo>
                    <a:pt x="3217367" y="2157946"/>
                  </a:lnTo>
                  <a:close/>
                </a:path>
                <a:path w="3274695" h="2498725">
                  <a:moveTo>
                    <a:pt x="3217367" y="2043645"/>
                  </a:moveTo>
                  <a:lnTo>
                    <a:pt x="3188792" y="2043645"/>
                  </a:lnTo>
                  <a:lnTo>
                    <a:pt x="3188792" y="2129371"/>
                  </a:lnTo>
                  <a:lnTo>
                    <a:pt x="3217367" y="2129371"/>
                  </a:lnTo>
                  <a:lnTo>
                    <a:pt x="3217367" y="2043645"/>
                  </a:lnTo>
                  <a:close/>
                </a:path>
                <a:path w="3274695" h="2498725">
                  <a:moveTo>
                    <a:pt x="3217367" y="1929345"/>
                  </a:moveTo>
                  <a:lnTo>
                    <a:pt x="3188792" y="1929345"/>
                  </a:lnTo>
                  <a:lnTo>
                    <a:pt x="3188792" y="2015070"/>
                  </a:lnTo>
                  <a:lnTo>
                    <a:pt x="3217367" y="2015070"/>
                  </a:lnTo>
                  <a:lnTo>
                    <a:pt x="3217367" y="1929345"/>
                  </a:lnTo>
                  <a:close/>
                </a:path>
                <a:path w="3274695" h="2498725">
                  <a:moveTo>
                    <a:pt x="3217367" y="1815045"/>
                  </a:moveTo>
                  <a:lnTo>
                    <a:pt x="3188792" y="1815045"/>
                  </a:lnTo>
                  <a:lnTo>
                    <a:pt x="3188792" y="1900770"/>
                  </a:lnTo>
                  <a:lnTo>
                    <a:pt x="3217367" y="1900770"/>
                  </a:lnTo>
                  <a:lnTo>
                    <a:pt x="3217367" y="1815045"/>
                  </a:lnTo>
                  <a:close/>
                </a:path>
                <a:path w="3274695" h="2498725">
                  <a:moveTo>
                    <a:pt x="3217367" y="1700745"/>
                  </a:moveTo>
                  <a:lnTo>
                    <a:pt x="3188792" y="1700745"/>
                  </a:lnTo>
                  <a:lnTo>
                    <a:pt x="3188792" y="1786470"/>
                  </a:lnTo>
                  <a:lnTo>
                    <a:pt x="3217367" y="1786470"/>
                  </a:lnTo>
                  <a:lnTo>
                    <a:pt x="3217367" y="1700745"/>
                  </a:lnTo>
                  <a:close/>
                </a:path>
                <a:path w="3274695" h="2498725">
                  <a:moveTo>
                    <a:pt x="3217367" y="1586445"/>
                  </a:moveTo>
                  <a:lnTo>
                    <a:pt x="3188792" y="1586445"/>
                  </a:lnTo>
                  <a:lnTo>
                    <a:pt x="3188792" y="1672170"/>
                  </a:lnTo>
                  <a:lnTo>
                    <a:pt x="3217367" y="1672170"/>
                  </a:lnTo>
                  <a:lnTo>
                    <a:pt x="3217367" y="1586445"/>
                  </a:lnTo>
                  <a:close/>
                </a:path>
                <a:path w="3274695" h="2498725">
                  <a:moveTo>
                    <a:pt x="3217367" y="1472145"/>
                  </a:moveTo>
                  <a:lnTo>
                    <a:pt x="3188792" y="1472145"/>
                  </a:lnTo>
                  <a:lnTo>
                    <a:pt x="3188792" y="1557870"/>
                  </a:lnTo>
                  <a:lnTo>
                    <a:pt x="3217367" y="1557870"/>
                  </a:lnTo>
                  <a:lnTo>
                    <a:pt x="3217367" y="1472145"/>
                  </a:lnTo>
                  <a:close/>
                </a:path>
                <a:path w="3274695" h="2498725">
                  <a:moveTo>
                    <a:pt x="3217367" y="204050"/>
                  </a:moveTo>
                  <a:lnTo>
                    <a:pt x="3188792" y="204050"/>
                  </a:lnTo>
                  <a:lnTo>
                    <a:pt x="3188792" y="289775"/>
                  </a:lnTo>
                  <a:lnTo>
                    <a:pt x="3217367" y="289775"/>
                  </a:lnTo>
                  <a:lnTo>
                    <a:pt x="3217367" y="204050"/>
                  </a:lnTo>
                  <a:close/>
                </a:path>
                <a:path w="3274695" h="2498725">
                  <a:moveTo>
                    <a:pt x="3217367" y="89750"/>
                  </a:moveTo>
                  <a:lnTo>
                    <a:pt x="3188792" y="89750"/>
                  </a:lnTo>
                  <a:lnTo>
                    <a:pt x="3188792" y="175475"/>
                  </a:lnTo>
                  <a:lnTo>
                    <a:pt x="3217367" y="175475"/>
                  </a:lnTo>
                  <a:lnTo>
                    <a:pt x="3217367" y="89750"/>
                  </a:lnTo>
                  <a:close/>
                </a:path>
                <a:path w="3274695" h="2498725">
                  <a:moveTo>
                    <a:pt x="3217367" y="0"/>
                  </a:moveTo>
                  <a:lnTo>
                    <a:pt x="3164243" y="0"/>
                  </a:lnTo>
                  <a:lnTo>
                    <a:pt x="3164243" y="28575"/>
                  </a:lnTo>
                  <a:lnTo>
                    <a:pt x="3188792" y="28575"/>
                  </a:lnTo>
                  <a:lnTo>
                    <a:pt x="3188792" y="61175"/>
                  </a:lnTo>
                  <a:lnTo>
                    <a:pt x="3217367" y="61175"/>
                  </a:lnTo>
                  <a:lnTo>
                    <a:pt x="3217367" y="28575"/>
                  </a:lnTo>
                  <a:lnTo>
                    <a:pt x="3217367" y="14287"/>
                  </a:lnTo>
                  <a:lnTo>
                    <a:pt x="3217367" y="0"/>
                  </a:lnTo>
                  <a:close/>
                </a:path>
                <a:path w="3274695" h="2498725">
                  <a:moveTo>
                    <a:pt x="3274517" y="1376197"/>
                  </a:moveTo>
                  <a:lnTo>
                    <a:pt x="3267367" y="1361909"/>
                  </a:lnTo>
                  <a:lnTo>
                    <a:pt x="3203079" y="1233322"/>
                  </a:lnTo>
                  <a:lnTo>
                    <a:pt x="3131642" y="1376197"/>
                  </a:lnTo>
                  <a:lnTo>
                    <a:pt x="3188792" y="1376197"/>
                  </a:lnTo>
                  <a:lnTo>
                    <a:pt x="3188792" y="1443570"/>
                  </a:lnTo>
                  <a:lnTo>
                    <a:pt x="3217367" y="1443570"/>
                  </a:lnTo>
                  <a:lnTo>
                    <a:pt x="3217367" y="1376197"/>
                  </a:lnTo>
                  <a:lnTo>
                    <a:pt x="3274517" y="1376197"/>
                  </a:lnTo>
                  <a:close/>
                </a:path>
                <a:path w="3274695" h="2498725">
                  <a:moveTo>
                    <a:pt x="3274517" y="401472"/>
                  </a:moveTo>
                  <a:lnTo>
                    <a:pt x="3217367" y="401472"/>
                  </a:lnTo>
                  <a:lnTo>
                    <a:pt x="3217367" y="318350"/>
                  </a:lnTo>
                  <a:lnTo>
                    <a:pt x="3188792" y="318350"/>
                  </a:lnTo>
                  <a:lnTo>
                    <a:pt x="3188792" y="401472"/>
                  </a:lnTo>
                  <a:lnTo>
                    <a:pt x="3131642" y="401472"/>
                  </a:lnTo>
                  <a:lnTo>
                    <a:pt x="3203079" y="544347"/>
                  </a:lnTo>
                  <a:lnTo>
                    <a:pt x="3273209" y="404075"/>
                  </a:lnTo>
                  <a:lnTo>
                    <a:pt x="3274517" y="401472"/>
                  </a:lnTo>
                  <a:close/>
                </a:path>
              </a:pathLst>
            </a:custGeom>
            <a:solidFill>
              <a:srgbClr val="4472C4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5" name="object 15"/>
            <p:cNvSpPr/>
            <p:nvPr/>
          </p:nvSpPr>
          <p:spPr>
            <a:xfrm>
              <a:off x="6872976" y="3385441"/>
              <a:ext cx="380365" cy="1447800"/>
            </a:xfrm>
            <a:custGeom>
              <a:avLst/>
              <a:gdLst/>
              <a:ahLst/>
              <a:cxnLst/>
              <a:rect l="l" t="t" r="r" b="b"/>
              <a:pathLst>
                <a:path w="380365" h="1447800">
                  <a:moveTo>
                    <a:pt x="316490" y="0"/>
                  </a:moveTo>
                  <a:lnTo>
                    <a:pt x="63299" y="0"/>
                  </a:lnTo>
                  <a:lnTo>
                    <a:pt x="38660" y="4974"/>
                  </a:lnTo>
                  <a:lnTo>
                    <a:pt x="18539" y="18539"/>
                  </a:lnTo>
                  <a:lnTo>
                    <a:pt x="4974" y="38659"/>
                  </a:lnTo>
                  <a:lnTo>
                    <a:pt x="0" y="63298"/>
                  </a:lnTo>
                  <a:lnTo>
                    <a:pt x="0" y="1384329"/>
                  </a:lnTo>
                  <a:lnTo>
                    <a:pt x="4974" y="1408968"/>
                  </a:lnTo>
                  <a:lnTo>
                    <a:pt x="18539" y="1429088"/>
                  </a:lnTo>
                  <a:lnTo>
                    <a:pt x="38660" y="1442654"/>
                  </a:lnTo>
                  <a:lnTo>
                    <a:pt x="63299" y="1447628"/>
                  </a:lnTo>
                  <a:lnTo>
                    <a:pt x="316490" y="1447628"/>
                  </a:lnTo>
                  <a:lnTo>
                    <a:pt x="341129" y="1442654"/>
                  </a:lnTo>
                  <a:lnTo>
                    <a:pt x="361249" y="1429088"/>
                  </a:lnTo>
                  <a:lnTo>
                    <a:pt x="374814" y="1408968"/>
                  </a:lnTo>
                  <a:lnTo>
                    <a:pt x="379788" y="1384329"/>
                  </a:lnTo>
                  <a:lnTo>
                    <a:pt x="379788" y="63298"/>
                  </a:lnTo>
                  <a:lnTo>
                    <a:pt x="374814" y="38659"/>
                  </a:lnTo>
                  <a:lnTo>
                    <a:pt x="361249" y="18539"/>
                  </a:lnTo>
                  <a:lnTo>
                    <a:pt x="341129" y="4974"/>
                  </a:lnTo>
                  <a:lnTo>
                    <a:pt x="316490" y="0"/>
                  </a:lnTo>
                  <a:close/>
                </a:path>
              </a:pathLst>
            </a:custGeom>
            <a:solidFill>
              <a:srgbClr val="C5E0B4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40453" y="3778138"/>
              <a:ext cx="236200" cy="21472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40453" y="4019508"/>
              <a:ext cx="236200" cy="21472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40453" y="4260876"/>
              <a:ext cx="236200" cy="2147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446210" y="4052796"/>
              <a:ext cx="427355" cy="114300"/>
            </a:xfrm>
            <a:custGeom>
              <a:avLst/>
              <a:gdLst/>
              <a:ahLst/>
              <a:cxnLst/>
              <a:rect l="l" t="t" r="r" b="b"/>
              <a:pathLst>
                <a:path w="427354" h="114300">
                  <a:moveTo>
                    <a:pt x="312124" y="0"/>
                  </a:moveTo>
                  <a:lnTo>
                    <a:pt x="312813" y="114297"/>
                  </a:lnTo>
                  <a:lnTo>
                    <a:pt x="387879" y="76197"/>
                  </a:lnTo>
                  <a:lnTo>
                    <a:pt x="331634" y="76197"/>
                  </a:lnTo>
                  <a:lnTo>
                    <a:pt x="331515" y="56460"/>
                  </a:lnTo>
                  <a:lnTo>
                    <a:pt x="331404" y="38099"/>
                  </a:lnTo>
                  <a:lnTo>
                    <a:pt x="389484" y="38099"/>
                  </a:lnTo>
                  <a:lnTo>
                    <a:pt x="312124" y="0"/>
                  </a:lnTo>
                  <a:close/>
                </a:path>
                <a:path w="427354" h="114300">
                  <a:moveTo>
                    <a:pt x="312353" y="38099"/>
                  </a:moveTo>
                  <a:lnTo>
                    <a:pt x="0" y="39980"/>
                  </a:lnTo>
                  <a:lnTo>
                    <a:pt x="99" y="56460"/>
                  </a:lnTo>
                  <a:lnTo>
                    <a:pt x="218" y="76197"/>
                  </a:lnTo>
                  <a:lnTo>
                    <a:pt x="229" y="78079"/>
                  </a:lnTo>
                  <a:lnTo>
                    <a:pt x="312583" y="76197"/>
                  </a:lnTo>
                  <a:lnTo>
                    <a:pt x="312464" y="56460"/>
                  </a:lnTo>
                  <a:lnTo>
                    <a:pt x="312353" y="38099"/>
                  </a:lnTo>
                  <a:close/>
                </a:path>
                <a:path w="427354" h="114300">
                  <a:moveTo>
                    <a:pt x="389484" y="38099"/>
                  </a:moveTo>
                  <a:lnTo>
                    <a:pt x="331404" y="38099"/>
                  </a:lnTo>
                  <a:lnTo>
                    <a:pt x="331515" y="56460"/>
                  </a:lnTo>
                  <a:lnTo>
                    <a:pt x="331634" y="76197"/>
                  </a:lnTo>
                  <a:lnTo>
                    <a:pt x="387879" y="76197"/>
                  </a:lnTo>
                  <a:lnTo>
                    <a:pt x="426766" y="56460"/>
                  </a:lnTo>
                  <a:lnTo>
                    <a:pt x="389484" y="38099"/>
                  </a:lnTo>
                  <a:close/>
                </a:path>
              </a:pathLst>
            </a:custGeom>
            <a:solidFill>
              <a:srgbClr val="70AD47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941022" y="3536769"/>
              <a:ext cx="236202" cy="21472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40287" y="4499982"/>
              <a:ext cx="236202" cy="214729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303028" y="2551304"/>
              <a:ext cx="380365" cy="1372235"/>
            </a:xfrm>
            <a:custGeom>
              <a:avLst/>
              <a:gdLst/>
              <a:ahLst/>
              <a:cxnLst/>
              <a:rect l="l" t="t" r="r" b="b"/>
              <a:pathLst>
                <a:path w="380364" h="1372235">
                  <a:moveTo>
                    <a:pt x="316489" y="0"/>
                  </a:moveTo>
                  <a:lnTo>
                    <a:pt x="63300" y="0"/>
                  </a:lnTo>
                  <a:lnTo>
                    <a:pt x="38660" y="4974"/>
                  </a:lnTo>
                  <a:lnTo>
                    <a:pt x="18540" y="18540"/>
                  </a:lnTo>
                  <a:lnTo>
                    <a:pt x="4974" y="38661"/>
                  </a:lnTo>
                  <a:lnTo>
                    <a:pt x="0" y="63300"/>
                  </a:lnTo>
                  <a:lnTo>
                    <a:pt x="0" y="1308627"/>
                  </a:lnTo>
                  <a:lnTo>
                    <a:pt x="4974" y="1333266"/>
                  </a:lnTo>
                  <a:lnTo>
                    <a:pt x="18540" y="1353387"/>
                  </a:lnTo>
                  <a:lnTo>
                    <a:pt x="38660" y="1366953"/>
                  </a:lnTo>
                  <a:lnTo>
                    <a:pt x="63300" y="1371927"/>
                  </a:lnTo>
                  <a:lnTo>
                    <a:pt x="316489" y="1371927"/>
                  </a:lnTo>
                  <a:lnTo>
                    <a:pt x="341128" y="1366953"/>
                  </a:lnTo>
                  <a:lnTo>
                    <a:pt x="361249" y="1353387"/>
                  </a:lnTo>
                  <a:lnTo>
                    <a:pt x="374815" y="1333266"/>
                  </a:lnTo>
                  <a:lnTo>
                    <a:pt x="379789" y="1308627"/>
                  </a:lnTo>
                  <a:lnTo>
                    <a:pt x="379789" y="63300"/>
                  </a:lnTo>
                  <a:lnTo>
                    <a:pt x="374815" y="38661"/>
                  </a:lnTo>
                  <a:lnTo>
                    <a:pt x="361249" y="18540"/>
                  </a:lnTo>
                  <a:lnTo>
                    <a:pt x="341128" y="4974"/>
                  </a:lnTo>
                  <a:lnTo>
                    <a:pt x="316489" y="0"/>
                  </a:lnTo>
                  <a:close/>
                </a:path>
              </a:pathLst>
            </a:custGeom>
            <a:solidFill>
              <a:srgbClr val="BDD7EE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23" name="object 2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69598" y="3122235"/>
              <a:ext cx="236200" cy="214729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69598" y="3387741"/>
              <a:ext cx="236200" cy="214729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69598" y="3653246"/>
              <a:ext cx="236200" cy="21472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69598" y="2849896"/>
              <a:ext cx="236200" cy="214729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69598" y="2577559"/>
              <a:ext cx="236200" cy="214729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722792" y="4106339"/>
              <a:ext cx="380365" cy="1372235"/>
            </a:xfrm>
            <a:custGeom>
              <a:avLst/>
              <a:gdLst/>
              <a:ahLst/>
              <a:cxnLst/>
              <a:rect l="l" t="t" r="r" b="b"/>
              <a:pathLst>
                <a:path w="380364" h="1372235">
                  <a:moveTo>
                    <a:pt x="316489" y="0"/>
                  </a:moveTo>
                  <a:lnTo>
                    <a:pt x="63300" y="0"/>
                  </a:lnTo>
                  <a:lnTo>
                    <a:pt x="38660" y="4974"/>
                  </a:lnTo>
                  <a:lnTo>
                    <a:pt x="18540" y="18540"/>
                  </a:lnTo>
                  <a:lnTo>
                    <a:pt x="4974" y="38661"/>
                  </a:lnTo>
                  <a:lnTo>
                    <a:pt x="0" y="63300"/>
                  </a:lnTo>
                  <a:lnTo>
                    <a:pt x="0" y="1308627"/>
                  </a:lnTo>
                  <a:lnTo>
                    <a:pt x="4974" y="1333266"/>
                  </a:lnTo>
                  <a:lnTo>
                    <a:pt x="18540" y="1353387"/>
                  </a:lnTo>
                  <a:lnTo>
                    <a:pt x="38660" y="1366953"/>
                  </a:lnTo>
                  <a:lnTo>
                    <a:pt x="63300" y="1371927"/>
                  </a:lnTo>
                  <a:lnTo>
                    <a:pt x="316489" y="1371927"/>
                  </a:lnTo>
                  <a:lnTo>
                    <a:pt x="341128" y="1366953"/>
                  </a:lnTo>
                  <a:lnTo>
                    <a:pt x="361248" y="1353387"/>
                  </a:lnTo>
                  <a:lnTo>
                    <a:pt x="374814" y="1333266"/>
                  </a:lnTo>
                  <a:lnTo>
                    <a:pt x="379788" y="1308627"/>
                  </a:lnTo>
                  <a:lnTo>
                    <a:pt x="379788" y="63300"/>
                  </a:lnTo>
                  <a:lnTo>
                    <a:pt x="374814" y="38661"/>
                  </a:lnTo>
                  <a:lnTo>
                    <a:pt x="361248" y="18540"/>
                  </a:lnTo>
                  <a:lnTo>
                    <a:pt x="341128" y="4974"/>
                  </a:lnTo>
                  <a:lnTo>
                    <a:pt x="316489" y="0"/>
                  </a:lnTo>
                  <a:close/>
                </a:path>
              </a:pathLst>
            </a:custGeom>
            <a:solidFill>
              <a:srgbClr val="BDD7EE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89362" y="4677270"/>
              <a:ext cx="236200" cy="214729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89362" y="4942775"/>
              <a:ext cx="236200" cy="214729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89362" y="5208281"/>
              <a:ext cx="236200" cy="214729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89362" y="4404931"/>
              <a:ext cx="236200" cy="214729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89362" y="4132594"/>
              <a:ext cx="236200" cy="21472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2057459" y="4106339"/>
              <a:ext cx="380365" cy="1372235"/>
            </a:xfrm>
            <a:custGeom>
              <a:avLst/>
              <a:gdLst/>
              <a:ahLst/>
              <a:cxnLst/>
              <a:rect l="l" t="t" r="r" b="b"/>
              <a:pathLst>
                <a:path w="380364" h="1372235">
                  <a:moveTo>
                    <a:pt x="316489" y="0"/>
                  </a:moveTo>
                  <a:lnTo>
                    <a:pt x="63300" y="0"/>
                  </a:lnTo>
                  <a:lnTo>
                    <a:pt x="38661" y="4974"/>
                  </a:lnTo>
                  <a:lnTo>
                    <a:pt x="18540" y="18540"/>
                  </a:lnTo>
                  <a:lnTo>
                    <a:pt x="4974" y="38661"/>
                  </a:lnTo>
                  <a:lnTo>
                    <a:pt x="0" y="63300"/>
                  </a:lnTo>
                  <a:lnTo>
                    <a:pt x="0" y="1308627"/>
                  </a:lnTo>
                  <a:lnTo>
                    <a:pt x="4974" y="1333266"/>
                  </a:lnTo>
                  <a:lnTo>
                    <a:pt x="18540" y="1353387"/>
                  </a:lnTo>
                  <a:lnTo>
                    <a:pt x="38661" y="1366953"/>
                  </a:lnTo>
                  <a:lnTo>
                    <a:pt x="63300" y="1371927"/>
                  </a:lnTo>
                  <a:lnTo>
                    <a:pt x="316489" y="1371927"/>
                  </a:lnTo>
                  <a:lnTo>
                    <a:pt x="341128" y="1366953"/>
                  </a:lnTo>
                  <a:lnTo>
                    <a:pt x="361249" y="1353387"/>
                  </a:lnTo>
                  <a:lnTo>
                    <a:pt x="374815" y="1333266"/>
                  </a:lnTo>
                  <a:lnTo>
                    <a:pt x="379789" y="1308627"/>
                  </a:lnTo>
                  <a:lnTo>
                    <a:pt x="379789" y="63300"/>
                  </a:lnTo>
                  <a:lnTo>
                    <a:pt x="374815" y="38661"/>
                  </a:lnTo>
                  <a:lnTo>
                    <a:pt x="361249" y="18540"/>
                  </a:lnTo>
                  <a:lnTo>
                    <a:pt x="341128" y="4974"/>
                  </a:lnTo>
                  <a:lnTo>
                    <a:pt x="316489" y="0"/>
                  </a:lnTo>
                  <a:close/>
                </a:path>
              </a:pathLst>
            </a:custGeom>
            <a:solidFill>
              <a:srgbClr val="BDD7EE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35" name="object 3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24029" y="4677270"/>
              <a:ext cx="236202" cy="214729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24029" y="4942775"/>
              <a:ext cx="236202" cy="21472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24029" y="5208281"/>
              <a:ext cx="236202" cy="214729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24029" y="4404931"/>
              <a:ext cx="236202" cy="214729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24029" y="4132594"/>
              <a:ext cx="236202" cy="214729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2926120" y="3275882"/>
              <a:ext cx="335915" cy="305435"/>
            </a:xfrm>
            <a:custGeom>
              <a:avLst/>
              <a:gdLst/>
              <a:ahLst/>
              <a:cxnLst/>
              <a:rect l="l" t="t" r="r" b="b"/>
              <a:pathLst>
                <a:path w="335914" h="305435">
                  <a:moveTo>
                    <a:pt x="167835" y="0"/>
                  </a:moveTo>
                  <a:lnTo>
                    <a:pt x="114786" y="7778"/>
                  </a:lnTo>
                  <a:lnTo>
                    <a:pt x="68713" y="29438"/>
                  </a:lnTo>
                  <a:lnTo>
                    <a:pt x="32382" y="62467"/>
                  </a:lnTo>
                  <a:lnTo>
                    <a:pt x="8556" y="104351"/>
                  </a:lnTo>
                  <a:lnTo>
                    <a:pt x="0" y="152577"/>
                  </a:lnTo>
                  <a:lnTo>
                    <a:pt x="8556" y="200804"/>
                  </a:lnTo>
                  <a:lnTo>
                    <a:pt x="32382" y="242688"/>
                  </a:lnTo>
                  <a:lnTo>
                    <a:pt x="68713" y="275717"/>
                  </a:lnTo>
                  <a:lnTo>
                    <a:pt x="114786" y="297378"/>
                  </a:lnTo>
                  <a:lnTo>
                    <a:pt x="167835" y="305156"/>
                  </a:lnTo>
                  <a:lnTo>
                    <a:pt x="220884" y="297378"/>
                  </a:lnTo>
                  <a:lnTo>
                    <a:pt x="266957" y="275717"/>
                  </a:lnTo>
                  <a:lnTo>
                    <a:pt x="303289" y="242688"/>
                  </a:lnTo>
                  <a:lnTo>
                    <a:pt x="327115" y="200804"/>
                  </a:lnTo>
                  <a:lnTo>
                    <a:pt x="335672" y="152577"/>
                  </a:lnTo>
                  <a:lnTo>
                    <a:pt x="327115" y="104351"/>
                  </a:lnTo>
                  <a:lnTo>
                    <a:pt x="303289" y="62467"/>
                  </a:lnTo>
                  <a:lnTo>
                    <a:pt x="266957" y="29438"/>
                  </a:lnTo>
                  <a:lnTo>
                    <a:pt x="220884" y="7778"/>
                  </a:lnTo>
                  <a:lnTo>
                    <a:pt x="167835" y="0"/>
                  </a:lnTo>
                  <a:close/>
                </a:path>
              </a:pathLst>
            </a:custGeom>
            <a:solidFill>
              <a:srgbClr val="4472C4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2603714" y="6027758"/>
            <a:ext cx="2233983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10" dirty="0">
                <a:latin typeface="Arial MT"/>
                <a:cs typeface="Arial MT"/>
              </a:rPr>
              <a:t>Neighbor</a:t>
            </a:r>
            <a:r>
              <a:rPr sz="1799" spc="-55" dirty="0">
                <a:latin typeface="Arial MT"/>
                <a:cs typeface="Arial MT"/>
              </a:rPr>
              <a:t> </a:t>
            </a:r>
            <a:r>
              <a:rPr sz="1799" spc="-10" dirty="0">
                <a:latin typeface="Arial MT"/>
                <a:cs typeface="Arial MT"/>
              </a:rPr>
              <a:t>Aggregation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title"/>
          </p:nvPr>
        </p:nvSpPr>
        <p:spPr>
          <a:xfrm>
            <a:off x="254200" y="184417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Graph</a:t>
            </a:r>
            <a:r>
              <a:rPr spc="-35" dirty="0"/>
              <a:t> </a:t>
            </a:r>
            <a:r>
              <a:rPr dirty="0"/>
              <a:t>Neural</a:t>
            </a:r>
            <a:r>
              <a:rPr spc="-25" dirty="0"/>
              <a:t> </a:t>
            </a:r>
            <a:r>
              <a:rPr spc="-10" dirty="0"/>
              <a:t>Network</a:t>
            </a:r>
            <a:r>
              <a:rPr spc="-200" dirty="0"/>
              <a:t> </a:t>
            </a:r>
            <a:r>
              <a:rPr spc="-10" dirty="0"/>
              <a:t>Architecture</a:t>
            </a:r>
          </a:p>
        </p:txBody>
      </p:sp>
      <p:sp>
        <p:nvSpPr>
          <p:cNvPr id="43" name="object 43"/>
          <p:cNvSpPr txBox="1"/>
          <p:nvPr/>
        </p:nvSpPr>
        <p:spPr>
          <a:xfrm>
            <a:off x="916700" y="1572743"/>
            <a:ext cx="8528368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239957" indent="-227261">
              <a:spcBef>
                <a:spcPts val="10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Combine</a:t>
            </a:r>
            <a:r>
              <a:rPr sz="2399" spc="-40" dirty="0">
                <a:latin typeface="Arial MT"/>
                <a:cs typeface="Arial MT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graph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propagation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dirty="0">
                <a:latin typeface="Arial MT"/>
                <a:cs typeface="Arial MT"/>
              </a:rPr>
              <a:t>w/</a:t>
            </a:r>
            <a:r>
              <a:rPr sz="2399" spc="-45" dirty="0">
                <a:latin typeface="Arial MT"/>
                <a:cs typeface="Arial MT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399" b="1" spc="-4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network</a:t>
            </a:r>
            <a:r>
              <a:rPr sz="2399" b="1" spc="-4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operations</a:t>
            </a:r>
            <a:endParaRPr sz="2399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3016970" y="3279179"/>
            <a:ext cx="165692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1799" spc="-50" dirty="0">
                <a:solidFill>
                  <a:srgbClr val="FFFFFF"/>
                </a:solidFill>
                <a:latin typeface="Arial MT"/>
                <a:cs typeface="Arial MT"/>
              </a:rPr>
              <a:t>B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2940738" y="3912355"/>
            <a:ext cx="335828" cy="305355"/>
          </a:xfrm>
          <a:custGeom>
            <a:avLst/>
            <a:gdLst/>
            <a:ahLst/>
            <a:cxnLst/>
            <a:rect l="l" t="t" r="r" b="b"/>
            <a:pathLst>
              <a:path w="335914" h="305435">
                <a:moveTo>
                  <a:pt x="167836" y="0"/>
                </a:moveTo>
                <a:lnTo>
                  <a:pt x="114787" y="7778"/>
                </a:lnTo>
                <a:lnTo>
                  <a:pt x="68714" y="29438"/>
                </a:lnTo>
                <a:lnTo>
                  <a:pt x="32382" y="62467"/>
                </a:lnTo>
                <a:lnTo>
                  <a:pt x="8556" y="104351"/>
                </a:lnTo>
                <a:lnTo>
                  <a:pt x="0" y="152577"/>
                </a:lnTo>
                <a:lnTo>
                  <a:pt x="8556" y="200804"/>
                </a:lnTo>
                <a:lnTo>
                  <a:pt x="32382" y="242688"/>
                </a:lnTo>
                <a:lnTo>
                  <a:pt x="68714" y="275717"/>
                </a:lnTo>
                <a:lnTo>
                  <a:pt x="114787" y="297378"/>
                </a:lnTo>
                <a:lnTo>
                  <a:pt x="167836" y="305156"/>
                </a:lnTo>
                <a:lnTo>
                  <a:pt x="220886" y="297378"/>
                </a:lnTo>
                <a:lnTo>
                  <a:pt x="266958" y="275717"/>
                </a:lnTo>
                <a:lnTo>
                  <a:pt x="303290" y="242688"/>
                </a:lnTo>
                <a:lnTo>
                  <a:pt x="327116" y="200804"/>
                </a:lnTo>
                <a:lnTo>
                  <a:pt x="335672" y="152577"/>
                </a:lnTo>
                <a:lnTo>
                  <a:pt x="327116" y="104351"/>
                </a:lnTo>
                <a:lnTo>
                  <a:pt x="303290" y="62467"/>
                </a:lnTo>
                <a:lnTo>
                  <a:pt x="266958" y="29438"/>
                </a:lnTo>
                <a:lnTo>
                  <a:pt x="220886" y="7778"/>
                </a:lnTo>
                <a:lnTo>
                  <a:pt x="16783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46" name="object 46"/>
          <p:cNvSpPr txBox="1"/>
          <p:nvPr/>
        </p:nvSpPr>
        <p:spPr>
          <a:xfrm>
            <a:off x="3019654" y="3916044"/>
            <a:ext cx="178389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1799" spc="-5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3372770" y="4434761"/>
            <a:ext cx="335828" cy="305355"/>
          </a:xfrm>
          <a:custGeom>
            <a:avLst/>
            <a:gdLst/>
            <a:ahLst/>
            <a:cxnLst/>
            <a:rect l="l" t="t" r="r" b="b"/>
            <a:pathLst>
              <a:path w="335914" h="305435">
                <a:moveTo>
                  <a:pt x="167836" y="0"/>
                </a:moveTo>
                <a:lnTo>
                  <a:pt x="114787" y="7778"/>
                </a:lnTo>
                <a:lnTo>
                  <a:pt x="68714" y="29438"/>
                </a:lnTo>
                <a:lnTo>
                  <a:pt x="32382" y="62467"/>
                </a:lnTo>
                <a:lnTo>
                  <a:pt x="8556" y="104352"/>
                </a:lnTo>
                <a:lnTo>
                  <a:pt x="0" y="152579"/>
                </a:lnTo>
                <a:lnTo>
                  <a:pt x="8556" y="200805"/>
                </a:lnTo>
                <a:lnTo>
                  <a:pt x="32382" y="242689"/>
                </a:lnTo>
                <a:lnTo>
                  <a:pt x="68714" y="275718"/>
                </a:lnTo>
                <a:lnTo>
                  <a:pt x="114787" y="297378"/>
                </a:lnTo>
                <a:lnTo>
                  <a:pt x="167836" y="305156"/>
                </a:lnTo>
                <a:lnTo>
                  <a:pt x="220886" y="297378"/>
                </a:lnTo>
                <a:lnTo>
                  <a:pt x="266959" y="275718"/>
                </a:lnTo>
                <a:lnTo>
                  <a:pt x="303290" y="242689"/>
                </a:lnTo>
                <a:lnTo>
                  <a:pt x="327117" y="200805"/>
                </a:lnTo>
                <a:lnTo>
                  <a:pt x="335673" y="152579"/>
                </a:lnTo>
                <a:lnTo>
                  <a:pt x="327117" y="104352"/>
                </a:lnTo>
                <a:lnTo>
                  <a:pt x="303290" y="62467"/>
                </a:lnTo>
                <a:lnTo>
                  <a:pt x="266959" y="29438"/>
                </a:lnTo>
                <a:lnTo>
                  <a:pt x="220886" y="7778"/>
                </a:lnTo>
                <a:lnTo>
                  <a:pt x="167836" y="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48" name="object 48"/>
          <p:cNvSpPr txBox="1"/>
          <p:nvPr/>
        </p:nvSpPr>
        <p:spPr>
          <a:xfrm>
            <a:off x="3458035" y="4437116"/>
            <a:ext cx="177754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1799" spc="-50" dirty="0">
                <a:solidFill>
                  <a:srgbClr val="FFFFFF"/>
                </a:solidFill>
                <a:latin typeface="Arial MT"/>
                <a:cs typeface="Arial MT"/>
              </a:rPr>
              <a:t>D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2494732" y="4434760"/>
            <a:ext cx="335828" cy="305355"/>
          </a:xfrm>
          <a:custGeom>
            <a:avLst/>
            <a:gdLst/>
            <a:ahLst/>
            <a:cxnLst/>
            <a:rect l="l" t="t" r="r" b="b"/>
            <a:pathLst>
              <a:path w="335914" h="305435">
                <a:moveTo>
                  <a:pt x="167835" y="0"/>
                </a:moveTo>
                <a:lnTo>
                  <a:pt x="114786" y="7778"/>
                </a:lnTo>
                <a:lnTo>
                  <a:pt x="68713" y="29438"/>
                </a:lnTo>
                <a:lnTo>
                  <a:pt x="32382" y="62467"/>
                </a:lnTo>
                <a:lnTo>
                  <a:pt x="8556" y="104352"/>
                </a:lnTo>
                <a:lnTo>
                  <a:pt x="0" y="152579"/>
                </a:lnTo>
                <a:lnTo>
                  <a:pt x="8556" y="200805"/>
                </a:lnTo>
                <a:lnTo>
                  <a:pt x="32382" y="242689"/>
                </a:lnTo>
                <a:lnTo>
                  <a:pt x="68713" y="275718"/>
                </a:lnTo>
                <a:lnTo>
                  <a:pt x="114786" y="297378"/>
                </a:lnTo>
                <a:lnTo>
                  <a:pt x="167835" y="305156"/>
                </a:lnTo>
                <a:lnTo>
                  <a:pt x="220884" y="297378"/>
                </a:lnTo>
                <a:lnTo>
                  <a:pt x="266957" y="275718"/>
                </a:lnTo>
                <a:lnTo>
                  <a:pt x="303289" y="242689"/>
                </a:lnTo>
                <a:lnTo>
                  <a:pt x="327115" y="200805"/>
                </a:lnTo>
                <a:lnTo>
                  <a:pt x="335672" y="152579"/>
                </a:lnTo>
                <a:lnTo>
                  <a:pt x="327115" y="104352"/>
                </a:lnTo>
                <a:lnTo>
                  <a:pt x="303289" y="62467"/>
                </a:lnTo>
                <a:lnTo>
                  <a:pt x="266957" y="29438"/>
                </a:lnTo>
                <a:lnTo>
                  <a:pt x="220884" y="7778"/>
                </a:lnTo>
                <a:lnTo>
                  <a:pt x="167835" y="0"/>
                </a:lnTo>
                <a:close/>
              </a:path>
            </a:pathLst>
          </a:custGeom>
          <a:solidFill>
            <a:srgbClr val="4472C4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sp>
        <p:nvSpPr>
          <p:cNvPr id="50" name="object 50"/>
          <p:cNvSpPr txBox="1"/>
          <p:nvPr/>
        </p:nvSpPr>
        <p:spPr>
          <a:xfrm>
            <a:off x="2579994" y="4437116"/>
            <a:ext cx="177754" cy="299642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1799" spc="-50" dirty="0">
                <a:solidFill>
                  <a:srgbClr val="FFFFFF"/>
                </a:solidFill>
                <a:latin typeface="Arial MT"/>
                <a:cs typeface="Arial MT"/>
              </a:rPr>
              <a:t>C</a:t>
            </a:r>
            <a:endParaRPr sz="1799">
              <a:latin typeface="Arial MT"/>
              <a:cs typeface="Arial MT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2769363" y="3580337"/>
            <a:ext cx="664672" cy="1013830"/>
            <a:chOff x="2770084" y="3580376"/>
            <a:chExt cx="664845" cy="1014094"/>
          </a:xfrm>
        </p:grpSpPr>
        <p:sp>
          <p:nvSpPr>
            <p:cNvPr id="52" name="object 52"/>
            <p:cNvSpPr/>
            <p:nvPr/>
          </p:nvSpPr>
          <p:spPr>
            <a:xfrm>
              <a:off x="2831054" y="4587600"/>
              <a:ext cx="542925" cy="0"/>
            </a:xfrm>
            <a:custGeom>
              <a:avLst/>
              <a:gdLst/>
              <a:ahLst/>
              <a:cxnLst/>
              <a:rect l="l" t="t" r="r" b="b"/>
              <a:pathLst>
                <a:path w="542925">
                  <a:moveTo>
                    <a:pt x="0" y="0"/>
                  </a:moveTo>
                  <a:lnTo>
                    <a:pt x="542595" y="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53" name="object 53"/>
            <p:cNvSpPr/>
            <p:nvPr/>
          </p:nvSpPr>
          <p:spPr>
            <a:xfrm>
              <a:off x="2770073" y="3580383"/>
              <a:ext cx="664845" cy="907415"/>
            </a:xfrm>
            <a:custGeom>
              <a:avLst/>
              <a:gdLst/>
              <a:ahLst/>
              <a:cxnLst/>
              <a:rect l="l" t="t" r="r" b="b"/>
              <a:pathLst>
                <a:path w="664845" h="907414">
                  <a:moveTo>
                    <a:pt x="220586" y="592569"/>
                  </a:moveTo>
                  <a:lnTo>
                    <a:pt x="136918" y="639330"/>
                  </a:lnTo>
                  <a:lnTo>
                    <a:pt x="160540" y="655396"/>
                  </a:lnTo>
                  <a:lnTo>
                    <a:pt x="0" y="891298"/>
                  </a:lnTo>
                  <a:lnTo>
                    <a:pt x="23634" y="907376"/>
                  </a:lnTo>
                  <a:lnTo>
                    <a:pt x="184162" y="671474"/>
                  </a:lnTo>
                  <a:lnTo>
                    <a:pt x="207784" y="687552"/>
                  </a:lnTo>
                  <a:lnTo>
                    <a:pt x="213715" y="643585"/>
                  </a:lnTo>
                  <a:lnTo>
                    <a:pt x="220586" y="592569"/>
                  </a:lnTo>
                  <a:close/>
                </a:path>
                <a:path w="664845" h="907414">
                  <a:moveTo>
                    <a:pt x="378104" y="244487"/>
                  </a:moveTo>
                  <a:lnTo>
                    <a:pt x="349554" y="245808"/>
                  </a:lnTo>
                  <a:lnTo>
                    <a:pt x="338213" y="1320"/>
                  </a:lnTo>
                  <a:lnTo>
                    <a:pt x="338150" y="0"/>
                  </a:lnTo>
                  <a:lnTo>
                    <a:pt x="309600" y="1320"/>
                  </a:lnTo>
                  <a:lnTo>
                    <a:pt x="320890" y="244487"/>
                  </a:lnTo>
                  <a:lnTo>
                    <a:pt x="321017" y="247129"/>
                  </a:lnTo>
                  <a:lnTo>
                    <a:pt x="292468" y="248450"/>
                  </a:lnTo>
                  <a:lnTo>
                    <a:pt x="339255" y="332105"/>
                  </a:lnTo>
                  <a:lnTo>
                    <a:pt x="370598" y="261404"/>
                  </a:lnTo>
                  <a:lnTo>
                    <a:pt x="378104" y="244487"/>
                  </a:lnTo>
                  <a:close/>
                </a:path>
                <a:path w="664845" h="907414">
                  <a:moveTo>
                    <a:pt x="664794" y="891679"/>
                  </a:moveTo>
                  <a:lnTo>
                    <a:pt x="515950" y="657275"/>
                  </a:lnTo>
                  <a:lnTo>
                    <a:pt x="534949" y="645223"/>
                  </a:lnTo>
                  <a:lnTo>
                    <a:pt x="540080" y="641959"/>
                  </a:lnTo>
                  <a:lnTo>
                    <a:pt x="457936" y="592569"/>
                  </a:lnTo>
                  <a:lnTo>
                    <a:pt x="467702" y="687908"/>
                  </a:lnTo>
                  <a:lnTo>
                    <a:pt x="491832" y="672592"/>
                  </a:lnTo>
                  <a:lnTo>
                    <a:pt x="640664" y="906995"/>
                  </a:lnTo>
                  <a:lnTo>
                    <a:pt x="664794" y="8916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grpSp>
        <p:nvGrpSpPr>
          <p:cNvPr id="54" name="object 54"/>
          <p:cNvGrpSpPr/>
          <p:nvPr/>
        </p:nvGrpSpPr>
        <p:grpSpPr>
          <a:xfrm>
            <a:off x="58525" y="3357109"/>
            <a:ext cx="263456" cy="263456"/>
            <a:chOff x="58540" y="3357090"/>
            <a:chExt cx="263525" cy="263525"/>
          </a:xfrm>
        </p:grpSpPr>
        <p:pic>
          <p:nvPicPr>
            <p:cNvPr id="55" name="object 5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2827" y="3371377"/>
              <a:ext cx="234460" cy="234461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2827" y="3371377"/>
              <a:ext cx="234950" cy="234950"/>
            </a:xfrm>
            <a:custGeom>
              <a:avLst/>
              <a:gdLst/>
              <a:ahLst/>
              <a:cxnLst/>
              <a:rect l="l" t="t" r="r" b="b"/>
              <a:pathLst>
                <a:path w="234950" h="234950">
                  <a:moveTo>
                    <a:pt x="0" y="117230"/>
                  </a:moveTo>
                  <a:lnTo>
                    <a:pt x="9212" y="71599"/>
                  </a:lnTo>
                  <a:lnTo>
                    <a:pt x="34336" y="34336"/>
                  </a:lnTo>
                  <a:lnTo>
                    <a:pt x="71599" y="9212"/>
                  </a:lnTo>
                  <a:lnTo>
                    <a:pt x="117230" y="0"/>
                  </a:lnTo>
                  <a:lnTo>
                    <a:pt x="162861" y="9212"/>
                  </a:lnTo>
                  <a:lnTo>
                    <a:pt x="200124" y="34336"/>
                  </a:lnTo>
                  <a:lnTo>
                    <a:pt x="225248" y="71599"/>
                  </a:lnTo>
                  <a:lnTo>
                    <a:pt x="234461" y="117230"/>
                  </a:lnTo>
                  <a:lnTo>
                    <a:pt x="225248" y="162861"/>
                  </a:lnTo>
                  <a:lnTo>
                    <a:pt x="200124" y="200124"/>
                  </a:lnTo>
                  <a:lnTo>
                    <a:pt x="162861" y="225248"/>
                  </a:lnTo>
                  <a:lnTo>
                    <a:pt x="117230" y="234461"/>
                  </a:lnTo>
                  <a:lnTo>
                    <a:pt x="71599" y="225248"/>
                  </a:lnTo>
                  <a:lnTo>
                    <a:pt x="34336" y="200124"/>
                  </a:lnTo>
                  <a:lnTo>
                    <a:pt x="9212" y="162861"/>
                  </a:lnTo>
                  <a:lnTo>
                    <a:pt x="0" y="117230"/>
                  </a:lnTo>
                  <a:close/>
                </a:path>
              </a:pathLst>
            </a:custGeom>
            <a:ln w="28575">
              <a:solidFill>
                <a:srgbClr val="5B9BD5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grpSp>
        <p:nvGrpSpPr>
          <p:cNvPr id="57" name="object 57"/>
          <p:cNvGrpSpPr/>
          <p:nvPr/>
        </p:nvGrpSpPr>
        <p:grpSpPr>
          <a:xfrm>
            <a:off x="58524" y="2974168"/>
            <a:ext cx="263456" cy="263456"/>
            <a:chOff x="58539" y="2974049"/>
            <a:chExt cx="263525" cy="263525"/>
          </a:xfrm>
        </p:grpSpPr>
        <p:pic>
          <p:nvPicPr>
            <p:cNvPr id="58" name="object 5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2827" y="2988336"/>
              <a:ext cx="234461" cy="234461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72827" y="2988336"/>
              <a:ext cx="234950" cy="234950"/>
            </a:xfrm>
            <a:custGeom>
              <a:avLst/>
              <a:gdLst/>
              <a:ahLst/>
              <a:cxnLst/>
              <a:rect l="l" t="t" r="r" b="b"/>
              <a:pathLst>
                <a:path w="234950" h="234950">
                  <a:moveTo>
                    <a:pt x="0" y="117230"/>
                  </a:moveTo>
                  <a:lnTo>
                    <a:pt x="9212" y="71599"/>
                  </a:lnTo>
                  <a:lnTo>
                    <a:pt x="34336" y="34336"/>
                  </a:lnTo>
                  <a:lnTo>
                    <a:pt x="71599" y="9212"/>
                  </a:lnTo>
                  <a:lnTo>
                    <a:pt x="117230" y="0"/>
                  </a:lnTo>
                  <a:lnTo>
                    <a:pt x="162861" y="9212"/>
                  </a:lnTo>
                  <a:lnTo>
                    <a:pt x="200124" y="34336"/>
                  </a:lnTo>
                  <a:lnTo>
                    <a:pt x="225248" y="71599"/>
                  </a:lnTo>
                  <a:lnTo>
                    <a:pt x="234461" y="117230"/>
                  </a:lnTo>
                  <a:lnTo>
                    <a:pt x="225248" y="162861"/>
                  </a:lnTo>
                  <a:lnTo>
                    <a:pt x="200124" y="200124"/>
                  </a:lnTo>
                  <a:lnTo>
                    <a:pt x="162861" y="225248"/>
                  </a:lnTo>
                  <a:lnTo>
                    <a:pt x="117230" y="234461"/>
                  </a:lnTo>
                  <a:lnTo>
                    <a:pt x="71599" y="225248"/>
                  </a:lnTo>
                  <a:lnTo>
                    <a:pt x="34336" y="200124"/>
                  </a:lnTo>
                  <a:lnTo>
                    <a:pt x="9212" y="162861"/>
                  </a:lnTo>
                  <a:lnTo>
                    <a:pt x="0" y="117230"/>
                  </a:lnTo>
                  <a:close/>
                </a:path>
              </a:pathLst>
            </a:custGeom>
            <a:ln w="2857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415540" y="2834287"/>
            <a:ext cx="1346484" cy="75321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38723" marR="5078" indent="-26662">
              <a:lnSpc>
                <a:spcPct val="142200"/>
              </a:lnSpc>
              <a:spcBef>
                <a:spcPts val="100"/>
              </a:spcBef>
            </a:pPr>
            <a:r>
              <a:rPr sz="1799" spc="-25" dirty="0">
                <a:solidFill>
                  <a:srgbClr val="FF0000"/>
                </a:solidFill>
                <a:latin typeface="Arial MT"/>
                <a:cs typeface="Arial MT"/>
              </a:rPr>
              <a:t>Target</a:t>
            </a:r>
            <a:r>
              <a:rPr sz="1799" spc="-9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799" spc="-10" dirty="0">
                <a:solidFill>
                  <a:srgbClr val="FF0000"/>
                </a:solidFill>
                <a:latin typeface="Arial MT"/>
                <a:cs typeface="Arial MT"/>
              </a:rPr>
              <a:t>vertex </a:t>
            </a:r>
            <a:r>
              <a:rPr sz="1799" spc="-10" dirty="0">
                <a:solidFill>
                  <a:srgbClr val="4472C4"/>
                </a:solidFill>
                <a:latin typeface="Arial MT"/>
                <a:cs typeface="Arial MT"/>
              </a:rPr>
              <a:t>Neighbors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3794744" y="2639265"/>
            <a:ext cx="1676598" cy="568177"/>
          </a:xfrm>
          <a:prstGeom prst="rect">
            <a:avLst/>
          </a:prstGeom>
        </p:spPr>
        <p:txBody>
          <a:bodyPr vert="horz" wrap="square" lIns="0" tIns="26663" rIns="0" bIns="0" rtlCol="0">
            <a:spAutoFit/>
          </a:bodyPr>
          <a:lstStyle/>
          <a:p>
            <a:pPr marR="5078" indent="577677">
              <a:lnSpc>
                <a:spcPts val="2109"/>
              </a:lnSpc>
              <a:spcBef>
                <a:spcPts val="210"/>
              </a:spcBef>
            </a:pPr>
            <a:r>
              <a:rPr sz="1799" spc="-10" dirty="0">
                <a:latin typeface="Arial MT"/>
                <a:cs typeface="Arial MT"/>
              </a:rPr>
              <a:t>Input Representations</a:t>
            </a:r>
            <a:endParaRPr sz="1799">
              <a:latin typeface="Arial MT"/>
              <a:cs typeface="Arial MT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6624632" y="2214018"/>
            <a:ext cx="3626175" cy="21019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99">
              <a:latin typeface="Times New Roman"/>
              <a:cs typeface="Times New Roman"/>
            </a:endParaRPr>
          </a:p>
          <a:p>
            <a:pPr>
              <a:spcBef>
                <a:spcPts val="130"/>
              </a:spcBef>
            </a:pPr>
            <a:endParaRPr sz="1799">
              <a:latin typeface="Times New Roman"/>
              <a:cs typeface="Times New Roman"/>
            </a:endParaRPr>
          </a:p>
          <a:p>
            <a:pPr marL="971893" marR="982049" indent="603069">
              <a:lnSpc>
                <a:spcPts val="2089"/>
              </a:lnSpc>
            </a:pPr>
            <a:r>
              <a:rPr sz="1799" spc="-25" dirty="0">
                <a:latin typeface="Arial MT"/>
                <a:cs typeface="Arial MT"/>
              </a:rPr>
              <a:t>New </a:t>
            </a:r>
            <a:r>
              <a:rPr sz="1799" spc="-10" dirty="0">
                <a:latin typeface="Arial MT"/>
                <a:cs typeface="Arial MT"/>
              </a:rPr>
              <a:t>Representations</a:t>
            </a:r>
            <a:endParaRPr sz="1799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799">
              <a:latin typeface="Arial MT"/>
              <a:cs typeface="Arial MT"/>
            </a:endParaRPr>
          </a:p>
          <a:p>
            <a:pPr>
              <a:spcBef>
                <a:spcPts val="1275"/>
              </a:spcBef>
            </a:pPr>
            <a:endParaRPr sz="1799">
              <a:latin typeface="Arial MT"/>
              <a:cs typeface="Arial MT"/>
            </a:endParaRPr>
          </a:p>
          <a:p>
            <a:pPr marR="905872" algn="r"/>
            <a:r>
              <a:rPr sz="1799" spc="-5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endParaRPr sz="1799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6275" y="91295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dirty="0"/>
              <a:t>Challenges</a:t>
            </a:r>
            <a:r>
              <a:rPr spc="-50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GNN</a:t>
            </a:r>
            <a:r>
              <a:rPr spc="-40" dirty="0"/>
              <a:t> </a:t>
            </a:r>
            <a:r>
              <a:rPr dirty="0"/>
              <a:t>Computations</a:t>
            </a:r>
            <a:r>
              <a:rPr spc="-45" dirty="0"/>
              <a:t> </a:t>
            </a:r>
            <a:r>
              <a:rPr dirty="0"/>
              <a:t>on</a:t>
            </a:r>
            <a:r>
              <a:rPr spc="-50" dirty="0"/>
              <a:t> </a:t>
            </a:r>
            <a:r>
              <a:rPr spc="-20" dirty="0"/>
              <a:t>GPUs</a:t>
            </a:r>
          </a:p>
        </p:txBody>
      </p:sp>
      <p:sp>
        <p:nvSpPr>
          <p:cNvPr id="3" name="object 3"/>
          <p:cNvSpPr/>
          <p:nvPr/>
        </p:nvSpPr>
        <p:spPr>
          <a:xfrm>
            <a:off x="6056322" y="1473710"/>
            <a:ext cx="76180" cy="5104070"/>
          </a:xfrm>
          <a:custGeom>
            <a:avLst/>
            <a:gdLst/>
            <a:ahLst/>
            <a:cxnLst/>
            <a:rect l="l" t="t" r="r" b="b"/>
            <a:pathLst>
              <a:path w="76200" h="5105400">
                <a:moveTo>
                  <a:pt x="38100" y="0"/>
                </a:moveTo>
                <a:lnTo>
                  <a:pt x="23269" y="2994"/>
                </a:lnTo>
                <a:lnTo>
                  <a:pt x="11159" y="11159"/>
                </a:lnTo>
                <a:lnTo>
                  <a:pt x="2994" y="23269"/>
                </a:lnTo>
                <a:lnTo>
                  <a:pt x="0" y="38100"/>
                </a:lnTo>
                <a:lnTo>
                  <a:pt x="0" y="266700"/>
                </a:lnTo>
                <a:lnTo>
                  <a:pt x="2994" y="281530"/>
                </a:lnTo>
                <a:lnTo>
                  <a:pt x="11159" y="293640"/>
                </a:lnTo>
                <a:lnTo>
                  <a:pt x="23269" y="301805"/>
                </a:lnTo>
                <a:lnTo>
                  <a:pt x="38100" y="304800"/>
                </a:lnTo>
                <a:lnTo>
                  <a:pt x="52929" y="301805"/>
                </a:lnTo>
                <a:lnTo>
                  <a:pt x="65040" y="293640"/>
                </a:lnTo>
                <a:lnTo>
                  <a:pt x="73205" y="281530"/>
                </a:lnTo>
                <a:lnTo>
                  <a:pt x="76200" y="266700"/>
                </a:lnTo>
                <a:lnTo>
                  <a:pt x="76200" y="38100"/>
                </a:lnTo>
                <a:lnTo>
                  <a:pt x="73205" y="23269"/>
                </a:lnTo>
                <a:lnTo>
                  <a:pt x="65040" y="11159"/>
                </a:lnTo>
                <a:lnTo>
                  <a:pt x="52929" y="2994"/>
                </a:lnTo>
                <a:lnTo>
                  <a:pt x="38100" y="0"/>
                </a:lnTo>
                <a:close/>
              </a:path>
              <a:path w="76200" h="5105400">
                <a:moveTo>
                  <a:pt x="38100" y="533400"/>
                </a:moveTo>
                <a:lnTo>
                  <a:pt x="23269" y="536394"/>
                </a:lnTo>
                <a:lnTo>
                  <a:pt x="11159" y="544559"/>
                </a:lnTo>
                <a:lnTo>
                  <a:pt x="2994" y="556669"/>
                </a:lnTo>
                <a:lnTo>
                  <a:pt x="0" y="571500"/>
                </a:lnTo>
                <a:lnTo>
                  <a:pt x="0" y="800100"/>
                </a:lnTo>
                <a:lnTo>
                  <a:pt x="2994" y="814930"/>
                </a:lnTo>
                <a:lnTo>
                  <a:pt x="11159" y="827040"/>
                </a:lnTo>
                <a:lnTo>
                  <a:pt x="23269" y="835205"/>
                </a:lnTo>
                <a:lnTo>
                  <a:pt x="38100" y="838200"/>
                </a:lnTo>
                <a:lnTo>
                  <a:pt x="52930" y="835205"/>
                </a:lnTo>
                <a:lnTo>
                  <a:pt x="65040" y="827040"/>
                </a:lnTo>
                <a:lnTo>
                  <a:pt x="73205" y="814930"/>
                </a:lnTo>
                <a:lnTo>
                  <a:pt x="76200" y="800100"/>
                </a:lnTo>
                <a:lnTo>
                  <a:pt x="76200" y="571500"/>
                </a:lnTo>
                <a:lnTo>
                  <a:pt x="73205" y="556669"/>
                </a:lnTo>
                <a:lnTo>
                  <a:pt x="65040" y="544559"/>
                </a:lnTo>
                <a:lnTo>
                  <a:pt x="52930" y="536394"/>
                </a:lnTo>
                <a:lnTo>
                  <a:pt x="38100" y="533400"/>
                </a:lnTo>
                <a:close/>
              </a:path>
              <a:path w="76200" h="5105400">
                <a:moveTo>
                  <a:pt x="38100" y="1066800"/>
                </a:moveTo>
                <a:lnTo>
                  <a:pt x="23270" y="1069794"/>
                </a:lnTo>
                <a:lnTo>
                  <a:pt x="11159" y="1077959"/>
                </a:lnTo>
                <a:lnTo>
                  <a:pt x="2994" y="1090069"/>
                </a:lnTo>
                <a:lnTo>
                  <a:pt x="0" y="1104900"/>
                </a:lnTo>
                <a:lnTo>
                  <a:pt x="0" y="1333500"/>
                </a:lnTo>
                <a:lnTo>
                  <a:pt x="2994" y="1348329"/>
                </a:lnTo>
                <a:lnTo>
                  <a:pt x="11159" y="1360440"/>
                </a:lnTo>
                <a:lnTo>
                  <a:pt x="23270" y="1368605"/>
                </a:lnTo>
                <a:lnTo>
                  <a:pt x="38100" y="1371600"/>
                </a:lnTo>
                <a:lnTo>
                  <a:pt x="52930" y="1368605"/>
                </a:lnTo>
                <a:lnTo>
                  <a:pt x="65040" y="1360440"/>
                </a:lnTo>
                <a:lnTo>
                  <a:pt x="73205" y="1348329"/>
                </a:lnTo>
                <a:lnTo>
                  <a:pt x="76200" y="1333500"/>
                </a:lnTo>
                <a:lnTo>
                  <a:pt x="76200" y="1104900"/>
                </a:lnTo>
                <a:lnTo>
                  <a:pt x="73205" y="1090069"/>
                </a:lnTo>
                <a:lnTo>
                  <a:pt x="65040" y="1077959"/>
                </a:lnTo>
                <a:lnTo>
                  <a:pt x="52930" y="1069794"/>
                </a:lnTo>
                <a:lnTo>
                  <a:pt x="38100" y="1066800"/>
                </a:lnTo>
                <a:close/>
              </a:path>
              <a:path w="76200" h="5105400">
                <a:moveTo>
                  <a:pt x="38100" y="1600200"/>
                </a:moveTo>
                <a:lnTo>
                  <a:pt x="23270" y="1603194"/>
                </a:lnTo>
                <a:lnTo>
                  <a:pt x="11159" y="1611359"/>
                </a:lnTo>
                <a:lnTo>
                  <a:pt x="2994" y="1623469"/>
                </a:lnTo>
                <a:lnTo>
                  <a:pt x="0" y="1638300"/>
                </a:lnTo>
                <a:lnTo>
                  <a:pt x="0" y="1866900"/>
                </a:lnTo>
                <a:lnTo>
                  <a:pt x="2994" y="1881729"/>
                </a:lnTo>
                <a:lnTo>
                  <a:pt x="11159" y="1893840"/>
                </a:lnTo>
                <a:lnTo>
                  <a:pt x="23270" y="1902005"/>
                </a:lnTo>
                <a:lnTo>
                  <a:pt x="38100" y="1905000"/>
                </a:lnTo>
                <a:lnTo>
                  <a:pt x="52930" y="1902005"/>
                </a:lnTo>
                <a:lnTo>
                  <a:pt x="65040" y="1893840"/>
                </a:lnTo>
                <a:lnTo>
                  <a:pt x="73205" y="1881729"/>
                </a:lnTo>
                <a:lnTo>
                  <a:pt x="76200" y="1866900"/>
                </a:lnTo>
                <a:lnTo>
                  <a:pt x="76200" y="1638300"/>
                </a:lnTo>
                <a:lnTo>
                  <a:pt x="73205" y="1623469"/>
                </a:lnTo>
                <a:lnTo>
                  <a:pt x="65040" y="1611359"/>
                </a:lnTo>
                <a:lnTo>
                  <a:pt x="52930" y="1603194"/>
                </a:lnTo>
                <a:lnTo>
                  <a:pt x="38100" y="1600200"/>
                </a:lnTo>
                <a:close/>
              </a:path>
              <a:path w="76200" h="5105400">
                <a:moveTo>
                  <a:pt x="38100" y="2133600"/>
                </a:moveTo>
                <a:lnTo>
                  <a:pt x="23270" y="2136594"/>
                </a:lnTo>
                <a:lnTo>
                  <a:pt x="11159" y="2144759"/>
                </a:lnTo>
                <a:lnTo>
                  <a:pt x="2994" y="2156869"/>
                </a:lnTo>
                <a:lnTo>
                  <a:pt x="0" y="2171700"/>
                </a:lnTo>
                <a:lnTo>
                  <a:pt x="0" y="2400300"/>
                </a:lnTo>
                <a:lnTo>
                  <a:pt x="2994" y="2415129"/>
                </a:lnTo>
                <a:lnTo>
                  <a:pt x="11159" y="2427240"/>
                </a:lnTo>
                <a:lnTo>
                  <a:pt x="23270" y="2435405"/>
                </a:lnTo>
                <a:lnTo>
                  <a:pt x="38100" y="2438400"/>
                </a:lnTo>
                <a:lnTo>
                  <a:pt x="52930" y="2435405"/>
                </a:lnTo>
                <a:lnTo>
                  <a:pt x="65040" y="2427240"/>
                </a:lnTo>
                <a:lnTo>
                  <a:pt x="73205" y="2415129"/>
                </a:lnTo>
                <a:lnTo>
                  <a:pt x="76200" y="2400300"/>
                </a:lnTo>
                <a:lnTo>
                  <a:pt x="76200" y="2171700"/>
                </a:lnTo>
                <a:lnTo>
                  <a:pt x="73205" y="2156869"/>
                </a:lnTo>
                <a:lnTo>
                  <a:pt x="65040" y="2144759"/>
                </a:lnTo>
                <a:lnTo>
                  <a:pt x="52930" y="2136594"/>
                </a:lnTo>
                <a:lnTo>
                  <a:pt x="38100" y="2133600"/>
                </a:lnTo>
                <a:close/>
              </a:path>
              <a:path w="76200" h="5105400">
                <a:moveTo>
                  <a:pt x="38100" y="2667000"/>
                </a:moveTo>
                <a:lnTo>
                  <a:pt x="23270" y="2669994"/>
                </a:lnTo>
                <a:lnTo>
                  <a:pt x="11159" y="2678159"/>
                </a:lnTo>
                <a:lnTo>
                  <a:pt x="2994" y="2690269"/>
                </a:lnTo>
                <a:lnTo>
                  <a:pt x="0" y="2705100"/>
                </a:lnTo>
                <a:lnTo>
                  <a:pt x="0" y="2933700"/>
                </a:lnTo>
                <a:lnTo>
                  <a:pt x="2994" y="2948529"/>
                </a:lnTo>
                <a:lnTo>
                  <a:pt x="11159" y="2960640"/>
                </a:lnTo>
                <a:lnTo>
                  <a:pt x="23270" y="2968805"/>
                </a:lnTo>
                <a:lnTo>
                  <a:pt x="38100" y="2971800"/>
                </a:lnTo>
                <a:lnTo>
                  <a:pt x="52930" y="2968805"/>
                </a:lnTo>
                <a:lnTo>
                  <a:pt x="65040" y="2960640"/>
                </a:lnTo>
                <a:lnTo>
                  <a:pt x="73205" y="2948529"/>
                </a:lnTo>
                <a:lnTo>
                  <a:pt x="76200" y="2933700"/>
                </a:lnTo>
                <a:lnTo>
                  <a:pt x="76200" y="2705100"/>
                </a:lnTo>
                <a:lnTo>
                  <a:pt x="73205" y="2690269"/>
                </a:lnTo>
                <a:lnTo>
                  <a:pt x="65040" y="2678159"/>
                </a:lnTo>
                <a:lnTo>
                  <a:pt x="52930" y="2669994"/>
                </a:lnTo>
                <a:lnTo>
                  <a:pt x="38100" y="2667000"/>
                </a:lnTo>
                <a:close/>
              </a:path>
              <a:path w="76200" h="5105400">
                <a:moveTo>
                  <a:pt x="38100" y="3200400"/>
                </a:moveTo>
                <a:lnTo>
                  <a:pt x="23270" y="3203394"/>
                </a:lnTo>
                <a:lnTo>
                  <a:pt x="11159" y="3211559"/>
                </a:lnTo>
                <a:lnTo>
                  <a:pt x="2994" y="3223669"/>
                </a:lnTo>
                <a:lnTo>
                  <a:pt x="0" y="3238500"/>
                </a:lnTo>
                <a:lnTo>
                  <a:pt x="0" y="3467100"/>
                </a:lnTo>
                <a:lnTo>
                  <a:pt x="2994" y="3481929"/>
                </a:lnTo>
                <a:lnTo>
                  <a:pt x="11159" y="3494040"/>
                </a:lnTo>
                <a:lnTo>
                  <a:pt x="23270" y="3502205"/>
                </a:lnTo>
                <a:lnTo>
                  <a:pt x="38100" y="3505200"/>
                </a:lnTo>
                <a:lnTo>
                  <a:pt x="52930" y="3502205"/>
                </a:lnTo>
                <a:lnTo>
                  <a:pt x="65040" y="3494040"/>
                </a:lnTo>
                <a:lnTo>
                  <a:pt x="73205" y="3481929"/>
                </a:lnTo>
                <a:lnTo>
                  <a:pt x="76200" y="3467100"/>
                </a:lnTo>
                <a:lnTo>
                  <a:pt x="76200" y="3238500"/>
                </a:lnTo>
                <a:lnTo>
                  <a:pt x="73205" y="3223669"/>
                </a:lnTo>
                <a:lnTo>
                  <a:pt x="65040" y="3211559"/>
                </a:lnTo>
                <a:lnTo>
                  <a:pt x="52930" y="3203394"/>
                </a:lnTo>
                <a:lnTo>
                  <a:pt x="38100" y="3200400"/>
                </a:lnTo>
                <a:close/>
              </a:path>
              <a:path w="76200" h="5105400">
                <a:moveTo>
                  <a:pt x="38100" y="3733800"/>
                </a:moveTo>
                <a:lnTo>
                  <a:pt x="23270" y="3736794"/>
                </a:lnTo>
                <a:lnTo>
                  <a:pt x="11159" y="3744959"/>
                </a:lnTo>
                <a:lnTo>
                  <a:pt x="2994" y="3757069"/>
                </a:lnTo>
                <a:lnTo>
                  <a:pt x="0" y="3771900"/>
                </a:lnTo>
                <a:lnTo>
                  <a:pt x="0" y="4000500"/>
                </a:lnTo>
                <a:lnTo>
                  <a:pt x="2994" y="4015329"/>
                </a:lnTo>
                <a:lnTo>
                  <a:pt x="11159" y="4027440"/>
                </a:lnTo>
                <a:lnTo>
                  <a:pt x="23270" y="4035605"/>
                </a:lnTo>
                <a:lnTo>
                  <a:pt x="38100" y="4038600"/>
                </a:lnTo>
                <a:lnTo>
                  <a:pt x="52930" y="4035605"/>
                </a:lnTo>
                <a:lnTo>
                  <a:pt x="65040" y="4027440"/>
                </a:lnTo>
                <a:lnTo>
                  <a:pt x="73205" y="4015329"/>
                </a:lnTo>
                <a:lnTo>
                  <a:pt x="76200" y="4000500"/>
                </a:lnTo>
                <a:lnTo>
                  <a:pt x="76200" y="3771900"/>
                </a:lnTo>
                <a:lnTo>
                  <a:pt x="73205" y="3757069"/>
                </a:lnTo>
                <a:lnTo>
                  <a:pt x="65040" y="3744959"/>
                </a:lnTo>
                <a:lnTo>
                  <a:pt x="52930" y="3736794"/>
                </a:lnTo>
                <a:lnTo>
                  <a:pt x="38100" y="3733800"/>
                </a:lnTo>
                <a:close/>
              </a:path>
              <a:path w="76200" h="5105400">
                <a:moveTo>
                  <a:pt x="38101" y="4267199"/>
                </a:moveTo>
                <a:lnTo>
                  <a:pt x="23270" y="4270193"/>
                </a:lnTo>
                <a:lnTo>
                  <a:pt x="11160" y="4278359"/>
                </a:lnTo>
                <a:lnTo>
                  <a:pt x="2995" y="4290469"/>
                </a:lnTo>
                <a:lnTo>
                  <a:pt x="1" y="4305299"/>
                </a:lnTo>
                <a:lnTo>
                  <a:pt x="1" y="4533899"/>
                </a:lnTo>
                <a:lnTo>
                  <a:pt x="2995" y="4548730"/>
                </a:lnTo>
                <a:lnTo>
                  <a:pt x="11160" y="4560840"/>
                </a:lnTo>
                <a:lnTo>
                  <a:pt x="23270" y="4569005"/>
                </a:lnTo>
                <a:lnTo>
                  <a:pt x="38101" y="4571999"/>
                </a:lnTo>
                <a:lnTo>
                  <a:pt x="52931" y="4569005"/>
                </a:lnTo>
                <a:lnTo>
                  <a:pt x="65041" y="4560840"/>
                </a:lnTo>
                <a:lnTo>
                  <a:pt x="73207" y="4548730"/>
                </a:lnTo>
                <a:lnTo>
                  <a:pt x="76201" y="4533899"/>
                </a:lnTo>
                <a:lnTo>
                  <a:pt x="76201" y="4305299"/>
                </a:lnTo>
                <a:lnTo>
                  <a:pt x="73207" y="4290469"/>
                </a:lnTo>
                <a:lnTo>
                  <a:pt x="65041" y="4278359"/>
                </a:lnTo>
                <a:lnTo>
                  <a:pt x="52931" y="4270193"/>
                </a:lnTo>
                <a:lnTo>
                  <a:pt x="38101" y="4267199"/>
                </a:lnTo>
                <a:close/>
              </a:path>
              <a:path w="76200" h="5105400">
                <a:moveTo>
                  <a:pt x="38101" y="4800599"/>
                </a:moveTo>
                <a:lnTo>
                  <a:pt x="23270" y="4803593"/>
                </a:lnTo>
                <a:lnTo>
                  <a:pt x="11160" y="4811759"/>
                </a:lnTo>
                <a:lnTo>
                  <a:pt x="2995" y="4823869"/>
                </a:lnTo>
                <a:lnTo>
                  <a:pt x="1" y="4838699"/>
                </a:lnTo>
                <a:lnTo>
                  <a:pt x="1" y="5067299"/>
                </a:lnTo>
                <a:lnTo>
                  <a:pt x="2995" y="5082130"/>
                </a:lnTo>
                <a:lnTo>
                  <a:pt x="11160" y="5094240"/>
                </a:lnTo>
                <a:lnTo>
                  <a:pt x="23270" y="5102405"/>
                </a:lnTo>
                <a:lnTo>
                  <a:pt x="38101" y="5105399"/>
                </a:lnTo>
                <a:lnTo>
                  <a:pt x="52931" y="5102405"/>
                </a:lnTo>
                <a:lnTo>
                  <a:pt x="65041" y="5094240"/>
                </a:lnTo>
                <a:lnTo>
                  <a:pt x="73207" y="5082130"/>
                </a:lnTo>
                <a:lnTo>
                  <a:pt x="76201" y="5067299"/>
                </a:lnTo>
                <a:lnTo>
                  <a:pt x="76201" y="4838699"/>
                </a:lnTo>
                <a:lnTo>
                  <a:pt x="73207" y="4823869"/>
                </a:lnTo>
                <a:lnTo>
                  <a:pt x="65041" y="4811759"/>
                </a:lnTo>
                <a:lnTo>
                  <a:pt x="52931" y="4803593"/>
                </a:lnTo>
                <a:lnTo>
                  <a:pt x="38101" y="4800599"/>
                </a:lnTo>
                <a:close/>
              </a:path>
            </a:pathLst>
          </a:custGeom>
          <a:solidFill>
            <a:srgbClr val="FBE5D6"/>
          </a:solidFill>
        </p:spPr>
        <p:txBody>
          <a:bodyPr wrap="square" lIns="0" tIns="0" rIns="0" bIns="0" rtlCol="0"/>
          <a:lstStyle/>
          <a:p>
            <a:endParaRPr sz="1799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6508" y="2040473"/>
            <a:ext cx="2339626" cy="114019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94893" y="1931906"/>
            <a:ext cx="2067161" cy="105140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1483105" y="3235106"/>
            <a:ext cx="1788964" cy="1668979"/>
            <a:chOff x="1483492" y="3235055"/>
            <a:chExt cx="1789430" cy="1669414"/>
          </a:xfrm>
        </p:grpSpPr>
        <p:sp>
          <p:nvSpPr>
            <p:cNvPr id="7" name="object 7"/>
            <p:cNvSpPr/>
            <p:nvPr/>
          </p:nvSpPr>
          <p:spPr>
            <a:xfrm>
              <a:off x="1594664" y="4385570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8" name="object 8"/>
            <p:cNvSpPr/>
            <p:nvPr/>
          </p:nvSpPr>
          <p:spPr>
            <a:xfrm>
              <a:off x="2114208" y="4385570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9" name="object 9"/>
            <p:cNvSpPr/>
            <p:nvPr/>
          </p:nvSpPr>
          <p:spPr>
            <a:xfrm>
              <a:off x="2639002" y="4385570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0" name="object 10"/>
            <p:cNvSpPr/>
            <p:nvPr/>
          </p:nvSpPr>
          <p:spPr>
            <a:xfrm>
              <a:off x="3161172" y="4385570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1" name="object 11"/>
            <p:cNvSpPr/>
            <p:nvPr/>
          </p:nvSpPr>
          <p:spPr>
            <a:xfrm>
              <a:off x="1691547" y="4792770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3492" y="4681598"/>
              <a:ext cx="222344" cy="22234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05660" y="4681598"/>
              <a:ext cx="222344" cy="22234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2735887" y="4792770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27829" y="4681598"/>
              <a:ext cx="222344" cy="222344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49999" y="4681598"/>
              <a:ext cx="222344" cy="22234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213717" y="4792770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" name="object 18"/>
            <p:cNvSpPr/>
            <p:nvPr/>
          </p:nvSpPr>
          <p:spPr>
            <a:xfrm>
              <a:off x="1594664" y="3881487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9" name="object 19"/>
            <p:cNvSpPr/>
            <p:nvPr/>
          </p:nvSpPr>
          <p:spPr>
            <a:xfrm>
              <a:off x="2114208" y="3881487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0" name="object 20"/>
            <p:cNvSpPr/>
            <p:nvPr/>
          </p:nvSpPr>
          <p:spPr>
            <a:xfrm>
              <a:off x="2639002" y="3881487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1" name="object 21"/>
            <p:cNvSpPr/>
            <p:nvPr/>
          </p:nvSpPr>
          <p:spPr>
            <a:xfrm>
              <a:off x="3161172" y="3881487"/>
              <a:ext cx="0" cy="310515"/>
            </a:xfrm>
            <a:custGeom>
              <a:avLst/>
              <a:gdLst/>
              <a:ahLst/>
              <a:cxnLst/>
              <a:rect l="l" t="t" r="r" b="b"/>
              <a:pathLst>
                <a:path h="310514">
                  <a:moveTo>
                    <a:pt x="0" y="0"/>
                  </a:moveTo>
                  <a:lnTo>
                    <a:pt x="1" y="310315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2" name="object 22"/>
            <p:cNvSpPr/>
            <p:nvPr/>
          </p:nvSpPr>
          <p:spPr>
            <a:xfrm>
              <a:off x="1691547" y="3784602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3492" y="3673430"/>
              <a:ext cx="222344" cy="22234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05660" y="3673430"/>
              <a:ext cx="222344" cy="222344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735887" y="3784602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26" name="object 2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27829" y="3673430"/>
              <a:ext cx="222344" cy="22234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49999" y="3673430"/>
              <a:ext cx="222344" cy="22234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2213717" y="3784602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29" name="object 29"/>
            <p:cNvSpPr/>
            <p:nvPr/>
          </p:nvSpPr>
          <p:spPr>
            <a:xfrm>
              <a:off x="1691547" y="4288687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3492" y="4177515"/>
              <a:ext cx="222344" cy="22234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05660" y="4177515"/>
              <a:ext cx="222344" cy="222344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2735887" y="4288687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27829" y="4177515"/>
              <a:ext cx="222344" cy="222344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049999" y="4177515"/>
              <a:ext cx="222344" cy="222344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2213717" y="4288687"/>
              <a:ext cx="328930" cy="0"/>
            </a:xfrm>
            <a:custGeom>
              <a:avLst/>
              <a:gdLst/>
              <a:ahLst/>
              <a:cxnLst/>
              <a:rect l="l" t="t" r="r" b="b"/>
              <a:pathLst>
                <a:path w="328930">
                  <a:moveTo>
                    <a:pt x="0" y="0"/>
                  </a:moveTo>
                  <a:lnTo>
                    <a:pt x="328400" y="1"/>
                  </a:lnTo>
                </a:path>
              </a:pathLst>
            </a:custGeom>
            <a:ln w="285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6" name="object 36"/>
            <p:cNvSpPr/>
            <p:nvPr/>
          </p:nvSpPr>
          <p:spPr>
            <a:xfrm>
              <a:off x="2185644" y="3235055"/>
              <a:ext cx="434975" cy="408940"/>
            </a:xfrm>
            <a:custGeom>
              <a:avLst/>
              <a:gdLst/>
              <a:ahLst/>
              <a:cxnLst/>
              <a:rect l="l" t="t" r="r" b="b"/>
              <a:pathLst>
                <a:path w="434975" h="408939">
                  <a:moveTo>
                    <a:pt x="326222" y="0"/>
                  </a:moveTo>
                  <a:lnTo>
                    <a:pt x="108741" y="0"/>
                  </a:lnTo>
                  <a:lnTo>
                    <a:pt x="108741" y="204232"/>
                  </a:lnTo>
                  <a:lnTo>
                    <a:pt x="0" y="204232"/>
                  </a:lnTo>
                  <a:lnTo>
                    <a:pt x="217481" y="408465"/>
                  </a:lnTo>
                  <a:lnTo>
                    <a:pt x="434963" y="204232"/>
                  </a:lnTo>
                  <a:lnTo>
                    <a:pt x="326222" y="204232"/>
                  </a:lnTo>
                  <a:lnTo>
                    <a:pt x="326222" y="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grpSp>
        <p:nvGrpSpPr>
          <p:cNvPr id="37" name="object 37"/>
          <p:cNvGrpSpPr/>
          <p:nvPr/>
        </p:nvGrpSpPr>
        <p:grpSpPr>
          <a:xfrm>
            <a:off x="7375331" y="3030927"/>
            <a:ext cx="2251124" cy="3754412"/>
            <a:chOff x="7377253" y="3030823"/>
            <a:chExt cx="2251710" cy="3755390"/>
          </a:xfrm>
        </p:grpSpPr>
        <p:sp>
          <p:nvSpPr>
            <p:cNvPr id="38" name="object 38"/>
            <p:cNvSpPr/>
            <p:nvPr/>
          </p:nvSpPr>
          <p:spPr>
            <a:xfrm>
              <a:off x="8037159" y="3030823"/>
              <a:ext cx="434975" cy="408940"/>
            </a:xfrm>
            <a:custGeom>
              <a:avLst/>
              <a:gdLst/>
              <a:ahLst/>
              <a:cxnLst/>
              <a:rect l="l" t="t" r="r" b="b"/>
              <a:pathLst>
                <a:path w="434975" h="408939">
                  <a:moveTo>
                    <a:pt x="326222" y="0"/>
                  </a:moveTo>
                  <a:lnTo>
                    <a:pt x="108741" y="0"/>
                  </a:lnTo>
                  <a:lnTo>
                    <a:pt x="108741" y="204232"/>
                  </a:lnTo>
                  <a:lnTo>
                    <a:pt x="0" y="204232"/>
                  </a:lnTo>
                  <a:lnTo>
                    <a:pt x="217482" y="408465"/>
                  </a:lnTo>
                  <a:lnTo>
                    <a:pt x="434963" y="204232"/>
                  </a:lnTo>
                  <a:lnTo>
                    <a:pt x="326222" y="204232"/>
                  </a:lnTo>
                  <a:lnTo>
                    <a:pt x="326222" y="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39" name="object 39"/>
            <p:cNvSpPr/>
            <p:nvPr/>
          </p:nvSpPr>
          <p:spPr>
            <a:xfrm>
              <a:off x="8004195" y="4995903"/>
              <a:ext cx="434975" cy="408940"/>
            </a:xfrm>
            <a:custGeom>
              <a:avLst/>
              <a:gdLst/>
              <a:ahLst/>
              <a:cxnLst/>
              <a:rect l="l" t="t" r="r" b="b"/>
              <a:pathLst>
                <a:path w="434975" h="408939">
                  <a:moveTo>
                    <a:pt x="326223" y="0"/>
                  </a:moveTo>
                  <a:lnTo>
                    <a:pt x="108741" y="0"/>
                  </a:lnTo>
                  <a:lnTo>
                    <a:pt x="108741" y="204232"/>
                  </a:lnTo>
                  <a:lnTo>
                    <a:pt x="0" y="204232"/>
                  </a:lnTo>
                  <a:lnTo>
                    <a:pt x="217482" y="408465"/>
                  </a:lnTo>
                  <a:lnTo>
                    <a:pt x="434963" y="204232"/>
                  </a:lnTo>
                  <a:lnTo>
                    <a:pt x="326223" y="204232"/>
                  </a:lnTo>
                  <a:lnTo>
                    <a:pt x="326223" y="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40" name="object 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77253" y="5383905"/>
              <a:ext cx="1754776" cy="1402059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58656" y="5730239"/>
              <a:ext cx="569976" cy="569976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523420" y="3439288"/>
              <a:ext cx="1535460" cy="1538763"/>
            </a:xfrm>
            <a:prstGeom prst="rect">
              <a:avLst/>
            </a:prstGeom>
          </p:spPr>
        </p:pic>
      </p:grpSp>
      <p:grpSp>
        <p:nvGrpSpPr>
          <p:cNvPr id="43" name="object 43"/>
          <p:cNvGrpSpPr/>
          <p:nvPr/>
        </p:nvGrpSpPr>
        <p:grpSpPr>
          <a:xfrm>
            <a:off x="1447090" y="4970207"/>
            <a:ext cx="2319686" cy="1835942"/>
            <a:chOff x="1447468" y="4970609"/>
            <a:chExt cx="2320290" cy="1836420"/>
          </a:xfrm>
        </p:grpSpPr>
        <p:pic>
          <p:nvPicPr>
            <p:cNvPr id="44" name="object 4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197352" y="5986271"/>
              <a:ext cx="569976" cy="569976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2200722" y="4970609"/>
              <a:ext cx="434975" cy="408940"/>
            </a:xfrm>
            <a:custGeom>
              <a:avLst/>
              <a:gdLst/>
              <a:ahLst/>
              <a:cxnLst/>
              <a:rect l="l" t="t" r="r" b="b"/>
              <a:pathLst>
                <a:path w="434975" h="408939">
                  <a:moveTo>
                    <a:pt x="326222" y="0"/>
                  </a:moveTo>
                  <a:lnTo>
                    <a:pt x="108739" y="0"/>
                  </a:lnTo>
                  <a:lnTo>
                    <a:pt x="108739" y="204232"/>
                  </a:lnTo>
                  <a:lnTo>
                    <a:pt x="0" y="204232"/>
                  </a:lnTo>
                  <a:lnTo>
                    <a:pt x="217481" y="408465"/>
                  </a:lnTo>
                  <a:lnTo>
                    <a:pt x="434963" y="204232"/>
                  </a:lnTo>
                  <a:lnTo>
                    <a:pt x="326222" y="204232"/>
                  </a:lnTo>
                  <a:lnTo>
                    <a:pt x="326222" y="0"/>
                  </a:lnTo>
                  <a:close/>
                </a:path>
              </a:pathLst>
            </a:custGeom>
            <a:solidFill>
              <a:srgbClr val="ED7D31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pic>
          <p:nvPicPr>
            <p:cNvPr id="46" name="object 4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447468" y="5404368"/>
              <a:ext cx="1754776" cy="1402059"/>
            </a:xfrm>
            <a:prstGeom prst="rect">
              <a:avLst/>
            </a:prstGeom>
          </p:spPr>
        </p:pic>
      </p:grpSp>
      <p:sp>
        <p:nvSpPr>
          <p:cNvPr id="47" name="object 47"/>
          <p:cNvSpPr txBox="1"/>
          <p:nvPr/>
        </p:nvSpPr>
        <p:spPr>
          <a:xfrm>
            <a:off x="3794719" y="6052137"/>
            <a:ext cx="2307624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</a:pPr>
            <a:r>
              <a:rPr sz="2399" b="1" dirty="0">
                <a:solidFill>
                  <a:srgbClr val="70AD47"/>
                </a:solidFill>
                <a:latin typeface="Arial"/>
                <a:cs typeface="Arial"/>
              </a:rPr>
              <a:t>Good</a:t>
            </a:r>
            <a:r>
              <a:rPr sz="2399" b="1" spc="-25" dirty="0">
                <a:solidFill>
                  <a:srgbClr val="70AD47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70AD47"/>
                </a:solidFill>
                <a:latin typeface="Arial"/>
                <a:cs typeface="Arial"/>
              </a:rPr>
              <a:t>efficiency</a:t>
            </a:r>
            <a:endParaRPr sz="2399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3628097" y="3927218"/>
            <a:ext cx="2153994" cy="63483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26662" marR="5078" indent="-14600">
              <a:spcBef>
                <a:spcPts val="100"/>
              </a:spcBef>
            </a:pPr>
            <a:r>
              <a:rPr sz="1999" b="1" dirty="0">
                <a:solidFill>
                  <a:srgbClr val="70AD47"/>
                </a:solidFill>
                <a:latin typeface="Arial"/>
                <a:cs typeface="Arial"/>
              </a:rPr>
              <a:t>Small</a:t>
            </a:r>
            <a:r>
              <a:rPr sz="1999" b="1" spc="-65" dirty="0">
                <a:solidFill>
                  <a:srgbClr val="70AD47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70AD47"/>
                </a:solidFill>
                <a:latin typeface="Arial"/>
                <a:cs typeface="Arial"/>
              </a:rPr>
              <a:t>and</a:t>
            </a:r>
            <a:r>
              <a:rPr sz="1999" b="1" spc="-50" dirty="0">
                <a:solidFill>
                  <a:srgbClr val="70AD47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70AD47"/>
                </a:solidFill>
                <a:latin typeface="Arial"/>
                <a:cs typeface="Arial"/>
              </a:rPr>
              <a:t>regular </a:t>
            </a:r>
            <a:r>
              <a:rPr sz="1999" b="1" dirty="0">
                <a:solidFill>
                  <a:srgbClr val="70AD47"/>
                </a:solidFill>
                <a:latin typeface="Arial"/>
                <a:cs typeface="Arial"/>
              </a:rPr>
              <a:t>intermediate</a:t>
            </a:r>
            <a:r>
              <a:rPr sz="1999" b="1" spc="-114" dirty="0">
                <a:solidFill>
                  <a:srgbClr val="70AD47"/>
                </a:solidFill>
                <a:latin typeface="Arial"/>
                <a:cs typeface="Arial"/>
              </a:rPr>
              <a:t> </a:t>
            </a:r>
            <a:r>
              <a:rPr sz="1999" b="1" spc="-20" dirty="0">
                <a:solidFill>
                  <a:srgbClr val="70AD47"/>
                </a:solidFill>
                <a:latin typeface="Arial"/>
                <a:cs typeface="Arial"/>
              </a:rPr>
              <a:t>data</a:t>
            </a:r>
            <a:endParaRPr sz="1999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9208000" y="3832755"/>
            <a:ext cx="2338096" cy="63483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18709" marR="5078" indent="-106648">
              <a:spcBef>
                <a:spcPts val="100"/>
              </a:spcBef>
            </a:pPr>
            <a:r>
              <a:rPr sz="1999" b="1" dirty="0">
                <a:solidFill>
                  <a:srgbClr val="C55A11"/>
                </a:solidFill>
                <a:latin typeface="Arial"/>
                <a:cs typeface="Arial"/>
              </a:rPr>
              <a:t>Large</a:t>
            </a:r>
            <a:r>
              <a:rPr sz="1999" b="1" spc="-55" dirty="0">
                <a:solidFill>
                  <a:srgbClr val="C55A11"/>
                </a:solidFill>
                <a:latin typeface="Arial"/>
                <a:cs typeface="Arial"/>
              </a:rPr>
              <a:t> </a:t>
            </a:r>
            <a:r>
              <a:rPr sz="1999" b="1" dirty="0">
                <a:solidFill>
                  <a:srgbClr val="C55A11"/>
                </a:solidFill>
                <a:latin typeface="Arial"/>
                <a:cs typeface="Arial"/>
              </a:rPr>
              <a:t>and</a:t>
            </a:r>
            <a:r>
              <a:rPr sz="1999" b="1" spc="-50" dirty="0">
                <a:solidFill>
                  <a:srgbClr val="C55A11"/>
                </a:solidFill>
                <a:latin typeface="Arial"/>
                <a:cs typeface="Arial"/>
              </a:rPr>
              <a:t> </a:t>
            </a:r>
            <a:r>
              <a:rPr sz="1999" b="1" spc="-10" dirty="0">
                <a:solidFill>
                  <a:srgbClr val="C55A11"/>
                </a:solidFill>
                <a:latin typeface="Arial"/>
                <a:cs typeface="Arial"/>
              </a:rPr>
              <a:t>irregular </a:t>
            </a:r>
            <a:r>
              <a:rPr sz="1999" b="1" dirty="0">
                <a:solidFill>
                  <a:srgbClr val="C55A11"/>
                </a:solidFill>
                <a:latin typeface="Arial"/>
                <a:cs typeface="Arial"/>
              </a:rPr>
              <a:t>intermediate</a:t>
            </a:r>
            <a:r>
              <a:rPr sz="1999" b="1" spc="-114" dirty="0">
                <a:solidFill>
                  <a:srgbClr val="C55A11"/>
                </a:solidFill>
                <a:latin typeface="Arial"/>
                <a:cs typeface="Arial"/>
              </a:rPr>
              <a:t> </a:t>
            </a:r>
            <a:r>
              <a:rPr sz="1999" b="1" spc="-20" dirty="0">
                <a:solidFill>
                  <a:srgbClr val="C55A11"/>
                </a:solidFill>
                <a:latin typeface="Arial"/>
                <a:cs typeface="Arial"/>
              </a:rPr>
              <a:t>data</a:t>
            </a:r>
            <a:endParaRPr sz="1999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9640704" y="5400034"/>
            <a:ext cx="1769919" cy="1125562"/>
          </a:xfrm>
          <a:prstGeom prst="rect">
            <a:avLst/>
          </a:prstGeom>
        </p:spPr>
        <p:txBody>
          <a:bodyPr vert="horz" wrap="square" lIns="0" tIns="10792" rIns="0" bIns="0" rtlCol="0">
            <a:spAutoFit/>
          </a:bodyPr>
          <a:lstStyle/>
          <a:p>
            <a:pPr marL="12696" marR="5078">
              <a:lnSpc>
                <a:spcPct val="100400"/>
              </a:lnSpc>
              <a:spcBef>
                <a:spcPts val="85"/>
              </a:spcBef>
            </a:pPr>
            <a:r>
              <a:rPr sz="2399" b="1" dirty="0">
                <a:solidFill>
                  <a:srgbClr val="C55A11"/>
                </a:solidFill>
                <a:latin typeface="Arial"/>
                <a:cs typeface="Arial"/>
              </a:rPr>
              <a:t>Efficiency</a:t>
            </a:r>
            <a:r>
              <a:rPr sz="2399" b="1" spc="-100" dirty="0">
                <a:solidFill>
                  <a:srgbClr val="C55A11"/>
                </a:solidFill>
                <a:latin typeface="Arial"/>
                <a:cs typeface="Arial"/>
              </a:rPr>
              <a:t> </a:t>
            </a:r>
            <a:r>
              <a:rPr sz="2399" b="1" spc="-50" dirty="0">
                <a:solidFill>
                  <a:srgbClr val="C55A11"/>
                </a:solidFill>
                <a:latin typeface="Arial"/>
                <a:cs typeface="Arial"/>
              </a:rPr>
              <a:t>&amp; </a:t>
            </a:r>
            <a:r>
              <a:rPr sz="2399" b="1" spc="-10" dirty="0">
                <a:solidFill>
                  <a:srgbClr val="C55A11"/>
                </a:solidFill>
                <a:latin typeface="Arial"/>
                <a:cs typeface="Arial"/>
              </a:rPr>
              <a:t>scalability challenges</a:t>
            </a:r>
            <a:endParaRPr sz="2399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790405" y="1386864"/>
            <a:ext cx="9097180" cy="391058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spcBef>
                <a:spcPts val="100"/>
              </a:spcBef>
              <a:tabLst>
                <a:tab pos="5698050" algn="l"/>
              </a:tabLst>
            </a:pPr>
            <a:r>
              <a:rPr sz="3599" b="1" baseline="1157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3599" b="1" spc="-104" baseline="1157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3599" b="1" spc="-15" baseline="1157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r>
              <a:rPr sz="3599" b="1" baseline="1157" dirty="0">
                <a:solidFill>
                  <a:srgbClr val="ED7D31"/>
                </a:solidFill>
                <a:latin typeface="Arial"/>
                <a:cs typeface="Arial"/>
              </a:rPr>
              <a:t>	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Graph</a:t>
            </a:r>
            <a:r>
              <a:rPr sz="2399" b="1" spc="-55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Neural</a:t>
            </a:r>
            <a:r>
              <a:rPr sz="2399" b="1" spc="-5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spc="-10" dirty="0">
                <a:solidFill>
                  <a:srgbClr val="ED7D31"/>
                </a:solidFill>
                <a:latin typeface="Arial"/>
                <a:cs typeface="Arial"/>
              </a:rPr>
              <a:t>Networks</a:t>
            </a:r>
            <a:endParaRPr sz="2399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80720-CCF1-1E4B-BFA6-EA319173B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A9BE976-9E56-BEBB-1570-86F6269D82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3026" y="576037"/>
            <a:ext cx="9527594" cy="487310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12696">
              <a:lnSpc>
                <a:spcPts val="3659"/>
              </a:lnSpc>
              <a:spcBef>
                <a:spcPts val="100"/>
              </a:spcBef>
            </a:pPr>
            <a:r>
              <a:rPr dirty="0"/>
              <a:t>Understand</a:t>
            </a:r>
            <a:r>
              <a:rPr spc="-50" dirty="0"/>
              <a:t> </a:t>
            </a:r>
            <a:r>
              <a:rPr lang="en-US" dirty="0"/>
              <a:t>ML</a:t>
            </a:r>
            <a:r>
              <a:rPr spc="-215" dirty="0"/>
              <a:t> </a:t>
            </a:r>
            <a:r>
              <a:rPr spc="-10" dirty="0"/>
              <a:t>Applications: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21D4432-128E-98BF-2139-64CCD0A2877F}"/>
              </a:ext>
            </a:extLst>
          </p:cNvPr>
          <p:cNvSpPr txBox="1"/>
          <p:nvPr/>
        </p:nvSpPr>
        <p:spPr>
          <a:xfrm>
            <a:off x="2938137" y="3679379"/>
            <a:ext cx="5763029" cy="2189955"/>
          </a:xfrm>
          <a:prstGeom prst="rect">
            <a:avLst/>
          </a:prstGeom>
        </p:spPr>
        <p:txBody>
          <a:bodyPr vert="horz" wrap="square" lIns="0" tIns="12697" rIns="0" bIns="0" rtlCol="0">
            <a:spAutoFit/>
          </a:bodyPr>
          <a:lstStyle/>
          <a:p>
            <a:pPr marL="469124" indent="-456428"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Convolutional Neural Networks</a:t>
            </a:r>
          </a:p>
          <a:p>
            <a:pPr marL="469124" indent="-456428">
              <a:lnSpc>
                <a:spcPts val="3324"/>
              </a:lnSpc>
              <a:spcBef>
                <a:spcPts val="100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Recurrent Neural Networks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Transformers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rgbClr val="F8CBAD"/>
                </a:solidFill>
                <a:latin typeface="Arial"/>
                <a:cs typeface="Arial"/>
              </a:rPr>
              <a:t>Graph Neural Networks</a:t>
            </a:r>
          </a:p>
          <a:p>
            <a:pPr marL="469124" indent="-456428">
              <a:lnSpc>
                <a:spcPts val="3324"/>
              </a:lnSpc>
              <a:spcBef>
                <a:spcPts val="45"/>
              </a:spcBef>
              <a:buFont typeface="Arial MT"/>
              <a:buChar char="•"/>
              <a:tabLst>
                <a:tab pos="469124" algn="l"/>
              </a:tabLst>
            </a:pPr>
            <a:r>
              <a:rPr sz="2799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Mixture-of-Experts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2CD51E-9B4D-AB66-956C-3CED0905B1A0}"/>
              </a:ext>
            </a:extLst>
          </p:cNvPr>
          <p:cNvSpPr txBox="1"/>
          <p:nvPr/>
        </p:nvSpPr>
        <p:spPr>
          <a:xfrm>
            <a:off x="1830789" y="2752556"/>
            <a:ext cx="8189859" cy="523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696">
              <a:spcBef>
                <a:spcPts val="100"/>
              </a:spcBef>
              <a:tabLst>
                <a:tab pos="469124" algn="l"/>
              </a:tabLst>
            </a:pPr>
            <a:r>
              <a:rPr lang="en-US" sz="2799" b="1" dirty="0">
                <a:latin typeface="Arial"/>
                <a:cs typeface="Arial"/>
              </a:rPr>
              <a:t>An Overview of Deep Learning Models</a:t>
            </a:r>
          </a:p>
        </p:txBody>
      </p:sp>
    </p:spTree>
    <p:extLst>
      <p:ext uri="{BB962C8B-B14F-4D97-AF65-F5344CB8AC3E}">
        <p14:creationId xmlns:p14="http://schemas.microsoft.com/office/powerpoint/2010/main" val="743602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1674" y="166848"/>
            <a:ext cx="10360168" cy="911294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spc="-10" dirty="0"/>
              <a:t>Mixture-of-Experts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700" y="1572743"/>
            <a:ext cx="9690116" cy="723711"/>
          </a:xfrm>
          <a:prstGeom prst="rect">
            <a:avLst/>
          </a:prstGeom>
        </p:spPr>
        <p:txBody>
          <a:bodyPr vert="horz" wrap="square" lIns="0" tIns="51422" rIns="0" bIns="0" rtlCol="0">
            <a:spAutoFit/>
          </a:bodyPr>
          <a:lstStyle/>
          <a:p>
            <a:pPr marL="239957" marR="5078" indent="-227261">
              <a:lnSpc>
                <a:spcPts val="2619"/>
              </a:lnSpc>
              <a:spcBef>
                <a:spcPts val="405"/>
              </a:spcBef>
              <a:buFont typeface="Arial MT"/>
              <a:buChar char="•"/>
              <a:tabLst>
                <a:tab pos="241228" algn="l"/>
              </a:tabLst>
            </a:pP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Key</a:t>
            </a:r>
            <a:r>
              <a:rPr sz="2399" b="1" spc="-60" dirty="0">
                <a:solidFill>
                  <a:srgbClr val="ED7D31"/>
                </a:solidFill>
                <a:latin typeface="Arial"/>
                <a:cs typeface="Arial"/>
              </a:rPr>
              <a:t> </a:t>
            </a:r>
            <a:r>
              <a:rPr sz="2399" b="1" dirty="0">
                <a:solidFill>
                  <a:srgbClr val="ED7D31"/>
                </a:solidFill>
                <a:latin typeface="Arial"/>
                <a:cs typeface="Arial"/>
              </a:rPr>
              <a:t>idea</a:t>
            </a:r>
            <a:r>
              <a:rPr sz="2399" dirty="0">
                <a:latin typeface="Arial MT"/>
                <a:cs typeface="Arial MT"/>
              </a:rPr>
              <a:t>: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make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each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expert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focus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on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predicting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the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right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answer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for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spc="-50" dirty="0">
                <a:latin typeface="Arial MT"/>
                <a:cs typeface="Arial MT"/>
              </a:rPr>
              <a:t>a 	</a:t>
            </a:r>
            <a:r>
              <a:rPr sz="2399" dirty="0">
                <a:latin typeface="Arial MT"/>
                <a:cs typeface="Arial MT"/>
              </a:rPr>
              <a:t>subset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cases</a:t>
            </a:r>
            <a:endParaRPr sz="2399" dirty="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96212" y="2844598"/>
            <a:ext cx="7513084" cy="3819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 flipH="1">
            <a:off x="702732" y="355599"/>
            <a:ext cx="13817601" cy="788359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 algn="l">
              <a:spcBef>
                <a:spcPts val="100"/>
              </a:spcBef>
            </a:pPr>
            <a:r>
              <a:rPr sz="3600" spc="-10" dirty="0">
                <a:solidFill>
                  <a:srgbClr val="DC4400"/>
                </a:solidFill>
                <a:latin typeface="Impact"/>
              </a:rPr>
              <a:t>Switch Transformers = Transformers + Mixture of Experts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69898" y="1861882"/>
            <a:ext cx="9027050" cy="445139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5674" y="226386"/>
            <a:ext cx="10360168" cy="911470"/>
          </a:xfrm>
          <a:prstGeom prst="rect">
            <a:avLst/>
          </a:prstGeom>
        </p:spPr>
        <p:txBody>
          <a:bodyPr vert="horz" wrap="square" lIns="0" tIns="232095" rIns="0" bIns="0" rtlCol="0">
            <a:spAutoFit/>
          </a:bodyPr>
          <a:lstStyle/>
          <a:p>
            <a:pPr marL="38089">
              <a:spcBef>
                <a:spcPts val="100"/>
              </a:spcBef>
            </a:pPr>
            <a:r>
              <a:rPr lang="en-US" spc="-10" dirty="0"/>
              <a:t>Takeaways</a:t>
            </a:r>
            <a:r>
              <a:rPr spc="-10" dirty="0"/>
              <a:t>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16521" y="1722441"/>
            <a:ext cx="10256388" cy="3557613"/>
          </a:xfrm>
          <a:prstGeom prst="rect">
            <a:avLst/>
          </a:prstGeom>
        </p:spPr>
        <p:txBody>
          <a:bodyPr vert="horz" wrap="square" lIns="0" tIns="104113" rIns="0" bIns="0" rtlCol="0">
            <a:spAutoFit/>
          </a:bodyPr>
          <a:lstStyle/>
          <a:p>
            <a:pPr marL="239957" indent="-227261">
              <a:spcBef>
                <a:spcPts val="82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Convolutional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neural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networks:</a:t>
            </a:r>
            <a:r>
              <a:rPr sz="2399" spc="-10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various</a:t>
            </a:r>
            <a:r>
              <a:rPr sz="2399" spc="-9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computer</a:t>
            </a:r>
            <a:r>
              <a:rPr sz="2399" spc="-9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vision</a:t>
            </a:r>
            <a:r>
              <a:rPr sz="2399" spc="-9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tasks</a:t>
            </a:r>
            <a:endParaRPr sz="2399" dirty="0">
              <a:latin typeface="Arial MT"/>
              <a:cs typeface="Arial MT"/>
            </a:endParaRPr>
          </a:p>
          <a:p>
            <a:pPr marL="239957" indent="-227261">
              <a:spcBef>
                <a:spcPts val="72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Recurrent</a:t>
            </a:r>
            <a:r>
              <a:rPr sz="2399" spc="-10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neural</a:t>
            </a:r>
            <a:r>
              <a:rPr sz="2399" spc="-9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networks:</a:t>
            </a:r>
            <a:r>
              <a:rPr sz="2399" spc="-10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processing</a:t>
            </a:r>
            <a:r>
              <a:rPr sz="2399" spc="-10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sequences</a:t>
            </a:r>
            <a:endParaRPr sz="2399" dirty="0">
              <a:latin typeface="Arial MT"/>
              <a:cs typeface="Arial MT"/>
            </a:endParaRPr>
          </a:p>
          <a:p>
            <a:pPr marL="239957" indent="-227261">
              <a:spcBef>
                <a:spcPts val="720"/>
              </a:spcBef>
              <a:buChar char="•"/>
              <a:tabLst>
                <a:tab pos="239957" algn="l"/>
              </a:tabLst>
            </a:pPr>
            <a:r>
              <a:rPr sz="2399" spc="-20" dirty="0">
                <a:latin typeface="Arial MT"/>
                <a:cs typeface="Arial MT"/>
              </a:rPr>
              <a:t>Transformers:</a:t>
            </a:r>
            <a:r>
              <a:rPr sz="2399" spc="-150" dirty="0">
                <a:latin typeface="Arial MT"/>
                <a:cs typeface="Arial MT"/>
              </a:rPr>
              <a:t> </a:t>
            </a:r>
            <a:r>
              <a:rPr sz="1999" dirty="0">
                <a:latin typeface="Arial MT"/>
                <a:cs typeface="Arial MT"/>
              </a:rPr>
              <a:t>e</a:t>
            </a:r>
            <a:r>
              <a:rPr sz="2399" dirty="0">
                <a:latin typeface="Arial MT"/>
                <a:cs typeface="Arial MT"/>
              </a:rPr>
              <a:t>fficient</a:t>
            </a:r>
            <a:r>
              <a:rPr sz="2399" spc="-9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natural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language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processing</a:t>
            </a:r>
            <a:endParaRPr sz="2399" dirty="0">
              <a:latin typeface="Arial MT"/>
              <a:cs typeface="Arial MT"/>
            </a:endParaRPr>
          </a:p>
          <a:p>
            <a:pPr marL="239957" indent="-227261">
              <a:spcBef>
                <a:spcPts val="72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Graph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neural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networks: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deep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learning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on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relational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spc="-20" dirty="0">
                <a:latin typeface="Arial MT"/>
                <a:cs typeface="Arial MT"/>
              </a:rPr>
              <a:t>data</a:t>
            </a:r>
            <a:endParaRPr sz="2399" dirty="0">
              <a:latin typeface="Arial MT"/>
              <a:cs typeface="Arial MT"/>
            </a:endParaRPr>
          </a:p>
          <a:p>
            <a:pPr marL="239957" indent="-227261">
              <a:spcBef>
                <a:spcPts val="720"/>
              </a:spcBef>
              <a:buChar char="•"/>
              <a:tabLst>
                <a:tab pos="239957" algn="l"/>
              </a:tabLst>
            </a:pPr>
            <a:r>
              <a:rPr sz="2399" dirty="0">
                <a:latin typeface="Arial MT"/>
                <a:cs typeface="Arial MT"/>
              </a:rPr>
              <a:t>Mixture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experts: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ensemble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deep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learning</a:t>
            </a:r>
            <a:endParaRPr sz="2399" dirty="0">
              <a:latin typeface="Arial MT"/>
              <a:cs typeface="Arial MT"/>
            </a:endParaRPr>
          </a:p>
          <a:p>
            <a:pPr>
              <a:spcBef>
                <a:spcPts val="1859"/>
              </a:spcBef>
              <a:buFont typeface="Arial MT"/>
              <a:buChar char="•"/>
            </a:pPr>
            <a:endParaRPr sz="2399" dirty="0">
              <a:latin typeface="Arial MT"/>
              <a:cs typeface="Arial MT"/>
            </a:endParaRPr>
          </a:p>
          <a:p>
            <a:pPr marL="239957" marR="5078" indent="-227261">
              <a:lnSpc>
                <a:spcPts val="2619"/>
              </a:lnSpc>
              <a:spcBef>
                <a:spcPts val="5"/>
              </a:spcBef>
              <a:buChar char="•"/>
              <a:tabLst>
                <a:tab pos="241228" algn="l"/>
              </a:tabLst>
            </a:pPr>
            <a:r>
              <a:rPr sz="2399" dirty="0">
                <a:latin typeface="Arial MT"/>
                <a:cs typeface="Arial MT"/>
              </a:rPr>
              <a:t>A</a:t>
            </a:r>
            <a:r>
              <a:rPr sz="2399" spc="-1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key</a:t>
            </a:r>
            <a:r>
              <a:rPr sz="2399" spc="-8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takeaway: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DNN</a:t>
            </a:r>
            <a:r>
              <a:rPr sz="2399" spc="-5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techniques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are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not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applied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</a:t>
            </a:r>
            <a:r>
              <a:rPr sz="2399" spc="-6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isolation.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Solving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real- 	</a:t>
            </a:r>
            <a:r>
              <a:rPr sz="2399" dirty="0">
                <a:latin typeface="Arial MT"/>
                <a:cs typeface="Arial MT"/>
              </a:rPr>
              <a:t>world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problems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require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``clever’’</a:t>
            </a:r>
            <a:r>
              <a:rPr sz="2399" spc="-14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integration</a:t>
            </a:r>
            <a:r>
              <a:rPr sz="2399" spc="-70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of</a:t>
            </a:r>
            <a:r>
              <a:rPr sz="2399" spc="-75" dirty="0">
                <a:latin typeface="Arial MT"/>
                <a:cs typeface="Arial MT"/>
              </a:rPr>
              <a:t> </a:t>
            </a:r>
            <a:r>
              <a:rPr sz="2399" dirty="0">
                <a:latin typeface="Arial MT"/>
                <a:cs typeface="Arial MT"/>
              </a:rPr>
              <a:t>DNN</a:t>
            </a:r>
            <a:r>
              <a:rPr sz="2399" spc="-65" dirty="0">
                <a:latin typeface="Arial MT"/>
                <a:cs typeface="Arial MT"/>
              </a:rPr>
              <a:t> </a:t>
            </a:r>
            <a:r>
              <a:rPr sz="2399" spc="-10" dirty="0">
                <a:latin typeface="Arial MT"/>
                <a:cs typeface="Arial MT"/>
              </a:rPr>
              <a:t>techniques</a:t>
            </a:r>
            <a:endParaRPr sz="2399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1547</Words>
  <Application>Microsoft Macintosh PowerPoint</Application>
  <PresentationFormat>Custom</PresentationFormat>
  <Paragraphs>352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Arial MT</vt:lpstr>
      <vt:lpstr>Aptos</vt:lpstr>
      <vt:lpstr>Arial</vt:lpstr>
      <vt:lpstr>Calibri</vt:lpstr>
      <vt:lpstr>Calibri Light</vt:lpstr>
      <vt:lpstr>Impact</vt:lpstr>
      <vt:lpstr>Times New Roman</vt:lpstr>
      <vt:lpstr>Verdana</vt:lpstr>
      <vt:lpstr>Office Theme</vt:lpstr>
      <vt:lpstr>EWRI 2026 </vt:lpstr>
      <vt:lpstr>What is Machine Learning and Deep Learning?</vt:lpstr>
      <vt:lpstr>History: Milestones in the Development of ML/DL</vt:lpstr>
      <vt:lpstr>DL and High-Performance Architectures</vt:lpstr>
      <vt:lpstr>Artificial Intelligence Use Cases and Growth Trends</vt:lpstr>
      <vt:lpstr>Three Main Types of Machine Learning</vt:lpstr>
      <vt:lpstr>So what is a Deep Neural Network?</vt:lpstr>
      <vt:lpstr>Graphical/Mathematical Intuitions for DNNs</vt:lpstr>
      <vt:lpstr>Key Phases of Deep Learning</vt:lpstr>
      <vt:lpstr>Understand DNN Applications:</vt:lpstr>
      <vt:lpstr>CNNs are widely used in vision tasks</vt:lpstr>
      <vt:lpstr>Recap: Convolution</vt:lpstr>
      <vt:lpstr>CNNs</vt:lpstr>
      <vt:lpstr>Computation Challenges in CNNs:  - Increasing Computational Requirements</vt:lpstr>
      <vt:lpstr>Understand ML Applications:</vt:lpstr>
      <vt:lpstr>PowerPoint Presentation</vt:lpstr>
      <vt:lpstr>PowerPoint Presentation</vt:lpstr>
      <vt:lpstr>PowerPoint Presentation</vt:lpstr>
      <vt:lpstr>PowerPoint Presentation</vt:lpstr>
      <vt:lpstr>Recurrent Neural Networks</vt:lpstr>
      <vt:lpstr>PowerPoint Presentation</vt:lpstr>
      <vt:lpstr>When do we need RNNs?</vt:lpstr>
      <vt:lpstr>Understand ML Applications:</vt:lpstr>
      <vt:lpstr>Inefficiency in RNNs?</vt:lpstr>
      <vt:lpstr>PowerPoint Presentation</vt:lpstr>
      <vt:lpstr>PowerPoint Presentation</vt:lpstr>
      <vt:lpstr>Challenges: Exponentially Increasing  - Computational Costs for Transformer Models</vt:lpstr>
      <vt:lpstr>Understand ML Applications:</vt:lpstr>
      <vt:lpstr>Graph Neural Networks: The Hottest Subfield in ML</vt:lpstr>
      <vt:lpstr>GNNs: Neural Networks on Relational Data</vt:lpstr>
      <vt:lpstr>Graph Neural Network Architecture</vt:lpstr>
      <vt:lpstr>Challenges of GNN Computations on GPUs</vt:lpstr>
      <vt:lpstr>Understand ML Applications:</vt:lpstr>
      <vt:lpstr>Mixture-of-Experts</vt:lpstr>
      <vt:lpstr>Switch Transformers = Transformers + Mixture of Experts</vt:lpstr>
      <vt:lpstr>Takeaways: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Forkey</dc:creator>
  <cp:lastModifiedBy>Dong, Wenqian</cp:lastModifiedBy>
  <cp:revision>45</cp:revision>
  <dcterms:created xsi:type="dcterms:W3CDTF">2017-05-19T18:48:06Z</dcterms:created>
  <dcterms:modified xsi:type="dcterms:W3CDTF">2026-04-26T02:30:47Z</dcterms:modified>
</cp:coreProperties>
</file>