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notesMasterIdLst>
    <p:notesMasterId r:id="rId70"/>
  </p:notesMasterIdLst>
  <p:sldIdLst>
    <p:sldId id="261" r:id="rId3"/>
    <p:sldId id="258" r:id="rId4"/>
    <p:sldId id="275" r:id="rId5"/>
    <p:sldId id="260" r:id="rId6"/>
    <p:sldId id="276" r:id="rId7"/>
    <p:sldId id="277" r:id="rId8"/>
    <p:sldId id="278" r:id="rId9"/>
    <p:sldId id="279" r:id="rId10"/>
    <p:sldId id="280" r:id="rId11"/>
    <p:sldId id="274" r:id="rId12"/>
    <p:sldId id="281" r:id="rId13"/>
    <p:sldId id="282" r:id="rId14"/>
    <p:sldId id="283" r:id="rId15"/>
    <p:sldId id="284" r:id="rId16"/>
    <p:sldId id="285" r:id="rId17"/>
    <p:sldId id="286" r:id="rId18"/>
    <p:sldId id="259" r:id="rId19"/>
    <p:sldId id="287" r:id="rId20"/>
    <p:sldId id="288" r:id="rId21"/>
    <p:sldId id="289" r:id="rId22"/>
    <p:sldId id="305" r:id="rId23"/>
    <p:sldId id="306" r:id="rId24"/>
    <p:sldId id="307" r:id="rId25"/>
    <p:sldId id="293" r:id="rId26"/>
    <p:sldId id="294" r:id="rId27"/>
    <p:sldId id="308" r:id="rId28"/>
    <p:sldId id="309" r:id="rId29"/>
    <p:sldId id="310" r:id="rId30"/>
    <p:sldId id="311" r:id="rId31"/>
    <p:sldId id="312" r:id="rId32"/>
    <p:sldId id="313" r:id="rId33"/>
    <p:sldId id="301" r:id="rId34"/>
    <p:sldId id="302" r:id="rId35"/>
    <p:sldId id="30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291" r:id="rId45"/>
    <p:sldId id="292" r:id="rId46"/>
    <p:sldId id="343" r:id="rId47"/>
    <p:sldId id="344" r:id="rId48"/>
    <p:sldId id="345" r:id="rId49"/>
    <p:sldId id="346" r:id="rId50"/>
    <p:sldId id="347" r:id="rId51"/>
    <p:sldId id="300" r:id="rId52"/>
    <p:sldId id="348" r:id="rId53"/>
    <p:sldId id="325" r:id="rId54"/>
    <p:sldId id="349" r:id="rId55"/>
    <p:sldId id="327" r:id="rId56"/>
    <p:sldId id="350" r:id="rId57"/>
    <p:sldId id="351" r:id="rId58"/>
    <p:sldId id="330" r:id="rId59"/>
    <p:sldId id="352" r:id="rId60"/>
    <p:sldId id="333" r:id="rId61"/>
    <p:sldId id="334" r:id="rId62"/>
    <p:sldId id="335" r:id="rId63"/>
    <p:sldId id="336" r:id="rId64"/>
    <p:sldId id="354" r:id="rId65"/>
    <p:sldId id="339" r:id="rId66"/>
    <p:sldId id="340" r:id="rId67"/>
    <p:sldId id="341" r:id="rId68"/>
    <p:sldId id="355" r:id="rId6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2">
          <p15:clr>
            <a:srgbClr val="A4A3A4"/>
          </p15:clr>
        </p15:guide>
        <p15:guide id="2" pos="7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78395" autoAdjust="0"/>
  </p:normalViewPr>
  <p:slideViewPr>
    <p:cSldViewPr snapToGrid="0" snapToObjects="1" showGuides="1">
      <p:cViewPr varScale="1">
        <p:scale>
          <a:sx n="87" d="100"/>
          <a:sy n="87" d="100"/>
        </p:scale>
        <p:origin x="80" y="616"/>
      </p:cViewPr>
      <p:guideLst>
        <p:guide orient="horz" pos="1642"/>
        <p:guide pos="7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customXml" Target="../customXml/item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customXml" Target="../customXml/item2.xml"/><Relationship Id="rId7" Type="http://schemas.openxmlformats.org/officeDocument/2006/relationships/slide" Target="slides/slide5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BA750-9A9B-457E-B167-4269C70C9237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9E413-3972-42F6-A189-626B6700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5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objective function L(w) includes: A sum of loss terms l(yᵢ, ŷᵢ) over n samples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regularization term λ||w||²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9E413-3972-42F6-A189-626B670090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2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wᵢ := wᵢ - γ(∂L(w)/∂wᵢ) This expands to: wᵢ - (γ/N)∑(∂lᵢ(w)/∂wᵢ) where: wᵢ represents the current weight, γ (gamma) is the learning rate, N is the number of 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9E413-3972-42F6-A189-626B670090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-6940" y="-20820"/>
            <a:ext cx="12211242" cy="1143161"/>
          </a:xfrm>
          <a:prstGeom prst="rect">
            <a:avLst/>
          </a:prstGeom>
          <a:solidFill>
            <a:srgbClr val="DC44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ctrTitle" hasCustomPrompt="1"/>
          </p:nvPr>
        </p:nvSpPr>
        <p:spPr>
          <a:xfrm>
            <a:off x="914162" y="2732722"/>
            <a:ext cx="10360501" cy="10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>
                <a:solidFill>
                  <a:srgbClr val="DC4400"/>
                </a:solidFill>
                <a:latin typeface="Impact"/>
                <a:cs typeface="Impac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324" y="3835235"/>
            <a:ext cx="8532178" cy="1327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Presenter(s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pic>
        <p:nvPicPr>
          <p:cNvPr id="41" name="Picture 40" descr="OSU_horizontal_2C_W_over_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61" y="155700"/>
            <a:ext cx="2515086" cy="802078"/>
          </a:xfrm>
          <a:prstGeom prst="rect">
            <a:avLst/>
          </a:prstGeom>
        </p:spPr>
      </p:pic>
      <p:pic>
        <p:nvPicPr>
          <p:cNvPr id="8" name="Picture 7" descr="COE_Verdana_Whit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787" y="543128"/>
            <a:ext cx="26543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4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2979" y="1250845"/>
            <a:ext cx="10362867" cy="1193114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DC4400"/>
                </a:solidFill>
                <a:latin typeface="Impact"/>
                <a:cs typeface="Impac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12979" y="2443959"/>
            <a:ext cx="10362867" cy="3682206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Verdana"/>
                <a:cs typeface="Verdana"/>
              </a:defRPr>
            </a:lvl1pPr>
            <a:lvl2pPr algn="l">
              <a:defRPr>
                <a:latin typeface="Verdana"/>
                <a:cs typeface="Verdana"/>
              </a:defRPr>
            </a:lvl2pPr>
            <a:lvl3pPr algn="l">
              <a:defRPr>
                <a:latin typeface="Verdana"/>
                <a:cs typeface="Verdana"/>
              </a:defRPr>
            </a:lvl3pPr>
            <a:lvl4pPr algn="l">
              <a:defRPr>
                <a:latin typeface="Verdana"/>
                <a:cs typeface="Verdana"/>
              </a:defRPr>
            </a:lvl4pPr>
            <a:lvl5pPr algn="l">
              <a:defRPr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12979" y="6356351"/>
            <a:ext cx="2540521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9BD0DD54-9116-BF41-84A5-68A4D7F67848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6" y="6356351"/>
            <a:ext cx="255543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A9F06186-681F-7246-9274-0E5FA005C98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OSU_COE_horizontal_2C_O_over_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43" y="324700"/>
            <a:ext cx="2805112" cy="8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3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SU_COE_horizontal_2C_O_over_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43" y="324700"/>
            <a:ext cx="2805112" cy="80229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27889" y="2832443"/>
            <a:ext cx="10362867" cy="119311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DC4400"/>
                </a:solidFill>
                <a:latin typeface="Impact"/>
                <a:cs typeface="Impac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12979" y="6356351"/>
            <a:ext cx="2540521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9BD0DD54-9116-BF41-84A5-68A4D7F67848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6" y="6356351"/>
            <a:ext cx="255543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A9F06186-681F-7246-9274-0E5FA005C9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97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SU_COE_horizontal_2C_O_over_B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43" y="324700"/>
            <a:ext cx="2805112" cy="802297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12979" y="6356351"/>
            <a:ext cx="2540521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9BD0DD54-9116-BF41-84A5-68A4D7F67848}" type="datetimeFigureOut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6" y="6356351"/>
            <a:ext cx="255543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cs typeface="Verdana"/>
              </a:defRPr>
            </a:lvl1pPr>
          </a:lstStyle>
          <a:p>
            <a:fld id="{A9F06186-681F-7246-9274-0E5FA005C9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2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74014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71775" y="848398"/>
            <a:ext cx="368204" cy="25400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28278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74384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701" y="333757"/>
            <a:ext cx="8096046" cy="492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9165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701" y="333757"/>
            <a:ext cx="8096046" cy="492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70460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81650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71775" y="848398"/>
            <a:ext cx="368204" cy="25400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410616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9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16104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8455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34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2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308" y="333757"/>
            <a:ext cx="1033320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B151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701" y="1480819"/>
            <a:ext cx="101859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4201" y="6377940"/>
            <a:ext cx="39004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441" y="6377940"/>
            <a:ext cx="28034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61251" y="6560764"/>
            <a:ext cx="28630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089">
              <a:spcBef>
                <a:spcPts val="50"/>
              </a:spcBef>
            </a:pPr>
            <a:fld id="{81D60167-4931-47E6-BA6A-407CBD079E47}" type="slidenum">
              <a:rPr lang="en-US" spc="-25" smtClean="0"/>
              <a:pPr marL="38089">
                <a:spcBef>
                  <a:spcPts val="50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32505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063">
        <a:defRPr>
          <a:latin typeface="+mn-lt"/>
          <a:ea typeface="+mn-ea"/>
          <a:cs typeface="+mn-cs"/>
        </a:defRPr>
      </a:lvl2pPr>
      <a:lvl3pPr marL="914126">
        <a:defRPr>
          <a:latin typeface="+mn-lt"/>
          <a:ea typeface="+mn-ea"/>
          <a:cs typeface="+mn-cs"/>
        </a:defRPr>
      </a:lvl3pPr>
      <a:lvl4pPr marL="1371189">
        <a:defRPr>
          <a:latin typeface="+mn-lt"/>
          <a:ea typeface="+mn-ea"/>
          <a:cs typeface="+mn-cs"/>
        </a:defRPr>
      </a:lvl4pPr>
      <a:lvl5pPr marL="1828251">
        <a:defRPr>
          <a:latin typeface="+mn-lt"/>
          <a:ea typeface="+mn-ea"/>
          <a:cs typeface="+mn-cs"/>
        </a:defRPr>
      </a:lvl5pPr>
      <a:lvl6pPr marL="2285314">
        <a:defRPr>
          <a:latin typeface="+mn-lt"/>
          <a:ea typeface="+mn-ea"/>
          <a:cs typeface="+mn-cs"/>
        </a:defRPr>
      </a:lvl6pPr>
      <a:lvl7pPr marL="2742377">
        <a:defRPr>
          <a:latin typeface="+mn-lt"/>
          <a:ea typeface="+mn-ea"/>
          <a:cs typeface="+mn-cs"/>
        </a:defRPr>
      </a:lvl7pPr>
      <a:lvl8pPr marL="3199440">
        <a:defRPr>
          <a:latin typeface="+mn-lt"/>
          <a:ea typeface="+mn-ea"/>
          <a:cs typeface="+mn-cs"/>
        </a:defRPr>
      </a:lvl8pPr>
      <a:lvl9pPr marL="365650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063">
        <a:defRPr>
          <a:latin typeface="+mn-lt"/>
          <a:ea typeface="+mn-ea"/>
          <a:cs typeface="+mn-cs"/>
        </a:defRPr>
      </a:lvl2pPr>
      <a:lvl3pPr marL="914126">
        <a:defRPr>
          <a:latin typeface="+mn-lt"/>
          <a:ea typeface="+mn-ea"/>
          <a:cs typeface="+mn-cs"/>
        </a:defRPr>
      </a:lvl3pPr>
      <a:lvl4pPr marL="1371189">
        <a:defRPr>
          <a:latin typeface="+mn-lt"/>
          <a:ea typeface="+mn-ea"/>
          <a:cs typeface="+mn-cs"/>
        </a:defRPr>
      </a:lvl4pPr>
      <a:lvl5pPr marL="1828251">
        <a:defRPr>
          <a:latin typeface="+mn-lt"/>
          <a:ea typeface="+mn-ea"/>
          <a:cs typeface="+mn-cs"/>
        </a:defRPr>
      </a:lvl5pPr>
      <a:lvl6pPr marL="2285314">
        <a:defRPr>
          <a:latin typeface="+mn-lt"/>
          <a:ea typeface="+mn-ea"/>
          <a:cs typeface="+mn-cs"/>
        </a:defRPr>
      </a:lvl6pPr>
      <a:lvl7pPr marL="2742377">
        <a:defRPr>
          <a:latin typeface="+mn-lt"/>
          <a:ea typeface="+mn-ea"/>
          <a:cs typeface="+mn-cs"/>
        </a:defRPr>
      </a:lvl7pPr>
      <a:lvl8pPr marL="3199440">
        <a:defRPr>
          <a:latin typeface="+mn-lt"/>
          <a:ea typeface="+mn-ea"/>
          <a:cs typeface="+mn-cs"/>
        </a:defRPr>
      </a:lvl8pPr>
      <a:lvl9pPr marL="365650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utlook.office365.com/owa/calendar/0d9040822a5d4dc294a01fb35a3e38dc@oregonstate.edu/28f144ea475344179aebe573d4b0ee203232944372272455494/calendar.html" TargetMode="External"/><Relationship Id="rId2" Type="http://schemas.openxmlformats.org/officeDocument/2006/relationships/hyperlink" Target="mailto:wenqian.dong@oregonstat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ernoon.com/difference-between-artificial-intelligence-machine-learning-and-deep-learning-1pcv3zeg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blog.dataiku.com/ai-vs.-machine-learning-vs.-deep-learning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jp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jp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p500.org/" TargetMode="External"/><Relationship Id="rId2" Type="http://schemas.openxmlformats.org/officeDocument/2006/relationships/hyperlink" Target="https://blogs.nvidia.com/blog/2014/09/07/image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op500.org/news/market-for-artificial-intelligence-projected-to-hit-36-billion-by-2025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gdata-madesimple.com/machine-learning-explained-understanding-supervised-unsupervised-and-reinforcement-learning/" TargetMode="Externa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s231n.github.io/neural-networks-1/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s231n.github.io/neural-networks-1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nvidia.com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7" Type="http://schemas.openxmlformats.org/officeDocument/2006/relationships/image" Target="../media/image49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g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65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jp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jp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4996" y="2056859"/>
            <a:ext cx="10360501" cy="1083277"/>
          </a:xfrm>
        </p:spPr>
        <p:txBody>
          <a:bodyPr>
            <a:normAutofit fontScale="90000"/>
          </a:bodyPr>
          <a:lstStyle/>
          <a:p>
            <a:r>
              <a:rPr lang="en-US" dirty="0"/>
              <a:t>CS/ECE 599 Advanced Topics in Deep Learning &amp; High-performance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35235"/>
            <a:ext cx="8532178" cy="850016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Wenqian Dong</a:t>
            </a:r>
          </a:p>
          <a:p>
            <a:r>
              <a:rPr lang="en-US" dirty="0">
                <a:hlinkClick r:id="rId2"/>
              </a:rPr>
              <a:t>wenqian.dong@oregonstate.edu</a:t>
            </a:r>
            <a:endParaRPr lang="en-US" dirty="0"/>
          </a:p>
          <a:p>
            <a:r>
              <a:rPr lang="en-US" dirty="0"/>
              <a:t>Check my OSU calendar for availability at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62D7787-ADFD-42BA-8DC1-04798CC6B90D}"/>
              </a:ext>
            </a:extLst>
          </p:cNvPr>
          <p:cNvSpPr txBox="1">
            <a:spLocks/>
          </p:cNvSpPr>
          <p:nvPr/>
        </p:nvSpPr>
        <p:spPr>
          <a:xfrm>
            <a:off x="1828324" y="4850506"/>
            <a:ext cx="8532178" cy="5732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ctr" defTabSz="457200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28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(6) Introduction to Deep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97242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5991" y="793167"/>
            <a:ext cx="5979542" cy="26358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67525" y="103238"/>
            <a:ext cx="11967411" cy="68992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Machine</a:t>
            </a:r>
            <a:r>
              <a:rPr spc="-65" dirty="0"/>
              <a:t> </a:t>
            </a:r>
            <a:r>
              <a:rPr dirty="0"/>
              <a:t>Learning</a:t>
            </a:r>
            <a:r>
              <a:rPr spc="-7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Deep</a:t>
            </a:r>
            <a:r>
              <a:rPr spc="-60" dirty="0"/>
              <a:t> </a:t>
            </a:r>
            <a:r>
              <a:rPr spc="-10" dirty="0"/>
              <a:t>Learning?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78738" y="5867452"/>
            <a:ext cx="6226458" cy="68371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>
              <a:lnSpc>
                <a:spcPct val="120000"/>
              </a:lnSpc>
              <a:spcBef>
                <a:spcPts val="100"/>
              </a:spcBef>
            </a:pPr>
            <a:r>
              <a:rPr sz="1200" b="1" dirty="0">
                <a:solidFill>
                  <a:srgbClr val="0909FF"/>
                </a:solidFill>
                <a:latin typeface="Calibri"/>
                <a:cs typeface="Calibri"/>
              </a:rPr>
              <a:t>Courtesy:</a:t>
            </a:r>
            <a:r>
              <a:rPr sz="1200" b="1" spc="409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12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https://hackernoon.com/difference-between-artificial-intelligence-machine-learning-</a:t>
            </a:r>
            <a:r>
              <a:rPr sz="12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and-</a:t>
            </a:r>
            <a:r>
              <a:rPr sz="1200" spc="-20" dirty="0">
                <a:solidFill>
                  <a:srgbClr val="330099"/>
                </a:solidFill>
                <a:latin typeface="Calibri"/>
                <a:cs typeface="Calibri"/>
              </a:rPr>
              <a:t> </a:t>
            </a:r>
            <a:r>
              <a:rPr sz="12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deep-learning-1pcv3zeg</a:t>
            </a:r>
            <a:r>
              <a:rPr sz="1200" spc="-10" dirty="0">
                <a:latin typeface="Calibri"/>
                <a:cs typeface="Calibri"/>
              </a:rPr>
              <a:t>,</a:t>
            </a:r>
            <a:r>
              <a:rPr sz="1200" spc="405" dirty="0">
                <a:latin typeface="Calibri"/>
                <a:cs typeface="Calibri"/>
              </a:rPr>
              <a:t> </a:t>
            </a:r>
            <a:r>
              <a:rPr sz="12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https://blog.dataiku.com/ai-vs.-machine-learning-vs.-deep-learning</a:t>
            </a:r>
            <a:r>
              <a:rPr sz="1200" spc="-10" dirty="0">
                <a:latin typeface="Calibri"/>
                <a:cs typeface="Calibri"/>
              </a:rPr>
              <a:t>, </a:t>
            </a:r>
            <a:r>
              <a:rPr sz="12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https://en.wikipedia.org/wiki/Machine_learning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7685" y="3600823"/>
            <a:ext cx="4164385" cy="20970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8939" y="751421"/>
            <a:ext cx="5958558" cy="4339730"/>
          </a:xfrm>
          <a:prstGeom prst="rect">
            <a:avLst/>
          </a:prstGeom>
        </p:spPr>
        <p:txBody>
          <a:bodyPr vert="horz" wrap="square" lIns="0" tIns="139664" rIns="0" bIns="0" rtlCol="0">
            <a:spAutoFit/>
          </a:bodyPr>
          <a:lstStyle/>
          <a:p>
            <a:pPr marL="354859" indent="-342162">
              <a:spcBef>
                <a:spcPts val="1100"/>
              </a:spcBef>
              <a:buChar char="•"/>
              <a:tabLst>
                <a:tab pos="354859" algn="l"/>
              </a:tabLst>
            </a:pPr>
            <a:r>
              <a:rPr sz="1999" dirty="0">
                <a:latin typeface="Calibri"/>
                <a:cs typeface="Calibri"/>
              </a:rPr>
              <a:t>Machine</a:t>
            </a:r>
            <a:r>
              <a:rPr sz="1999" spc="-5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Learning</a:t>
            </a:r>
            <a:r>
              <a:rPr sz="1999" spc="-45" dirty="0">
                <a:latin typeface="Calibri"/>
                <a:cs typeface="Calibri"/>
              </a:rPr>
              <a:t> </a:t>
            </a:r>
            <a:r>
              <a:rPr sz="1999" spc="-20" dirty="0">
                <a:latin typeface="Calibri"/>
                <a:cs typeface="Calibri"/>
              </a:rPr>
              <a:t>(ML)</a:t>
            </a:r>
            <a:endParaRPr sz="1999" dirty="0">
              <a:latin typeface="Calibri"/>
              <a:cs typeface="Calibri"/>
            </a:endParaRPr>
          </a:p>
          <a:p>
            <a:pPr marL="756058" marR="488803" lvl="1" indent="-286934">
              <a:lnSpc>
                <a:spcPct val="120000"/>
              </a:lnSpc>
              <a:spcBef>
                <a:spcPts val="464"/>
              </a:spcBef>
              <a:buChar char="–"/>
              <a:tabLst>
                <a:tab pos="756058" algn="l"/>
              </a:tabLst>
            </a:pPr>
            <a:r>
              <a:rPr sz="1799" dirty="0">
                <a:latin typeface="Calibri"/>
                <a:cs typeface="Calibri"/>
              </a:rPr>
              <a:t>“the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study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of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computer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algorithms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to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improve automatically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through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experience</a:t>
            </a:r>
            <a:r>
              <a:rPr sz="1799" spc="-2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and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use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of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data”</a:t>
            </a:r>
            <a:endParaRPr sz="1799" dirty="0">
              <a:latin typeface="Calibri"/>
              <a:cs typeface="Calibri"/>
            </a:endParaRPr>
          </a:p>
          <a:p>
            <a:pPr marL="354859" indent="-342162">
              <a:spcBef>
                <a:spcPts val="925"/>
              </a:spcBef>
              <a:buChar char="•"/>
              <a:tabLst>
                <a:tab pos="354859" algn="l"/>
                <a:tab pos="469759" algn="l"/>
              </a:tabLst>
            </a:pPr>
            <a:r>
              <a:rPr sz="1999" dirty="0">
                <a:latin typeface="Calibri"/>
                <a:cs typeface="Calibri"/>
              </a:rPr>
              <a:t>Deep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Learning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(DL)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–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a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subset</a:t>
            </a:r>
            <a:r>
              <a:rPr sz="1999" spc="-2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of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25" dirty="0">
                <a:latin typeface="Calibri"/>
                <a:cs typeface="Calibri"/>
              </a:rPr>
              <a:t>ML</a:t>
            </a:r>
            <a:endParaRPr sz="1999" dirty="0">
              <a:latin typeface="Calibri"/>
              <a:cs typeface="Calibri"/>
            </a:endParaRPr>
          </a:p>
          <a:p>
            <a:pPr marL="756058" lvl="1" indent="-286299">
              <a:spcBef>
                <a:spcPts val="894"/>
              </a:spcBef>
              <a:buChar char="–"/>
              <a:tabLst>
                <a:tab pos="756058" algn="l"/>
              </a:tabLst>
            </a:pPr>
            <a:r>
              <a:rPr sz="1799" dirty="0">
                <a:latin typeface="Calibri"/>
                <a:cs typeface="Calibri"/>
              </a:rPr>
              <a:t>Uses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Deep</a:t>
            </a:r>
            <a:r>
              <a:rPr sz="1799" spc="-2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Neural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Networks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(DNNs)</a:t>
            </a:r>
            <a:endParaRPr sz="1799" dirty="0">
              <a:latin typeface="Calibri"/>
              <a:cs typeface="Calibri"/>
            </a:endParaRPr>
          </a:p>
          <a:p>
            <a:pPr marL="756058" lvl="1" indent="-286299">
              <a:spcBef>
                <a:spcPts val="865"/>
              </a:spcBef>
              <a:buFont typeface="Calibri"/>
              <a:buChar char="–"/>
              <a:tabLst>
                <a:tab pos="756058" algn="l"/>
              </a:tabLst>
            </a:pPr>
            <a:r>
              <a:rPr sz="1799" b="1" dirty="0">
                <a:solidFill>
                  <a:srgbClr val="C00000"/>
                </a:solidFill>
                <a:latin typeface="Calibri"/>
                <a:cs typeface="Calibri"/>
              </a:rPr>
              <a:t>Perhaps,</a:t>
            </a:r>
            <a:r>
              <a:rPr sz="1799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99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799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99" b="1" dirty="0">
                <a:solidFill>
                  <a:srgbClr val="C00000"/>
                </a:solidFill>
                <a:latin typeface="Calibri"/>
                <a:cs typeface="Calibri"/>
              </a:rPr>
              <a:t>most</a:t>
            </a:r>
            <a:r>
              <a:rPr sz="1799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99" b="1" dirty="0">
                <a:solidFill>
                  <a:srgbClr val="C00000"/>
                </a:solidFill>
                <a:latin typeface="Calibri"/>
                <a:cs typeface="Calibri"/>
              </a:rPr>
              <a:t>revolutionary</a:t>
            </a:r>
            <a:r>
              <a:rPr sz="1799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99" b="1" spc="-10" dirty="0">
                <a:solidFill>
                  <a:srgbClr val="C00000"/>
                </a:solidFill>
                <a:latin typeface="Calibri"/>
                <a:cs typeface="Calibri"/>
              </a:rPr>
              <a:t>subset!</a:t>
            </a:r>
            <a:endParaRPr sz="1799" dirty="0">
              <a:latin typeface="Calibri"/>
              <a:cs typeface="Calibri"/>
            </a:endParaRPr>
          </a:p>
          <a:p>
            <a:pPr marL="354859" indent="-342162">
              <a:spcBef>
                <a:spcPts val="930"/>
              </a:spcBef>
              <a:buChar char="•"/>
              <a:tabLst>
                <a:tab pos="354859" algn="l"/>
              </a:tabLst>
            </a:pPr>
            <a:r>
              <a:rPr sz="1999" dirty="0">
                <a:latin typeface="Calibri"/>
                <a:cs typeface="Calibri"/>
              </a:rPr>
              <a:t>Based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on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learning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data</a:t>
            </a:r>
            <a:r>
              <a:rPr sz="1999" spc="-3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representation</a:t>
            </a:r>
            <a:endParaRPr sz="1999" dirty="0">
              <a:latin typeface="Calibri"/>
              <a:cs typeface="Calibri"/>
            </a:endParaRPr>
          </a:p>
          <a:p>
            <a:pPr marL="354859" marR="5078" indent="-342797">
              <a:lnSpc>
                <a:spcPct val="119300"/>
              </a:lnSpc>
              <a:spcBef>
                <a:spcPts val="495"/>
              </a:spcBef>
              <a:buChar char="•"/>
              <a:tabLst>
                <a:tab pos="354859" algn="l"/>
              </a:tabLst>
            </a:pPr>
            <a:r>
              <a:rPr sz="1999" dirty="0">
                <a:latin typeface="Calibri"/>
                <a:cs typeface="Calibri"/>
              </a:rPr>
              <a:t>DNN</a:t>
            </a:r>
            <a:r>
              <a:rPr sz="1999" spc="-8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Examples: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Convolutional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Neural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Networks,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Recurrent </a:t>
            </a:r>
            <a:r>
              <a:rPr sz="1799" dirty="0">
                <a:latin typeface="Calibri"/>
                <a:cs typeface="Calibri"/>
              </a:rPr>
              <a:t>Neural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Networks,</a:t>
            </a:r>
            <a:r>
              <a:rPr sz="1799" spc="-6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Hybrid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Networks</a:t>
            </a:r>
            <a:endParaRPr sz="1799" dirty="0">
              <a:latin typeface="Calibri"/>
              <a:cs typeface="Calibri"/>
            </a:endParaRPr>
          </a:p>
          <a:p>
            <a:pPr marL="355493" marR="588468" indent="-342797">
              <a:lnSpc>
                <a:spcPct val="120000"/>
              </a:lnSpc>
              <a:spcBef>
                <a:spcPts val="450"/>
              </a:spcBef>
              <a:buChar char="•"/>
              <a:tabLst>
                <a:tab pos="355493" algn="l"/>
              </a:tabLst>
            </a:pPr>
            <a:r>
              <a:rPr sz="1999" dirty="0">
                <a:latin typeface="Calibri"/>
                <a:cs typeface="Calibri"/>
              </a:rPr>
              <a:t>Data</a:t>
            </a:r>
            <a:r>
              <a:rPr sz="1999" spc="-7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Scientist</a:t>
            </a:r>
            <a:r>
              <a:rPr sz="1999" spc="-50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or</a:t>
            </a:r>
            <a:r>
              <a:rPr sz="1999" spc="-8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Developer</a:t>
            </a:r>
            <a:r>
              <a:rPr sz="1999" spc="-7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Perspective</a:t>
            </a:r>
            <a:r>
              <a:rPr sz="1999" spc="-55" dirty="0">
                <a:latin typeface="Calibri"/>
                <a:cs typeface="Calibri"/>
              </a:rPr>
              <a:t> </a:t>
            </a:r>
            <a:r>
              <a:rPr sz="1999" dirty="0">
                <a:latin typeface="Calibri"/>
                <a:cs typeface="Calibri"/>
              </a:rPr>
              <a:t>for</a:t>
            </a:r>
            <a:r>
              <a:rPr sz="1999" spc="-80" dirty="0">
                <a:latin typeface="Calibri"/>
                <a:cs typeface="Calibri"/>
              </a:rPr>
              <a:t> </a:t>
            </a:r>
            <a:r>
              <a:rPr sz="1999" spc="-10" dirty="0">
                <a:latin typeface="Calibri"/>
                <a:cs typeface="Calibri"/>
              </a:rPr>
              <a:t>using </a:t>
            </a:r>
            <a:r>
              <a:rPr sz="1999" spc="-20" dirty="0">
                <a:latin typeface="Calibri"/>
                <a:cs typeface="Calibri"/>
              </a:rPr>
              <a:t>DNNs</a:t>
            </a:r>
            <a:endParaRPr sz="1999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2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22201" y="5090726"/>
            <a:ext cx="4264184" cy="1274748"/>
          </a:xfrm>
          <a:prstGeom prst="rect">
            <a:avLst/>
          </a:prstGeom>
        </p:spPr>
        <p:txBody>
          <a:bodyPr vert="horz" wrap="square" lIns="0" tIns="50787" rIns="0" bIns="0" rtlCol="0">
            <a:spAutoFit/>
          </a:bodyPr>
          <a:lstStyle/>
          <a:p>
            <a:pPr marL="469124" indent="-456428">
              <a:spcBef>
                <a:spcPts val="400"/>
              </a:spcBef>
              <a:buAutoNum type="arabicPeriod"/>
              <a:tabLst>
                <a:tab pos="469124" algn="l"/>
              </a:tabLst>
            </a:pPr>
            <a:r>
              <a:rPr sz="1799" dirty="0">
                <a:latin typeface="Calibri"/>
                <a:cs typeface="Calibri"/>
              </a:rPr>
              <a:t>Identify</a:t>
            </a:r>
            <a:r>
              <a:rPr sz="1799" spc="-4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DL</a:t>
            </a:r>
            <a:r>
              <a:rPr sz="1799" spc="-1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as</a:t>
            </a:r>
            <a:r>
              <a:rPr sz="1799" spc="-2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solution</a:t>
            </a:r>
            <a:r>
              <a:rPr sz="1799" spc="-1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to</a:t>
            </a:r>
            <a:r>
              <a:rPr sz="1799" spc="-2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problem</a:t>
            </a:r>
            <a:endParaRPr sz="1799">
              <a:latin typeface="Calibri"/>
              <a:cs typeface="Calibri"/>
            </a:endParaRPr>
          </a:p>
          <a:p>
            <a:pPr marL="469124" indent="-456428">
              <a:spcBef>
                <a:spcPts val="300"/>
              </a:spcBef>
              <a:buAutoNum type="arabicPeriod"/>
              <a:tabLst>
                <a:tab pos="469124" algn="l"/>
              </a:tabLst>
            </a:pPr>
            <a:r>
              <a:rPr sz="1799" dirty="0">
                <a:latin typeface="Calibri"/>
                <a:cs typeface="Calibri"/>
              </a:rPr>
              <a:t>Determine</a:t>
            </a:r>
            <a:r>
              <a:rPr sz="1799" spc="-7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Data</a:t>
            </a:r>
            <a:r>
              <a:rPr sz="1799" spc="-85" dirty="0">
                <a:latin typeface="Calibri"/>
                <a:cs typeface="Calibri"/>
              </a:rPr>
              <a:t> </a:t>
            </a:r>
            <a:r>
              <a:rPr sz="1799" spc="-25" dirty="0">
                <a:latin typeface="Calibri"/>
                <a:cs typeface="Calibri"/>
              </a:rPr>
              <a:t>Set</a:t>
            </a:r>
            <a:endParaRPr sz="1799">
              <a:latin typeface="Calibri"/>
              <a:cs typeface="Calibri"/>
            </a:endParaRPr>
          </a:p>
          <a:p>
            <a:pPr marL="469124" indent="-456428">
              <a:spcBef>
                <a:spcPts val="300"/>
              </a:spcBef>
              <a:buAutoNum type="arabicPeriod"/>
              <a:tabLst>
                <a:tab pos="469124" algn="l"/>
              </a:tabLst>
            </a:pPr>
            <a:r>
              <a:rPr sz="1799" dirty="0">
                <a:latin typeface="Calibri"/>
                <a:cs typeface="Calibri"/>
              </a:rPr>
              <a:t>Select</a:t>
            </a:r>
            <a:r>
              <a:rPr sz="1799" spc="-4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Deep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Learning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Algorithm</a:t>
            </a:r>
            <a:r>
              <a:rPr sz="1799" spc="-5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to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spc="-25" dirty="0">
                <a:latin typeface="Calibri"/>
                <a:cs typeface="Calibri"/>
              </a:rPr>
              <a:t>Use</a:t>
            </a:r>
            <a:endParaRPr sz="1799">
              <a:latin typeface="Calibri"/>
              <a:cs typeface="Calibri"/>
            </a:endParaRPr>
          </a:p>
          <a:p>
            <a:pPr marL="469124" indent="-456428">
              <a:spcBef>
                <a:spcPts val="300"/>
              </a:spcBef>
              <a:buAutoNum type="arabicPeriod"/>
              <a:tabLst>
                <a:tab pos="469124" algn="l"/>
              </a:tabLst>
            </a:pPr>
            <a:r>
              <a:rPr sz="1799" dirty="0">
                <a:latin typeface="Calibri"/>
                <a:cs typeface="Calibri"/>
              </a:rPr>
              <a:t>Use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large</a:t>
            </a:r>
            <a:r>
              <a:rPr sz="1799" spc="-3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data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set</a:t>
            </a:r>
            <a:r>
              <a:rPr sz="1799" spc="-4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to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train</a:t>
            </a:r>
            <a:r>
              <a:rPr sz="1799" spc="-20" dirty="0">
                <a:latin typeface="Calibri"/>
                <a:cs typeface="Calibri"/>
              </a:rPr>
              <a:t> </a:t>
            </a:r>
            <a:r>
              <a:rPr sz="1799" dirty="0">
                <a:latin typeface="Calibri"/>
                <a:cs typeface="Calibri"/>
              </a:rPr>
              <a:t>an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algorithm</a:t>
            </a:r>
            <a:endParaRPr sz="179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44666" y="58440"/>
            <a:ext cx="12027603" cy="68992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History:</a:t>
            </a:r>
            <a:r>
              <a:rPr spc="-110" dirty="0"/>
              <a:t> </a:t>
            </a:r>
            <a:r>
              <a:rPr dirty="0"/>
              <a:t>Milestones</a:t>
            </a:r>
            <a:r>
              <a:rPr spc="-8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Development</a:t>
            </a:r>
            <a:r>
              <a:rPr spc="-7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ML/DL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70217" y="3244581"/>
            <a:ext cx="9219069" cy="367569"/>
            <a:chOff x="2370835" y="3244532"/>
            <a:chExt cx="9221470" cy="367665"/>
          </a:xfrm>
        </p:grpSpPr>
        <p:sp>
          <p:nvSpPr>
            <p:cNvPr id="4" name="object 4"/>
            <p:cNvSpPr/>
            <p:nvPr/>
          </p:nvSpPr>
          <p:spPr>
            <a:xfrm>
              <a:off x="2377185" y="3250882"/>
              <a:ext cx="9208770" cy="354965"/>
            </a:xfrm>
            <a:custGeom>
              <a:avLst/>
              <a:gdLst/>
              <a:ahLst/>
              <a:cxnLst/>
              <a:rect l="l" t="t" r="r" b="b"/>
              <a:pathLst>
                <a:path w="9208770" h="354964">
                  <a:moveTo>
                    <a:pt x="9208173" y="0"/>
                  </a:moveTo>
                  <a:lnTo>
                    <a:pt x="0" y="0"/>
                  </a:lnTo>
                  <a:lnTo>
                    <a:pt x="0" y="354926"/>
                  </a:lnTo>
                  <a:lnTo>
                    <a:pt x="9208173" y="354926"/>
                  </a:lnTo>
                  <a:lnTo>
                    <a:pt x="920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" name="object 5"/>
            <p:cNvSpPr/>
            <p:nvPr/>
          </p:nvSpPr>
          <p:spPr>
            <a:xfrm>
              <a:off x="2377185" y="3250882"/>
              <a:ext cx="9208770" cy="354965"/>
            </a:xfrm>
            <a:custGeom>
              <a:avLst/>
              <a:gdLst/>
              <a:ahLst/>
              <a:cxnLst/>
              <a:rect l="l" t="t" r="r" b="b"/>
              <a:pathLst>
                <a:path w="9208770" h="354964">
                  <a:moveTo>
                    <a:pt x="0" y="0"/>
                  </a:moveTo>
                  <a:lnTo>
                    <a:pt x="9208173" y="0"/>
                  </a:lnTo>
                  <a:lnTo>
                    <a:pt x="9208173" y="354926"/>
                  </a:lnTo>
                  <a:lnTo>
                    <a:pt x="0" y="35492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87973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1960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2135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1970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6297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1980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0459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1990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58783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2010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11666" y="3263297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2020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66318" y="2379252"/>
            <a:ext cx="1185871" cy="521198"/>
            <a:chOff x="2566987" y="2378978"/>
            <a:chExt cx="1186180" cy="521334"/>
          </a:xfrm>
        </p:grpSpPr>
        <p:sp>
          <p:nvSpPr>
            <p:cNvPr id="13" name="object 13"/>
            <p:cNvSpPr/>
            <p:nvPr/>
          </p:nvSpPr>
          <p:spPr>
            <a:xfrm>
              <a:off x="2573337" y="2385328"/>
              <a:ext cx="1173480" cy="508634"/>
            </a:xfrm>
            <a:custGeom>
              <a:avLst/>
              <a:gdLst/>
              <a:ahLst/>
              <a:cxnLst/>
              <a:rect l="l" t="t" r="r" b="b"/>
              <a:pathLst>
                <a:path w="1173479" h="508635">
                  <a:moveTo>
                    <a:pt x="1088326" y="0"/>
                  </a:moveTo>
                  <a:lnTo>
                    <a:pt x="84747" y="0"/>
                  </a:lnTo>
                  <a:lnTo>
                    <a:pt x="51761" y="6658"/>
                  </a:lnTo>
                  <a:lnTo>
                    <a:pt x="24823" y="24818"/>
                  </a:lnTo>
                  <a:lnTo>
                    <a:pt x="6660" y="51756"/>
                  </a:lnTo>
                  <a:lnTo>
                    <a:pt x="0" y="84747"/>
                  </a:lnTo>
                  <a:lnTo>
                    <a:pt x="0" y="423748"/>
                  </a:lnTo>
                  <a:lnTo>
                    <a:pt x="6660" y="456740"/>
                  </a:lnTo>
                  <a:lnTo>
                    <a:pt x="24823" y="483682"/>
                  </a:lnTo>
                  <a:lnTo>
                    <a:pt x="51761" y="501847"/>
                  </a:lnTo>
                  <a:lnTo>
                    <a:pt x="84747" y="508508"/>
                  </a:lnTo>
                  <a:lnTo>
                    <a:pt x="1088326" y="508508"/>
                  </a:lnTo>
                  <a:lnTo>
                    <a:pt x="1121317" y="501847"/>
                  </a:lnTo>
                  <a:lnTo>
                    <a:pt x="1148254" y="483682"/>
                  </a:lnTo>
                  <a:lnTo>
                    <a:pt x="1166414" y="456740"/>
                  </a:lnTo>
                  <a:lnTo>
                    <a:pt x="1173073" y="423748"/>
                  </a:lnTo>
                  <a:lnTo>
                    <a:pt x="1173073" y="84747"/>
                  </a:lnTo>
                  <a:lnTo>
                    <a:pt x="1166414" y="51756"/>
                  </a:lnTo>
                  <a:lnTo>
                    <a:pt x="1148254" y="24818"/>
                  </a:lnTo>
                  <a:lnTo>
                    <a:pt x="1121317" y="6658"/>
                  </a:lnTo>
                  <a:lnTo>
                    <a:pt x="1088326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3337" y="2385328"/>
              <a:ext cx="1173480" cy="508634"/>
            </a:xfrm>
            <a:custGeom>
              <a:avLst/>
              <a:gdLst/>
              <a:ahLst/>
              <a:cxnLst/>
              <a:rect l="l" t="t" r="r" b="b"/>
              <a:pathLst>
                <a:path w="1173479" h="508635">
                  <a:moveTo>
                    <a:pt x="0" y="84747"/>
                  </a:moveTo>
                  <a:lnTo>
                    <a:pt x="6660" y="51756"/>
                  </a:lnTo>
                  <a:lnTo>
                    <a:pt x="24823" y="24818"/>
                  </a:lnTo>
                  <a:lnTo>
                    <a:pt x="51761" y="6658"/>
                  </a:lnTo>
                  <a:lnTo>
                    <a:pt x="84747" y="0"/>
                  </a:lnTo>
                  <a:lnTo>
                    <a:pt x="1088326" y="0"/>
                  </a:lnTo>
                  <a:lnTo>
                    <a:pt x="1121317" y="6658"/>
                  </a:lnTo>
                  <a:lnTo>
                    <a:pt x="1148254" y="24818"/>
                  </a:lnTo>
                  <a:lnTo>
                    <a:pt x="1166414" y="51756"/>
                  </a:lnTo>
                  <a:lnTo>
                    <a:pt x="1173073" y="84747"/>
                  </a:lnTo>
                  <a:lnTo>
                    <a:pt x="1173073" y="423748"/>
                  </a:lnTo>
                  <a:lnTo>
                    <a:pt x="1166414" y="456740"/>
                  </a:lnTo>
                  <a:lnTo>
                    <a:pt x="1148254" y="483682"/>
                  </a:lnTo>
                  <a:lnTo>
                    <a:pt x="1121317" y="501847"/>
                  </a:lnTo>
                  <a:lnTo>
                    <a:pt x="1088326" y="508508"/>
                  </a:lnTo>
                  <a:lnTo>
                    <a:pt x="84747" y="508508"/>
                  </a:lnTo>
                  <a:lnTo>
                    <a:pt x="51761" y="501847"/>
                  </a:lnTo>
                  <a:lnTo>
                    <a:pt x="24823" y="483682"/>
                  </a:lnTo>
                  <a:lnTo>
                    <a:pt x="6660" y="456740"/>
                  </a:lnTo>
                  <a:lnTo>
                    <a:pt x="0" y="423748"/>
                  </a:lnTo>
                  <a:lnTo>
                    <a:pt x="0" y="8474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87244" y="2337601"/>
            <a:ext cx="943364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28531" marR="5078" indent="-216470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Electronic Brain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19578" y="2893969"/>
            <a:ext cx="76180" cy="360586"/>
            <a:chOff x="3120391" y="2893830"/>
            <a:chExt cx="76200" cy="360680"/>
          </a:xfrm>
        </p:grpSpPr>
        <p:sp>
          <p:nvSpPr>
            <p:cNvPr id="17" name="object 17"/>
            <p:cNvSpPr/>
            <p:nvPr/>
          </p:nvSpPr>
          <p:spPr>
            <a:xfrm>
              <a:off x="3153331" y="2957328"/>
              <a:ext cx="5715" cy="294005"/>
            </a:xfrm>
            <a:custGeom>
              <a:avLst/>
              <a:gdLst/>
              <a:ahLst/>
              <a:cxnLst/>
              <a:rect l="l" t="t" r="r" b="b"/>
              <a:pathLst>
                <a:path w="5714" h="294004">
                  <a:moveTo>
                    <a:pt x="0" y="293560"/>
                  </a:moveTo>
                  <a:lnTo>
                    <a:pt x="5384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0391" y="2893830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69">
                  <a:moveTo>
                    <a:pt x="39484" y="0"/>
                  </a:moveTo>
                  <a:lnTo>
                    <a:pt x="0" y="75488"/>
                  </a:lnTo>
                  <a:lnTo>
                    <a:pt x="76187" y="76885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70732" y="3036834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1943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35027" y="1937897"/>
            <a:ext cx="1128101" cy="309799"/>
            <a:chOff x="3335896" y="1937508"/>
            <a:chExt cx="1128395" cy="309880"/>
          </a:xfrm>
        </p:grpSpPr>
        <p:sp>
          <p:nvSpPr>
            <p:cNvPr id="21" name="object 21"/>
            <p:cNvSpPr/>
            <p:nvPr/>
          </p:nvSpPr>
          <p:spPr>
            <a:xfrm>
              <a:off x="3342246" y="1943858"/>
              <a:ext cx="1115695" cy="297180"/>
            </a:xfrm>
            <a:custGeom>
              <a:avLst/>
              <a:gdLst/>
              <a:ahLst/>
              <a:cxnLst/>
              <a:rect l="l" t="t" r="r" b="b"/>
              <a:pathLst>
                <a:path w="1115695" h="297180">
                  <a:moveTo>
                    <a:pt x="1066012" y="0"/>
                  </a:moveTo>
                  <a:lnTo>
                    <a:pt x="49441" y="0"/>
                  </a:lnTo>
                  <a:lnTo>
                    <a:pt x="30196" y="3885"/>
                  </a:lnTo>
                  <a:lnTo>
                    <a:pt x="14481" y="14481"/>
                  </a:lnTo>
                  <a:lnTo>
                    <a:pt x="3885" y="30196"/>
                  </a:lnTo>
                  <a:lnTo>
                    <a:pt x="0" y="49441"/>
                  </a:lnTo>
                  <a:lnTo>
                    <a:pt x="0" y="247218"/>
                  </a:lnTo>
                  <a:lnTo>
                    <a:pt x="3885" y="266462"/>
                  </a:lnTo>
                  <a:lnTo>
                    <a:pt x="14481" y="282178"/>
                  </a:lnTo>
                  <a:lnTo>
                    <a:pt x="30196" y="292773"/>
                  </a:lnTo>
                  <a:lnTo>
                    <a:pt x="49441" y="296659"/>
                  </a:lnTo>
                  <a:lnTo>
                    <a:pt x="1066012" y="296659"/>
                  </a:lnTo>
                  <a:lnTo>
                    <a:pt x="1085257" y="292773"/>
                  </a:lnTo>
                  <a:lnTo>
                    <a:pt x="1100972" y="282178"/>
                  </a:lnTo>
                  <a:lnTo>
                    <a:pt x="1111568" y="266462"/>
                  </a:lnTo>
                  <a:lnTo>
                    <a:pt x="1115453" y="247218"/>
                  </a:lnTo>
                  <a:lnTo>
                    <a:pt x="1115453" y="49441"/>
                  </a:lnTo>
                  <a:lnTo>
                    <a:pt x="1111568" y="30196"/>
                  </a:lnTo>
                  <a:lnTo>
                    <a:pt x="1100972" y="14481"/>
                  </a:lnTo>
                  <a:lnTo>
                    <a:pt x="1085257" y="3885"/>
                  </a:lnTo>
                  <a:lnTo>
                    <a:pt x="1066012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2" name="object 22"/>
            <p:cNvSpPr/>
            <p:nvPr/>
          </p:nvSpPr>
          <p:spPr>
            <a:xfrm>
              <a:off x="3342246" y="1943858"/>
              <a:ext cx="1115695" cy="297180"/>
            </a:xfrm>
            <a:custGeom>
              <a:avLst/>
              <a:gdLst/>
              <a:ahLst/>
              <a:cxnLst/>
              <a:rect l="l" t="t" r="r" b="b"/>
              <a:pathLst>
                <a:path w="1115695" h="297180">
                  <a:moveTo>
                    <a:pt x="0" y="49441"/>
                  </a:moveTo>
                  <a:lnTo>
                    <a:pt x="3885" y="30196"/>
                  </a:lnTo>
                  <a:lnTo>
                    <a:pt x="14481" y="14481"/>
                  </a:lnTo>
                  <a:lnTo>
                    <a:pt x="30196" y="3885"/>
                  </a:lnTo>
                  <a:lnTo>
                    <a:pt x="49441" y="0"/>
                  </a:lnTo>
                  <a:lnTo>
                    <a:pt x="1066012" y="0"/>
                  </a:lnTo>
                  <a:lnTo>
                    <a:pt x="1085257" y="3885"/>
                  </a:lnTo>
                  <a:lnTo>
                    <a:pt x="1100972" y="14481"/>
                  </a:lnTo>
                  <a:lnTo>
                    <a:pt x="1111568" y="30196"/>
                  </a:lnTo>
                  <a:lnTo>
                    <a:pt x="1115453" y="49441"/>
                  </a:lnTo>
                  <a:lnTo>
                    <a:pt x="1115453" y="247218"/>
                  </a:lnTo>
                  <a:lnTo>
                    <a:pt x="1111568" y="266462"/>
                  </a:lnTo>
                  <a:lnTo>
                    <a:pt x="1100972" y="282178"/>
                  </a:lnTo>
                  <a:lnTo>
                    <a:pt x="1085257" y="292773"/>
                  </a:lnTo>
                  <a:lnTo>
                    <a:pt x="1066012" y="296659"/>
                  </a:lnTo>
                  <a:lnTo>
                    <a:pt x="49441" y="296659"/>
                  </a:lnTo>
                  <a:lnTo>
                    <a:pt x="30196" y="292773"/>
                  </a:lnTo>
                  <a:lnTo>
                    <a:pt x="14481" y="282178"/>
                  </a:lnTo>
                  <a:lnTo>
                    <a:pt x="3885" y="266462"/>
                  </a:lnTo>
                  <a:lnTo>
                    <a:pt x="0" y="247218"/>
                  </a:lnTo>
                  <a:lnTo>
                    <a:pt x="0" y="4944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349665" y="1927476"/>
            <a:ext cx="109889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471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Perceptron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60869" y="2240823"/>
            <a:ext cx="424070" cy="1004943"/>
            <a:chOff x="3861875" y="2240513"/>
            <a:chExt cx="424180" cy="1005205"/>
          </a:xfrm>
        </p:grpSpPr>
        <p:sp>
          <p:nvSpPr>
            <p:cNvPr id="25" name="object 25"/>
            <p:cNvSpPr/>
            <p:nvPr/>
          </p:nvSpPr>
          <p:spPr>
            <a:xfrm>
              <a:off x="3899967" y="2304013"/>
              <a:ext cx="383540" cy="938530"/>
            </a:xfrm>
            <a:custGeom>
              <a:avLst/>
              <a:gdLst/>
              <a:ahLst/>
              <a:cxnLst/>
              <a:rect l="l" t="t" r="r" b="b"/>
              <a:pathLst>
                <a:path w="383539" h="938530">
                  <a:moveTo>
                    <a:pt x="382917" y="937920"/>
                  </a:moveTo>
                  <a:lnTo>
                    <a:pt x="382917" y="437210"/>
                  </a:lnTo>
                  <a:lnTo>
                    <a:pt x="0" y="43721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6" name="object 26"/>
            <p:cNvSpPr/>
            <p:nvPr/>
          </p:nvSpPr>
          <p:spPr>
            <a:xfrm>
              <a:off x="3861875" y="22405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56687" y="3012634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1957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28367" y="1522327"/>
            <a:ext cx="940824" cy="309799"/>
            <a:chOff x="4229468" y="1521830"/>
            <a:chExt cx="941069" cy="309880"/>
          </a:xfrm>
        </p:grpSpPr>
        <p:sp>
          <p:nvSpPr>
            <p:cNvPr id="29" name="object 29"/>
            <p:cNvSpPr/>
            <p:nvPr/>
          </p:nvSpPr>
          <p:spPr>
            <a:xfrm>
              <a:off x="4235818" y="1528180"/>
              <a:ext cx="928369" cy="297180"/>
            </a:xfrm>
            <a:custGeom>
              <a:avLst/>
              <a:gdLst/>
              <a:ahLst/>
              <a:cxnLst/>
              <a:rect l="l" t="t" r="r" b="b"/>
              <a:pathLst>
                <a:path w="928370" h="297180">
                  <a:moveTo>
                    <a:pt x="878395" y="0"/>
                  </a:moveTo>
                  <a:lnTo>
                    <a:pt x="49441" y="0"/>
                  </a:lnTo>
                  <a:lnTo>
                    <a:pt x="30196" y="3885"/>
                  </a:lnTo>
                  <a:lnTo>
                    <a:pt x="14481" y="14481"/>
                  </a:lnTo>
                  <a:lnTo>
                    <a:pt x="3885" y="30196"/>
                  </a:lnTo>
                  <a:lnTo>
                    <a:pt x="0" y="49441"/>
                  </a:lnTo>
                  <a:lnTo>
                    <a:pt x="0" y="247218"/>
                  </a:lnTo>
                  <a:lnTo>
                    <a:pt x="3885" y="266462"/>
                  </a:lnTo>
                  <a:lnTo>
                    <a:pt x="14481" y="282178"/>
                  </a:lnTo>
                  <a:lnTo>
                    <a:pt x="30196" y="292773"/>
                  </a:lnTo>
                  <a:lnTo>
                    <a:pt x="49441" y="296659"/>
                  </a:lnTo>
                  <a:lnTo>
                    <a:pt x="878395" y="296659"/>
                  </a:lnTo>
                  <a:lnTo>
                    <a:pt x="897647" y="292773"/>
                  </a:lnTo>
                  <a:lnTo>
                    <a:pt x="913366" y="282178"/>
                  </a:lnTo>
                  <a:lnTo>
                    <a:pt x="923963" y="266462"/>
                  </a:lnTo>
                  <a:lnTo>
                    <a:pt x="927849" y="247218"/>
                  </a:lnTo>
                  <a:lnTo>
                    <a:pt x="927849" y="49441"/>
                  </a:lnTo>
                  <a:lnTo>
                    <a:pt x="923963" y="30196"/>
                  </a:lnTo>
                  <a:lnTo>
                    <a:pt x="913366" y="14481"/>
                  </a:lnTo>
                  <a:lnTo>
                    <a:pt x="897647" y="3885"/>
                  </a:lnTo>
                  <a:lnTo>
                    <a:pt x="878395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0" name="object 30"/>
            <p:cNvSpPr/>
            <p:nvPr/>
          </p:nvSpPr>
          <p:spPr>
            <a:xfrm>
              <a:off x="4235818" y="1528180"/>
              <a:ext cx="928369" cy="297180"/>
            </a:xfrm>
            <a:custGeom>
              <a:avLst/>
              <a:gdLst/>
              <a:ahLst/>
              <a:cxnLst/>
              <a:rect l="l" t="t" r="r" b="b"/>
              <a:pathLst>
                <a:path w="928370" h="297180">
                  <a:moveTo>
                    <a:pt x="0" y="49441"/>
                  </a:moveTo>
                  <a:lnTo>
                    <a:pt x="3885" y="30196"/>
                  </a:lnTo>
                  <a:lnTo>
                    <a:pt x="14481" y="14481"/>
                  </a:lnTo>
                  <a:lnTo>
                    <a:pt x="30196" y="3885"/>
                  </a:lnTo>
                  <a:lnTo>
                    <a:pt x="49441" y="0"/>
                  </a:lnTo>
                  <a:lnTo>
                    <a:pt x="878395" y="0"/>
                  </a:lnTo>
                  <a:lnTo>
                    <a:pt x="897647" y="3885"/>
                  </a:lnTo>
                  <a:lnTo>
                    <a:pt x="913366" y="14481"/>
                  </a:lnTo>
                  <a:lnTo>
                    <a:pt x="923963" y="30196"/>
                  </a:lnTo>
                  <a:lnTo>
                    <a:pt x="927849" y="49441"/>
                  </a:lnTo>
                  <a:lnTo>
                    <a:pt x="927849" y="247218"/>
                  </a:lnTo>
                  <a:lnTo>
                    <a:pt x="923963" y="266462"/>
                  </a:lnTo>
                  <a:lnTo>
                    <a:pt x="913366" y="282178"/>
                  </a:lnTo>
                  <a:lnTo>
                    <a:pt x="897647" y="292773"/>
                  </a:lnTo>
                  <a:lnTo>
                    <a:pt x="878395" y="296659"/>
                  </a:lnTo>
                  <a:lnTo>
                    <a:pt x="49441" y="296659"/>
                  </a:lnTo>
                  <a:lnTo>
                    <a:pt x="30196" y="292773"/>
                  </a:lnTo>
                  <a:lnTo>
                    <a:pt x="14481" y="282178"/>
                  </a:lnTo>
                  <a:lnTo>
                    <a:pt x="3885" y="266462"/>
                  </a:lnTo>
                  <a:lnTo>
                    <a:pt x="0" y="247218"/>
                  </a:lnTo>
                  <a:lnTo>
                    <a:pt x="0" y="4944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276319" y="1511907"/>
            <a:ext cx="84369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ADALINE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660432" y="1825254"/>
            <a:ext cx="76180" cy="1420125"/>
            <a:chOff x="4661646" y="1824836"/>
            <a:chExt cx="76200" cy="1420495"/>
          </a:xfrm>
        </p:grpSpPr>
        <p:sp>
          <p:nvSpPr>
            <p:cNvPr id="33" name="object 33"/>
            <p:cNvSpPr/>
            <p:nvPr/>
          </p:nvSpPr>
          <p:spPr>
            <a:xfrm>
              <a:off x="4699741" y="1888342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h="1353820">
                  <a:moveTo>
                    <a:pt x="0" y="135359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4" name="object 34"/>
            <p:cNvSpPr/>
            <p:nvPr/>
          </p:nvSpPr>
          <p:spPr>
            <a:xfrm>
              <a:off x="4661646" y="18248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22118" y="3014660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1960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45548" y="916918"/>
            <a:ext cx="874166" cy="534531"/>
            <a:chOff x="5146889" y="916264"/>
            <a:chExt cx="874394" cy="534670"/>
          </a:xfrm>
        </p:grpSpPr>
        <p:sp>
          <p:nvSpPr>
            <p:cNvPr id="37" name="object 37"/>
            <p:cNvSpPr/>
            <p:nvPr/>
          </p:nvSpPr>
          <p:spPr>
            <a:xfrm>
              <a:off x="5153239" y="922614"/>
              <a:ext cx="861694" cy="521970"/>
            </a:xfrm>
            <a:custGeom>
              <a:avLst/>
              <a:gdLst/>
              <a:ahLst/>
              <a:cxnLst/>
              <a:rect l="l" t="t" r="r" b="b"/>
              <a:pathLst>
                <a:path w="861695" h="521969">
                  <a:moveTo>
                    <a:pt x="774395" y="0"/>
                  </a:moveTo>
                  <a:lnTo>
                    <a:pt x="86906" y="0"/>
                  </a:lnTo>
                  <a:lnTo>
                    <a:pt x="53079" y="6830"/>
                  </a:lnTo>
                  <a:lnTo>
                    <a:pt x="25455" y="25455"/>
                  </a:lnTo>
                  <a:lnTo>
                    <a:pt x="6830" y="53079"/>
                  </a:lnTo>
                  <a:lnTo>
                    <a:pt x="0" y="86906"/>
                  </a:lnTo>
                  <a:lnTo>
                    <a:pt x="0" y="434505"/>
                  </a:lnTo>
                  <a:lnTo>
                    <a:pt x="6830" y="468331"/>
                  </a:lnTo>
                  <a:lnTo>
                    <a:pt x="25455" y="495955"/>
                  </a:lnTo>
                  <a:lnTo>
                    <a:pt x="53079" y="514581"/>
                  </a:lnTo>
                  <a:lnTo>
                    <a:pt x="86906" y="521411"/>
                  </a:lnTo>
                  <a:lnTo>
                    <a:pt x="774395" y="521411"/>
                  </a:lnTo>
                  <a:lnTo>
                    <a:pt x="808221" y="514581"/>
                  </a:lnTo>
                  <a:lnTo>
                    <a:pt x="835845" y="495955"/>
                  </a:lnTo>
                  <a:lnTo>
                    <a:pt x="854471" y="468331"/>
                  </a:lnTo>
                  <a:lnTo>
                    <a:pt x="861301" y="434505"/>
                  </a:lnTo>
                  <a:lnTo>
                    <a:pt x="861301" y="86906"/>
                  </a:lnTo>
                  <a:lnTo>
                    <a:pt x="854471" y="53079"/>
                  </a:lnTo>
                  <a:lnTo>
                    <a:pt x="835845" y="25455"/>
                  </a:lnTo>
                  <a:lnTo>
                    <a:pt x="808221" y="6830"/>
                  </a:lnTo>
                  <a:lnTo>
                    <a:pt x="7743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8" name="object 38"/>
            <p:cNvSpPr/>
            <p:nvPr/>
          </p:nvSpPr>
          <p:spPr>
            <a:xfrm>
              <a:off x="5153239" y="922614"/>
              <a:ext cx="861694" cy="521970"/>
            </a:xfrm>
            <a:custGeom>
              <a:avLst/>
              <a:gdLst/>
              <a:ahLst/>
              <a:cxnLst/>
              <a:rect l="l" t="t" r="r" b="b"/>
              <a:pathLst>
                <a:path w="861695" h="521969">
                  <a:moveTo>
                    <a:pt x="0" y="86906"/>
                  </a:moveTo>
                  <a:lnTo>
                    <a:pt x="6830" y="53079"/>
                  </a:lnTo>
                  <a:lnTo>
                    <a:pt x="25455" y="25455"/>
                  </a:lnTo>
                  <a:lnTo>
                    <a:pt x="53079" y="6830"/>
                  </a:lnTo>
                  <a:lnTo>
                    <a:pt x="86906" y="0"/>
                  </a:lnTo>
                  <a:lnTo>
                    <a:pt x="774395" y="0"/>
                  </a:lnTo>
                  <a:lnTo>
                    <a:pt x="808221" y="6830"/>
                  </a:lnTo>
                  <a:lnTo>
                    <a:pt x="835845" y="25455"/>
                  </a:lnTo>
                  <a:lnTo>
                    <a:pt x="854471" y="53079"/>
                  </a:lnTo>
                  <a:lnTo>
                    <a:pt x="861301" y="86906"/>
                  </a:lnTo>
                  <a:lnTo>
                    <a:pt x="861301" y="434505"/>
                  </a:lnTo>
                  <a:lnTo>
                    <a:pt x="854471" y="468331"/>
                  </a:lnTo>
                  <a:lnTo>
                    <a:pt x="835845" y="495955"/>
                  </a:lnTo>
                  <a:lnTo>
                    <a:pt x="808221" y="514581"/>
                  </a:lnTo>
                  <a:lnTo>
                    <a:pt x="774395" y="521411"/>
                  </a:lnTo>
                  <a:lnTo>
                    <a:pt x="86906" y="521411"/>
                  </a:lnTo>
                  <a:lnTo>
                    <a:pt x="53079" y="514581"/>
                  </a:lnTo>
                  <a:lnTo>
                    <a:pt x="25455" y="495955"/>
                  </a:lnTo>
                  <a:lnTo>
                    <a:pt x="6830" y="468331"/>
                  </a:lnTo>
                  <a:lnTo>
                    <a:pt x="0" y="434505"/>
                  </a:lnTo>
                  <a:lnTo>
                    <a:pt x="0" y="869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262540" y="912194"/>
            <a:ext cx="638644" cy="5167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799" spc="-25" dirty="0">
                <a:solidFill>
                  <a:srgbClr val="FFFFFF"/>
                </a:solidFill>
                <a:latin typeface="Calibri"/>
                <a:cs typeface="Calibri"/>
              </a:rPr>
              <a:t>XOR</a:t>
            </a:r>
            <a:endParaRPr sz="1799">
              <a:latin typeface="Calibri"/>
              <a:cs typeface="Calibri"/>
            </a:endParaRPr>
          </a:p>
          <a:p>
            <a:pPr algn="ctr">
              <a:spcBef>
                <a:spcPts val="2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98520" y="1444541"/>
            <a:ext cx="922415" cy="1860700"/>
            <a:chOff x="4699744" y="1444023"/>
            <a:chExt cx="922655" cy="1861185"/>
          </a:xfrm>
        </p:grpSpPr>
        <p:sp>
          <p:nvSpPr>
            <p:cNvPr id="41" name="object 41"/>
            <p:cNvSpPr/>
            <p:nvPr/>
          </p:nvSpPr>
          <p:spPr>
            <a:xfrm>
              <a:off x="5580519" y="1507517"/>
              <a:ext cx="3810" cy="1794510"/>
            </a:xfrm>
            <a:custGeom>
              <a:avLst/>
              <a:gdLst/>
              <a:ahLst/>
              <a:cxnLst/>
              <a:rect l="l" t="t" r="r" b="b"/>
              <a:pathLst>
                <a:path w="3810" h="1794510">
                  <a:moveTo>
                    <a:pt x="0" y="1793887"/>
                  </a:moveTo>
                  <a:lnTo>
                    <a:pt x="3251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5653" y="144402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4">
                  <a:moveTo>
                    <a:pt x="38239" y="0"/>
                  </a:moveTo>
                  <a:lnTo>
                    <a:pt x="0" y="76123"/>
                  </a:lnTo>
                  <a:lnTo>
                    <a:pt x="76200" y="76263"/>
                  </a:lnTo>
                  <a:lnTo>
                    <a:pt x="38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3" name="object 43"/>
            <p:cNvSpPr/>
            <p:nvPr/>
          </p:nvSpPr>
          <p:spPr>
            <a:xfrm>
              <a:off x="4763241" y="2190335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3783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4" name="object 44"/>
            <p:cNvSpPr/>
            <p:nvPr/>
          </p:nvSpPr>
          <p:spPr>
            <a:xfrm>
              <a:off x="4699736" y="2152243"/>
              <a:ext cx="881380" cy="76200"/>
            </a:xfrm>
            <a:custGeom>
              <a:avLst/>
              <a:gdLst/>
              <a:ahLst/>
              <a:cxnLst/>
              <a:rect l="l" t="t" r="r" b="b"/>
              <a:pathLst>
                <a:path w="88137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881379" h="76200">
                  <a:moveTo>
                    <a:pt x="880783" y="38100"/>
                  </a:moveTo>
                  <a:lnTo>
                    <a:pt x="804583" y="0"/>
                  </a:lnTo>
                  <a:lnTo>
                    <a:pt x="804583" y="76200"/>
                  </a:lnTo>
                  <a:lnTo>
                    <a:pt x="8807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795435" y="2264140"/>
            <a:ext cx="621503" cy="512946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78381" marR="5078" indent="-166320">
              <a:spcBef>
                <a:spcPts val="95"/>
              </a:spcBef>
            </a:pP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Golden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37589" y="3012634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1969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243441" y="824356"/>
            <a:ext cx="1812453" cy="792908"/>
            <a:chOff x="6245067" y="823677"/>
            <a:chExt cx="1812925" cy="793115"/>
          </a:xfrm>
        </p:grpSpPr>
        <p:sp>
          <p:nvSpPr>
            <p:cNvPr id="48" name="object 48"/>
            <p:cNvSpPr/>
            <p:nvPr/>
          </p:nvSpPr>
          <p:spPr>
            <a:xfrm>
              <a:off x="6251417" y="830027"/>
              <a:ext cx="1800225" cy="780415"/>
            </a:xfrm>
            <a:custGeom>
              <a:avLst/>
              <a:gdLst/>
              <a:ahLst/>
              <a:cxnLst/>
              <a:rect l="l" t="t" r="r" b="b"/>
              <a:pathLst>
                <a:path w="1800225" h="780415">
                  <a:moveTo>
                    <a:pt x="1670011" y="0"/>
                  </a:moveTo>
                  <a:lnTo>
                    <a:pt x="129984" y="0"/>
                  </a:lnTo>
                  <a:lnTo>
                    <a:pt x="79392" y="10214"/>
                  </a:lnTo>
                  <a:lnTo>
                    <a:pt x="38074" y="38069"/>
                  </a:lnTo>
                  <a:lnTo>
                    <a:pt x="10215" y="79386"/>
                  </a:lnTo>
                  <a:lnTo>
                    <a:pt x="0" y="129984"/>
                  </a:lnTo>
                  <a:lnTo>
                    <a:pt x="0" y="649935"/>
                  </a:lnTo>
                  <a:lnTo>
                    <a:pt x="10215" y="700532"/>
                  </a:lnTo>
                  <a:lnTo>
                    <a:pt x="38074" y="741849"/>
                  </a:lnTo>
                  <a:lnTo>
                    <a:pt x="79392" y="769705"/>
                  </a:lnTo>
                  <a:lnTo>
                    <a:pt x="129984" y="779919"/>
                  </a:lnTo>
                  <a:lnTo>
                    <a:pt x="1670011" y="779919"/>
                  </a:lnTo>
                  <a:lnTo>
                    <a:pt x="1720609" y="769705"/>
                  </a:lnTo>
                  <a:lnTo>
                    <a:pt x="1761926" y="741849"/>
                  </a:lnTo>
                  <a:lnTo>
                    <a:pt x="1789782" y="700532"/>
                  </a:lnTo>
                  <a:lnTo>
                    <a:pt x="1799996" y="649935"/>
                  </a:lnTo>
                  <a:lnTo>
                    <a:pt x="1799996" y="129984"/>
                  </a:lnTo>
                  <a:lnTo>
                    <a:pt x="1789782" y="79386"/>
                  </a:lnTo>
                  <a:lnTo>
                    <a:pt x="1761926" y="38069"/>
                  </a:lnTo>
                  <a:lnTo>
                    <a:pt x="1720609" y="10214"/>
                  </a:lnTo>
                  <a:lnTo>
                    <a:pt x="1670011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9" name="object 49"/>
            <p:cNvSpPr/>
            <p:nvPr/>
          </p:nvSpPr>
          <p:spPr>
            <a:xfrm>
              <a:off x="6251417" y="830027"/>
              <a:ext cx="1800225" cy="780415"/>
            </a:xfrm>
            <a:custGeom>
              <a:avLst/>
              <a:gdLst/>
              <a:ahLst/>
              <a:cxnLst/>
              <a:rect l="l" t="t" r="r" b="b"/>
              <a:pathLst>
                <a:path w="1800225" h="780415">
                  <a:moveTo>
                    <a:pt x="0" y="129984"/>
                  </a:moveTo>
                  <a:lnTo>
                    <a:pt x="10215" y="79386"/>
                  </a:lnTo>
                  <a:lnTo>
                    <a:pt x="38074" y="38069"/>
                  </a:lnTo>
                  <a:lnTo>
                    <a:pt x="79392" y="10214"/>
                  </a:lnTo>
                  <a:lnTo>
                    <a:pt x="129984" y="0"/>
                  </a:lnTo>
                  <a:lnTo>
                    <a:pt x="1670011" y="0"/>
                  </a:lnTo>
                  <a:lnTo>
                    <a:pt x="1720609" y="10214"/>
                  </a:lnTo>
                  <a:lnTo>
                    <a:pt x="1761926" y="38069"/>
                  </a:lnTo>
                  <a:lnTo>
                    <a:pt x="1789782" y="79386"/>
                  </a:lnTo>
                  <a:lnTo>
                    <a:pt x="1799996" y="129984"/>
                  </a:lnTo>
                  <a:lnTo>
                    <a:pt x="1799996" y="649935"/>
                  </a:lnTo>
                  <a:lnTo>
                    <a:pt x="1789782" y="700532"/>
                  </a:lnTo>
                  <a:lnTo>
                    <a:pt x="1761926" y="741849"/>
                  </a:lnTo>
                  <a:lnTo>
                    <a:pt x="1720609" y="769705"/>
                  </a:lnTo>
                  <a:lnTo>
                    <a:pt x="1670011" y="779919"/>
                  </a:lnTo>
                  <a:lnTo>
                    <a:pt x="129984" y="779919"/>
                  </a:lnTo>
                  <a:lnTo>
                    <a:pt x="79392" y="769705"/>
                  </a:lnTo>
                  <a:lnTo>
                    <a:pt x="38074" y="741849"/>
                  </a:lnTo>
                  <a:lnTo>
                    <a:pt x="10215" y="700532"/>
                  </a:lnTo>
                  <a:lnTo>
                    <a:pt x="0" y="649935"/>
                  </a:lnTo>
                  <a:lnTo>
                    <a:pt x="0" y="1299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07481" y="781256"/>
            <a:ext cx="128363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Multi-layered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81911" y="1055503"/>
            <a:ext cx="1734368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 indent="335179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Perceptron (Backpropagation)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111318" y="1610421"/>
            <a:ext cx="76180" cy="1716592"/>
            <a:chOff x="7113171" y="1609947"/>
            <a:chExt cx="76200" cy="1717039"/>
          </a:xfrm>
        </p:grpSpPr>
        <p:sp>
          <p:nvSpPr>
            <p:cNvPr id="53" name="object 53"/>
            <p:cNvSpPr/>
            <p:nvPr/>
          </p:nvSpPr>
          <p:spPr>
            <a:xfrm>
              <a:off x="7148047" y="1673457"/>
              <a:ext cx="3810" cy="1650364"/>
            </a:xfrm>
            <a:custGeom>
              <a:avLst/>
              <a:gdLst/>
              <a:ahLst/>
              <a:cxnLst/>
              <a:rect l="l" t="t" r="r" b="b"/>
              <a:pathLst>
                <a:path w="3809" h="1650364">
                  <a:moveTo>
                    <a:pt x="0" y="1650250"/>
                  </a:moveTo>
                  <a:lnTo>
                    <a:pt x="3238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4" name="object 54"/>
            <p:cNvSpPr/>
            <p:nvPr/>
          </p:nvSpPr>
          <p:spPr>
            <a:xfrm>
              <a:off x="7113171" y="1609947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252" y="0"/>
                  </a:moveTo>
                  <a:lnTo>
                    <a:pt x="0" y="76123"/>
                  </a:lnTo>
                  <a:lnTo>
                    <a:pt x="76200" y="76276"/>
                  </a:lnTo>
                  <a:lnTo>
                    <a:pt x="38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182121" y="2997878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1986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579067" y="2054439"/>
            <a:ext cx="3327168" cy="408199"/>
            <a:chOff x="5580520" y="2054081"/>
            <a:chExt cx="3328035" cy="408305"/>
          </a:xfrm>
        </p:grpSpPr>
        <p:sp>
          <p:nvSpPr>
            <p:cNvPr id="57" name="object 57"/>
            <p:cNvSpPr/>
            <p:nvPr/>
          </p:nvSpPr>
          <p:spPr>
            <a:xfrm>
              <a:off x="5644019" y="2092185"/>
              <a:ext cx="1440815" cy="0"/>
            </a:xfrm>
            <a:custGeom>
              <a:avLst/>
              <a:gdLst/>
              <a:ahLst/>
              <a:cxnLst/>
              <a:rect l="l" t="t" r="r" b="b"/>
              <a:pathLst>
                <a:path w="1440815">
                  <a:moveTo>
                    <a:pt x="0" y="0"/>
                  </a:moveTo>
                  <a:lnTo>
                    <a:pt x="144052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8" name="object 58"/>
            <p:cNvSpPr/>
            <p:nvPr/>
          </p:nvSpPr>
          <p:spPr>
            <a:xfrm>
              <a:off x="5580519" y="2054084"/>
              <a:ext cx="1567815" cy="76200"/>
            </a:xfrm>
            <a:custGeom>
              <a:avLst/>
              <a:gdLst/>
              <a:ahLst/>
              <a:cxnLst/>
              <a:rect l="l" t="t" r="r" b="b"/>
              <a:pathLst>
                <a:path w="156781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1567815" h="76200">
                  <a:moveTo>
                    <a:pt x="1567522" y="38100"/>
                  </a:moveTo>
                  <a:lnTo>
                    <a:pt x="1491322" y="0"/>
                  </a:lnTo>
                  <a:lnTo>
                    <a:pt x="1491322" y="76200"/>
                  </a:lnTo>
                  <a:lnTo>
                    <a:pt x="156752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9" name="object 59"/>
            <p:cNvSpPr/>
            <p:nvPr/>
          </p:nvSpPr>
          <p:spPr>
            <a:xfrm>
              <a:off x="8299195" y="2170530"/>
              <a:ext cx="602615" cy="285750"/>
            </a:xfrm>
            <a:custGeom>
              <a:avLst/>
              <a:gdLst/>
              <a:ahLst/>
              <a:cxnLst/>
              <a:rect l="l" t="t" r="r" b="b"/>
              <a:pathLst>
                <a:path w="602615" h="285750">
                  <a:moveTo>
                    <a:pt x="554990" y="0"/>
                  </a:moveTo>
                  <a:lnTo>
                    <a:pt x="47574" y="0"/>
                  </a:lnTo>
                  <a:lnTo>
                    <a:pt x="29055" y="3738"/>
                  </a:lnTo>
                  <a:lnTo>
                    <a:pt x="13933" y="13933"/>
                  </a:lnTo>
                  <a:lnTo>
                    <a:pt x="3738" y="29055"/>
                  </a:lnTo>
                  <a:lnTo>
                    <a:pt x="0" y="47574"/>
                  </a:lnTo>
                  <a:lnTo>
                    <a:pt x="0" y="237845"/>
                  </a:lnTo>
                  <a:lnTo>
                    <a:pt x="3738" y="256364"/>
                  </a:lnTo>
                  <a:lnTo>
                    <a:pt x="13933" y="271486"/>
                  </a:lnTo>
                  <a:lnTo>
                    <a:pt x="29055" y="281681"/>
                  </a:lnTo>
                  <a:lnTo>
                    <a:pt x="47574" y="285419"/>
                  </a:lnTo>
                  <a:lnTo>
                    <a:pt x="554990" y="285419"/>
                  </a:lnTo>
                  <a:lnTo>
                    <a:pt x="573508" y="281681"/>
                  </a:lnTo>
                  <a:lnTo>
                    <a:pt x="588630" y="271486"/>
                  </a:lnTo>
                  <a:lnTo>
                    <a:pt x="598825" y="256364"/>
                  </a:lnTo>
                  <a:lnTo>
                    <a:pt x="602564" y="237845"/>
                  </a:lnTo>
                  <a:lnTo>
                    <a:pt x="602564" y="47574"/>
                  </a:lnTo>
                  <a:lnTo>
                    <a:pt x="598825" y="29055"/>
                  </a:lnTo>
                  <a:lnTo>
                    <a:pt x="588630" y="13933"/>
                  </a:lnTo>
                  <a:lnTo>
                    <a:pt x="573508" y="3738"/>
                  </a:lnTo>
                  <a:lnTo>
                    <a:pt x="554990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60" name="object 60"/>
            <p:cNvSpPr/>
            <p:nvPr/>
          </p:nvSpPr>
          <p:spPr>
            <a:xfrm>
              <a:off x="8299195" y="2170530"/>
              <a:ext cx="602615" cy="285750"/>
            </a:xfrm>
            <a:custGeom>
              <a:avLst/>
              <a:gdLst/>
              <a:ahLst/>
              <a:cxnLst/>
              <a:rect l="l" t="t" r="r" b="b"/>
              <a:pathLst>
                <a:path w="602615" h="285750">
                  <a:moveTo>
                    <a:pt x="0" y="47574"/>
                  </a:moveTo>
                  <a:lnTo>
                    <a:pt x="3738" y="29055"/>
                  </a:lnTo>
                  <a:lnTo>
                    <a:pt x="13933" y="13933"/>
                  </a:lnTo>
                  <a:lnTo>
                    <a:pt x="29055" y="3738"/>
                  </a:lnTo>
                  <a:lnTo>
                    <a:pt x="47574" y="0"/>
                  </a:lnTo>
                  <a:lnTo>
                    <a:pt x="554990" y="0"/>
                  </a:lnTo>
                  <a:lnTo>
                    <a:pt x="573508" y="3738"/>
                  </a:lnTo>
                  <a:lnTo>
                    <a:pt x="588630" y="13933"/>
                  </a:lnTo>
                  <a:lnTo>
                    <a:pt x="598825" y="29055"/>
                  </a:lnTo>
                  <a:lnTo>
                    <a:pt x="602564" y="47574"/>
                  </a:lnTo>
                  <a:lnTo>
                    <a:pt x="602564" y="237845"/>
                  </a:lnTo>
                  <a:lnTo>
                    <a:pt x="598825" y="256364"/>
                  </a:lnTo>
                  <a:lnTo>
                    <a:pt x="588630" y="271486"/>
                  </a:lnTo>
                  <a:lnTo>
                    <a:pt x="573508" y="281681"/>
                  </a:lnTo>
                  <a:lnTo>
                    <a:pt x="554990" y="285419"/>
                  </a:lnTo>
                  <a:lnTo>
                    <a:pt x="47574" y="285419"/>
                  </a:lnTo>
                  <a:lnTo>
                    <a:pt x="29055" y="281681"/>
                  </a:lnTo>
                  <a:lnTo>
                    <a:pt x="13933" y="271486"/>
                  </a:lnTo>
                  <a:lnTo>
                    <a:pt x="3738" y="256364"/>
                  </a:lnTo>
                  <a:lnTo>
                    <a:pt x="0" y="237845"/>
                  </a:lnTo>
                  <a:lnTo>
                    <a:pt x="0" y="47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852398" y="2236185"/>
            <a:ext cx="1095725" cy="512946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 marR="5078" indent="139658"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Dark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Age (“AI</a:t>
            </a:r>
            <a:r>
              <a:rPr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Winter”)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379028" y="2148474"/>
            <a:ext cx="43803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libri"/>
                <a:cs typeface="Calibri"/>
              </a:rPr>
              <a:t>DBN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560152" y="2456197"/>
            <a:ext cx="76180" cy="789099"/>
            <a:chOff x="8562382" y="2455943"/>
            <a:chExt cx="76200" cy="789305"/>
          </a:xfrm>
        </p:grpSpPr>
        <p:sp>
          <p:nvSpPr>
            <p:cNvPr id="64" name="object 64"/>
            <p:cNvSpPr/>
            <p:nvPr/>
          </p:nvSpPr>
          <p:spPr>
            <a:xfrm>
              <a:off x="8600476" y="2519443"/>
              <a:ext cx="0" cy="722630"/>
            </a:xfrm>
            <a:custGeom>
              <a:avLst/>
              <a:gdLst/>
              <a:ahLst/>
              <a:cxnLst/>
              <a:rect l="l" t="t" r="r" b="b"/>
              <a:pathLst>
                <a:path h="722630">
                  <a:moveTo>
                    <a:pt x="0" y="72249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65" name="object 65"/>
            <p:cNvSpPr/>
            <p:nvPr/>
          </p:nvSpPr>
          <p:spPr>
            <a:xfrm>
              <a:off x="8562382" y="245594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227927" y="3011558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2006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806021" y="1299972"/>
            <a:ext cx="846235" cy="298372"/>
            <a:chOff x="8808315" y="1299417"/>
            <a:chExt cx="846455" cy="298450"/>
          </a:xfrm>
        </p:grpSpPr>
        <p:sp>
          <p:nvSpPr>
            <p:cNvPr id="68" name="object 68"/>
            <p:cNvSpPr/>
            <p:nvPr/>
          </p:nvSpPr>
          <p:spPr>
            <a:xfrm>
              <a:off x="8814665" y="1305767"/>
              <a:ext cx="833755" cy="285750"/>
            </a:xfrm>
            <a:custGeom>
              <a:avLst/>
              <a:gdLst/>
              <a:ahLst/>
              <a:cxnLst/>
              <a:rect l="l" t="t" r="r" b="b"/>
              <a:pathLst>
                <a:path w="833754" h="285750">
                  <a:moveTo>
                    <a:pt x="785977" y="0"/>
                  </a:moveTo>
                  <a:lnTo>
                    <a:pt x="47574" y="0"/>
                  </a:lnTo>
                  <a:lnTo>
                    <a:pt x="29055" y="3738"/>
                  </a:lnTo>
                  <a:lnTo>
                    <a:pt x="13933" y="13933"/>
                  </a:lnTo>
                  <a:lnTo>
                    <a:pt x="3738" y="29055"/>
                  </a:lnTo>
                  <a:lnTo>
                    <a:pt x="0" y="47574"/>
                  </a:lnTo>
                  <a:lnTo>
                    <a:pt x="0" y="237845"/>
                  </a:lnTo>
                  <a:lnTo>
                    <a:pt x="3738" y="256364"/>
                  </a:lnTo>
                  <a:lnTo>
                    <a:pt x="13933" y="271486"/>
                  </a:lnTo>
                  <a:lnTo>
                    <a:pt x="29055" y="281681"/>
                  </a:lnTo>
                  <a:lnTo>
                    <a:pt x="47574" y="285419"/>
                  </a:lnTo>
                  <a:lnTo>
                    <a:pt x="785977" y="285419"/>
                  </a:lnTo>
                  <a:lnTo>
                    <a:pt x="804489" y="281681"/>
                  </a:lnTo>
                  <a:lnTo>
                    <a:pt x="819607" y="271486"/>
                  </a:lnTo>
                  <a:lnTo>
                    <a:pt x="829800" y="256364"/>
                  </a:lnTo>
                  <a:lnTo>
                    <a:pt x="833539" y="237845"/>
                  </a:lnTo>
                  <a:lnTo>
                    <a:pt x="833539" y="47574"/>
                  </a:lnTo>
                  <a:lnTo>
                    <a:pt x="829800" y="29055"/>
                  </a:lnTo>
                  <a:lnTo>
                    <a:pt x="819607" y="13933"/>
                  </a:lnTo>
                  <a:lnTo>
                    <a:pt x="804489" y="3738"/>
                  </a:lnTo>
                  <a:lnTo>
                    <a:pt x="785977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69" name="object 69"/>
            <p:cNvSpPr/>
            <p:nvPr/>
          </p:nvSpPr>
          <p:spPr>
            <a:xfrm>
              <a:off x="8814665" y="1305767"/>
              <a:ext cx="833755" cy="285750"/>
            </a:xfrm>
            <a:custGeom>
              <a:avLst/>
              <a:gdLst/>
              <a:ahLst/>
              <a:cxnLst/>
              <a:rect l="l" t="t" r="r" b="b"/>
              <a:pathLst>
                <a:path w="833754" h="285750">
                  <a:moveTo>
                    <a:pt x="0" y="47574"/>
                  </a:moveTo>
                  <a:lnTo>
                    <a:pt x="3738" y="29055"/>
                  </a:lnTo>
                  <a:lnTo>
                    <a:pt x="13933" y="13933"/>
                  </a:lnTo>
                  <a:lnTo>
                    <a:pt x="29055" y="3738"/>
                  </a:lnTo>
                  <a:lnTo>
                    <a:pt x="47574" y="0"/>
                  </a:lnTo>
                  <a:lnTo>
                    <a:pt x="785977" y="0"/>
                  </a:lnTo>
                  <a:lnTo>
                    <a:pt x="804489" y="3738"/>
                  </a:lnTo>
                  <a:lnTo>
                    <a:pt x="819607" y="13933"/>
                  </a:lnTo>
                  <a:lnTo>
                    <a:pt x="829800" y="29055"/>
                  </a:lnTo>
                  <a:lnTo>
                    <a:pt x="833539" y="47574"/>
                  </a:lnTo>
                  <a:lnTo>
                    <a:pt x="833539" y="237845"/>
                  </a:lnTo>
                  <a:lnTo>
                    <a:pt x="829800" y="256364"/>
                  </a:lnTo>
                  <a:lnTo>
                    <a:pt x="819607" y="271486"/>
                  </a:lnTo>
                  <a:lnTo>
                    <a:pt x="804489" y="281681"/>
                  </a:lnTo>
                  <a:lnTo>
                    <a:pt x="785977" y="285419"/>
                  </a:lnTo>
                  <a:lnTo>
                    <a:pt x="47574" y="285419"/>
                  </a:lnTo>
                  <a:lnTo>
                    <a:pt x="29055" y="281681"/>
                  </a:lnTo>
                  <a:lnTo>
                    <a:pt x="13933" y="271486"/>
                  </a:lnTo>
                  <a:lnTo>
                    <a:pt x="3738" y="256364"/>
                  </a:lnTo>
                  <a:lnTo>
                    <a:pt x="0" y="237845"/>
                  </a:lnTo>
                  <a:lnTo>
                    <a:pt x="0" y="47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847528" y="1283936"/>
            <a:ext cx="76180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AlexNet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190948" y="1591660"/>
            <a:ext cx="987803" cy="1662631"/>
            <a:chOff x="9193343" y="1591181"/>
            <a:chExt cx="988060" cy="1663064"/>
          </a:xfrm>
        </p:grpSpPr>
        <p:sp>
          <p:nvSpPr>
            <p:cNvPr id="72" name="object 72"/>
            <p:cNvSpPr/>
            <p:nvPr/>
          </p:nvSpPr>
          <p:spPr>
            <a:xfrm>
              <a:off x="9231435" y="1654676"/>
              <a:ext cx="417195" cy="1596390"/>
            </a:xfrm>
            <a:custGeom>
              <a:avLst/>
              <a:gdLst/>
              <a:ahLst/>
              <a:cxnLst/>
              <a:rect l="l" t="t" r="r" b="b"/>
              <a:pathLst>
                <a:path w="417195" h="1596389">
                  <a:moveTo>
                    <a:pt x="416775" y="1596212"/>
                  </a:moveTo>
                  <a:lnTo>
                    <a:pt x="416775" y="766356"/>
                  </a:lnTo>
                  <a:lnTo>
                    <a:pt x="0" y="76635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3" name="object 73"/>
            <p:cNvSpPr/>
            <p:nvPr/>
          </p:nvSpPr>
          <p:spPr>
            <a:xfrm>
              <a:off x="9193343" y="15911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4" name="object 74"/>
            <p:cNvSpPr/>
            <p:nvPr/>
          </p:nvSpPr>
          <p:spPr>
            <a:xfrm>
              <a:off x="9439825" y="1991776"/>
              <a:ext cx="735330" cy="285750"/>
            </a:xfrm>
            <a:custGeom>
              <a:avLst/>
              <a:gdLst/>
              <a:ahLst/>
              <a:cxnLst/>
              <a:rect l="l" t="t" r="r" b="b"/>
              <a:pathLst>
                <a:path w="735329" h="285750">
                  <a:moveTo>
                    <a:pt x="687260" y="0"/>
                  </a:moveTo>
                  <a:lnTo>
                    <a:pt x="47574" y="0"/>
                  </a:lnTo>
                  <a:lnTo>
                    <a:pt x="29055" y="3738"/>
                  </a:lnTo>
                  <a:lnTo>
                    <a:pt x="13933" y="13933"/>
                  </a:lnTo>
                  <a:lnTo>
                    <a:pt x="3738" y="29055"/>
                  </a:lnTo>
                  <a:lnTo>
                    <a:pt x="0" y="47574"/>
                  </a:lnTo>
                  <a:lnTo>
                    <a:pt x="0" y="237845"/>
                  </a:lnTo>
                  <a:lnTo>
                    <a:pt x="3738" y="256364"/>
                  </a:lnTo>
                  <a:lnTo>
                    <a:pt x="13933" y="271486"/>
                  </a:lnTo>
                  <a:lnTo>
                    <a:pt x="29055" y="281681"/>
                  </a:lnTo>
                  <a:lnTo>
                    <a:pt x="47574" y="285419"/>
                  </a:lnTo>
                  <a:lnTo>
                    <a:pt x="687260" y="285419"/>
                  </a:lnTo>
                  <a:lnTo>
                    <a:pt x="705779" y="281681"/>
                  </a:lnTo>
                  <a:lnTo>
                    <a:pt x="720901" y="271486"/>
                  </a:lnTo>
                  <a:lnTo>
                    <a:pt x="731096" y="256364"/>
                  </a:lnTo>
                  <a:lnTo>
                    <a:pt x="734834" y="237845"/>
                  </a:lnTo>
                  <a:lnTo>
                    <a:pt x="734834" y="47574"/>
                  </a:lnTo>
                  <a:lnTo>
                    <a:pt x="731096" y="29055"/>
                  </a:lnTo>
                  <a:lnTo>
                    <a:pt x="720901" y="13933"/>
                  </a:lnTo>
                  <a:lnTo>
                    <a:pt x="705779" y="3738"/>
                  </a:lnTo>
                  <a:lnTo>
                    <a:pt x="68726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5" name="object 75"/>
            <p:cNvSpPr/>
            <p:nvPr/>
          </p:nvSpPr>
          <p:spPr>
            <a:xfrm>
              <a:off x="9439825" y="1991776"/>
              <a:ext cx="735330" cy="285750"/>
            </a:xfrm>
            <a:custGeom>
              <a:avLst/>
              <a:gdLst/>
              <a:ahLst/>
              <a:cxnLst/>
              <a:rect l="l" t="t" r="r" b="b"/>
              <a:pathLst>
                <a:path w="735329" h="285750">
                  <a:moveTo>
                    <a:pt x="0" y="47574"/>
                  </a:moveTo>
                  <a:lnTo>
                    <a:pt x="3738" y="29055"/>
                  </a:lnTo>
                  <a:lnTo>
                    <a:pt x="13933" y="13933"/>
                  </a:lnTo>
                  <a:lnTo>
                    <a:pt x="29055" y="3738"/>
                  </a:lnTo>
                  <a:lnTo>
                    <a:pt x="47574" y="0"/>
                  </a:lnTo>
                  <a:lnTo>
                    <a:pt x="687260" y="0"/>
                  </a:lnTo>
                  <a:lnTo>
                    <a:pt x="705779" y="3738"/>
                  </a:lnTo>
                  <a:lnTo>
                    <a:pt x="720901" y="13933"/>
                  </a:lnTo>
                  <a:lnTo>
                    <a:pt x="731096" y="29055"/>
                  </a:lnTo>
                  <a:lnTo>
                    <a:pt x="734834" y="47574"/>
                  </a:lnTo>
                  <a:lnTo>
                    <a:pt x="734834" y="237845"/>
                  </a:lnTo>
                  <a:lnTo>
                    <a:pt x="731096" y="256364"/>
                  </a:lnTo>
                  <a:lnTo>
                    <a:pt x="720901" y="271486"/>
                  </a:lnTo>
                  <a:lnTo>
                    <a:pt x="705779" y="281681"/>
                  </a:lnTo>
                  <a:lnTo>
                    <a:pt x="687260" y="285419"/>
                  </a:lnTo>
                  <a:lnTo>
                    <a:pt x="47574" y="285419"/>
                  </a:lnTo>
                  <a:lnTo>
                    <a:pt x="29055" y="281681"/>
                  </a:lnTo>
                  <a:lnTo>
                    <a:pt x="13933" y="271486"/>
                  </a:lnTo>
                  <a:lnTo>
                    <a:pt x="3738" y="256364"/>
                  </a:lnTo>
                  <a:lnTo>
                    <a:pt x="0" y="237845"/>
                  </a:lnTo>
                  <a:lnTo>
                    <a:pt x="0" y="47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458669" y="1969766"/>
            <a:ext cx="69260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ResNet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766598" y="1568842"/>
            <a:ext cx="867818" cy="1676598"/>
            <a:chOff x="9769143" y="1568357"/>
            <a:chExt cx="868044" cy="1677035"/>
          </a:xfrm>
        </p:grpSpPr>
        <p:sp>
          <p:nvSpPr>
            <p:cNvPr id="78" name="object 78"/>
            <p:cNvSpPr/>
            <p:nvPr/>
          </p:nvSpPr>
          <p:spPr>
            <a:xfrm>
              <a:off x="9807239" y="2340691"/>
              <a:ext cx="0" cy="901700"/>
            </a:xfrm>
            <a:custGeom>
              <a:avLst/>
              <a:gdLst/>
              <a:ahLst/>
              <a:cxnLst/>
              <a:rect l="l" t="t" r="r" b="b"/>
              <a:pathLst>
                <a:path h="901700">
                  <a:moveTo>
                    <a:pt x="0" y="90124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9" name="object 79"/>
            <p:cNvSpPr/>
            <p:nvPr/>
          </p:nvSpPr>
          <p:spPr>
            <a:xfrm>
              <a:off x="9769143" y="227718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0" name="object 80"/>
            <p:cNvSpPr/>
            <p:nvPr/>
          </p:nvSpPr>
          <p:spPr>
            <a:xfrm>
              <a:off x="9944103" y="1574707"/>
              <a:ext cx="686435" cy="285750"/>
            </a:xfrm>
            <a:custGeom>
              <a:avLst/>
              <a:gdLst/>
              <a:ahLst/>
              <a:cxnLst/>
              <a:rect l="l" t="t" r="r" b="b"/>
              <a:pathLst>
                <a:path w="686434" h="285750">
                  <a:moveTo>
                    <a:pt x="638822" y="0"/>
                  </a:moveTo>
                  <a:lnTo>
                    <a:pt x="47574" y="0"/>
                  </a:lnTo>
                  <a:lnTo>
                    <a:pt x="29055" y="3738"/>
                  </a:lnTo>
                  <a:lnTo>
                    <a:pt x="13933" y="13933"/>
                  </a:lnTo>
                  <a:lnTo>
                    <a:pt x="3738" y="29055"/>
                  </a:lnTo>
                  <a:lnTo>
                    <a:pt x="0" y="47574"/>
                  </a:lnTo>
                  <a:lnTo>
                    <a:pt x="0" y="237845"/>
                  </a:lnTo>
                  <a:lnTo>
                    <a:pt x="3738" y="256364"/>
                  </a:lnTo>
                  <a:lnTo>
                    <a:pt x="13933" y="271486"/>
                  </a:lnTo>
                  <a:lnTo>
                    <a:pt x="29055" y="281681"/>
                  </a:lnTo>
                  <a:lnTo>
                    <a:pt x="47574" y="285419"/>
                  </a:lnTo>
                  <a:lnTo>
                    <a:pt x="638822" y="285419"/>
                  </a:lnTo>
                  <a:lnTo>
                    <a:pt x="657341" y="281681"/>
                  </a:lnTo>
                  <a:lnTo>
                    <a:pt x="672463" y="271486"/>
                  </a:lnTo>
                  <a:lnTo>
                    <a:pt x="682658" y="256364"/>
                  </a:lnTo>
                  <a:lnTo>
                    <a:pt x="686396" y="237845"/>
                  </a:lnTo>
                  <a:lnTo>
                    <a:pt x="686396" y="47574"/>
                  </a:lnTo>
                  <a:lnTo>
                    <a:pt x="682658" y="29055"/>
                  </a:lnTo>
                  <a:lnTo>
                    <a:pt x="672463" y="13933"/>
                  </a:lnTo>
                  <a:lnTo>
                    <a:pt x="657341" y="3738"/>
                  </a:lnTo>
                  <a:lnTo>
                    <a:pt x="638822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1" name="object 81"/>
            <p:cNvSpPr/>
            <p:nvPr/>
          </p:nvSpPr>
          <p:spPr>
            <a:xfrm>
              <a:off x="9944103" y="1574707"/>
              <a:ext cx="686435" cy="285750"/>
            </a:xfrm>
            <a:custGeom>
              <a:avLst/>
              <a:gdLst/>
              <a:ahLst/>
              <a:cxnLst/>
              <a:rect l="l" t="t" r="r" b="b"/>
              <a:pathLst>
                <a:path w="686434" h="285750">
                  <a:moveTo>
                    <a:pt x="0" y="47574"/>
                  </a:moveTo>
                  <a:lnTo>
                    <a:pt x="3738" y="29055"/>
                  </a:lnTo>
                  <a:lnTo>
                    <a:pt x="13933" y="13933"/>
                  </a:lnTo>
                  <a:lnTo>
                    <a:pt x="29055" y="3738"/>
                  </a:lnTo>
                  <a:lnTo>
                    <a:pt x="47574" y="0"/>
                  </a:lnTo>
                  <a:lnTo>
                    <a:pt x="638822" y="0"/>
                  </a:lnTo>
                  <a:lnTo>
                    <a:pt x="657341" y="3738"/>
                  </a:lnTo>
                  <a:lnTo>
                    <a:pt x="672463" y="13933"/>
                  </a:lnTo>
                  <a:lnTo>
                    <a:pt x="682658" y="29055"/>
                  </a:lnTo>
                  <a:lnTo>
                    <a:pt x="686396" y="47574"/>
                  </a:lnTo>
                  <a:lnTo>
                    <a:pt x="686396" y="237845"/>
                  </a:lnTo>
                  <a:lnTo>
                    <a:pt x="682658" y="256364"/>
                  </a:lnTo>
                  <a:lnTo>
                    <a:pt x="672463" y="271486"/>
                  </a:lnTo>
                  <a:lnTo>
                    <a:pt x="657341" y="281681"/>
                  </a:lnTo>
                  <a:lnTo>
                    <a:pt x="638822" y="285419"/>
                  </a:lnTo>
                  <a:lnTo>
                    <a:pt x="47574" y="285419"/>
                  </a:lnTo>
                  <a:lnTo>
                    <a:pt x="29055" y="281681"/>
                  </a:lnTo>
                  <a:lnTo>
                    <a:pt x="13933" y="271486"/>
                  </a:lnTo>
                  <a:lnTo>
                    <a:pt x="3738" y="256364"/>
                  </a:lnTo>
                  <a:lnTo>
                    <a:pt x="0" y="237845"/>
                  </a:lnTo>
                  <a:lnTo>
                    <a:pt x="0" y="47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9957143" y="1552806"/>
            <a:ext cx="65324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latin typeface="Calibri"/>
                <a:cs typeface="Calibri"/>
              </a:rPr>
              <a:t>WGAN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0247102" y="1860533"/>
            <a:ext cx="76180" cy="1394097"/>
            <a:chOff x="10249772" y="1860125"/>
            <a:chExt cx="76200" cy="1394460"/>
          </a:xfrm>
        </p:grpSpPr>
        <p:sp>
          <p:nvSpPr>
            <p:cNvPr id="84" name="object 84"/>
            <p:cNvSpPr/>
            <p:nvPr/>
          </p:nvSpPr>
          <p:spPr>
            <a:xfrm>
              <a:off x="10287783" y="1923624"/>
              <a:ext cx="10160" cy="1327785"/>
            </a:xfrm>
            <a:custGeom>
              <a:avLst/>
              <a:gdLst/>
              <a:ahLst/>
              <a:cxnLst/>
              <a:rect l="l" t="t" r="r" b="b"/>
              <a:pathLst>
                <a:path w="10159" h="1327785">
                  <a:moveTo>
                    <a:pt x="9982" y="132726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5" name="object 85"/>
            <p:cNvSpPr/>
            <p:nvPr/>
          </p:nvSpPr>
          <p:spPr>
            <a:xfrm>
              <a:off x="10249772" y="1860125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528" y="0"/>
                  </a:moveTo>
                  <a:lnTo>
                    <a:pt x="0" y="76479"/>
                  </a:lnTo>
                  <a:lnTo>
                    <a:pt x="76200" y="75907"/>
                  </a:lnTo>
                  <a:lnTo>
                    <a:pt x="375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9286083" y="3036833"/>
            <a:ext cx="1376956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544032" algn="l"/>
                <a:tab pos="1052514" algn="l"/>
              </a:tabLst>
            </a:pPr>
            <a:r>
              <a:rPr sz="1200" spc="-20" dirty="0">
                <a:latin typeface="Calibri"/>
                <a:cs typeface="Calibri"/>
              </a:rPr>
              <a:t>2012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>
                <a:latin typeface="Calibri"/>
                <a:cs typeface="Calibri"/>
              </a:rPr>
              <a:t>2015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>
                <a:latin typeface="Calibri"/>
                <a:cs typeface="Calibri"/>
              </a:rPr>
              <a:t>2017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0366292" y="2369083"/>
            <a:ext cx="1323630" cy="298372"/>
            <a:chOff x="10368992" y="2368807"/>
            <a:chExt cx="1323975" cy="298450"/>
          </a:xfrm>
        </p:grpSpPr>
        <p:sp>
          <p:nvSpPr>
            <p:cNvPr id="88" name="object 88"/>
            <p:cNvSpPr/>
            <p:nvPr/>
          </p:nvSpPr>
          <p:spPr>
            <a:xfrm>
              <a:off x="10375342" y="2375157"/>
              <a:ext cx="1311275" cy="285750"/>
            </a:xfrm>
            <a:custGeom>
              <a:avLst/>
              <a:gdLst/>
              <a:ahLst/>
              <a:cxnLst/>
              <a:rect l="l" t="t" r="r" b="b"/>
              <a:pathLst>
                <a:path w="1311275" h="285750">
                  <a:moveTo>
                    <a:pt x="1263459" y="0"/>
                  </a:moveTo>
                  <a:lnTo>
                    <a:pt x="47574" y="0"/>
                  </a:lnTo>
                  <a:lnTo>
                    <a:pt x="29055" y="3738"/>
                  </a:lnTo>
                  <a:lnTo>
                    <a:pt x="13933" y="13933"/>
                  </a:lnTo>
                  <a:lnTo>
                    <a:pt x="3738" y="29055"/>
                  </a:lnTo>
                  <a:lnTo>
                    <a:pt x="0" y="47574"/>
                  </a:lnTo>
                  <a:lnTo>
                    <a:pt x="0" y="237845"/>
                  </a:lnTo>
                  <a:lnTo>
                    <a:pt x="3738" y="256364"/>
                  </a:lnTo>
                  <a:lnTo>
                    <a:pt x="13933" y="271486"/>
                  </a:lnTo>
                  <a:lnTo>
                    <a:pt x="29055" y="281681"/>
                  </a:lnTo>
                  <a:lnTo>
                    <a:pt x="47574" y="285419"/>
                  </a:lnTo>
                  <a:lnTo>
                    <a:pt x="1263459" y="285419"/>
                  </a:lnTo>
                  <a:lnTo>
                    <a:pt x="1281978" y="281681"/>
                  </a:lnTo>
                  <a:lnTo>
                    <a:pt x="1297100" y="271486"/>
                  </a:lnTo>
                  <a:lnTo>
                    <a:pt x="1307295" y="256364"/>
                  </a:lnTo>
                  <a:lnTo>
                    <a:pt x="1311033" y="237845"/>
                  </a:lnTo>
                  <a:lnTo>
                    <a:pt x="1311033" y="47574"/>
                  </a:lnTo>
                  <a:lnTo>
                    <a:pt x="1307295" y="29055"/>
                  </a:lnTo>
                  <a:lnTo>
                    <a:pt x="1297100" y="13933"/>
                  </a:lnTo>
                  <a:lnTo>
                    <a:pt x="1281978" y="3738"/>
                  </a:lnTo>
                  <a:lnTo>
                    <a:pt x="1263459" y="0"/>
                  </a:lnTo>
                  <a:close/>
                </a:path>
              </a:pathLst>
            </a:custGeom>
            <a:solidFill>
              <a:srgbClr val="ACB8C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9" name="object 89"/>
            <p:cNvSpPr/>
            <p:nvPr/>
          </p:nvSpPr>
          <p:spPr>
            <a:xfrm>
              <a:off x="10375342" y="2375157"/>
              <a:ext cx="1311275" cy="285750"/>
            </a:xfrm>
            <a:custGeom>
              <a:avLst/>
              <a:gdLst/>
              <a:ahLst/>
              <a:cxnLst/>
              <a:rect l="l" t="t" r="r" b="b"/>
              <a:pathLst>
                <a:path w="1311275" h="285750">
                  <a:moveTo>
                    <a:pt x="0" y="47574"/>
                  </a:moveTo>
                  <a:lnTo>
                    <a:pt x="3738" y="29055"/>
                  </a:lnTo>
                  <a:lnTo>
                    <a:pt x="13933" y="13933"/>
                  </a:lnTo>
                  <a:lnTo>
                    <a:pt x="29055" y="3738"/>
                  </a:lnTo>
                  <a:lnTo>
                    <a:pt x="47574" y="0"/>
                  </a:lnTo>
                  <a:lnTo>
                    <a:pt x="1263459" y="0"/>
                  </a:lnTo>
                  <a:lnTo>
                    <a:pt x="1281978" y="3738"/>
                  </a:lnTo>
                  <a:lnTo>
                    <a:pt x="1297100" y="13933"/>
                  </a:lnTo>
                  <a:lnTo>
                    <a:pt x="1307295" y="29055"/>
                  </a:lnTo>
                  <a:lnTo>
                    <a:pt x="1311033" y="47574"/>
                  </a:lnTo>
                  <a:lnTo>
                    <a:pt x="1311033" y="237845"/>
                  </a:lnTo>
                  <a:lnTo>
                    <a:pt x="1307295" y="256364"/>
                  </a:lnTo>
                  <a:lnTo>
                    <a:pt x="1297100" y="271486"/>
                  </a:lnTo>
                  <a:lnTo>
                    <a:pt x="1281978" y="281681"/>
                  </a:lnTo>
                  <a:lnTo>
                    <a:pt x="1263459" y="285419"/>
                  </a:lnTo>
                  <a:lnTo>
                    <a:pt x="47574" y="285419"/>
                  </a:lnTo>
                  <a:lnTo>
                    <a:pt x="29055" y="281681"/>
                  </a:lnTo>
                  <a:lnTo>
                    <a:pt x="13933" y="271486"/>
                  </a:lnTo>
                  <a:lnTo>
                    <a:pt x="3738" y="256364"/>
                  </a:lnTo>
                  <a:lnTo>
                    <a:pt x="0" y="237845"/>
                  </a:lnTo>
                  <a:lnTo>
                    <a:pt x="0" y="475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0380857" y="2353048"/>
            <a:ext cx="12944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4123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Transformers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504574" y="2660773"/>
            <a:ext cx="6561650" cy="1988302"/>
            <a:chOff x="4505747" y="2660573"/>
            <a:chExt cx="6563359" cy="1988820"/>
          </a:xfrm>
        </p:grpSpPr>
        <p:sp>
          <p:nvSpPr>
            <p:cNvPr id="92" name="object 92"/>
            <p:cNvSpPr/>
            <p:nvPr/>
          </p:nvSpPr>
          <p:spPr>
            <a:xfrm>
              <a:off x="10297765" y="2724068"/>
              <a:ext cx="733425" cy="250190"/>
            </a:xfrm>
            <a:custGeom>
              <a:avLst/>
              <a:gdLst/>
              <a:ahLst/>
              <a:cxnLst/>
              <a:rect l="l" t="t" r="r" b="b"/>
              <a:pathLst>
                <a:path w="733425" h="250189">
                  <a:moveTo>
                    <a:pt x="0" y="249821"/>
                  </a:moveTo>
                  <a:lnTo>
                    <a:pt x="733094" y="249821"/>
                  </a:lnTo>
                  <a:lnTo>
                    <a:pt x="733094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3" name="object 93"/>
            <p:cNvSpPr/>
            <p:nvPr/>
          </p:nvSpPr>
          <p:spPr>
            <a:xfrm>
              <a:off x="10992759" y="26605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4" name="object 94"/>
            <p:cNvSpPr/>
            <p:nvPr/>
          </p:nvSpPr>
          <p:spPr>
            <a:xfrm>
              <a:off x="4512097" y="4346064"/>
              <a:ext cx="1115695" cy="297180"/>
            </a:xfrm>
            <a:custGeom>
              <a:avLst/>
              <a:gdLst/>
              <a:ahLst/>
              <a:cxnLst/>
              <a:rect l="l" t="t" r="r" b="b"/>
              <a:pathLst>
                <a:path w="1115695" h="297179">
                  <a:moveTo>
                    <a:pt x="992047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992047" y="296659"/>
                  </a:lnTo>
                  <a:lnTo>
                    <a:pt x="1040079" y="286962"/>
                  </a:lnTo>
                  <a:lnTo>
                    <a:pt x="1079306" y="260518"/>
                  </a:lnTo>
                  <a:lnTo>
                    <a:pt x="1105754" y="221296"/>
                  </a:lnTo>
                  <a:lnTo>
                    <a:pt x="1115453" y="173266"/>
                  </a:lnTo>
                  <a:lnTo>
                    <a:pt x="1115453" y="123405"/>
                  </a:lnTo>
                  <a:lnTo>
                    <a:pt x="1105754" y="75373"/>
                  </a:lnTo>
                  <a:lnTo>
                    <a:pt x="1079306" y="36147"/>
                  </a:lnTo>
                  <a:lnTo>
                    <a:pt x="1040079" y="9698"/>
                  </a:lnTo>
                  <a:lnTo>
                    <a:pt x="992047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5" name="object 95"/>
            <p:cNvSpPr/>
            <p:nvPr/>
          </p:nvSpPr>
          <p:spPr>
            <a:xfrm>
              <a:off x="4512097" y="4346064"/>
              <a:ext cx="1115695" cy="297180"/>
            </a:xfrm>
            <a:custGeom>
              <a:avLst/>
              <a:gdLst/>
              <a:ahLst/>
              <a:cxnLst/>
              <a:rect l="l" t="t" r="r" b="b"/>
              <a:pathLst>
                <a:path w="1115695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992047" y="0"/>
                  </a:lnTo>
                  <a:lnTo>
                    <a:pt x="1040079" y="9698"/>
                  </a:lnTo>
                  <a:lnTo>
                    <a:pt x="1079306" y="36147"/>
                  </a:lnTo>
                  <a:lnTo>
                    <a:pt x="1105754" y="75373"/>
                  </a:lnTo>
                  <a:lnTo>
                    <a:pt x="1115453" y="123405"/>
                  </a:lnTo>
                  <a:lnTo>
                    <a:pt x="1115453" y="173266"/>
                  </a:lnTo>
                  <a:lnTo>
                    <a:pt x="1105754" y="221296"/>
                  </a:lnTo>
                  <a:lnTo>
                    <a:pt x="1079306" y="260518"/>
                  </a:lnTo>
                  <a:lnTo>
                    <a:pt x="1040079" y="286962"/>
                  </a:lnTo>
                  <a:lnTo>
                    <a:pt x="992047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645670" y="4329063"/>
            <a:ext cx="84306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K-Means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030191" y="3580159"/>
            <a:ext cx="2513310" cy="1170000"/>
            <a:chOff x="5031501" y="3580198"/>
            <a:chExt cx="2513965" cy="1170305"/>
          </a:xfrm>
        </p:grpSpPr>
        <p:sp>
          <p:nvSpPr>
            <p:cNvPr id="98" name="object 98"/>
            <p:cNvSpPr/>
            <p:nvPr/>
          </p:nvSpPr>
          <p:spPr>
            <a:xfrm>
              <a:off x="5067577" y="3583373"/>
              <a:ext cx="2540" cy="699770"/>
            </a:xfrm>
            <a:custGeom>
              <a:avLst/>
              <a:gdLst/>
              <a:ahLst/>
              <a:cxnLst/>
              <a:rect l="l" t="t" r="r" b="b"/>
              <a:pathLst>
                <a:path w="2539" h="699770">
                  <a:moveTo>
                    <a:pt x="0" y="0"/>
                  </a:moveTo>
                  <a:lnTo>
                    <a:pt x="2057" y="699198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9" name="object 99"/>
            <p:cNvSpPr/>
            <p:nvPr/>
          </p:nvSpPr>
          <p:spPr>
            <a:xfrm>
              <a:off x="5031501" y="4269757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215"/>
                  </a:lnTo>
                  <a:lnTo>
                    <a:pt x="38315" y="76314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423540" y="4220236"/>
              <a:ext cx="1115695" cy="523875"/>
            </a:xfrm>
            <a:custGeom>
              <a:avLst/>
              <a:gdLst/>
              <a:ahLst/>
              <a:cxnLst/>
              <a:rect l="l" t="t" r="r" b="b"/>
              <a:pathLst>
                <a:path w="1115695" h="523875">
                  <a:moveTo>
                    <a:pt x="897572" y="0"/>
                  </a:moveTo>
                  <a:lnTo>
                    <a:pt x="217881" y="0"/>
                  </a:lnTo>
                  <a:lnTo>
                    <a:pt x="167923" y="5754"/>
                  </a:lnTo>
                  <a:lnTo>
                    <a:pt x="122062" y="22145"/>
                  </a:lnTo>
                  <a:lnTo>
                    <a:pt x="81607" y="47866"/>
                  </a:lnTo>
                  <a:lnTo>
                    <a:pt x="47866" y="81607"/>
                  </a:lnTo>
                  <a:lnTo>
                    <a:pt x="22145" y="122062"/>
                  </a:lnTo>
                  <a:lnTo>
                    <a:pt x="5754" y="167923"/>
                  </a:lnTo>
                  <a:lnTo>
                    <a:pt x="0" y="217881"/>
                  </a:lnTo>
                  <a:lnTo>
                    <a:pt x="0" y="305904"/>
                  </a:lnTo>
                  <a:lnTo>
                    <a:pt x="5754" y="355863"/>
                  </a:lnTo>
                  <a:lnTo>
                    <a:pt x="22145" y="401723"/>
                  </a:lnTo>
                  <a:lnTo>
                    <a:pt x="47866" y="442178"/>
                  </a:lnTo>
                  <a:lnTo>
                    <a:pt x="81607" y="475920"/>
                  </a:lnTo>
                  <a:lnTo>
                    <a:pt x="122062" y="501640"/>
                  </a:lnTo>
                  <a:lnTo>
                    <a:pt x="167923" y="518031"/>
                  </a:lnTo>
                  <a:lnTo>
                    <a:pt x="217881" y="523786"/>
                  </a:lnTo>
                  <a:lnTo>
                    <a:pt x="897572" y="523786"/>
                  </a:lnTo>
                  <a:lnTo>
                    <a:pt x="947530" y="518031"/>
                  </a:lnTo>
                  <a:lnTo>
                    <a:pt x="993391" y="501640"/>
                  </a:lnTo>
                  <a:lnTo>
                    <a:pt x="1033846" y="475920"/>
                  </a:lnTo>
                  <a:lnTo>
                    <a:pt x="1067587" y="442178"/>
                  </a:lnTo>
                  <a:lnTo>
                    <a:pt x="1093308" y="401723"/>
                  </a:lnTo>
                  <a:lnTo>
                    <a:pt x="1109699" y="355863"/>
                  </a:lnTo>
                  <a:lnTo>
                    <a:pt x="1115453" y="305904"/>
                  </a:lnTo>
                  <a:lnTo>
                    <a:pt x="1115453" y="217881"/>
                  </a:lnTo>
                  <a:lnTo>
                    <a:pt x="1109699" y="167923"/>
                  </a:lnTo>
                  <a:lnTo>
                    <a:pt x="1093308" y="122062"/>
                  </a:lnTo>
                  <a:lnTo>
                    <a:pt x="1067587" y="81607"/>
                  </a:lnTo>
                  <a:lnTo>
                    <a:pt x="1033846" y="47866"/>
                  </a:lnTo>
                  <a:lnTo>
                    <a:pt x="993391" y="22145"/>
                  </a:lnTo>
                  <a:lnTo>
                    <a:pt x="947530" y="5754"/>
                  </a:lnTo>
                  <a:lnTo>
                    <a:pt x="89757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423540" y="4220236"/>
              <a:ext cx="1115695" cy="523875"/>
            </a:xfrm>
            <a:custGeom>
              <a:avLst/>
              <a:gdLst/>
              <a:ahLst/>
              <a:cxnLst/>
              <a:rect l="l" t="t" r="r" b="b"/>
              <a:pathLst>
                <a:path w="1115695" h="523875">
                  <a:moveTo>
                    <a:pt x="0" y="217881"/>
                  </a:moveTo>
                  <a:lnTo>
                    <a:pt x="5754" y="167923"/>
                  </a:lnTo>
                  <a:lnTo>
                    <a:pt x="22145" y="122062"/>
                  </a:lnTo>
                  <a:lnTo>
                    <a:pt x="47866" y="81607"/>
                  </a:lnTo>
                  <a:lnTo>
                    <a:pt x="81607" y="47866"/>
                  </a:lnTo>
                  <a:lnTo>
                    <a:pt x="122062" y="22145"/>
                  </a:lnTo>
                  <a:lnTo>
                    <a:pt x="167923" y="5754"/>
                  </a:lnTo>
                  <a:lnTo>
                    <a:pt x="217881" y="0"/>
                  </a:lnTo>
                  <a:lnTo>
                    <a:pt x="897572" y="0"/>
                  </a:lnTo>
                  <a:lnTo>
                    <a:pt x="947530" y="5754"/>
                  </a:lnTo>
                  <a:lnTo>
                    <a:pt x="993391" y="22145"/>
                  </a:lnTo>
                  <a:lnTo>
                    <a:pt x="1033846" y="47866"/>
                  </a:lnTo>
                  <a:lnTo>
                    <a:pt x="1067587" y="81607"/>
                  </a:lnTo>
                  <a:lnTo>
                    <a:pt x="1093308" y="122062"/>
                  </a:lnTo>
                  <a:lnTo>
                    <a:pt x="1109699" y="167923"/>
                  </a:lnTo>
                  <a:lnTo>
                    <a:pt x="1115453" y="217881"/>
                  </a:lnTo>
                  <a:lnTo>
                    <a:pt x="1115453" y="305904"/>
                  </a:lnTo>
                  <a:lnTo>
                    <a:pt x="1109699" y="355863"/>
                  </a:lnTo>
                  <a:lnTo>
                    <a:pt x="1093308" y="401723"/>
                  </a:lnTo>
                  <a:lnTo>
                    <a:pt x="1067587" y="442178"/>
                  </a:lnTo>
                  <a:lnTo>
                    <a:pt x="1033846" y="475920"/>
                  </a:lnTo>
                  <a:lnTo>
                    <a:pt x="993391" y="501640"/>
                  </a:lnTo>
                  <a:lnTo>
                    <a:pt x="947530" y="518031"/>
                  </a:lnTo>
                  <a:lnTo>
                    <a:pt x="897572" y="523786"/>
                  </a:lnTo>
                  <a:lnTo>
                    <a:pt x="217881" y="523786"/>
                  </a:lnTo>
                  <a:lnTo>
                    <a:pt x="167923" y="518031"/>
                  </a:lnTo>
                  <a:lnTo>
                    <a:pt x="122062" y="501640"/>
                  </a:lnTo>
                  <a:lnTo>
                    <a:pt x="81607" y="475920"/>
                  </a:lnTo>
                  <a:lnTo>
                    <a:pt x="47866" y="442178"/>
                  </a:lnTo>
                  <a:lnTo>
                    <a:pt x="22145" y="401723"/>
                  </a:lnTo>
                  <a:lnTo>
                    <a:pt x="5754" y="355863"/>
                  </a:lnTo>
                  <a:lnTo>
                    <a:pt x="0" y="305904"/>
                  </a:lnTo>
                  <a:lnTo>
                    <a:pt x="0" y="21788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4674445" y="3610794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1965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53917" y="4179675"/>
            <a:ext cx="850044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2853" marR="5078" indent="-10792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Bayesian Network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6941352" y="3320281"/>
            <a:ext cx="76180" cy="900196"/>
            <a:chOff x="6943161" y="3320253"/>
            <a:chExt cx="76200" cy="900430"/>
          </a:xfrm>
        </p:grpSpPr>
        <p:sp>
          <p:nvSpPr>
            <p:cNvPr id="105" name="object 105"/>
            <p:cNvSpPr/>
            <p:nvPr/>
          </p:nvSpPr>
          <p:spPr>
            <a:xfrm>
              <a:off x="6981267" y="3323428"/>
              <a:ext cx="0" cy="833755"/>
            </a:xfrm>
            <a:custGeom>
              <a:avLst/>
              <a:gdLst/>
              <a:ahLst/>
              <a:cxnLst/>
              <a:rect l="l" t="t" r="r" b="b"/>
              <a:pathLst>
                <a:path h="833754">
                  <a:moveTo>
                    <a:pt x="0" y="0"/>
                  </a:moveTo>
                  <a:lnTo>
                    <a:pt x="0" y="83331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943161" y="414403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6975542" y="3607202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1985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5639344" y="5193285"/>
            <a:ext cx="1703895" cy="309799"/>
            <a:chOff x="5640813" y="5193744"/>
            <a:chExt cx="1704339" cy="309880"/>
          </a:xfrm>
        </p:grpSpPr>
        <p:sp>
          <p:nvSpPr>
            <p:cNvPr id="109" name="object 109"/>
            <p:cNvSpPr/>
            <p:nvPr/>
          </p:nvSpPr>
          <p:spPr>
            <a:xfrm>
              <a:off x="5647163" y="5200094"/>
              <a:ext cx="1691639" cy="297180"/>
            </a:xfrm>
            <a:custGeom>
              <a:avLst/>
              <a:gdLst/>
              <a:ahLst/>
              <a:cxnLst/>
              <a:rect l="l" t="t" r="r" b="b"/>
              <a:pathLst>
                <a:path w="1691640" h="297179">
                  <a:moveTo>
                    <a:pt x="1567827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1567827" y="296659"/>
                  </a:lnTo>
                  <a:lnTo>
                    <a:pt x="1615865" y="286962"/>
                  </a:lnTo>
                  <a:lnTo>
                    <a:pt x="1655090" y="260518"/>
                  </a:lnTo>
                  <a:lnTo>
                    <a:pt x="1681536" y="221296"/>
                  </a:lnTo>
                  <a:lnTo>
                    <a:pt x="1691233" y="173266"/>
                  </a:lnTo>
                  <a:lnTo>
                    <a:pt x="1691233" y="123405"/>
                  </a:lnTo>
                  <a:lnTo>
                    <a:pt x="1681536" y="75373"/>
                  </a:lnTo>
                  <a:lnTo>
                    <a:pt x="1655090" y="36147"/>
                  </a:lnTo>
                  <a:lnTo>
                    <a:pt x="1615865" y="9698"/>
                  </a:lnTo>
                  <a:lnTo>
                    <a:pt x="1567827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647163" y="5200094"/>
              <a:ext cx="1691639" cy="297180"/>
            </a:xfrm>
            <a:custGeom>
              <a:avLst/>
              <a:gdLst/>
              <a:ahLst/>
              <a:cxnLst/>
              <a:rect l="l" t="t" r="r" b="b"/>
              <a:pathLst>
                <a:path w="1691640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1567827" y="0"/>
                  </a:lnTo>
                  <a:lnTo>
                    <a:pt x="1615865" y="9698"/>
                  </a:lnTo>
                  <a:lnTo>
                    <a:pt x="1655090" y="36147"/>
                  </a:lnTo>
                  <a:lnTo>
                    <a:pt x="1681536" y="75373"/>
                  </a:lnTo>
                  <a:lnTo>
                    <a:pt x="1691233" y="123405"/>
                  </a:lnTo>
                  <a:lnTo>
                    <a:pt x="1691233" y="173266"/>
                  </a:lnTo>
                  <a:lnTo>
                    <a:pt x="1681536" y="221296"/>
                  </a:lnTo>
                  <a:lnTo>
                    <a:pt x="1655090" y="260518"/>
                  </a:lnTo>
                  <a:lnTo>
                    <a:pt x="1615865" y="286962"/>
                  </a:lnTo>
                  <a:lnTo>
                    <a:pt x="1567827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5803849" y="5182871"/>
            <a:ext cx="137378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Calibri"/>
                <a:cs typeface="Calibri"/>
              </a:rPr>
              <a:t>Decision</a:t>
            </a:r>
            <a:r>
              <a:rPr sz="1799" spc="-55" dirty="0">
                <a:latin typeface="Calibri"/>
                <a:cs typeface="Calibri"/>
              </a:rPr>
              <a:t> </a:t>
            </a:r>
            <a:r>
              <a:rPr sz="1799" spc="-20" dirty="0">
                <a:latin typeface="Calibri"/>
                <a:cs typeface="Calibri"/>
              </a:rPr>
              <a:t>Trees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209369" y="3174585"/>
            <a:ext cx="319957" cy="2025122"/>
            <a:chOff x="6210987" y="3174518"/>
            <a:chExt cx="320040" cy="2025650"/>
          </a:xfrm>
        </p:grpSpPr>
        <p:sp>
          <p:nvSpPr>
            <p:cNvPr id="113" name="object 113"/>
            <p:cNvSpPr/>
            <p:nvPr/>
          </p:nvSpPr>
          <p:spPr>
            <a:xfrm>
              <a:off x="6214162" y="3177693"/>
              <a:ext cx="278765" cy="1958975"/>
            </a:xfrm>
            <a:custGeom>
              <a:avLst/>
              <a:gdLst/>
              <a:ahLst/>
              <a:cxnLst/>
              <a:rect l="l" t="t" r="r" b="b"/>
              <a:pathLst>
                <a:path w="278764" h="1958975">
                  <a:moveTo>
                    <a:pt x="0" y="0"/>
                  </a:moveTo>
                  <a:lnTo>
                    <a:pt x="0" y="1640230"/>
                  </a:lnTo>
                  <a:lnTo>
                    <a:pt x="278612" y="1640230"/>
                  </a:lnTo>
                  <a:lnTo>
                    <a:pt x="278612" y="195889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54677" y="51239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6268767" y="3605386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1979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5448802" y="3598507"/>
            <a:ext cx="2790098" cy="1513446"/>
            <a:chOff x="5450221" y="3598551"/>
            <a:chExt cx="2790825" cy="1513840"/>
          </a:xfrm>
        </p:grpSpPr>
        <p:sp>
          <p:nvSpPr>
            <p:cNvPr id="117" name="object 117"/>
            <p:cNvSpPr/>
            <p:nvPr/>
          </p:nvSpPr>
          <p:spPr>
            <a:xfrm>
              <a:off x="7538989" y="4748128"/>
              <a:ext cx="695325" cy="297180"/>
            </a:xfrm>
            <a:custGeom>
              <a:avLst/>
              <a:gdLst/>
              <a:ahLst/>
              <a:cxnLst/>
              <a:rect l="l" t="t" r="r" b="b"/>
              <a:pathLst>
                <a:path w="695325" h="297179">
                  <a:moveTo>
                    <a:pt x="571690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571690" y="296659"/>
                  </a:lnTo>
                  <a:lnTo>
                    <a:pt x="619720" y="286962"/>
                  </a:lnTo>
                  <a:lnTo>
                    <a:pt x="658942" y="260518"/>
                  </a:lnTo>
                  <a:lnTo>
                    <a:pt x="685386" y="221296"/>
                  </a:lnTo>
                  <a:lnTo>
                    <a:pt x="695083" y="173266"/>
                  </a:lnTo>
                  <a:lnTo>
                    <a:pt x="695083" y="123405"/>
                  </a:lnTo>
                  <a:lnTo>
                    <a:pt x="685386" y="75373"/>
                  </a:lnTo>
                  <a:lnTo>
                    <a:pt x="658942" y="36147"/>
                  </a:lnTo>
                  <a:lnTo>
                    <a:pt x="619720" y="9698"/>
                  </a:lnTo>
                  <a:lnTo>
                    <a:pt x="571690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538989" y="4748128"/>
              <a:ext cx="695325" cy="297180"/>
            </a:xfrm>
            <a:custGeom>
              <a:avLst/>
              <a:gdLst/>
              <a:ahLst/>
              <a:cxnLst/>
              <a:rect l="l" t="t" r="r" b="b"/>
              <a:pathLst>
                <a:path w="695325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571690" y="0"/>
                  </a:lnTo>
                  <a:lnTo>
                    <a:pt x="619720" y="9698"/>
                  </a:lnTo>
                  <a:lnTo>
                    <a:pt x="658942" y="36147"/>
                  </a:lnTo>
                  <a:lnTo>
                    <a:pt x="685386" y="75373"/>
                  </a:lnTo>
                  <a:lnTo>
                    <a:pt x="695083" y="123405"/>
                  </a:lnTo>
                  <a:lnTo>
                    <a:pt x="695083" y="173266"/>
                  </a:lnTo>
                  <a:lnTo>
                    <a:pt x="685386" y="221296"/>
                  </a:lnTo>
                  <a:lnTo>
                    <a:pt x="658942" y="260518"/>
                  </a:lnTo>
                  <a:lnTo>
                    <a:pt x="619720" y="286962"/>
                  </a:lnTo>
                  <a:lnTo>
                    <a:pt x="571690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886533" y="3601726"/>
              <a:ext cx="0" cy="1083310"/>
            </a:xfrm>
            <a:custGeom>
              <a:avLst/>
              <a:gdLst/>
              <a:ahLst/>
              <a:cxnLst/>
              <a:rect l="l" t="t" r="r" b="b"/>
              <a:pathLst>
                <a:path h="1083310">
                  <a:moveTo>
                    <a:pt x="0" y="0"/>
                  </a:moveTo>
                  <a:lnTo>
                    <a:pt x="0" y="108290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848438" y="46719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456570" y="4808895"/>
              <a:ext cx="625475" cy="297180"/>
            </a:xfrm>
            <a:custGeom>
              <a:avLst/>
              <a:gdLst/>
              <a:ahLst/>
              <a:cxnLst/>
              <a:rect l="l" t="t" r="r" b="b"/>
              <a:pathLst>
                <a:path w="625475" h="297179">
                  <a:moveTo>
                    <a:pt x="501548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501548" y="296659"/>
                  </a:lnTo>
                  <a:lnTo>
                    <a:pt x="549585" y="286962"/>
                  </a:lnTo>
                  <a:lnTo>
                    <a:pt x="588811" y="260518"/>
                  </a:lnTo>
                  <a:lnTo>
                    <a:pt x="615257" y="221296"/>
                  </a:lnTo>
                  <a:lnTo>
                    <a:pt x="624954" y="173266"/>
                  </a:lnTo>
                  <a:lnTo>
                    <a:pt x="624954" y="123405"/>
                  </a:lnTo>
                  <a:lnTo>
                    <a:pt x="615257" y="75373"/>
                  </a:lnTo>
                  <a:lnTo>
                    <a:pt x="588811" y="36147"/>
                  </a:lnTo>
                  <a:lnTo>
                    <a:pt x="549585" y="9698"/>
                  </a:lnTo>
                  <a:lnTo>
                    <a:pt x="50154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456571" y="4808895"/>
              <a:ext cx="625475" cy="297180"/>
            </a:xfrm>
            <a:custGeom>
              <a:avLst/>
              <a:gdLst/>
              <a:ahLst/>
              <a:cxnLst/>
              <a:rect l="l" t="t" r="r" b="b"/>
              <a:pathLst>
                <a:path w="625475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501548" y="0"/>
                  </a:lnTo>
                  <a:lnTo>
                    <a:pt x="549585" y="9698"/>
                  </a:lnTo>
                  <a:lnTo>
                    <a:pt x="588811" y="36147"/>
                  </a:lnTo>
                  <a:lnTo>
                    <a:pt x="615257" y="75373"/>
                  </a:lnTo>
                  <a:lnTo>
                    <a:pt x="624954" y="123405"/>
                  </a:lnTo>
                  <a:lnTo>
                    <a:pt x="624954" y="173266"/>
                  </a:lnTo>
                  <a:lnTo>
                    <a:pt x="615257" y="221296"/>
                  </a:lnTo>
                  <a:lnTo>
                    <a:pt x="588811" y="260518"/>
                  </a:lnTo>
                  <a:lnTo>
                    <a:pt x="549585" y="286962"/>
                  </a:lnTo>
                  <a:lnTo>
                    <a:pt x="501548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5547289" y="4791774"/>
            <a:ext cx="44057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libri"/>
                <a:cs typeface="Calibri"/>
              </a:rPr>
              <a:t>KNN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324953" y="3611553"/>
            <a:ext cx="481205" cy="1197298"/>
            <a:chOff x="5326341" y="3611600"/>
            <a:chExt cx="481330" cy="1197610"/>
          </a:xfrm>
        </p:grpSpPr>
        <p:sp>
          <p:nvSpPr>
            <p:cNvPr id="125" name="object 125"/>
            <p:cNvSpPr/>
            <p:nvPr/>
          </p:nvSpPr>
          <p:spPr>
            <a:xfrm>
              <a:off x="5329516" y="3614775"/>
              <a:ext cx="440055" cy="1130935"/>
            </a:xfrm>
            <a:custGeom>
              <a:avLst/>
              <a:gdLst/>
              <a:ahLst/>
              <a:cxnLst/>
              <a:rect l="l" t="t" r="r" b="b"/>
              <a:pathLst>
                <a:path w="440054" h="1130935">
                  <a:moveTo>
                    <a:pt x="0" y="0"/>
                  </a:moveTo>
                  <a:lnTo>
                    <a:pt x="0" y="597065"/>
                  </a:lnTo>
                  <a:lnTo>
                    <a:pt x="439534" y="597065"/>
                  </a:lnTo>
                  <a:lnTo>
                    <a:pt x="439534" y="113061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730944" y="47326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5386216" y="3602048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1967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90653" y="3252834"/>
            <a:ext cx="1785155" cy="367569"/>
            <a:chOff x="90677" y="3252787"/>
            <a:chExt cx="1785620" cy="367665"/>
          </a:xfrm>
        </p:grpSpPr>
        <p:sp>
          <p:nvSpPr>
            <p:cNvPr id="129" name="object 129"/>
            <p:cNvSpPr/>
            <p:nvPr/>
          </p:nvSpPr>
          <p:spPr>
            <a:xfrm>
              <a:off x="97027" y="3259137"/>
              <a:ext cx="1772920" cy="354965"/>
            </a:xfrm>
            <a:custGeom>
              <a:avLst/>
              <a:gdLst/>
              <a:ahLst/>
              <a:cxnLst/>
              <a:rect l="l" t="t" r="r" b="b"/>
              <a:pathLst>
                <a:path w="1772920" h="354964">
                  <a:moveTo>
                    <a:pt x="1772805" y="0"/>
                  </a:moveTo>
                  <a:lnTo>
                    <a:pt x="0" y="0"/>
                  </a:lnTo>
                  <a:lnTo>
                    <a:pt x="0" y="354926"/>
                  </a:lnTo>
                  <a:lnTo>
                    <a:pt x="1772805" y="354926"/>
                  </a:lnTo>
                  <a:lnTo>
                    <a:pt x="17728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97027" y="3259137"/>
              <a:ext cx="1772920" cy="354965"/>
            </a:xfrm>
            <a:custGeom>
              <a:avLst/>
              <a:gdLst/>
              <a:ahLst/>
              <a:cxnLst/>
              <a:rect l="l" t="t" r="r" b="b"/>
              <a:pathLst>
                <a:path w="1772920" h="354964">
                  <a:moveTo>
                    <a:pt x="0" y="0"/>
                  </a:moveTo>
                  <a:lnTo>
                    <a:pt x="1772805" y="0"/>
                  </a:lnTo>
                  <a:lnTo>
                    <a:pt x="1772805" y="354926"/>
                  </a:lnTo>
                  <a:lnTo>
                    <a:pt x="0" y="35492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281298" y="3271540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1800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195460" y="3271540"/>
            <a:ext cx="4894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1900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007921" y="3194522"/>
            <a:ext cx="24250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libri"/>
                <a:cs typeface="Calibri"/>
              </a:rPr>
              <a:t>….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126452" y="4318335"/>
            <a:ext cx="1231579" cy="584683"/>
            <a:chOff x="126485" y="4318566"/>
            <a:chExt cx="1231900" cy="584835"/>
          </a:xfrm>
        </p:grpSpPr>
        <p:sp>
          <p:nvSpPr>
            <p:cNvPr id="135" name="object 135"/>
            <p:cNvSpPr/>
            <p:nvPr/>
          </p:nvSpPr>
          <p:spPr>
            <a:xfrm>
              <a:off x="132835" y="4324916"/>
              <a:ext cx="1219200" cy="572135"/>
            </a:xfrm>
            <a:custGeom>
              <a:avLst/>
              <a:gdLst/>
              <a:ahLst/>
              <a:cxnLst/>
              <a:rect l="l" t="t" r="r" b="b"/>
              <a:pathLst>
                <a:path w="1219200" h="572135">
                  <a:moveTo>
                    <a:pt x="980846" y="0"/>
                  </a:moveTo>
                  <a:lnTo>
                    <a:pt x="237744" y="0"/>
                  </a:lnTo>
                  <a:lnTo>
                    <a:pt x="189829" y="4829"/>
                  </a:lnTo>
                  <a:lnTo>
                    <a:pt x="145202" y="18682"/>
                  </a:lnTo>
                  <a:lnTo>
                    <a:pt x="104817" y="40602"/>
                  </a:lnTo>
                  <a:lnTo>
                    <a:pt x="69632" y="69632"/>
                  </a:lnTo>
                  <a:lnTo>
                    <a:pt x="40602" y="104817"/>
                  </a:lnTo>
                  <a:lnTo>
                    <a:pt x="18682" y="145202"/>
                  </a:lnTo>
                  <a:lnTo>
                    <a:pt x="4829" y="189829"/>
                  </a:lnTo>
                  <a:lnTo>
                    <a:pt x="0" y="237744"/>
                  </a:lnTo>
                  <a:lnTo>
                    <a:pt x="0" y="333794"/>
                  </a:lnTo>
                  <a:lnTo>
                    <a:pt x="4829" y="381709"/>
                  </a:lnTo>
                  <a:lnTo>
                    <a:pt x="18682" y="426338"/>
                  </a:lnTo>
                  <a:lnTo>
                    <a:pt x="40602" y="466724"/>
                  </a:lnTo>
                  <a:lnTo>
                    <a:pt x="69632" y="501911"/>
                  </a:lnTo>
                  <a:lnTo>
                    <a:pt x="104817" y="530944"/>
                  </a:lnTo>
                  <a:lnTo>
                    <a:pt x="145202" y="552866"/>
                  </a:lnTo>
                  <a:lnTo>
                    <a:pt x="189829" y="566720"/>
                  </a:lnTo>
                  <a:lnTo>
                    <a:pt x="237744" y="571550"/>
                  </a:lnTo>
                  <a:lnTo>
                    <a:pt x="980846" y="571550"/>
                  </a:lnTo>
                  <a:lnTo>
                    <a:pt x="1028760" y="566720"/>
                  </a:lnTo>
                  <a:lnTo>
                    <a:pt x="1073388" y="552866"/>
                  </a:lnTo>
                  <a:lnTo>
                    <a:pt x="1113772" y="530944"/>
                  </a:lnTo>
                  <a:lnTo>
                    <a:pt x="1148957" y="501911"/>
                  </a:lnTo>
                  <a:lnTo>
                    <a:pt x="1177988" y="466724"/>
                  </a:lnTo>
                  <a:lnTo>
                    <a:pt x="1199907" y="426338"/>
                  </a:lnTo>
                  <a:lnTo>
                    <a:pt x="1213760" y="381709"/>
                  </a:lnTo>
                  <a:lnTo>
                    <a:pt x="1218590" y="333794"/>
                  </a:lnTo>
                  <a:lnTo>
                    <a:pt x="1218590" y="237744"/>
                  </a:lnTo>
                  <a:lnTo>
                    <a:pt x="1213760" y="189829"/>
                  </a:lnTo>
                  <a:lnTo>
                    <a:pt x="1199907" y="145202"/>
                  </a:lnTo>
                  <a:lnTo>
                    <a:pt x="1177988" y="104817"/>
                  </a:lnTo>
                  <a:lnTo>
                    <a:pt x="1148957" y="69632"/>
                  </a:lnTo>
                  <a:lnTo>
                    <a:pt x="1113772" y="40602"/>
                  </a:lnTo>
                  <a:lnTo>
                    <a:pt x="1073388" y="18682"/>
                  </a:lnTo>
                  <a:lnTo>
                    <a:pt x="1028760" y="4829"/>
                  </a:lnTo>
                  <a:lnTo>
                    <a:pt x="980846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32835" y="4324916"/>
              <a:ext cx="1219200" cy="572135"/>
            </a:xfrm>
            <a:custGeom>
              <a:avLst/>
              <a:gdLst/>
              <a:ahLst/>
              <a:cxnLst/>
              <a:rect l="l" t="t" r="r" b="b"/>
              <a:pathLst>
                <a:path w="1219200" h="572135">
                  <a:moveTo>
                    <a:pt x="0" y="237744"/>
                  </a:moveTo>
                  <a:lnTo>
                    <a:pt x="4829" y="189829"/>
                  </a:lnTo>
                  <a:lnTo>
                    <a:pt x="18682" y="145202"/>
                  </a:lnTo>
                  <a:lnTo>
                    <a:pt x="40602" y="104817"/>
                  </a:lnTo>
                  <a:lnTo>
                    <a:pt x="69632" y="69632"/>
                  </a:lnTo>
                  <a:lnTo>
                    <a:pt x="104817" y="40602"/>
                  </a:lnTo>
                  <a:lnTo>
                    <a:pt x="145202" y="18682"/>
                  </a:lnTo>
                  <a:lnTo>
                    <a:pt x="189829" y="4829"/>
                  </a:lnTo>
                  <a:lnTo>
                    <a:pt x="237744" y="0"/>
                  </a:lnTo>
                  <a:lnTo>
                    <a:pt x="980846" y="0"/>
                  </a:lnTo>
                  <a:lnTo>
                    <a:pt x="1028760" y="4829"/>
                  </a:lnTo>
                  <a:lnTo>
                    <a:pt x="1073388" y="18682"/>
                  </a:lnTo>
                  <a:lnTo>
                    <a:pt x="1113772" y="40602"/>
                  </a:lnTo>
                  <a:lnTo>
                    <a:pt x="1148957" y="69632"/>
                  </a:lnTo>
                  <a:lnTo>
                    <a:pt x="1177988" y="104817"/>
                  </a:lnTo>
                  <a:lnTo>
                    <a:pt x="1199907" y="145202"/>
                  </a:lnTo>
                  <a:lnTo>
                    <a:pt x="1213760" y="189829"/>
                  </a:lnTo>
                  <a:lnTo>
                    <a:pt x="1218590" y="237744"/>
                  </a:lnTo>
                  <a:lnTo>
                    <a:pt x="1218590" y="333794"/>
                  </a:lnTo>
                  <a:lnTo>
                    <a:pt x="1213760" y="381709"/>
                  </a:lnTo>
                  <a:lnTo>
                    <a:pt x="1199907" y="426338"/>
                  </a:lnTo>
                  <a:lnTo>
                    <a:pt x="1177988" y="466724"/>
                  </a:lnTo>
                  <a:lnTo>
                    <a:pt x="1148957" y="501911"/>
                  </a:lnTo>
                  <a:lnTo>
                    <a:pt x="1113772" y="530944"/>
                  </a:lnTo>
                  <a:lnTo>
                    <a:pt x="1073388" y="552866"/>
                  </a:lnTo>
                  <a:lnTo>
                    <a:pt x="1028760" y="566720"/>
                  </a:lnTo>
                  <a:lnTo>
                    <a:pt x="980846" y="571550"/>
                  </a:lnTo>
                  <a:lnTo>
                    <a:pt x="237744" y="571550"/>
                  </a:lnTo>
                  <a:lnTo>
                    <a:pt x="189829" y="566720"/>
                  </a:lnTo>
                  <a:lnTo>
                    <a:pt x="145202" y="552866"/>
                  </a:lnTo>
                  <a:lnTo>
                    <a:pt x="104817" y="530944"/>
                  </a:lnTo>
                  <a:lnTo>
                    <a:pt x="69632" y="501911"/>
                  </a:lnTo>
                  <a:lnTo>
                    <a:pt x="40602" y="466724"/>
                  </a:lnTo>
                  <a:lnTo>
                    <a:pt x="18682" y="426338"/>
                  </a:lnTo>
                  <a:lnTo>
                    <a:pt x="4829" y="381709"/>
                  </a:lnTo>
                  <a:lnTo>
                    <a:pt x="0" y="333794"/>
                  </a:lnTo>
                  <a:lnTo>
                    <a:pt x="0" y="23774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222344" y="4308199"/>
            <a:ext cx="1036685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 indent="220913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Linear Regression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703851" y="3598507"/>
            <a:ext cx="76180" cy="726251"/>
            <a:chOff x="704035" y="3598551"/>
            <a:chExt cx="76200" cy="726440"/>
          </a:xfrm>
        </p:grpSpPr>
        <p:sp>
          <p:nvSpPr>
            <p:cNvPr id="139" name="object 139"/>
            <p:cNvSpPr/>
            <p:nvPr/>
          </p:nvSpPr>
          <p:spPr>
            <a:xfrm>
              <a:off x="742130" y="3601726"/>
              <a:ext cx="0" cy="659765"/>
            </a:xfrm>
            <a:custGeom>
              <a:avLst/>
              <a:gdLst/>
              <a:ahLst/>
              <a:cxnLst/>
              <a:rect l="l" t="t" r="r" b="b"/>
              <a:pathLst>
                <a:path h="659764">
                  <a:moveTo>
                    <a:pt x="0" y="0"/>
                  </a:moveTo>
                  <a:lnTo>
                    <a:pt x="0" y="65968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04035" y="42487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741639" y="3602047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1805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1759377" y="4521970"/>
            <a:ext cx="1627081" cy="309799"/>
            <a:chOff x="1759835" y="4522255"/>
            <a:chExt cx="1627505" cy="309880"/>
          </a:xfrm>
        </p:grpSpPr>
        <p:sp>
          <p:nvSpPr>
            <p:cNvPr id="143" name="object 143"/>
            <p:cNvSpPr/>
            <p:nvPr/>
          </p:nvSpPr>
          <p:spPr>
            <a:xfrm>
              <a:off x="1766185" y="4528605"/>
              <a:ext cx="1614805" cy="297180"/>
            </a:xfrm>
            <a:custGeom>
              <a:avLst/>
              <a:gdLst/>
              <a:ahLst/>
              <a:cxnLst/>
              <a:rect l="l" t="t" r="r" b="b"/>
              <a:pathLst>
                <a:path w="1614804" h="297179">
                  <a:moveTo>
                    <a:pt x="1490903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1490903" y="296659"/>
                  </a:lnTo>
                  <a:lnTo>
                    <a:pt x="1538935" y="286962"/>
                  </a:lnTo>
                  <a:lnTo>
                    <a:pt x="1578162" y="260518"/>
                  </a:lnTo>
                  <a:lnTo>
                    <a:pt x="1604610" y="221296"/>
                  </a:lnTo>
                  <a:lnTo>
                    <a:pt x="1614309" y="173266"/>
                  </a:lnTo>
                  <a:lnTo>
                    <a:pt x="1614309" y="123405"/>
                  </a:lnTo>
                  <a:lnTo>
                    <a:pt x="1604610" y="75373"/>
                  </a:lnTo>
                  <a:lnTo>
                    <a:pt x="1578162" y="36147"/>
                  </a:lnTo>
                  <a:lnTo>
                    <a:pt x="1538935" y="9698"/>
                  </a:lnTo>
                  <a:lnTo>
                    <a:pt x="149090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766185" y="4528605"/>
              <a:ext cx="1614805" cy="297180"/>
            </a:xfrm>
            <a:custGeom>
              <a:avLst/>
              <a:gdLst/>
              <a:ahLst/>
              <a:cxnLst/>
              <a:rect l="l" t="t" r="r" b="b"/>
              <a:pathLst>
                <a:path w="1614804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1490903" y="0"/>
                  </a:lnTo>
                  <a:lnTo>
                    <a:pt x="1538935" y="9698"/>
                  </a:lnTo>
                  <a:lnTo>
                    <a:pt x="1578162" y="36147"/>
                  </a:lnTo>
                  <a:lnTo>
                    <a:pt x="1604610" y="75373"/>
                  </a:lnTo>
                  <a:lnTo>
                    <a:pt x="1614309" y="123405"/>
                  </a:lnTo>
                  <a:lnTo>
                    <a:pt x="1614309" y="173266"/>
                  </a:lnTo>
                  <a:lnTo>
                    <a:pt x="1604610" y="221296"/>
                  </a:lnTo>
                  <a:lnTo>
                    <a:pt x="1578162" y="260518"/>
                  </a:lnTo>
                  <a:lnTo>
                    <a:pt x="1538935" y="286962"/>
                  </a:lnTo>
                  <a:lnTo>
                    <a:pt x="1490903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1833655" y="4511556"/>
            <a:ext cx="147726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Calibri"/>
                <a:cs typeface="Calibri"/>
              </a:rPr>
              <a:t>Turing</a:t>
            </a:r>
            <a:r>
              <a:rPr sz="1799" spc="-35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Machine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2534582" y="3611552"/>
            <a:ext cx="2185736" cy="1906408"/>
            <a:chOff x="2535242" y="3611599"/>
            <a:chExt cx="2186305" cy="1906905"/>
          </a:xfrm>
        </p:grpSpPr>
        <p:sp>
          <p:nvSpPr>
            <p:cNvPr id="147" name="object 147"/>
            <p:cNvSpPr/>
            <p:nvPr/>
          </p:nvSpPr>
          <p:spPr>
            <a:xfrm>
              <a:off x="2573337" y="3614774"/>
              <a:ext cx="0" cy="850900"/>
            </a:xfrm>
            <a:custGeom>
              <a:avLst/>
              <a:gdLst/>
              <a:ahLst/>
              <a:cxnLst/>
              <a:rect l="l" t="t" r="r" b="b"/>
              <a:pathLst>
                <a:path h="850900">
                  <a:moveTo>
                    <a:pt x="0" y="0"/>
                  </a:moveTo>
                  <a:lnTo>
                    <a:pt x="0" y="85034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535242" y="44524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100495" y="4988562"/>
              <a:ext cx="1614805" cy="523875"/>
            </a:xfrm>
            <a:custGeom>
              <a:avLst/>
              <a:gdLst/>
              <a:ahLst/>
              <a:cxnLst/>
              <a:rect l="l" t="t" r="r" b="b"/>
              <a:pathLst>
                <a:path w="1614804" h="523875">
                  <a:moveTo>
                    <a:pt x="1396580" y="0"/>
                  </a:moveTo>
                  <a:lnTo>
                    <a:pt x="217728" y="0"/>
                  </a:lnTo>
                  <a:lnTo>
                    <a:pt x="167803" y="5750"/>
                  </a:lnTo>
                  <a:lnTo>
                    <a:pt x="121973" y="22131"/>
                  </a:lnTo>
                  <a:lnTo>
                    <a:pt x="81547" y="47834"/>
                  </a:lnTo>
                  <a:lnTo>
                    <a:pt x="47830" y="81552"/>
                  </a:lnTo>
                  <a:lnTo>
                    <a:pt x="22128" y="121979"/>
                  </a:lnTo>
                  <a:lnTo>
                    <a:pt x="5749" y="167807"/>
                  </a:lnTo>
                  <a:lnTo>
                    <a:pt x="0" y="217728"/>
                  </a:lnTo>
                  <a:lnTo>
                    <a:pt x="0" y="305688"/>
                  </a:lnTo>
                  <a:lnTo>
                    <a:pt x="5749" y="355614"/>
                  </a:lnTo>
                  <a:lnTo>
                    <a:pt x="22128" y="401444"/>
                  </a:lnTo>
                  <a:lnTo>
                    <a:pt x="47830" y="441870"/>
                  </a:lnTo>
                  <a:lnTo>
                    <a:pt x="81547" y="475587"/>
                  </a:lnTo>
                  <a:lnTo>
                    <a:pt x="121973" y="501288"/>
                  </a:lnTo>
                  <a:lnTo>
                    <a:pt x="167803" y="517667"/>
                  </a:lnTo>
                  <a:lnTo>
                    <a:pt x="217728" y="523417"/>
                  </a:lnTo>
                  <a:lnTo>
                    <a:pt x="1396580" y="523417"/>
                  </a:lnTo>
                  <a:lnTo>
                    <a:pt x="1446502" y="517667"/>
                  </a:lnTo>
                  <a:lnTo>
                    <a:pt x="1492330" y="501288"/>
                  </a:lnTo>
                  <a:lnTo>
                    <a:pt x="1532757" y="475587"/>
                  </a:lnTo>
                  <a:lnTo>
                    <a:pt x="1566475" y="441870"/>
                  </a:lnTo>
                  <a:lnTo>
                    <a:pt x="1592178" y="401444"/>
                  </a:lnTo>
                  <a:lnTo>
                    <a:pt x="1608559" y="355614"/>
                  </a:lnTo>
                  <a:lnTo>
                    <a:pt x="1614309" y="305688"/>
                  </a:lnTo>
                  <a:lnTo>
                    <a:pt x="1614309" y="217728"/>
                  </a:lnTo>
                  <a:lnTo>
                    <a:pt x="1608559" y="167807"/>
                  </a:lnTo>
                  <a:lnTo>
                    <a:pt x="1592178" y="121979"/>
                  </a:lnTo>
                  <a:lnTo>
                    <a:pt x="1566475" y="81552"/>
                  </a:lnTo>
                  <a:lnTo>
                    <a:pt x="1532757" y="47834"/>
                  </a:lnTo>
                  <a:lnTo>
                    <a:pt x="1492330" y="22131"/>
                  </a:lnTo>
                  <a:lnTo>
                    <a:pt x="1446502" y="5750"/>
                  </a:lnTo>
                  <a:lnTo>
                    <a:pt x="1396580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100495" y="4988562"/>
              <a:ext cx="1614805" cy="523875"/>
            </a:xfrm>
            <a:custGeom>
              <a:avLst/>
              <a:gdLst/>
              <a:ahLst/>
              <a:cxnLst/>
              <a:rect l="l" t="t" r="r" b="b"/>
              <a:pathLst>
                <a:path w="1614804" h="523875">
                  <a:moveTo>
                    <a:pt x="0" y="217728"/>
                  </a:moveTo>
                  <a:lnTo>
                    <a:pt x="5749" y="167807"/>
                  </a:lnTo>
                  <a:lnTo>
                    <a:pt x="22128" y="121979"/>
                  </a:lnTo>
                  <a:lnTo>
                    <a:pt x="47830" y="81552"/>
                  </a:lnTo>
                  <a:lnTo>
                    <a:pt x="81547" y="47834"/>
                  </a:lnTo>
                  <a:lnTo>
                    <a:pt x="121973" y="22131"/>
                  </a:lnTo>
                  <a:lnTo>
                    <a:pt x="167803" y="5750"/>
                  </a:lnTo>
                  <a:lnTo>
                    <a:pt x="217728" y="0"/>
                  </a:lnTo>
                  <a:lnTo>
                    <a:pt x="1396580" y="0"/>
                  </a:lnTo>
                  <a:lnTo>
                    <a:pt x="1446502" y="5750"/>
                  </a:lnTo>
                  <a:lnTo>
                    <a:pt x="1492330" y="22131"/>
                  </a:lnTo>
                  <a:lnTo>
                    <a:pt x="1532757" y="47834"/>
                  </a:lnTo>
                  <a:lnTo>
                    <a:pt x="1566475" y="81552"/>
                  </a:lnTo>
                  <a:lnTo>
                    <a:pt x="1592178" y="121979"/>
                  </a:lnTo>
                  <a:lnTo>
                    <a:pt x="1608559" y="167807"/>
                  </a:lnTo>
                  <a:lnTo>
                    <a:pt x="1614309" y="217728"/>
                  </a:lnTo>
                  <a:lnTo>
                    <a:pt x="1614309" y="305688"/>
                  </a:lnTo>
                  <a:lnTo>
                    <a:pt x="1608559" y="355614"/>
                  </a:lnTo>
                  <a:lnTo>
                    <a:pt x="1592178" y="401444"/>
                  </a:lnTo>
                  <a:lnTo>
                    <a:pt x="1566475" y="441870"/>
                  </a:lnTo>
                  <a:lnTo>
                    <a:pt x="1532757" y="475587"/>
                  </a:lnTo>
                  <a:lnTo>
                    <a:pt x="1492330" y="501288"/>
                  </a:lnTo>
                  <a:lnTo>
                    <a:pt x="1446502" y="517667"/>
                  </a:lnTo>
                  <a:lnTo>
                    <a:pt x="1396580" y="523417"/>
                  </a:lnTo>
                  <a:lnTo>
                    <a:pt x="217728" y="523417"/>
                  </a:lnTo>
                  <a:lnTo>
                    <a:pt x="167803" y="517667"/>
                  </a:lnTo>
                  <a:lnTo>
                    <a:pt x="121973" y="501288"/>
                  </a:lnTo>
                  <a:lnTo>
                    <a:pt x="81547" y="475587"/>
                  </a:lnTo>
                  <a:lnTo>
                    <a:pt x="47830" y="441870"/>
                  </a:lnTo>
                  <a:lnTo>
                    <a:pt x="22128" y="401444"/>
                  </a:lnTo>
                  <a:lnTo>
                    <a:pt x="5749" y="355614"/>
                  </a:lnTo>
                  <a:lnTo>
                    <a:pt x="0" y="305688"/>
                  </a:lnTo>
                  <a:lnTo>
                    <a:pt x="0" y="21772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3309663" y="4947618"/>
            <a:ext cx="1194124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90143" marR="5078" indent="-78082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Evolutionary Algorithms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868544" y="3387878"/>
            <a:ext cx="262187" cy="1600418"/>
            <a:chOff x="3869552" y="3387867"/>
            <a:chExt cx="262255" cy="1600835"/>
          </a:xfrm>
        </p:grpSpPr>
        <p:sp>
          <p:nvSpPr>
            <p:cNvPr id="153" name="object 153"/>
            <p:cNvSpPr/>
            <p:nvPr/>
          </p:nvSpPr>
          <p:spPr>
            <a:xfrm>
              <a:off x="3907655" y="3391042"/>
              <a:ext cx="220979" cy="1534160"/>
            </a:xfrm>
            <a:custGeom>
              <a:avLst/>
              <a:gdLst/>
              <a:ahLst/>
              <a:cxnLst/>
              <a:rect l="l" t="t" r="r" b="b"/>
              <a:pathLst>
                <a:path w="220979" h="1534160">
                  <a:moveTo>
                    <a:pt x="220751" y="0"/>
                  </a:moveTo>
                  <a:lnTo>
                    <a:pt x="220751" y="798766"/>
                  </a:lnTo>
                  <a:lnTo>
                    <a:pt x="0" y="798766"/>
                  </a:lnTo>
                  <a:lnTo>
                    <a:pt x="0" y="153402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869552" y="49123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2609049" y="3176371"/>
            <a:ext cx="1496940" cy="627851"/>
          </a:xfrm>
          <a:prstGeom prst="rect">
            <a:avLst/>
          </a:prstGeom>
        </p:spPr>
        <p:txBody>
          <a:bodyPr vert="horz" wrap="square" lIns="0" tIns="99669" rIns="0" bIns="0" rtlCol="0">
            <a:spAutoFit/>
          </a:bodyPr>
          <a:lstStyle/>
          <a:p>
            <a:pPr marL="62846">
              <a:spcBef>
                <a:spcPts val="785"/>
              </a:spcBef>
              <a:tabLst>
                <a:tab pos="976972" algn="l"/>
              </a:tabLst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1940</a:t>
            </a:r>
            <a:r>
              <a:rPr sz="1799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1950</a:t>
            </a:r>
            <a:endParaRPr sz="1799">
              <a:latin typeface="Calibri"/>
              <a:cs typeface="Calibri"/>
            </a:endParaRPr>
          </a:p>
          <a:p>
            <a:pPr marL="12696">
              <a:spcBef>
                <a:spcPts val="455"/>
              </a:spcBef>
              <a:tabLst>
                <a:tab pos="1172493" algn="l"/>
              </a:tabLst>
            </a:pPr>
            <a:r>
              <a:rPr sz="1799" spc="-30" baseline="2314" dirty="0">
                <a:latin typeface="Calibri"/>
                <a:cs typeface="Calibri"/>
              </a:rPr>
              <a:t>1936</a:t>
            </a:r>
            <a:r>
              <a:rPr sz="1799" baseline="2314" dirty="0">
                <a:latin typeface="Calibri"/>
                <a:cs typeface="Calibri"/>
              </a:rPr>
              <a:t>	</a:t>
            </a:r>
            <a:r>
              <a:rPr sz="1200" spc="-20" dirty="0">
                <a:latin typeface="Calibri"/>
                <a:cs typeface="Calibri"/>
              </a:rPr>
              <a:t>1954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7705592" y="3449866"/>
            <a:ext cx="1627081" cy="2037183"/>
            <a:chOff x="7707599" y="3449871"/>
            <a:chExt cx="1627505" cy="2037714"/>
          </a:xfrm>
        </p:grpSpPr>
        <p:sp>
          <p:nvSpPr>
            <p:cNvPr id="157" name="object 157"/>
            <p:cNvSpPr/>
            <p:nvPr/>
          </p:nvSpPr>
          <p:spPr>
            <a:xfrm>
              <a:off x="7713949" y="5184198"/>
              <a:ext cx="1614805" cy="297180"/>
            </a:xfrm>
            <a:custGeom>
              <a:avLst/>
              <a:gdLst/>
              <a:ahLst/>
              <a:cxnLst/>
              <a:rect l="l" t="t" r="r" b="b"/>
              <a:pathLst>
                <a:path w="1614804" h="297179">
                  <a:moveTo>
                    <a:pt x="1490903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1490903" y="296659"/>
                  </a:lnTo>
                  <a:lnTo>
                    <a:pt x="1538935" y="286962"/>
                  </a:lnTo>
                  <a:lnTo>
                    <a:pt x="1578162" y="260518"/>
                  </a:lnTo>
                  <a:lnTo>
                    <a:pt x="1604610" y="221296"/>
                  </a:lnTo>
                  <a:lnTo>
                    <a:pt x="1614309" y="173266"/>
                  </a:lnTo>
                  <a:lnTo>
                    <a:pt x="1614309" y="123405"/>
                  </a:lnTo>
                  <a:lnTo>
                    <a:pt x="1604610" y="75373"/>
                  </a:lnTo>
                  <a:lnTo>
                    <a:pt x="1578162" y="36147"/>
                  </a:lnTo>
                  <a:lnTo>
                    <a:pt x="1538935" y="9698"/>
                  </a:lnTo>
                  <a:lnTo>
                    <a:pt x="1490903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713949" y="5184198"/>
              <a:ext cx="1614805" cy="297180"/>
            </a:xfrm>
            <a:custGeom>
              <a:avLst/>
              <a:gdLst/>
              <a:ahLst/>
              <a:cxnLst/>
              <a:rect l="l" t="t" r="r" b="b"/>
              <a:pathLst>
                <a:path w="1614804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1490903" y="0"/>
                  </a:lnTo>
                  <a:lnTo>
                    <a:pt x="1538935" y="9698"/>
                  </a:lnTo>
                  <a:lnTo>
                    <a:pt x="1578162" y="36147"/>
                  </a:lnTo>
                  <a:lnTo>
                    <a:pt x="1604610" y="75373"/>
                  </a:lnTo>
                  <a:lnTo>
                    <a:pt x="1614309" y="123405"/>
                  </a:lnTo>
                  <a:lnTo>
                    <a:pt x="1614309" y="173266"/>
                  </a:lnTo>
                  <a:lnTo>
                    <a:pt x="1604610" y="221296"/>
                  </a:lnTo>
                  <a:lnTo>
                    <a:pt x="1578162" y="260518"/>
                  </a:lnTo>
                  <a:lnTo>
                    <a:pt x="1538935" y="286962"/>
                  </a:lnTo>
                  <a:lnTo>
                    <a:pt x="1490903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499944" y="3453046"/>
              <a:ext cx="20955" cy="1668145"/>
            </a:xfrm>
            <a:custGeom>
              <a:avLst/>
              <a:gdLst/>
              <a:ahLst/>
              <a:cxnLst/>
              <a:rect l="l" t="t" r="r" b="b"/>
              <a:pathLst>
                <a:path w="20954" h="1668145">
                  <a:moveTo>
                    <a:pt x="0" y="0"/>
                  </a:moveTo>
                  <a:lnTo>
                    <a:pt x="20383" y="166766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482070" y="5107545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927"/>
                  </a:lnTo>
                  <a:lnTo>
                    <a:pt x="39027" y="7665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7923175" y="3154368"/>
            <a:ext cx="954791" cy="664037"/>
          </a:xfrm>
          <a:prstGeom prst="rect">
            <a:avLst/>
          </a:prstGeom>
        </p:spPr>
        <p:txBody>
          <a:bodyPr vert="horz" wrap="square" lIns="0" tIns="121253" rIns="0" bIns="0" rtlCol="0">
            <a:spAutoFit/>
          </a:bodyPr>
          <a:lstStyle/>
          <a:p>
            <a:pPr marR="14600" algn="ctr">
              <a:spcBef>
                <a:spcPts val="955"/>
              </a:spcBef>
            </a:pPr>
            <a:r>
              <a:rPr sz="1799" spc="-20" dirty="0">
                <a:solidFill>
                  <a:srgbClr val="FFFFFF"/>
                </a:solidFill>
                <a:latin typeface="Calibri"/>
                <a:cs typeface="Calibri"/>
              </a:rPr>
              <a:t>2000</a:t>
            </a:r>
            <a:endParaRPr sz="1799">
              <a:latin typeface="Calibri"/>
              <a:cs typeface="Calibri"/>
            </a:endParaRPr>
          </a:p>
          <a:p>
            <a:pPr algn="ctr">
              <a:spcBef>
                <a:spcPts val="575"/>
              </a:spcBef>
              <a:tabLst>
                <a:tab pos="617670" algn="l"/>
              </a:tabLst>
            </a:pPr>
            <a:r>
              <a:rPr sz="1799" spc="-30" baseline="2314" dirty="0">
                <a:latin typeface="Calibri"/>
                <a:cs typeface="Calibri"/>
              </a:rPr>
              <a:t>1995</a:t>
            </a:r>
            <a:r>
              <a:rPr sz="1799" baseline="2314" dirty="0">
                <a:latin typeface="Calibri"/>
                <a:cs typeface="Calibri"/>
              </a:rPr>
              <a:t>	</a:t>
            </a:r>
            <a:r>
              <a:rPr sz="1200" spc="-20" dirty="0">
                <a:latin typeface="Calibri"/>
                <a:cs typeface="Calibri"/>
              </a:rPr>
              <a:t>2000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195138" y="5090622"/>
            <a:ext cx="690065" cy="309799"/>
            <a:chOff x="1195449" y="5091055"/>
            <a:chExt cx="690245" cy="309880"/>
          </a:xfrm>
        </p:grpSpPr>
        <p:sp>
          <p:nvSpPr>
            <p:cNvPr id="163" name="object 163"/>
            <p:cNvSpPr/>
            <p:nvPr/>
          </p:nvSpPr>
          <p:spPr>
            <a:xfrm>
              <a:off x="1201799" y="5097405"/>
              <a:ext cx="677545" cy="297180"/>
            </a:xfrm>
            <a:custGeom>
              <a:avLst/>
              <a:gdLst/>
              <a:ahLst/>
              <a:cxnLst/>
              <a:rect l="l" t="t" r="r" b="b"/>
              <a:pathLst>
                <a:path w="677544" h="297179">
                  <a:moveTo>
                    <a:pt x="554126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554126" y="296659"/>
                  </a:lnTo>
                  <a:lnTo>
                    <a:pt x="602158" y="286962"/>
                  </a:lnTo>
                  <a:lnTo>
                    <a:pt x="641384" y="260518"/>
                  </a:lnTo>
                  <a:lnTo>
                    <a:pt x="667833" y="221296"/>
                  </a:lnTo>
                  <a:lnTo>
                    <a:pt x="677532" y="173266"/>
                  </a:lnTo>
                  <a:lnTo>
                    <a:pt x="677532" y="123405"/>
                  </a:lnTo>
                  <a:lnTo>
                    <a:pt x="667833" y="75373"/>
                  </a:lnTo>
                  <a:lnTo>
                    <a:pt x="641384" y="36147"/>
                  </a:lnTo>
                  <a:lnTo>
                    <a:pt x="602158" y="9698"/>
                  </a:lnTo>
                  <a:lnTo>
                    <a:pt x="554126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201799" y="5097405"/>
              <a:ext cx="677545" cy="297180"/>
            </a:xfrm>
            <a:custGeom>
              <a:avLst/>
              <a:gdLst/>
              <a:ahLst/>
              <a:cxnLst/>
              <a:rect l="l" t="t" r="r" b="b"/>
              <a:pathLst>
                <a:path w="677544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554126" y="0"/>
                  </a:lnTo>
                  <a:lnTo>
                    <a:pt x="602158" y="9698"/>
                  </a:lnTo>
                  <a:lnTo>
                    <a:pt x="641384" y="36147"/>
                  </a:lnTo>
                  <a:lnTo>
                    <a:pt x="667833" y="75373"/>
                  </a:lnTo>
                  <a:lnTo>
                    <a:pt x="677532" y="123405"/>
                  </a:lnTo>
                  <a:lnTo>
                    <a:pt x="677532" y="173266"/>
                  </a:lnTo>
                  <a:lnTo>
                    <a:pt x="667833" y="221296"/>
                  </a:lnTo>
                  <a:lnTo>
                    <a:pt x="641384" y="260518"/>
                  </a:lnTo>
                  <a:lnTo>
                    <a:pt x="602158" y="286962"/>
                  </a:lnTo>
                  <a:lnTo>
                    <a:pt x="554126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1340950" y="5080208"/>
            <a:ext cx="39740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libri"/>
                <a:cs typeface="Calibri"/>
              </a:rPr>
              <a:t>PCA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1502325" y="3358148"/>
            <a:ext cx="76180" cy="1739447"/>
            <a:chOff x="1502717" y="3358130"/>
            <a:chExt cx="76200" cy="1739900"/>
          </a:xfrm>
        </p:grpSpPr>
        <p:sp>
          <p:nvSpPr>
            <p:cNvPr id="167" name="object 167"/>
            <p:cNvSpPr/>
            <p:nvPr/>
          </p:nvSpPr>
          <p:spPr>
            <a:xfrm>
              <a:off x="1540772" y="3361305"/>
              <a:ext cx="5715" cy="1673225"/>
            </a:xfrm>
            <a:custGeom>
              <a:avLst/>
              <a:gdLst/>
              <a:ahLst/>
              <a:cxnLst/>
              <a:rect l="l" t="t" r="r" b="b"/>
              <a:pathLst>
                <a:path w="5715" h="1673225">
                  <a:moveTo>
                    <a:pt x="5638" y="0"/>
                  </a:moveTo>
                  <a:lnTo>
                    <a:pt x="0" y="167260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502717" y="502108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0" y="0"/>
                  </a:moveTo>
                  <a:lnTo>
                    <a:pt x="37846" y="76326"/>
                  </a:lnTo>
                  <a:lnTo>
                    <a:pt x="76200" y="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1551278" y="3604069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1901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8978477" y="4745093"/>
            <a:ext cx="999865" cy="309799"/>
            <a:chOff x="8980816" y="4745436"/>
            <a:chExt cx="1000125" cy="309880"/>
          </a:xfrm>
        </p:grpSpPr>
        <p:sp>
          <p:nvSpPr>
            <p:cNvPr id="171" name="object 171"/>
            <p:cNvSpPr/>
            <p:nvPr/>
          </p:nvSpPr>
          <p:spPr>
            <a:xfrm>
              <a:off x="8987167" y="4751786"/>
              <a:ext cx="987425" cy="297180"/>
            </a:xfrm>
            <a:custGeom>
              <a:avLst/>
              <a:gdLst/>
              <a:ahLst/>
              <a:cxnLst/>
              <a:rect l="l" t="t" r="r" b="b"/>
              <a:pathLst>
                <a:path w="987425" h="297179">
                  <a:moveTo>
                    <a:pt x="863828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863828" y="296659"/>
                  </a:lnTo>
                  <a:lnTo>
                    <a:pt x="911866" y="286962"/>
                  </a:lnTo>
                  <a:lnTo>
                    <a:pt x="951091" y="260518"/>
                  </a:lnTo>
                  <a:lnTo>
                    <a:pt x="977537" y="221296"/>
                  </a:lnTo>
                  <a:lnTo>
                    <a:pt x="987234" y="173266"/>
                  </a:lnTo>
                  <a:lnTo>
                    <a:pt x="987234" y="123405"/>
                  </a:lnTo>
                  <a:lnTo>
                    <a:pt x="977537" y="75373"/>
                  </a:lnTo>
                  <a:lnTo>
                    <a:pt x="951091" y="36147"/>
                  </a:lnTo>
                  <a:lnTo>
                    <a:pt x="911866" y="9698"/>
                  </a:lnTo>
                  <a:lnTo>
                    <a:pt x="8638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987166" y="4751786"/>
              <a:ext cx="987425" cy="297180"/>
            </a:xfrm>
            <a:custGeom>
              <a:avLst/>
              <a:gdLst/>
              <a:ahLst/>
              <a:cxnLst/>
              <a:rect l="l" t="t" r="r" b="b"/>
              <a:pathLst>
                <a:path w="987425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863828" y="0"/>
                  </a:lnTo>
                  <a:lnTo>
                    <a:pt x="911866" y="9698"/>
                  </a:lnTo>
                  <a:lnTo>
                    <a:pt x="951091" y="36147"/>
                  </a:lnTo>
                  <a:lnTo>
                    <a:pt x="977537" y="75373"/>
                  </a:lnTo>
                  <a:lnTo>
                    <a:pt x="987234" y="123405"/>
                  </a:lnTo>
                  <a:lnTo>
                    <a:pt x="987234" y="173266"/>
                  </a:lnTo>
                  <a:lnTo>
                    <a:pt x="977537" y="221296"/>
                  </a:lnTo>
                  <a:lnTo>
                    <a:pt x="951091" y="260518"/>
                  </a:lnTo>
                  <a:lnTo>
                    <a:pt x="911866" y="286962"/>
                  </a:lnTo>
                  <a:lnTo>
                    <a:pt x="863828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73" name="object 173"/>
          <p:cNvSpPr txBox="1"/>
          <p:nvPr/>
        </p:nvSpPr>
        <p:spPr>
          <a:xfrm>
            <a:off x="7656733" y="4576631"/>
            <a:ext cx="2232713" cy="83917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53624" marR="5078" indent="-141563">
              <a:lnSpc>
                <a:spcPct val="157600"/>
              </a:lnSpc>
              <a:spcBef>
                <a:spcPts val="100"/>
              </a:spcBef>
              <a:tabLst>
                <a:tab pos="1423243" algn="l"/>
              </a:tabLst>
            </a:pPr>
            <a:r>
              <a:rPr sz="2699" spc="-37" baseline="1543" dirty="0">
                <a:latin typeface="Calibri"/>
                <a:cs typeface="Calibri"/>
              </a:rPr>
              <a:t>SVM</a:t>
            </a:r>
            <a:r>
              <a:rPr sz="2699" baseline="1543" dirty="0">
                <a:latin typeface="Calibri"/>
                <a:cs typeface="Calibri"/>
              </a:rPr>
              <a:t>	</a:t>
            </a:r>
            <a:r>
              <a:rPr sz="1799" spc="-10" dirty="0">
                <a:latin typeface="Calibri"/>
                <a:cs typeface="Calibri"/>
              </a:rPr>
              <a:t>XGBoost </a:t>
            </a:r>
            <a:r>
              <a:rPr sz="1799" dirty="0">
                <a:latin typeface="Calibri"/>
                <a:cs typeface="Calibri"/>
              </a:rPr>
              <a:t>Random</a:t>
            </a:r>
            <a:r>
              <a:rPr sz="1799" spc="-45" dirty="0">
                <a:latin typeface="Calibri"/>
                <a:cs typeface="Calibri"/>
              </a:rPr>
              <a:t> </a:t>
            </a:r>
            <a:r>
              <a:rPr sz="1799" spc="-10" dirty="0">
                <a:latin typeface="Calibri"/>
                <a:cs typeface="Calibri"/>
              </a:rPr>
              <a:t>Forest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9440231" y="3595771"/>
            <a:ext cx="302181" cy="1156034"/>
            <a:chOff x="9442690" y="3595814"/>
            <a:chExt cx="302260" cy="1156335"/>
          </a:xfrm>
        </p:grpSpPr>
        <p:sp>
          <p:nvSpPr>
            <p:cNvPr id="175" name="object 175"/>
            <p:cNvSpPr/>
            <p:nvPr/>
          </p:nvSpPr>
          <p:spPr>
            <a:xfrm>
              <a:off x="9480787" y="3598989"/>
              <a:ext cx="260985" cy="1089660"/>
            </a:xfrm>
            <a:custGeom>
              <a:avLst/>
              <a:gdLst/>
              <a:ahLst/>
              <a:cxnLst/>
              <a:rect l="l" t="t" r="r" b="b"/>
              <a:pathLst>
                <a:path w="260984" h="1089660">
                  <a:moveTo>
                    <a:pt x="260756" y="0"/>
                  </a:moveTo>
                  <a:lnTo>
                    <a:pt x="260756" y="576402"/>
                  </a:lnTo>
                  <a:lnTo>
                    <a:pt x="0" y="576402"/>
                  </a:lnTo>
                  <a:lnTo>
                    <a:pt x="0" y="108930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9442690" y="467559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9356589" y="3602047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2014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9862185" y="5178555"/>
            <a:ext cx="999865" cy="309799"/>
            <a:chOff x="9864754" y="5179011"/>
            <a:chExt cx="1000125" cy="309880"/>
          </a:xfrm>
        </p:grpSpPr>
        <p:sp>
          <p:nvSpPr>
            <p:cNvPr id="179" name="object 179"/>
            <p:cNvSpPr/>
            <p:nvPr/>
          </p:nvSpPr>
          <p:spPr>
            <a:xfrm>
              <a:off x="9871104" y="5185361"/>
              <a:ext cx="987425" cy="297180"/>
            </a:xfrm>
            <a:custGeom>
              <a:avLst/>
              <a:gdLst/>
              <a:ahLst/>
              <a:cxnLst/>
              <a:rect l="l" t="t" r="r" b="b"/>
              <a:pathLst>
                <a:path w="987425" h="297179">
                  <a:moveTo>
                    <a:pt x="863828" y="0"/>
                  </a:moveTo>
                  <a:lnTo>
                    <a:pt x="123405" y="0"/>
                  </a:lnTo>
                  <a:lnTo>
                    <a:pt x="75368" y="9698"/>
                  </a:lnTo>
                  <a:lnTo>
                    <a:pt x="36142" y="36147"/>
                  </a:lnTo>
                  <a:lnTo>
                    <a:pt x="9697" y="75373"/>
                  </a:lnTo>
                  <a:lnTo>
                    <a:pt x="0" y="123405"/>
                  </a:lnTo>
                  <a:lnTo>
                    <a:pt x="0" y="173266"/>
                  </a:lnTo>
                  <a:lnTo>
                    <a:pt x="9697" y="221296"/>
                  </a:lnTo>
                  <a:lnTo>
                    <a:pt x="36142" y="260518"/>
                  </a:lnTo>
                  <a:lnTo>
                    <a:pt x="75368" y="286962"/>
                  </a:lnTo>
                  <a:lnTo>
                    <a:pt x="123405" y="296659"/>
                  </a:lnTo>
                  <a:lnTo>
                    <a:pt x="863828" y="296659"/>
                  </a:lnTo>
                  <a:lnTo>
                    <a:pt x="911866" y="286962"/>
                  </a:lnTo>
                  <a:lnTo>
                    <a:pt x="951091" y="260518"/>
                  </a:lnTo>
                  <a:lnTo>
                    <a:pt x="977537" y="221296"/>
                  </a:lnTo>
                  <a:lnTo>
                    <a:pt x="987234" y="173266"/>
                  </a:lnTo>
                  <a:lnTo>
                    <a:pt x="987234" y="123405"/>
                  </a:lnTo>
                  <a:lnTo>
                    <a:pt x="977537" y="75373"/>
                  </a:lnTo>
                  <a:lnTo>
                    <a:pt x="951091" y="36147"/>
                  </a:lnTo>
                  <a:lnTo>
                    <a:pt x="911866" y="9698"/>
                  </a:lnTo>
                  <a:lnTo>
                    <a:pt x="8638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9871104" y="5185361"/>
              <a:ext cx="987425" cy="297180"/>
            </a:xfrm>
            <a:custGeom>
              <a:avLst/>
              <a:gdLst/>
              <a:ahLst/>
              <a:cxnLst/>
              <a:rect l="l" t="t" r="r" b="b"/>
              <a:pathLst>
                <a:path w="987425" h="297179">
                  <a:moveTo>
                    <a:pt x="0" y="123405"/>
                  </a:moveTo>
                  <a:lnTo>
                    <a:pt x="9697" y="75373"/>
                  </a:lnTo>
                  <a:lnTo>
                    <a:pt x="36142" y="36147"/>
                  </a:lnTo>
                  <a:lnTo>
                    <a:pt x="75368" y="9698"/>
                  </a:lnTo>
                  <a:lnTo>
                    <a:pt x="123405" y="0"/>
                  </a:lnTo>
                  <a:lnTo>
                    <a:pt x="863828" y="0"/>
                  </a:lnTo>
                  <a:lnTo>
                    <a:pt x="911866" y="9698"/>
                  </a:lnTo>
                  <a:lnTo>
                    <a:pt x="951091" y="36147"/>
                  </a:lnTo>
                  <a:lnTo>
                    <a:pt x="977537" y="75373"/>
                  </a:lnTo>
                  <a:lnTo>
                    <a:pt x="987234" y="123405"/>
                  </a:lnTo>
                  <a:lnTo>
                    <a:pt x="987234" y="173266"/>
                  </a:lnTo>
                  <a:lnTo>
                    <a:pt x="977537" y="221296"/>
                  </a:lnTo>
                  <a:lnTo>
                    <a:pt x="951091" y="260518"/>
                  </a:lnTo>
                  <a:lnTo>
                    <a:pt x="911866" y="286962"/>
                  </a:lnTo>
                  <a:lnTo>
                    <a:pt x="863828" y="296659"/>
                  </a:lnTo>
                  <a:lnTo>
                    <a:pt x="123405" y="296659"/>
                  </a:lnTo>
                  <a:lnTo>
                    <a:pt x="75368" y="286962"/>
                  </a:lnTo>
                  <a:lnTo>
                    <a:pt x="36142" y="260518"/>
                  </a:lnTo>
                  <a:lnTo>
                    <a:pt x="9697" y="221296"/>
                  </a:lnTo>
                  <a:lnTo>
                    <a:pt x="0" y="173266"/>
                  </a:lnTo>
                  <a:lnTo>
                    <a:pt x="0" y="1234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9928812" y="5168142"/>
            <a:ext cx="8652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libri"/>
                <a:cs typeface="Calibri"/>
              </a:rPr>
              <a:t>CatBoost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10642313" y="4178911"/>
            <a:ext cx="999865" cy="543418"/>
            <a:chOff x="10645085" y="4179106"/>
            <a:chExt cx="1000125" cy="543560"/>
          </a:xfrm>
        </p:grpSpPr>
        <p:sp>
          <p:nvSpPr>
            <p:cNvPr id="183" name="object 183"/>
            <p:cNvSpPr/>
            <p:nvPr/>
          </p:nvSpPr>
          <p:spPr>
            <a:xfrm>
              <a:off x="10651435" y="4185456"/>
              <a:ext cx="987425" cy="530860"/>
            </a:xfrm>
            <a:custGeom>
              <a:avLst/>
              <a:gdLst/>
              <a:ahLst/>
              <a:cxnLst/>
              <a:rect l="l" t="t" r="r" b="b"/>
              <a:pathLst>
                <a:path w="987425" h="530860">
                  <a:moveTo>
                    <a:pt x="766584" y="0"/>
                  </a:moveTo>
                  <a:lnTo>
                    <a:pt x="220649" y="0"/>
                  </a:lnTo>
                  <a:lnTo>
                    <a:pt x="176182" y="4483"/>
                  </a:lnTo>
                  <a:lnTo>
                    <a:pt x="134765" y="17340"/>
                  </a:lnTo>
                  <a:lnTo>
                    <a:pt x="97284" y="37684"/>
                  </a:lnTo>
                  <a:lnTo>
                    <a:pt x="64628" y="64628"/>
                  </a:lnTo>
                  <a:lnTo>
                    <a:pt x="37684" y="97284"/>
                  </a:lnTo>
                  <a:lnTo>
                    <a:pt x="17340" y="134765"/>
                  </a:lnTo>
                  <a:lnTo>
                    <a:pt x="4483" y="176182"/>
                  </a:lnTo>
                  <a:lnTo>
                    <a:pt x="0" y="220649"/>
                  </a:lnTo>
                  <a:lnTo>
                    <a:pt x="0" y="309803"/>
                  </a:lnTo>
                  <a:lnTo>
                    <a:pt x="4483" y="354270"/>
                  </a:lnTo>
                  <a:lnTo>
                    <a:pt x="17340" y="395688"/>
                  </a:lnTo>
                  <a:lnTo>
                    <a:pt x="37684" y="433168"/>
                  </a:lnTo>
                  <a:lnTo>
                    <a:pt x="64628" y="465824"/>
                  </a:lnTo>
                  <a:lnTo>
                    <a:pt x="97284" y="492768"/>
                  </a:lnTo>
                  <a:lnTo>
                    <a:pt x="134765" y="513113"/>
                  </a:lnTo>
                  <a:lnTo>
                    <a:pt x="176182" y="525970"/>
                  </a:lnTo>
                  <a:lnTo>
                    <a:pt x="220649" y="530453"/>
                  </a:lnTo>
                  <a:lnTo>
                    <a:pt x="766584" y="530453"/>
                  </a:lnTo>
                  <a:lnTo>
                    <a:pt x="811051" y="525970"/>
                  </a:lnTo>
                  <a:lnTo>
                    <a:pt x="852469" y="513113"/>
                  </a:lnTo>
                  <a:lnTo>
                    <a:pt x="889949" y="492768"/>
                  </a:lnTo>
                  <a:lnTo>
                    <a:pt x="922605" y="465824"/>
                  </a:lnTo>
                  <a:lnTo>
                    <a:pt x="949549" y="433168"/>
                  </a:lnTo>
                  <a:lnTo>
                    <a:pt x="969894" y="395688"/>
                  </a:lnTo>
                  <a:lnTo>
                    <a:pt x="982751" y="354270"/>
                  </a:lnTo>
                  <a:lnTo>
                    <a:pt x="987234" y="309803"/>
                  </a:lnTo>
                  <a:lnTo>
                    <a:pt x="987234" y="220649"/>
                  </a:lnTo>
                  <a:lnTo>
                    <a:pt x="982751" y="176182"/>
                  </a:lnTo>
                  <a:lnTo>
                    <a:pt x="969894" y="134765"/>
                  </a:lnTo>
                  <a:lnTo>
                    <a:pt x="949549" y="97284"/>
                  </a:lnTo>
                  <a:lnTo>
                    <a:pt x="922605" y="64628"/>
                  </a:lnTo>
                  <a:lnTo>
                    <a:pt x="889949" y="37684"/>
                  </a:lnTo>
                  <a:lnTo>
                    <a:pt x="852469" y="17340"/>
                  </a:lnTo>
                  <a:lnTo>
                    <a:pt x="811051" y="4483"/>
                  </a:lnTo>
                  <a:lnTo>
                    <a:pt x="766584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0651435" y="4185456"/>
              <a:ext cx="987425" cy="530860"/>
            </a:xfrm>
            <a:custGeom>
              <a:avLst/>
              <a:gdLst/>
              <a:ahLst/>
              <a:cxnLst/>
              <a:rect l="l" t="t" r="r" b="b"/>
              <a:pathLst>
                <a:path w="987425" h="530860">
                  <a:moveTo>
                    <a:pt x="0" y="220649"/>
                  </a:moveTo>
                  <a:lnTo>
                    <a:pt x="4483" y="176182"/>
                  </a:lnTo>
                  <a:lnTo>
                    <a:pt x="17340" y="134765"/>
                  </a:lnTo>
                  <a:lnTo>
                    <a:pt x="37684" y="97284"/>
                  </a:lnTo>
                  <a:lnTo>
                    <a:pt x="64628" y="64628"/>
                  </a:lnTo>
                  <a:lnTo>
                    <a:pt x="97284" y="37684"/>
                  </a:lnTo>
                  <a:lnTo>
                    <a:pt x="134765" y="17340"/>
                  </a:lnTo>
                  <a:lnTo>
                    <a:pt x="176182" y="4483"/>
                  </a:lnTo>
                  <a:lnTo>
                    <a:pt x="220649" y="0"/>
                  </a:lnTo>
                  <a:lnTo>
                    <a:pt x="766584" y="0"/>
                  </a:lnTo>
                  <a:lnTo>
                    <a:pt x="811051" y="4483"/>
                  </a:lnTo>
                  <a:lnTo>
                    <a:pt x="852469" y="17340"/>
                  </a:lnTo>
                  <a:lnTo>
                    <a:pt x="889949" y="37684"/>
                  </a:lnTo>
                  <a:lnTo>
                    <a:pt x="922605" y="64628"/>
                  </a:lnTo>
                  <a:lnTo>
                    <a:pt x="949549" y="97284"/>
                  </a:lnTo>
                  <a:lnTo>
                    <a:pt x="969894" y="134765"/>
                  </a:lnTo>
                  <a:lnTo>
                    <a:pt x="982751" y="176182"/>
                  </a:lnTo>
                  <a:lnTo>
                    <a:pt x="987234" y="220649"/>
                  </a:lnTo>
                  <a:lnTo>
                    <a:pt x="987234" y="309803"/>
                  </a:lnTo>
                  <a:lnTo>
                    <a:pt x="982751" y="354270"/>
                  </a:lnTo>
                  <a:lnTo>
                    <a:pt x="969894" y="395688"/>
                  </a:lnTo>
                  <a:lnTo>
                    <a:pt x="949549" y="433168"/>
                  </a:lnTo>
                  <a:lnTo>
                    <a:pt x="922605" y="465824"/>
                  </a:lnTo>
                  <a:lnTo>
                    <a:pt x="889949" y="492768"/>
                  </a:lnTo>
                  <a:lnTo>
                    <a:pt x="852469" y="513113"/>
                  </a:lnTo>
                  <a:lnTo>
                    <a:pt x="811051" y="525970"/>
                  </a:lnTo>
                  <a:lnTo>
                    <a:pt x="766584" y="530453"/>
                  </a:lnTo>
                  <a:lnTo>
                    <a:pt x="220649" y="530453"/>
                  </a:lnTo>
                  <a:lnTo>
                    <a:pt x="176182" y="525970"/>
                  </a:lnTo>
                  <a:lnTo>
                    <a:pt x="134765" y="513113"/>
                  </a:lnTo>
                  <a:lnTo>
                    <a:pt x="97284" y="492768"/>
                  </a:lnTo>
                  <a:lnTo>
                    <a:pt x="64628" y="465824"/>
                  </a:lnTo>
                  <a:lnTo>
                    <a:pt x="37684" y="433168"/>
                  </a:lnTo>
                  <a:lnTo>
                    <a:pt x="17340" y="395688"/>
                  </a:lnTo>
                  <a:lnTo>
                    <a:pt x="4483" y="354270"/>
                  </a:lnTo>
                  <a:lnTo>
                    <a:pt x="0" y="309803"/>
                  </a:lnTo>
                  <a:lnTo>
                    <a:pt x="0" y="22064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10836618" y="4148232"/>
            <a:ext cx="611346" cy="57389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 indent="48246">
              <a:spcBef>
                <a:spcPts val="100"/>
              </a:spcBef>
            </a:pPr>
            <a:r>
              <a:rPr sz="1799" spc="-20" dirty="0">
                <a:latin typeface="Calibri"/>
                <a:cs typeface="Calibri"/>
              </a:rPr>
              <a:t>Deep </a:t>
            </a:r>
            <a:r>
              <a:rPr sz="1799" spc="-10" dirty="0">
                <a:latin typeface="Calibri"/>
                <a:cs typeface="Calibri"/>
              </a:rPr>
              <a:t>Forest</a:t>
            </a:r>
            <a:endParaRPr sz="1799">
              <a:latin typeface="Calibri"/>
              <a:cs typeface="Calibri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10323424" y="3363484"/>
            <a:ext cx="857027" cy="1821975"/>
            <a:chOff x="10326114" y="3363467"/>
            <a:chExt cx="857250" cy="1822450"/>
          </a:xfrm>
        </p:grpSpPr>
        <p:sp>
          <p:nvSpPr>
            <p:cNvPr id="187" name="object 187"/>
            <p:cNvSpPr/>
            <p:nvPr/>
          </p:nvSpPr>
          <p:spPr>
            <a:xfrm>
              <a:off x="10352519" y="3366642"/>
              <a:ext cx="12065" cy="1755775"/>
            </a:xfrm>
            <a:custGeom>
              <a:avLst/>
              <a:gdLst/>
              <a:ahLst/>
              <a:cxnLst/>
              <a:rect l="l" t="t" r="r" b="b"/>
              <a:pathLst>
                <a:path w="12065" h="1755775">
                  <a:moveTo>
                    <a:pt x="0" y="0"/>
                  </a:moveTo>
                  <a:lnTo>
                    <a:pt x="11772" y="175522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0326114" y="5108912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507"/>
                  </a:lnTo>
                  <a:lnTo>
                    <a:pt x="38608" y="76453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0364722" y="3963319"/>
              <a:ext cx="780415" cy="158750"/>
            </a:xfrm>
            <a:custGeom>
              <a:avLst/>
              <a:gdLst/>
              <a:ahLst/>
              <a:cxnLst/>
              <a:rect l="l" t="t" r="r" b="b"/>
              <a:pathLst>
                <a:path w="780415" h="158750">
                  <a:moveTo>
                    <a:pt x="0" y="0"/>
                  </a:moveTo>
                  <a:lnTo>
                    <a:pt x="780326" y="0"/>
                  </a:lnTo>
                  <a:lnTo>
                    <a:pt x="780326" y="15863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1106955" y="41092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10431694" y="3598292"/>
            <a:ext cx="336462" cy="1974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2017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2799683" y="5595274"/>
            <a:ext cx="2793272" cy="884325"/>
            <a:chOff x="2800413" y="5595838"/>
            <a:chExt cx="2794000" cy="884555"/>
          </a:xfrm>
        </p:grpSpPr>
        <p:pic>
          <p:nvPicPr>
            <p:cNvPr id="193" name="object 19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0413" y="5595838"/>
              <a:ext cx="548639" cy="884061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8997" y="5608447"/>
              <a:ext cx="548638" cy="820267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0383" y="5597400"/>
              <a:ext cx="542099" cy="832876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243" y="5595848"/>
              <a:ext cx="1083086" cy="823878"/>
            </a:xfrm>
            <a:prstGeom prst="rect">
              <a:avLst/>
            </a:prstGeom>
          </p:spPr>
        </p:pic>
      </p:grpSp>
      <p:sp>
        <p:nvSpPr>
          <p:cNvPr id="197" name="object 197"/>
          <p:cNvSpPr txBox="1"/>
          <p:nvPr/>
        </p:nvSpPr>
        <p:spPr>
          <a:xfrm>
            <a:off x="4624387" y="6453327"/>
            <a:ext cx="866549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B.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Widrow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M.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Hoff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8" name="object 19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41889" y="5602000"/>
            <a:ext cx="1182484" cy="832655"/>
          </a:xfrm>
          <a:prstGeom prst="rect">
            <a:avLst/>
          </a:prstGeom>
        </p:spPr>
      </p:pic>
      <p:sp>
        <p:nvSpPr>
          <p:cNvPr id="199" name="object 199"/>
          <p:cNvSpPr txBox="1"/>
          <p:nvPr/>
        </p:nvSpPr>
        <p:spPr>
          <a:xfrm>
            <a:off x="5711340" y="6453327"/>
            <a:ext cx="921145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M.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Minsky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S.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Papert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15451" y="5593372"/>
            <a:ext cx="1948306" cy="841791"/>
            <a:chOff x="15455" y="5593936"/>
            <a:chExt cx="1948814" cy="842010"/>
          </a:xfrm>
        </p:grpSpPr>
        <p:pic>
          <p:nvPicPr>
            <p:cNvPr id="201" name="object 2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55" y="5599252"/>
              <a:ext cx="1320900" cy="820263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7032" y="5593936"/>
              <a:ext cx="596793" cy="841496"/>
            </a:xfrm>
            <a:prstGeom prst="rect">
              <a:avLst/>
            </a:prstGeom>
          </p:spPr>
        </p:pic>
      </p:grpSp>
      <p:grpSp>
        <p:nvGrpSpPr>
          <p:cNvPr id="203" name="object 203"/>
          <p:cNvGrpSpPr/>
          <p:nvPr/>
        </p:nvGrpSpPr>
        <p:grpSpPr>
          <a:xfrm>
            <a:off x="7529726" y="5593380"/>
            <a:ext cx="1442344" cy="832902"/>
            <a:chOff x="7531688" y="5593943"/>
            <a:chExt cx="1442720" cy="833119"/>
          </a:xfrm>
        </p:grpSpPr>
        <p:pic>
          <p:nvPicPr>
            <p:cNvPr id="204" name="object 20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31688" y="5602566"/>
              <a:ext cx="480030" cy="816949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3941" y="5593943"/>
              <a:ext cx="480021" cy="83287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3760" y="5593943"/>
              <a:ext cx="480021" cy="825572"/>
            </a:xfrm>
            <a:prstGeom prst="rect">
              <a:avLst/>
            </a:prstGeom>
          </p:spPr>
        </p:pic>
      </p:grpSp>
      <p:sp>
        <p:nvSpPr>
          <p:cNvPr id="207" name="object 207"/>
          <p:cNvSpPr txBox="1"/>
          <p:nvPr/>
        </p:nvSpPr>
        <p:spPr>
          <a:xfrm>
            <a:off x="7435600" y="6444130"/>
            <a:ext cx="1588991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D.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Rumelhart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G.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Hinton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Wiliams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230898" y="6444130"/>
            <a:ext cx="937016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A.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Legendre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J.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Gauss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09" name="object 20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16792" y="5601442"/>
            <a:ext cx="548492" cy="823455"/>
          </a:xfrm>
          <a:prstGeom prst="rect">
            <a:avLst/>
          </a:prstGeom>
        </p:spPr>
      </p:pic>
      <p:sp>
        <p:nvSpPr>
          <p:cNvPr id="210" name="object 210"/>
          <p:cNvSpPr txBox="1"/>
          <p:nvPr/>
        </p:nvSpPr>
        <p:spPr>
          <a:xfrm>
            <a:off x="2293446" y="6447701"/>
            <a:ext cx="2162882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526892" algn="l"/>
                <a:tab pos="1612416" algn="l"/>
              </a:tabLst>
            </a:pPr>
            <a:r>
              <a:rPr sz="1200" baseline="3472" dirty="0">
                <a:latin typeface="Calibri"/>
                <a:cs typeface="Calibri"/>
              </a:rPr>
              <a:t>A.</a:t>
            </a:r>
            <a:r>
              <a:rPr sz="1200" spc="-22" baseline="3472" dirty="0">
                <a:latin typeface="Calibri"/>
                <a:cs typeface="Calibri"/>
              </a:rPr>
              <a:t> </a:t>
            </a:r>
            <a:r>
              <a:rPr sz="1200" spc="-15" baseline="3472" dirty="0">
                <a:latin typeface="Calibri"/>
                <a:cs typeface="Calibri"/>
              </a:rPr>
              <a:t>Turing</a:t>
            </a:r>
            <a:r>
              <a:rPr sz="1200" baseline="3472" dirty="0">
                <a:latin typeface="Calibri"/>
                <a:cs typeface="Calibri"/>
              </a:rPr>
              <a:t>	</a:t>
            </a:r>
            <a:r>
              <a:rPr sz="800" dirty="0">
                <a:latin typeface="Calibri"/>
                <a:cs typeface="Calibri"/>
              </a:rPr>
              <a:t>S.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McCulloch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–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W.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Pitts</a:t>
            </a:r>
            <a:r>
              <a:rPr sz="800" dirty="0">
                <a:latin typeface="Calibri"/>
                <a:cs typeface="Calibri"/>
              </a:rPr>
              <a:t>	F.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Rosenblatt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417370" y="6446984"/>
            <a:ext cx="459620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K.</a:t>
            </a:r>
            <a:r>
              <a:rPr sz="800" spc="-10" dirty="0">
                <a:latin typeface="Calibri"/>
                <a:cs typeface="Calibri"/>
              </a:rPr>
              <a:t> Pearson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12" name="object 2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85365" y="5604204"/>
            <a:ext cx="548493" cy="816669"/>
          </a:xfrm>
          <a:prstGeom prst="rect">
            <a:avLst/>
          </a:prstGeom>
        </p:spPr>
      </p:pic>
      <p:sp>
        <p:nvSpPr>
          <p:cNvPr id="213" name="object 213"/>
          <p:cNvSpPr txBox="1"/>
          <p:nvPr/>
        </p:nvSpPr>
        <p:spPr>
          <a:xfrm>
            <a:off x="6998898" y="6440842"/>
            <a:ext cx="315513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J.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Pearl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9083760" y="5597737"/>
            <a:ext cx="1449327" cy="824650"/>
            <a:chOff x="9086126" y="5598301"/>
            <a:chExt cx="1449705" cy="824865"/>
          </a:xfrm>
        </p:grpSpPr>
        <p:pic>
          <p:nvPicPr>
            <p:cNvPr id="215" name="object 2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86126" y="5598301"/>
              <a:ext cx="948004" cy="817926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60597" y="5607443"/>
              <a:ext cx="474712" cy="815642"/>
            </a:xfrm>
            <a:prstGeom prst="rect">
              <a:avLst/>
            </a:prstGeom>
          </p:spPr>
        </p:pic>
      </p:grpSp>
      <p:sp>
        <p:nvSpPr>
          <p:cNvPr id="217" name="object 217"/>
          <p:cNvSpPr txBox="1"/>
          <p:nvPr/>
        </p:nvSpPr>
        <p:spPr>
          <a:xfrm>
            <a:off x="9143143" y="6453210"/>
            <a:ext cx="1469007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V.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Vapnik– C.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Cortes</a:t>
            </a:r>
            <a:r>
              <a:rPr sz="800" spc="370" dirty="0">
                <a:latin typeface="Calibri"/>
                <a:cs typeface="Calibri"/>
              </a:rPr>
              <a:t> </a:t>
            </a:r>
            <a:r>
              <a:rPr sz="1200" baseline="3472" dirty="0">
                <a:latin typeface="Calibri"/>
                <a:cs typeface="Calibri"/>
              </a:rPr>
              <a:t>A.</a:t>
            </a:r>
            <a:r>
              <a:rPr sz="1200" spc="-30" baseline="3472" dirty="0">
                <a:latin typeface="Calibri"/>
                <a:cs typeface="Calibri"/>
              </a:rPr>
              <a:t> </a:t>
            </a:r>
            <a:r>
              <a:rPr sz="1200" spc="-15" baseline="3472" dirty="0">
                <a:latin typeface="Calibri"/>
                <a:cs typeface="Calibri"/>
              </a:rPr>
              <a:t>Krizhevsky</a:t>
            </a:r>
            <a:endParaRPr sz="1200" baseline="3472">
              <a:latin typeface="Calibri"/>
              <a:cs typeface="Calibri"/>
            </a:endParaRPr>
          </a:p>
        </p:txBody>
      </p:sp>
      <p:grpSp>
        <p:nvGrpSpPr>
          <p:cNvPr id="218" name="object 218"/>
          <p:cNvGrpSpPr/>
          <p:nvPr/>
        </p:nvGrpSpPr>
        <p:grpSpPr>
          <a:xfrm>
            <a:off x="10608405" y="5600012"/>
            <a:ext cx="990977" cy="815763"/>
            <a:chOff x="10611168" y="5600577"/>
            <a:chExt cx="991235" cy="815975"/>
          </a:xfrm>
        </p:grpSpPr>
        <p:pic>
          <p:nvPicPr>
            <p:cNvPr id="219" name="object 2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11168" y="5608446"/>
              <a:ext cx="474712" cy="807780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27143" y="5600577"/>
              <a:ext cx="474709" cy="815639"/>
            </a:xfrm>
            <a:prstGeom prst="rect">
              <a:avLst/>
            </a:prstGeom>
          </p:spPr>
        </p:pic>
      </p:grpSp>
      <p:sp>
        <p:nvSpPr>
          <p:cNvPr id="221" name="object 221"/>
          <p:cNvSpPr txBox="1"/>
          <p:nvPr/>
        </p:nvSpPr>
        <p:spPr>
          <a:xfrm>
            <a:off x="10720749" y="6440842"/>
            <a:ext cx="245681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A.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176797" y="6440842"/>
            <a:ext cx="377727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Y.</a:t>
            </a:r>
            <a:r>
              <a:rPr sz="800" spc="-10" dirty="0">
                <a:latin typeface="Calibri"/>
                <a:cs typeface="Calibri"/>
              </a:rPr>
              <a:t> LeCun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23" name="object 2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48745" y="5600012"/>
            <a:ext cx="475364" cy="815427"/>
          </a:xfrm>
          <a:prstGeom prst="rect">
            <a:avLst/>
          </a:prstGeom>
        </p:spPr>
      </p:pic>
      <p:sp>
        <p:nvSpPr>
          <p:cNvPr id="224" name="object 224"/>
          <p:cNvSpPr txBox="1"/>
          <p:nvPr/>
        </p:nvSpPr>
        <p:spPr>
          <a:xfrm>
            <a:off x="11672253" y="6440842"/>
            <a:ext cx="406928" cy="13590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Y.</a:t>
            </a:r>
            <a:r>
              <a:rPr sz="800" spc="-10" dirty="0">
                <a:latin typeface="Calibri"/>
                <a:cs typeface="Calibri"/>
              </a:rPr>
              <a:t> Bengio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5" name="object 225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226" name="object 226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227" name="object 227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22607" y="117807"/>
            <a:ext cx="10360168" cy="68975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DL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5" dirty="0"/>
              <a:t>High-</a:t>
            </a:r>
            <a:r>
              <a:rPr dirty="0"/>
              <a:t>Performance</a:t>
            </a:r>
            <a:r>
              <a:rPr spc="-5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1534" y="5908453"/>
            <a:ext cx="515295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b="1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2"/>
              </a:rPr>
              <a:t>*</a:t>
            </a:r>
            <a:r>
              <a:rPr sz="1799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2"/>
              </a:rPr>
              <a:t>https://blogs.nvidia.com/blog/2014/09/07/imagenet/</a:t>
            </a:r>
            <a:endParaRPr sz="179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778" y="920730"/>
            <a:ext cx="9006399" cy="4874552"/>
          </a:xfrm>
          <a:prstGeom prst="rect">
            <a:avLst/>
          </a:prstGeom>
        </p:spPr>
        <p:txBody>
          <a:bodyPr vert="horz" wrap="square" lIns="0" tIns="70467" rIns="0" bIns="0" rtlCol="0">
            <a:spAutoFit/>
          </a:bodyPr>
          <a:lstStyle/>
          <a:p>
            <a:pPr marL="354859" indent="-342162">
              <a:spcBef>
                <a:spcPts val="555"/>
              </a:spcBef>
              <a:buChar char="•"/>
              <a:tabLst>
                <a:tab pos="354859" algn="l"/>
              </a:tabLst>
            </a:pPr>
            <a:r>
              <a:rPr sz="1899" dirty="0">
                <a:latin typeface="Calibri"/>
                <a:cs typeface="Calibri"/>
              </a:rPr>
              <a:t>NVIDIA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GPUs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are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the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main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driving</a:t>
            </a:r>
            <a:r>
              <a:rPr sz="1899" spc="-1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force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faster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training</a:t>
            </a:r>
            <a:r>
              <a:rPr sz="1899" spc="-1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of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DL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models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The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ImageNet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Challenge</a:t>
            </a:r>
            <a:r>
              <a:rPr sz="1899" spc="-1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-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(ILSVRC)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spc="-25" dirty="0">
                <a:latin typeface="Calibri"/>
                <a:cs typeface="Calibri"/>
              </a:rPr>
              <a:t>-</a:t>
            </a:r>
            <a:r>
              <a:rPr sz="1899" dirty="0">
                <a:latin typeface="Calibri"/>
                <a:cs typeface="Calibri"/>
              </a:rPr>
              <a:t>-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90%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of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the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teams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used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GPUs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(2014)</a:t>
            </a:r>
            <a:r>
              <a:rPr sz="1899" b="1" spc="-10" dirty="0">
                <a:solidFill>
                  <a:srgbClr val="0909FF"/>
                </a:solidFill>
                <a:latin typeface="Calibri"/>
                <a:cs typeface="Calibri"/>
              </a:rPr>
              <a:t>*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Kaggle</a:t>
            </a:r>
            <a:r>
              <a:rPr sz="1899" spc="-1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is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community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ML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and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data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science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and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known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hosting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competitions:</a:t>
            </a:r>
            <a:endParaRPr sz="1899" dirty="0">
              <a:latin typeface="Calibri"/>
              <a:cs typeface="Calibri"/>
            </a:endParaRPr>
          </a:p>
          <a:p>
            <a:pPr marL="1155353" lvl="2" indent="-228531">
              <a:spcBef>
                <a:spcPts val="430"/>
              </a:spcBef>
              <a:buChar char="•"/>
              <a:tabLst>
                <a:tab pos="1155353" algn="l"/>
              </a:tabLst>
            </a:pPr>
            <a:r>
              <a:rPr sz="1699" dirty="0">
                <a:latin typeface="Calibri"/>
                <a:cs typeface="Calibri"/>
              </a:rPr>
              <a:t>Provides</a:t>
            </a:r>
            <a:r>
              <a:rPr sz="1699" spc="-4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free</a:t>
            </a:r>
            <a:r>
              <a:rPr sz="1699" spc="-1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GPU</a:t>
            </a:r>
            <a:r>
              <a:rPr sz="1699" spc="-2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access</a:t>
            </a:r>
            <a:r>
              <a:rPr sz="1699" spc="-20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to</a:t>
            </a:r>
            <a:r>
              <a:rPr sz="1699" spc="-10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participants</a:t>
            </a:r>
            <a:r>
              <a:rPr sz="1699" spc="-4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due</a:t>
            </a:r>
            <a:r>
              <a:rPr sz="1699" spc="-3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to</a:t>
            </a:r>
            <a:r>
              <a:rPr sz="1699" spc="-10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wide</a:t>
            </a:r>
            <a:r>
              <a:rPr sz="1699" spc="-3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acceptance</a:t>
            </a:r>
            <a:r>
              <a:rPr sz="1699" spc="-3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by</a:t>
            </a:r>
            <a:r>
              <a:rPr sz="1699" spc="-15" dirty="0">
                <a:latin typeface="Calibri"/>
                <a:cs typeface="Calibri"/>
              </a:rPr>
              <a:t> </a:t>
            </a:r>
            <a:r>
              <a:rPr sz="1699" dirty="0">
                <a:latin typeface="Calibri"/>
                <a:cs typeface="Calibri"/>
              </a:rPr>
              <a:t>the</a:t>
            </a:r>
            <a:r>
              <a:rPr sz="1699" spc="-20" dirty="0">
                <a:latin typeface="Calibri"/>
                <a:cs typeface="Calibri"/>
              </a:rPr>
              <a:t> </a:t>
            </a:r>
            <a:r>
              <a:rPr sz="1699" spc="-10" dirty="0">
                <a:latin typeface="Calibri"/>
                <a:cs typeface="Calibri"/>
              </a:rPr>
              <a:t>community</a:t>
            </a:r>
            <a:endParaRPr sz="1699" dirty="0">
              <a:latin typeface="Calibri"/>
              <a:cs typeface="Calibri"/>
            </a:endParaRPr>
          </a:p>
          <a:p>
            <a:pPr marL="354859" indent="-342162">
              <a:spcBef>
                <a:spcPts val="434"/>
              </a:spcBef>
              <a:buChar char="•"/>
              <a:tabLst>
                <a:tab pos="354859" algn="l"/>
              </a:tabLst>
            </a:pPr>
            <a:r>
              <a:rPr sz="1899" dirty="0">
                <a:latin typeface="Calibri"/>
                <a:cs typeface="Calibri"/>
              </a:rPr>
              <a:t>However,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High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Performance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Architectures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DL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and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HPC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are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evolving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194/500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Top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HPC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systems</a:t>
            </a:r>
            <a:r>
              <a:rPr sz="1899" spc="-6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are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using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accelerator/co-</a:t>
            </a:r>
            <a:r>
              <a:rPr sz="1899" dirty="0">
                <a:latin typeface="Calibri"/>
                <a:cs typeface="Calibri"/>
              </a:rPr>
              <a:t>processor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(June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spc="-20" dirty="0">
                <a:latin typeface="Calibri"/>
                <a:cs typeface="Calibri"/>
              </a:rPr>
              <a:t>’24)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9"/>
              </a:spcBef>
              <a:buChar char="–"/>
              <a:tabLst>
                <a:tab pos="754154" algn="l"/>
              </a:tabLst>
            </a:pPr>
            <a:r>
              <a:rPr sz="1899" spc="-25" dirty="0">
                <a:latin typeface="Calibri"/>
                <a:cs typeface="Calibri"/>
              </a:rPr>
              <a:t>DGX-</a:t>
            </a:r>
            <a:r>
              <a:rPr sz="1899" dirty="0">
                <a:latin typeface="Calibri"/>
                <a:cs typeface="Calibri"/>
              </a:rPr>
              <a:t>1</a:t>
            </a:r>
            <a:r>
              <a:rPr sz="1899" spc="-1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(Pascal),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spc="-25" dirty="0">
                <a:latin typeface="Calibri"/>
                <a:cs typeface="Calibri"/>
              </a:rPr>
              <a:t>DGX-</a:t>
            </a:r>
            <a:r>
              <a:rPr sz="1899" dirty="0">
                <a:latin typeface="Calibri"/>
                <a:cs typeface="Calibri"/>
              </a:rPr>
              <a:t>2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(Volta),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DGX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A100,</a:t>
            </a:r>
            <a:r>
              <a:rPr sz="1899" spc="-2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DGX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H100,</a:t>
            </a:r>
            <a:r>
              <a:rPr sz="1899" spc="-1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HGX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A100,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HGX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spc="-20" dirty="0">
                <a:latin typeface="Calibri"/>
                <a:cs typeface="Calibri"/>
              </a:rPr>
              <a:t>H100</a:t>
            </a:r>
            <a:endParaRPr sz="1899" dirty="0">
              <a:latin typeface="Calibri"/>
              <a:cs typeface="Calibri"/>
            </a:endParaRPr>
          </a:p>
          <a:p>
            <a:pPr marL="1153449" lvl="2" indent="-226627">
              <a:spcBef>
                <a:spcPts val="455"/>
              </a:spcBef>
              <a:buChar char="•"/>
              <a:tabLst>
                <a:tab pos="1153449" algn="l"/>
              </a:tabLst>
            </a:pPr>
            <a:r>
              <a:rPr sz="1899" dirty="0">
                <a:latin typeface="Calibri"/>
                <a:cs typeface="Calibri"/>
              </a:rPr>
              <a:t>Dedicated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DL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supercomputers</a:t>
            </a:r>
            <a:endParaRPr sz="1899" dirty="0">
              <a:latin typeface="Calibri"/>
              <a:cs typeface="Calibri"/>
            </a:endParaRPr>
          </a:p>
          <a:p>
            <a:pPr marL="1153449" lvl="2" indent="-226627">
              <a:spcBef>
                <a:spcPts val="455"/>
              </a:spcBef>
              <a:buChar char="•"/>
              <a:tabLst>
                <a:tab pos="1153449" algn="l"/>
              </a:tabLst>
            </a:pPr>
            <a:r>
              <a:rPr sz="1899" dirty="0">
                <a:latin typeface="Calibri"/>
                <a:cs typeface="Calibri"/>
              </a:rPr>
              <a:t>NVIDIA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Eos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–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An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Exaflop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AI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Supercomputer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using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DGX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H100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(Announced)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Sapphire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Rapids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Xeon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CPUs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have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52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cores/socket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(Aurora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–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#2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on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Top500)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AMD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EPYC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(Rome/Milan)</a:t>
            </a:r>
            <a:r>
              <a:rPr sz="1899" spc="-2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CPUs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have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64</a:t>
            </a:r>
            <a:r>
              <a:rPr sz="1899" spc="-6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cores/socket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(Frontier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–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#1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on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Top500)</a:t>
            </a:r>
            <a:endParaRPr sz="1899" dirty="0">
              <a:latin typeface="Calibri"/>
              <a:cs typeface="Calibri"/>
            </a:endParaRPr>
          </a:p>
          <a:p>
            <a:pPr marL="754788" marR="120614" lvl="1" indent="-285664">
              <a:spcBef>
                <a:spcPts val="459"/>
              </a:spcBef>
              <a:buChar char="–"/>
              <a:tabLst>
                <a:tab pos="754788" algn="l"/>
              </a:tabLst>
            </a:pPr>
            <a:r>
              <a:rPr sz="1899" dirty="0">
                <a:latin typeface="Calibri"/>
                <a:cs typeface="Calibri"/>
              </a:rPr>
              <a:t>AMD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Instinct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MI250X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GPUs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power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Frontier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–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the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#1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Top500</a:t>
            </a:r>
            <a:r>
              <a:rPr sz="1899" spc="-4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DOE’s</a:t>
            </a:r>
            <a:r>
              <a:rPr sz="1899" spc="-3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Exascale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System </a:t>
            </a:r>
            <a:r>
              <a:rPr sz="1899" dirty="0">
                <a:latin typeface="Calibri"/>
                <a:cs typeface="Calibri"/>
              </a:rPr>
              <a:t>at</a:t>
            </a:r>
            <a:r>
              <a:rPr sz="1899" spc="-20" dirty="0">
                <a:latin typeface="Calibri"/>
                <a:cs typeface="Calibri"/>
              </a:rPr>
              <a:t> ORNL</a:t>
            </a:r>
            <a:endParaRPr sz="1899" dirty="0">
              <a:latin typeface="Calibri"/>
              <a:cs typeface="Calibri"/>
            </a:endParaRPr>
          </a:p>
          <a:p>
            <a:pPr marL="754154" lvl="1" indent="-284395">
              <a:spcBef>
                <a:spcPts val="455"/>
              </a:spcBef>
              <a:buChar char="–"/>
              <a:tabLst>
                <a:tab pos="754154" algn="l"/>
              </a:tabLst>
            </a:pPr>
            <a:r>
              <a:rPr sz="1899" dirty="0">
                <a:latin typeface="Calibri"/>
                <a:cs typeface="Calibri"/>
              </a:rPr>
              <a:t>Domain</a:t>
            </a:r>
            <a:r>
              <a:rPr sz="1899" spc="-3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Specific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Accelerators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for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DNNs</a:t>
            </a:r>
            <a:r>
              <a:rPr sz="1899" spc="-45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are</a:t>
            </a:r>
            <a:r>
              <a:rPr sz="1899" spc="-50" dirty="0">
                <a:latin typeface="Calibri"/>
                <a:cs typeface="Calibri"/>
              </a:rPr>
              <a:t> </a:t>
            </a:r>
            <a:r>
              <a:rPr sz="1899" dirty="0">
                <a:latin typeface="Calibri"/>
                <a:cs typeface="Calibri"/>
              </a:rPr>
              <a:t>also</a:t>
            </a:r>
            <a:r>
              <a:rPr sz="1899" spc="-55" dirty="0">
                <a:latin typeface="Calibri"/>
                <a:cs typeface="Calibri"/>
              </a:rPr>
              <a:t> </a:t>
            </a:r>
            <a:r>
              <a:rPr sz="1899" spc="-10" dirty="0">
                <a:latin typeface="Calibri"/>
                <a:cs typeface="Calibri"/>
              </a:rPr>
              <a:t>emerging</a:t>
            </a:r>
            <a:endParaRPr sz="1899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82173" y="5749450"/>
            <a:ext cx="1835307" cy="84813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061" marR="5078" algn="ctr">
              <a:spcBef>
                <a:spcPts val="100"/>
              </a:spcBef>
            </a:pPr>
            <a:r>
              <a:rPr sz="1799" b="1" spc="-10" dirty="0">
                <a:solidFill>
                  <a:srgbClr val="0909FF"/>
                </a:solidFill>
                <a:latin typeface="Calibri"/>
                <a:cs typeface="Calibri"/>
              </a:rPr>
              <a:t>Accelerator/CP </a:t>
            </a:r>
            <a:r>
              <a:rPr sz="1799" b="1" dirty="0">
                <a:solidFill>
                  <a:srgbClr val="0909FF"/>
                </a:solidFill>
                <a:latin typeface="Calibri"/>
                <a:cs typeface="Calibri"/>
              </a:rPr>
              <a:t>Performance</a:t>
            </a:r>
            <a:r>
              <a:rPr sz="1799" b="1" spc="-8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1799" b="1" spc="-10" dirty="0">
                <a:solidFill>
                  <a:srgbClr val="0909FF"/>
                </a:solidFill>
                <a:latin typeface="Calibri"/>
                <a:cs typeface="Calibri"/>
              </a:rPr>
              <a:t>Share </a:t>
            </a:r>
            <a:r>
              <a:rPr sz="1799" b="1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www.top500.org</a:t>
            </a:r>
            <a:endParaRPr sz="1799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6213" y="551413"/>
            <a:ext cx="2203811" cy="20229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87138" y="2711930"/>
            <a:ext cx="1942593" cy="265678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79" y="1711274"/>
            <a:ext cx="5854431" cy="34448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468396" y="60674"/>
            <a:ext cx="12315327" cy="68992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Artificial</a:t>
            </a:r>
            <a:r>
              <a:rPr spc="-100" dirty="0"/>
              <a:t> </a:t>
            </a:r>
            <a:r>
              <a:rPr dirty="0"/>
              <a:t>Intelligence</a:t>
            </a:r>
            <a:r>
              <a:rPr spc="-75" dirty="0"/>
              <a:t> </a:t>
            </a:r>
            <a:r>
              <a:rPr dirty="0"/>
              <a:t>Use</a:t>
            </a:r>
            <a:r>
              <a:rPr spc="-100" dirty="0"/>
              <a:t> </a:t>
            </a:r>
            <a:r>
              <a:rPr dirty="0"/>
              <a:t>Cases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Growth</a:t>
            </a:r>
            <a:r>
              <a:rPr spc="-75" dirty="0"/>
              <a:t> </a:t>
            </a:r>
            <a:r>
              <a:rPr spc="-10" dirty="0"/>
              <a:t>Trends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6754" y="967734"/>
            <a:ext cx="5396126" cy="53650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8216" y="6280181"/>
            <a:ext cx="9118130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b="1" dirty="0">
                <a:solidFill>
                  <a:srgbClr val="0909FF"/>
                </a:solidFill>
                <a:latin typeface="Calibri"/>
                <a:cs typeface="Calibri"/>
              </a:rPr>
              <a:t>Courtesy:</a:t>
            </a:r>
            <a:r>
              <a:rPr sz="1600" b="1" spc="30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16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https://www.top500.org/news/market-for-</a:t>
            </a:r>
            <a:r>
              <a:rPr sz="1600" u="sng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artificial-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intelligence-</a:t>
            </a:r>
            <a:r>
              <a:rPr sz="16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projected-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to-</a:t>
            </a:r>
            <a:r>
              <a:rPr sz="1600" u="sng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hit-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36-</a:t>
            </a:r>
            <a:r>
              <a:rPr sz="1600" u="sng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billion-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by-2025/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40774" y="-20442"/>
            <a:ext cx="10360168" cy="68975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Three</a:t>
            </a:r>
            <a:r>
              <a:rPr spc="-90" dirty="0"/>
              <a:t> </a:t>
            </a:r>
            <a:r>
              <a:rPr dirty="0"/>
              <a:t>Main</a:t>
            </a:r>
            <a:r>
              <a:rPr spc="-65" dirty="0"/>
              <a:t> </a:t>
            </a:r>
            <a:r>
              <a:rPr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Machine</a:t>
            </a:r>
            <a:r>
              <a:rPr spc="-6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9696" y="311987"/>
            <a:ext cx="5024716" cy="6048070"/>
            <a:chOff x="1069975" y="311175"/>
            <a:chExt cx="5026025" cy="6049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32" y="311175"/>
              <a:ext cx="4488307" cy="35906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975" y="3570998"/>
              <a:ext cx="5026024" cy="278944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4301" y="669310"/>
            <a:ext cx="5024712" cy="57195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8529" y="6380500"/>
            <a:ext cx="10327490" cy="22820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Courtesy:</a:t>
            </a:r>
            <a:r>
              <a:rPr sz="1400" b="1" spc="140" dirty="0">
                <a:latin typeface="Calibri"/>
                <a:cs typeface="Calibri"/>
              </a:rPr>
              <a:t>  </a:t>
            </a:r>
            <a:r>
              <a:rPr sz="14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https://bigdata-</a:t>
            </a:r>
            <a:r>
              <a:rPr sz="14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madesimple.com/machine-learning-explained-</a:t>
            </a:r>
            <a:r>
              <a:rPr sz="14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understanding-</a:t>
            </a:r>
            <a:r>
              <a:rPr sz="14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supervised-unsupervised-and-</a:t>
            </a:r>
            <a:r>
              <a:rPr sz="14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reinforcement-</a:t>
            </a:r>
            <a:r>
              <a:rPr sz="14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5"/>
              </a:rPr>
              <a:t>learning/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170" y="1138970"/>
            <a:ext cx="1012751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54859" indent="-342162">
              <a:spcBef>
                <a:spcPts val="100"/>
              </a:spcBef>
              <a:buChar char="•"/>
              <a:tabLst>
                <a:tab pos="354859" algn="l"/>
              </a:tabLst>
            </a:pPr>
            <a:r>
              <a:rPr sz="2399" dirty="0">
                <a:latin typeface="Calibri"/>
                <a:cs typeface="Calibri"/>
              </a:rPr>
              <a:t>Example</a:t>
            </a:r>
            <a:r>
              <a:rPr sz="2399" spc="-5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of</a:t>
            </a:r>
            <a:r>
              <a:rPr sz="2399" spc="-2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3-</a:t>
            </a:r>
            <a:r>
              <a:rPr sz="2399" dirty="0">
                <a:latin typeface="Calibri"/>
                <a:cs typeface="Calibri"/>
              </a:rPr>
              <a:t>layer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Deep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Neural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Network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(DNN)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–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(input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layer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is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not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counted)</a:t>
            </a:r>
            <a:endParaRPr sz="2399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95439" y="137177"/>
            <a:ext cx="10360168" cy="68975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dirty="0"/>
              <a:t>So</a:t>
            </a:r>
            <a:r>
              <a:rPr spc="-55" dirty="0"/>
              <a:t> </a:t>
            </a: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Deep</a:t>
            </a:r>
            <a:r>
              <a:rPr spc="-40" dirty="0"/>
              <a:t> </a:t>
            </a:r>
            <a:r>
              <a:rPr dirty="0"/>
              <a:t>Neural</a:t>
            </a:r>
            <a:r>
              <a:rPr spc="-60" dirty="0"/>
              <a:t> </a:t>
            </a:r>
            <a:r>
              <a:rPr spc="-10" dirty="0"/>
              <a:t>Network?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292" y="1695492"/>
            <a:ext cx="8278243" cy="4029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1534" y="6163099"/>
            <a:ext cx="4460983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b="1" dirty="0">
                <a:solidFill>
                  <a:srgbClr val="0909FF"/>
                </a:solidFill>
                <a:latin typeface="Calibri"/>
                <a:cs typeface="Calibri"/>
              </a:rPr>
              <a:t>Courtesy:</a:t>
            </a:r>
            <a:r>
              <a:rPr sz="1600" b="1" spc="9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http://cs231n.github.io/neural-</a:t>
            </a:r>
            <a:r>
              <a:rPr sz="16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networks-</a:t>
            </a:r>
            <a:r>
              <a:rPr sz="1600" u="sng" spc="-25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3"/>
              </a:rPr>
              <a:t>1/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6759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64997" y="120268"/>
            <a:ext cx="11913082" cy="68992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80851">
              <a:spcBef>
                <a:spcPts val="100"/>
              </a:spcBef>
            </a:pPr>
            <a:r>
              <a:rPr spc="-10" dirty="0"/>
              <a:t>Graphical/Mathematical</a:t>
            </a:r>
            <a:r>
              <a:rPr spc="-80" dirty="0"/>
              <a:t> </a:t>
            </a:r>
            <a:r>
              <a:rPr dirty="0"/>
              <a:t>Intuitions</a:t>
            </a:r>
            <a:r>
              <a:rPr spc="-70" dirty="0"/>
              <a:t> </a:t>
            </a:r>
            <a:r>
              <a:rPr dirty="0"/>
              <a:t>for</a:t>
            </a:r>
            <a:r>
              <a:rPr spc="-105" dirty="0"/>
              <a:t> </a:t>
            </a:r>
            <a:r>
              <a:rPr spc="-20" dirty="0"/>
              <a:t>DNNs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567" y="1601590"/>
            <a:ext cx="12116454" cy="2982453"/>
            <a:chOff x="28575" y="1601114"/>
            <a:chExt cx="12119610" cy="2983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" y="1610639"/>
              <a:ext cx="6934199" cy="2935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337" y="1605876"/>
              <a:ext cx="6943725" cy="2973705"/>
            </a:xfrm>
            <a:custGeom>
              <a:avLst/>
              <a:gdLst/>
              <a:ahLst/>
              <a:cxnLst/>
              <a:rect l="l" t="t" r="r" b="b"/>
              <a:pathLst>
                <a:path w="6943725" h="2973704">
                  <a:moveTo>
                    <a:pt x="0" y="0"/>
                  </a:moveTo>
                  <a:lnTo>
                    <a:pt x="6943725" y="0"/>
                  </a:lnTo>
                  <a:lnTo>
                    <a:pt x="6943725" y="2973489"/>
                  </a:lnTo>
                  <a:lnTo>
                    <a:pt x="0" y="29734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1362" y="1610639"/>
              <a:ext cx="5146950" cy="29639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86587" y="1605876"/>
              <a:ext cx="5156835" cy="2973705"/>
            </a:xfrm>
            <a:custGeom>
              <a:avLst/>
              <a:gdLst/>
              <a:ahLst/>
              <a:cxnLst/>
              <a:rect l="l" t="t" r="r" b="b"/>
              <a:pathLst>
                <a:path w="5156834" h="2973704">
                  <a:moveTo>
                    <a:pt x="0" y="0"/>
                  </a:moveTo>
                  <a:lnTo>
                    <a:pt x="5156492" y="0"/>
                  </a:lnTo>
                  <a:lnTo>
                    <a:pt x="5156492" y="2973489"/>
                  </a:lnTo>
                  <a:lnTo>
                    <a:pt x="0" y="29734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47407" y="4796943"/>
            <a:ext cx="3281460" cy="33074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Drawing</a:t>
            </a:r>
            <a:r>
              <a:rPr sz="1999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999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999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Biological</a:t>
            </a:r>
            <a:r>
              <a:rPr sz="1999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Neuron</a:t>
            </a:r>
            <a:endParaRPr sz="1999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0143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8177483" y="4796943"/>
            <a:ext cx="2740581" cy="33074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999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Mathematical</a:t>
            </a:r>
            <a:r>
              <a:rPr sz="1999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99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</a:t>
            </a:r>
            <a:r>
              <a:rPr sz="1999" b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99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3554" y="6099596"/>
            <a:ext cx="4460983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b="1" dirty="0">
                <a:solidFill>
                  <a:srgbClr val="0909FF"/>
                </a:solidFill>
                <a:latin typeface="Calibri"/>
                <a:cs typeface="Calibri"/>
              </a:rPr>
              <a:t>Courtesy:</a:t>
            </a:r>
            <a:r>
              <a:rPr sz="1600" b="1" spc="9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http://cs231n.github.io/neural-</a:t>
            </a:r>
            <a:r>
              <a:rPr sz="1600" u="sng" spc="-2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networks-</a:t>
            </a:r>
            <a:r>
              <a:rPr sz="1600" u="sng" spc="-25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"/>
                <a:cs typeface="Calibri"/>
                <a:hlinkClick r:id="rId4"/>
              </a:rPr>
              <a:t>1/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54" y="188416"/>
            <a:ext cx="10360168" cy="545391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394217">
              <a:spcBef>
                <a:spcPts val="114"/>
              </a:spcBef>
            </a:pPr>
            <a:r>
              <a:rPr sz="3449" dirty="0"/>
              <a:t>Key</a:t>
            </a:r>
            <a:r>
              <a:rPr sz="3449" spc="-20" dirty="0"/>
              <a:t> </a:t>
            </a:r>
            <a:r>
              <a:rPr sz="3449" dirty="0"/>
              <a:t>Phases</a:t>
            </a:r>
            <a:r>
              <a:rPr sz="3449" spc="15" dirty="0"/>
              <a:t> </a:t>
            </a:r>
            <a:r>
              <a:rPr sz="3449" dirty="0"/>
              <a:t>of Deep</a:t>
            </a:r>
            <a:r>
              <a:rPr sz="3449" spc="5" dirty="0"/>
              <a:t> </a:t>
            </a:r>
            <a:r>
              <a:rPr sz="3449" spc="-10" dirty="0"/>
              <a:t>Learning</a:t>
            </a:r>
            <a:endParaRPr sz="344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5936" y="1614019"/>
            <a:ext cx="7227452" cy="31075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18383" y="4742376"/>
            <a:ext cx="3190679" cy="258337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1600" spc="-10" dirty="0">
                <a:solidFill>
                  <a:srgbClr val="0909FF"/>
                </a:solidFill>
                <a:latin typeface="Calibri Light"/>
                <a:cs typeface="Calibri Light"/>
              </a:rPr>
              <a:t>Courtesy:</a:t>
            </a:r>
            <a:r>
              <a:rPr sz="1600" spc="-5" dirty="0">
                <a:solidFill>
                  <a:srgbClr val="0909FF"/>
                </a:solidFill>
                <a:latin typeface="Calibri Light"/>
                <a:cs typeface="Calibri Light"/>
              </a:rPr>
              <a:t> </a:t>
            </a:r>
            <a:r>
              <a:rPr sz="1600" u="sng" spc="-10" dirty="0">
                <a:solidFill>
                  <a:srgbClr val="330099"/>
                </a:solidFill>
                <a:uFill>
                  <a:solidFill>
                    <a:srgbClr val="330099"/>
                  </a:solidFill>
                </a:uFill>
                <a:latin typeface="Calibri Light"/>
                <a:cs typeface="Calibri Light"/>
                <a:hlinkClick r:id="rId3"/>
              </a:rPr>
              <a:t>https://devblogs.nvidia.com/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51578" y="6685776"/>
            <a:ext cx="284607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Network</a:t>
            </a:r>
            <a:r>
              <a:rPr lang="en-US" spc="-35"/>
              <a:t> </a:t>
            </a:r>
            <a:r>
              <a:rPr lang="en-US"/>
              <a:t>Based</a:t>
            </a:r>
            <a:r>
              <a:rPr lang="en-US" spc="-30"/>
              <a:t> </a:t>
            </a:r>
            <a:r>
              <a:rPr lang="en-US"/>
              <a:t>Computing</a:t>
            </a:r>
            <a:r>
              <a:rPr lang="en-US" spc="-50"/>
              <a:t> </a:t>
            </a:r>
            <a:r>
              <a:rPr lang="en-US" spc="-10"/>
              <a:t>Laboratory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833609" y="6676328"/>
            <a:ext cx="435610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696">
              <a:lnSpc>
                <a:spcPts val="1435"/>
              </a:lnSpc>
            </a:pPr>
            <a:r>
              <a:rPr lang="en-US" spc="-10"/>
              <a:t>SC’24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846931" y="6689846"/>
            <a:ext cx="29717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0143">
              <a:lnSpc>
                <a:spcPts val="1240"/>
              </a:lnSpc>
            </a:pPr>
            <a:fld id="{81D60167-4931-47E6-BA6A-407CBD079E47}" type="slidenum">
              <a:rPr lang="en-US" spc="-50" smtClean="0"/>
              <a:pPr marL="16764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516331" y="733807"/>
            <a:ext cx="4394960" cy="3781204"/>
          </a:xfrm>
          <a:prstGeom prst="rect">
            <a:avLst/>
          </a:prstGeom>
        </p:spPr>
        <p:txBody>
          <a:bodyPr vert="horz" wrap="square" lIns="0" tIns="182832" rIns="0" bIns="0" rtlCol="0">
            <a:spAutoFit/>
          </a:bodyPr>
          <a:lstStyle/>
          <a:p>
            <a:pPr marL="354859" indent="-342162">
              <a:spcBef>
                <a:spcPts val="1440"/>
              </a:spcBef>
              <a:buChar char="•"/>
              <a:tabLst>
                <a:tab pos="354859" algn="l"/>
              </a:tabLst>
            </a:pPr>
            <a:r>
              <a:rPr sz="2649" dirty="0">
                <a:latin typeface="Calibri"/>
                <a:cs typeface="Calibri"/>
              </a:rPr>
              <a:t>Training</a:t>
            </a:r>
            <a:r>
              <a:rPr sz="2649" spc="-15" dirty="0">
                <a:latin typeface="Calibri"/>
                <a:cs typeface="Calibri"/>
              </a:rPr>
              <a:t> </a:t>
            </a:r>
            <a:r>
              <a:rPr sz="2649" dirty="0">
                <a:latin typeface="Calibri"/>
                <a:cs typeface="Calibri"/>
              </a:rPr>
              <a:t>is</a:t>
            </a:r>
            <a:r>
              <a:rPr sz="2649" spc="-10" dirty="0">
                <a:latin typeface="Calibri"/>
                <a:cs typeface="Calibri"/>
              </a:rPr>
              <a:t> </a:t>
            </a:r>
            <a:r>
              <a:rPr sz="2649" dirty="0">
                <a:latin typeface="Calibri"/>
                <a:cs typeface="Calibri"/>
              </a:rPr>
              <a:t>compute</a:t>
            </a:r>
            <a:r>
              <a:rPr sz="2649" spc="-20" dirty="0">
                <a:latin typeface="Calibri"/>
                <a:cs typeface="Calibri"/>
              </a:rPr>
              <a:t> </a:t>
            </a:r>
            <a:r>
              <a:rPr sz="2649" spc="-10" dirty="0">
                <a:latin typeface="Calibri"/>
                <a:cs typeface="Calibri"/>
              </a:rPr>
              <a:t>intensive</a:t>
            </a:r>
            <a:endParaRPr sz="2649" dirty="0">
              <a:latin typeface="Calibri"/>
              <a:cs typeface="Calibri"/>
            </a:endParaRPr>
          </a:p>
          <a:p>
            <a:pPr marL="756058" lvl="1" indent="-286299">
              <a:spcBef>
                <a:spcPts val="1195"/>
              </a:spcBef>
              <a:buChar char="–"/>
              <a:tabLst>
                <a:tab pos="756058" algn="l"/>
              </a:tabLst>
            </a:pPr>
            <a:r>
              <a:rPr sz="2399" dirty="0">
                <a:latin typeface="Calibri"/>
                <a:cs typeface="Calibri"/>
              </a:rPr>
              <a:t>Many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passes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over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20" dirty="0">
                <a:latin typeface="Calibri"/>
                <a:cs typeface="Calibri"/>
              </a:rPr>
              <a:t>data</a:t>
            </a:r>
            <a:endParaRPr sz="2399" dirty="0">
              <a:latin typeface="Calibri"/>
              <a:cs typeface="Calibri"/>
            </a:endParaRPr>
          </a:p>
          <a:p>
            <a:pPr marL="756058" lvl="1" indent="-286299">
              <a:spcBef>
                <a:spcPts val="1155"/>
              </a:spcBef>
              <a:buChar char="–"/>
              <a:tabLst>
                <a:tab pos="756058" algn="l"/>
              </a:tabLst>
            </a:pPr>
            <a:r>
              <a:rPr sz="2399" dirty="0">
                <a:latin typeface="Calibri"/>
                <a:cs typeface="Calibri"/>
              </a:rPr>
              <a:t>Can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take</a:t>
            </a:r>
            <a:r>
              <a:rPr sz="2399" spc="-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days</a:t>
            </a:r>
            <a:r>
              <a:rPr sz="2399" spc="-3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to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spc="-20" dirty="0">
                <a:latin typeface="Calibri"/>
                <a:cs typeface="Calibri"/>
              </a:rPr>
              <a:t>weeks</a:t>
            </a:r>
            <a:endParaRPr sz="2399" dirty="0">
              <a:latin typeface="Calibri"/>
              <a:cs typeface="Calibri"/>
            </a:endParaRPr>
          </a:p>
          <a:p>
            <a:pPr marL="756058" lvl="1" indent="-286299">
              <a:spcBef>
                <a:spcPts val="1150"/>
              </a:spcBef>
              <a:buChar char="–"/>
              <a:tabLst>
                <a:tab pos="756058" algn="l"/>
              </a:tabLst>
            </a:pPr>
            <a:r>
              <a:rPr sz="2399" dirty="0">
                <a:latin typeface="Calibri"/>
                <a:cs typeface="Calibri"/>
              </a:rPr>
              <a:t>Model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adjustment</a:t>
            </a:r>
            <a:r>
              <a:rPr sz="2399" spc="-5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is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spc="-20" dirty="0">
                <a:latin typeface="Calibri"/>
                <a:cs typeface="Calibri"/>
              </a:rPr>
              <a:t>done</a:t>
            </a:r>
            <a:endParaRPr sz="2399" dirty="0">
              <a:latin typeface="Calibri"/>
              <a:cs typeface="Calibri"/>
            </a:endParaRPr>
          </a:p>
          <a:p>
            <a:pPr marL="354859" indent="-342162">
              <a:spcBef>
                <a:spcPts val="1250"/>
              </a:spcBef>
              <a:buChar char="•"/>
              <a:tabLst>
                <a:tab pos="354859" algn="l"/>
              </a:tabLst>
            </a:pPr>
            <a:r>
              <a:rPr sz="2649" spc="-10" dirty="0">
                <a:latin typeface="Calibri"/>
                <a:cs typeface="Calibri"/>
              </a:rPr>
              <a:t>Inference</a:t>
            </a:r>
            <a:endParaRPr sz="2649" dirty="0">
              <a:latin typeface="Calibri"/>
              <a:cs typeface="Calibri"/>
            </a:endParaRPr>
          </a:p>
          <a:p>
            <a:pPr marL="756058" lvl="1" indent="-286299">
              <a:spcBef>
                <a:spcPts val="1200"/>
              </a:spcBef>
              <a:buChar char="–"/>
              <a:tabLst>
                <a:tab pos="756058" algn="l"/>
              </a:tabLst>
            </a:pPr>
            <a:r>
              <a:rPr sz="2399" dirty="0">
                <a:latin typeface="Calibri"/>
                <a:cs typeface="Calibri"/>
              </a:rPr>
              <a:t>Single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pass</a:t>
            </a:r>
            <a:r>
              <a:rPr sz="2399" spc="-4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over</a:t>
            </a:r>
            <a:r>
              <a:rPr sz="2399" spc="-2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the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20" dirty="0">
                <a:latin typeface="Calibri"/>
                <a:cs typeface="Calibri"/>
              </a:rPr>
              <a:t>data</a:t>
            </a:r>
            <a:endParaRPr sz="2399" dirty="0">
              <a:latin typeface="Calibri"/>
              <a:cs typeface="Calibri"/>
            </a:endParaRPr>
          </a:p>
          <a:p>
            <a:pPr marL="756058" lvl="1" indent="-286299">
              <a:spcBef>
                <a:spcPts val="1150"/>
              </a:spcBef>
              <a:buChar char="–"/>
              <a:tabLst>
                <a:tab pos="756058" algn="l"/>
              </a:tabLst>
            </a:pPr>
            <a:r>
              <a:rPr sz="2399" dirty="0">
                <a:latin typeface="Calibri"/>
                <a:cs typeface="Calibri"/>
              </a:rPr>
              <a:t>Should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take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seconds</a:t>
            </a:r>
            <a:endParaRPr sz="2399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331" y="4445094"/>
            <a:ext cx="6257565" cy="1615654"/>
          </a:xfrm>
          <a:prstGeom prst="rect">
            <a:avLst/>
          </a:prstGeom>
        </p:spPr>
        <p:txBody>
          <a:bodyPr vert="horz" wrap="square" lIns="0" tIns="155534" rIns="0" bIns="0" rtlCol="0">
            <a:spAutoFit/>
          </a:bodyPr>
          <a:lstStyle/>
          <a:p>
            <a:pPr marL="469759">
              <a:spcBef>
                <a:spcPts val="1225"/>
              </a:spcBef>
              <a:tabLst>
                <a:tab pos="756058" algn="l"/>
              </a:tabLst>
            </a:pPr>
            <a:r>
              <a:rPr sz="2399" spc="-50" dirty="0">
                <a:latin typeface="Calibri"/>
                <a:cs typeface="Calibri"/>
              </a:rPr>
              <a:t>–</a:t>
            </a:r>
            <a:r>
              <a:rPr sz="2399" dirty="0">
                <a:latin typeface="Calibri"/>
                <a:cs typeface="Calibri"/>
              </a:rPr>
              <a:t>	No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model</a:t>
            </a:r>
            <a:r>
              <a:rPr sz="2399" spc="-3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adjustment</a:t>
            </a:r>
            <a:endParaRPr sz="2399">
              <a:latin typeface="Calibri"/>
              <a:cs typeface="Calibri"/>
            </a:endParaRPr>
          </a:p>
          <a:p>
            <a:pPr marL="354859" indent="-342162">
              <a:spcBef>
                <a:spcPts val="1260"/>
              </a:spcBef>
              <a:buChar char="•"/>
              <a:tabLst>
                <a:tab pos="354859" algn="l"/>
              </a:tabLst>
            </a:pPr>
            <a:r>
              <a:rPr sz="2649" dirty="0">
                <a:latin typeface="Calibri"/>
                <a:cs typeface="Calibri"/>
              </a:rPr>
              <a:t>Challenge:</a:t>
            </a:r>
            <a:r>
              <a:rPr sz="2649" spc="-15" dirty="0">
                <a:latin typeface="Calibri"/>
                <a:cs typeface="Calibri"/>
              </a:rPr>
              <a:t> </a:t>
            </a:r>
            <a:r>
              <a:rPr sz="2649" dirty="0">
                <a:latin typeface="Calibri"/>
                <a:cs typeface="Calibri"/>
              </a:rPr>
              <a:t>How to</a:t>
            </a:r>
            <a:r>
              <a:rPr sz="2649" spc="-5" dirty="0">
                <a:latin typeface="Calibri"/>
                <a:cs typeface="Calibri"/>
              </a:rPr>
              <a:t> </a:t>
            </a:r>
            <a:r>
              <a:rPr sz="2649" dirty="0">
                <a:latin typeface="Calibri"/>
                <a:cs typeface="Calibri"/>
              </a:rPr>
              <a:t>make</a:t>
            </a:r>
            <a:r>
              <a:rPr sz="2649" spc="-15" dirty="0">
                <a:latin typeface="Calibri"/>
                <a:cs typeface="Calibri"/>
              </a:rPr>
              <a:t> </a:t>
            </a:r>
            <a:r>
              <a:rPr sz="2649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“Training”</a:t>
            </a:r>
            <a:r>
              <a:rPr sz="2649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49" spc="-10" dirty="0">
                <a:latin typeface="Calibri"/>
                <a:cs typeface="Calibri"/>
              </a:rPr>
              <a:t>faster?</a:t>
            </a:r>
            <a:endParaRPr sz="2649">
              <a:latin typeface="Calibri"/>
              <a:cs typeface="Calibri"/>
            </a:endParaRPr>
          </a:p>
          <a:p>
            <a:pPr marL="469759">
              <a:spcBef>
                <a:spcPts val="1200"/>
              </a:spcBef>
              <a:tabLst>
                <a:tab pos="756058" algn="l"/>
              </a:tabLst>
            </a:pPr>
            <a:r>
              <a:rPr sz="2399" spc="-50" dirty="0">
                <a:latin typeface="Calibri"/>
                <a:cs typeface="Calibri"/>
              </a:rPr>
              <a:t>–</a:t>
            </a:r>
            <a:r>
              <a:rPr sz="2399" dirty="0">
                <a:latin typeface="Calibri"/>
                <a:cs typeface="Calibri"/>
              </a:rPr>
              <a:t>	Need</a:t>
            </a:r>
            <a:r>
              <a:rPr sz="2399" spc="-65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Parallel</a:t>
            </a:r>
            <a:r>
              <a:rPr sz="2399" spc="-7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and</a:t>
            </a:r>
            <a:r>
              <a:rPr sz="2399" spc="-60" dirty="0">
                <a:latin typeface="Calibri"/>
                <a:cs typeface="Calibri"/>
              </a:rPr>
              <a:t> </a:t>
            </a:r>
            <a:r>
              <a:rPr sz="2399" dirty="0">
                <a:latin typeface="Calibri"/>
                <a:cs typeface="Calibri"/>
              </a:rPr>
              <a:t>Distributed</a:t>
            </a:r>
            <a:r>
              <a:rPr sz="2399" spc="-75" dirty="0">
                <a:latin typeface="Calibri"/>
                <a:cs typeface="Calibri"/>
              </a:rPr>
              <a:t> </a:t>
            </a:r>
            <a:r>
              <a:rPr sz="2399" spc="-10" dirty="0">
                <a:latin typeface="Calibri"/>
                <a:cs typeface="Calibri"/>
              </a:rPr>
              <a:t>Training…</a:t>
            </a:r>
            <a:endParaRPr sz="2399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82C61-5120-AF7C-53A0-415C4627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CD7915-1694-FEA7-3DD2-BB4D4AF99FF8}"/>
              </a:ext>
            </a:extLst>
          </p:cNvPr>
          <p:cNvSpPr txBox="1">
            <a:spLocks/>
          </p:cNvSpPr>
          <p:nvPr/>
        </p:nvSpPr>
        <p:spPr>
          <a:xfrm>
            <a:off x="891539" y="333756"/>
            <a:ext cx="10335895" cy="765208"/>
          </a:xfrm>
          <a:prstGeom prst="rect">
            <a:avLst/>
          </a:prstGeom>
        </p:spPr>
        <p:txBody>
          <a:bodyPr vert="horz" wrap="square" lIns="0" tIns="23215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 algn="l">
              <a:spcBef>
                <a:spcPts val="100"/>
              </a:spcBef>
            </a:pPr>
            <a:r>
              <a:rPr lang="en-US" sz="3449" dirty="0">
                <a:solidFill>
                  <a:srgbClr val="DC4400"/>
                </a:solidFill>
                <a:latin typeface="Impact"/>
              </a:rPr>
              <a:t>Content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C063D3-BF8B-A35E-19AD-75F03FEB2210}"/>
              </a:ext>
            </a:extLst>
          </p:cNvPr>
          <p:cNvSpPr txBox="1"/>
          <p:nvPr/>
        </p:nvSpPr>
        <p:spPr>
          <a:xfrm>
            <a:off x="916939" y="1480819"/>
            <a:ext cx="8696325" cy="1864613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240029" algn="l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What is a Deep Neural Network?</a:t>
            </a:r>
          </a:p>
          <a:p>
            <a:pPr marL="240029" indent="-227329">
              <a:lnSpc>
                <a:spcPct val="100000"/>
              </a:lnSpc>
              <a:spcBef>
                <a:spcPts val="82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Stochastic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Gradient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Descent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Backpropagation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Automatic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Differentiation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Applications: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Overview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Neural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Networks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9509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513" y="278600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Deep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9643138" cy="1314743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Collection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simple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trainable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mathematical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units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that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work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together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to 	</a:t>
            </a:r>
            <a:r>
              <a:rPr sz="2399" dirty="0">
                <a:latin typeface="Arial MT"/>
                <a:cs typeface="Arial MT"/>
              </a:rPr>
              <a:t>solve</a:t>
            </a:r>
            <a:r>
              <a:rPr sz="2399" spc="-1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complicated</a:t>
            </a:r>
            <a:r>
              <a:rPr sz="2399" spc="-10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tasks</a:t>
            </a:r>
            <a:endParaRPr sz="2399">
              <a:latin typeface="Arial MT"/>
              <a:cs typeface="Arial MT"/>
            </a:endParaRPr>
          </a:p>
          <a:p>
            <a:pPr marL="582120" algn="ctr">
              <a:spcBef>
                <a:spcPts val="1724"/>
              </a:spcBef>
            </a:pPr>
            <a:r>
              <a:rPr sz="2399" b="1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2399" b="1" spc="-1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5B9BD5"/>
                </a:solidFill>
                <a:latin typeface="Arial"/>
                <a:cs typeface="Arial"/>
              </a:rPr>
              <a:t>tensor</a:t>
            </a:r>
            <a:r>
              <a:rPr sz="2399" b="1" spc="-4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5B9BD5"/>
                </a:solidFill>
                <a:latin typeface="Arial"/>
                <a:cs typeface="Arial"/>
              </a:rPr>
              <a:t>(i.e.,</a:t>
            </a:r>
            <a:r>
              <a:rPr sz="2399" b="1" spc="-5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399" b="1" i="1" spc="-10" dirty="0">
                <a:solidFill>
                  <a:srgbClr val="5B9BD5"/>
                </a:solidFill>
                <a:latin typeface="Arial"/>
                <a:cs typeface="Arial"/>
              </a:rPr>
              <a:t>n</a:t>
            </a:r>
            <a:r>
              <a:rPr sz="2399" b="1" spc="-10" dirty="0">
                <a:solidFill>
                  <a:srgbClr val="5B9BD5"/>
                </a:solidFill>
                <a:latin typeface="Arial"/>
                <a:cs typeface="Arial"/>
              </a:rPr>
              <a:t>-</a:t>
            </a:r>
            <a:r>
              <a:rPr sz="2399" b="1" dirty="0">
                <a:solidFill>
                  <a:srgbClr val="5B9BD5"/>
                </a:solidFill>
                <a:latin typeface="Arial"/>
                <a:cs typeface="Arial"/>
              </a:rPr>
              <a:t>dimensional</a:t>
            </a:r>
            <a:r>
              <a:rPr sz="2399" b="1" spc="-5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5B9BD5"/>
                </a:solidFill>
                <a:latin typeface="Arial"/>
                <a:cs typeface="Arial"/>
              </a:rPr>
              <a:t>array)</a:t>
            </a:r>
            <a:endParaRPr sz="2399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4027" y="2990000"/>
            <a:ext cx="10514766" cy="3188774"/>
            <a:chOff x="844247" y="2989885"/>
            <a:chExt cx="10517505" cy="3189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47" y="2989885"/>
              <a:ext cx="10517449" cy="31889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50247" y="4103257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0" y="0"/>
                  </a:moveTo>
                  <a:lnTo>
                    <a:pt x="185547" y="0"/>
                  </a:lnTo>
                  <a:lnTo>
                    <a:pt x="185547" y="417533"/>
                  </a:lnTo>
                  <a:lnTo>
                    <a:pt x="0" y="417533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" name="object 7"/>
            <p:cNvSpPr/>
            <p:nvPr/>
          </p:nvSpPr>
          <p:spPr>
            <a:xfrm>
              <a:off x="4152902" y="4508896"/>
              <a:ext cx="405130" cy="500380"/>
            </a:xfrm>
            <a:custGeom>
              <a:avLst/>
              <a:gdLst/>
              <a:ahLst/>
              <a:cxnLst/>
              <a:rect l="l" t="t" r="r" b="b"/>
              <a:pathLst>
                <a:path w="405129" h="500379">
                  <a:moveTo>
                    <a:pt x="44528" y="291735"/>
                  </a:moveTo>
                  <a:lnTo>
                    <a:pt x="0" y="500014"/>
                  </a:lnTo>
                  <a:lnTo>
                    <a:pt x="193339" y="410669"/>
                  </a:lnTo>
                  <a:lnTo>
                    <a:pt x="152434" y="377977"/>
                  </a:lnTo>
                  <a:lnTo>
                    <a:pt x="121921" y="377977"/>
                  </a:lnTo>
                  <a:lnTo>
                    <a:pt x="92158" y="354190"/>
                  </a:lnTo>
                  <a:lnTo>
                    <a:pt x="104052" y="339308"/>
                  </a:lnTo>
                  <a:lnTo>
                    <a:pt x="44528" y="291735"/>
                  </a:lnTo>
                  <a:close/>
                </a:path>
                <a:path w="405129" h="500379">
                  <a:moveTo>
                    <a:pt x="104052" y="339308"/>
                  </a:moveTo>
                  <a:lnTo>
                    <a:pt x="92158" y="354190"/>
                  </a:lnTo>
                  <a:lnTo>
                    <a:pt x="121921" y="377977"/>
                  </a:lnTo>
                  <a:lnTo>
                    <a:pt x="133815" y="363095"/>
                  </a:lnTo>
                  <a:lnTo>
                    <a:pt x="104052" y="339308"/>
                  </a:lnTo>
                  <a:close/>
                </a:path>
                <a:path w="405129" h="500379">
                  <a:moveTo>
                    <a:pt x="133815" y="363095"/>
                  </a:moveTo>
                  <a:lnTo>
                    <a:pt x="121921" y="377977"/>
                  </a:lnTo>
                  <a:lnTo>
                    <a:pt x="152434" y="377977"/>
                  </a:lnTo>
                  <a:lnTo>
                    <a:pt x="133815" y="363095"/>
                  </a:lnTo>
                  <a:close/>
                </a:path>
                <a:path w="405129" h="500379">
                  <a:moveTo>
                    <a:pt x="375238" y="0"/>
                  </a:moveTo>
                  <a:lnTo>
                    <a:pt x="104052" y="339308"/>
                  </a:lnTo>
                  <a:lnTo>
                    <a:pt x="133815" y="363095"/>
                  </a:lnTo>
                  <a:lnTo>
                    <a:pt x="405000" y="23787"/>
                  </a:lnTo>
                  <a:lnTo>
                    <a:pt x="375238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26088" y="4976473"/>
            <a:ext cx="4353696" cy="759897"/>
          </a:xfrm>
          <a:prstGeom prst="rect">
            <a:avLst/>
          </a:prstGeom>
        </p:spPr>
        <p:txBody>
          <a:bodyPr vert="horz" wrap="square" lIns="0" tIns="9523" rIns="0" bIns="0" rtlCol="0">
            <a:spAutoFit/>
          </a:bodyPr>
          <a:lstStyle/>
          <a:p>
            <a:pPr marL="12696" marR="5078">
              <a:lnSpc>
                <a:spcPct val="100800"/>
              </a:lnSpc>
              <a:spcBef>
                <a:spcPts val="75"/>
              </a:spcBef>
            </a:pP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A</a:t>
            </a:r>
            <a:r>
              <a:rPr sz="2399" b="1" spc="-135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tensor</a:t>
            </a:r>
            <a:r>
              <a:rPr sz="2399" b="1" spc="-55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algebra</a:t>
            </a:r>
            <a:r>
              <a:rPr sz="2399" b="1" spc="-55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70AD47"/>
                </a:solidFill>
                <a:latin typeface="Arial"/>
                <a:cs typeface="Arial"/>
              </a:rPr>
              <a:t>operator </a:t>
            </a: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(e.g.,</a:t>
            </a:r>
            <a:r>
              <a:rPr sz="2399" b="1" spc="-70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convolution,</a:t>
            </a:r>
            <a:r>
              <a:rPr sz="2399" b="1" spc="-70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matrix</a:t>
            </a:r>
            <a:r>
              <a:rPr sz="2399" b="1" spc="-60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spc="-20" dirty="0">
                <a:solidFill>
                  <a:srgbClr val="70AD47"/>
                </a:solidFill>
                <a:latin typeface="Arial"/>
                <a:cs typeface="Arial"/>
              </a:rPr>
              <a:t>mul)</a:t>
            </a:r>
            <a:endParaRPr sz="2399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55466" y="2923534"/>
            <a:ext cx="594205" cy="838617"/>
            <a:chOff x="3856471" y="2923402"/>
            <a:chExt cx="594360" cy="838835"/>
          </a:xfrm>
        </p:grpSpPr>
        <p:sp>
          <p:nvSpPr>
            <p:cNvPr id="10" name="object 10"/>
            <p:cNvSpPr/>
            <p:nvPr/>
          </p:nvSpPr>
          <p:spPr>
            <a:xfrm>
              <a:off x="3875521" y="3429308"/>
              <a:ext cx="277495" cy="313690"/>
            </a:xfrm>
            <a:custGeom>
              <a:avLst/>
              <a:gdLst/>
              <a:ahLst/>
              <a:cxnLst/>
              <a:rect l="l" t="t" r="r" b="b"/>
              <a:pathLst>
                <a:path w="277495" h="313689">
                  <a:moveTo>
                    <a:pt x="0" y="0"/>
                  </a:moveTo>
                  <a:lnTo>
                    <a:pt x="277377" y="0"/>
                  </a:lnTo>
                  <a:lnTo>
                    <a:pt x="277377" y="313606"/>
                  </a:lnTo>
                  <a:lnTo>
                    <a:pt x="0" y="313606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9781" y="2923402"/>
              <a:ext cx="450850" cy="518795"/>
            </a:xfrm>
            <a:custGeom>
              <a:avLst/>
              <a:gdLst/>
              <a:ahLst/>
              <a:cxnLst/>
              <a:rect l="l" t="t" r="r" b="b"/>
              <a:pathLst>
                <a:path w="450850" h="518795">
                  <a:moveTo>
                    <a:pt x="311666" y="131862"/>
                  </a:moveTo>
                  <a:lnTo>
                    <a:pt x="0" y="493468"/>
                  </a:lnTo>
                  <a:lnTo>
                    <a:pt x="28859" y="518342"/>
                  </a:lnTo>
                  <a:lnTo>
                    <a:pt x="340526" y="156736"/>
                  </a:lnTo>
                  <a:lnTo>
                    <a:pt x="311666" y="131862"/>
                  </a:lnTo>
                  <a:close/>
                </a:path>
                <a:path w="450850" h="518795">
                  <a:moveTo>
                    <a:pt x="420767" y="117431"/>
                  </a:moveTo>
                  <a:lnTo>
                    <a:pt x="324103" y="117431"/>
                  </a:lnTo>
                  <a:lnTo>
                    <a:pt x="352963" y="142306"/>
                  </a:lnTo>
                  <a:lnTo>
                    <a:pt x="340526" y="156736"/>
                  </a:lnTo>
                  <a:lnTo>
                    <a:pt x="398246" y="206484"/>
                  </a:lnTo>
                  <a:lnTo>
                    <a:pt x="420767" y="117431"/>
                  </a:lnTo>
                  <a:close/>
                </a:path>
                <a:path w="450850" h="518795">
                  <a:moveTo>
                    <a:pt x="324103" y="117431"/>
                  </a:moveTo>
                  <a:lnTo>
                    <a:pt x="311666" y="131862"/>
                  </a:lnTo>
                  <a:lnTo>
                    <a:pt x="340526" y="156736"/>
                  </a:lnTo>
                  <a:lnTo>
                    <a:pt x="352963" y="142306"/>
                  </a:lnTo>
                  <a:lnTo>
                    <a:pt x="324103" y="117431"/>
                  </a:lnTo>
                  <a:close/>
                </a:path>
                <a:path w="450850" h="518795">
                  <a:moveTo>
                    <a:pt x="450466" y="0"/>
                  </a:moveTo>
                  <a:lnTo>
                    <a:pt x="253946" y="82114"/>
                  </a:lnTo>
                  <a:lnTo>
                    <a:pt x="311666" y="131862"/>
                  </a:lnTo>
                  <a:lnTo>
                    <a:pt x="324103" y="117431"/>
                  </a:lnTo>
                  <a:lnTo>
                    <a:pt x="420767" y="117431"/>
                  </a:lnTo>
                  <a:lnTo>
                    <a:pt x="450466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-3" y="893"/>
            <a:ext cx="5789183" cy="911470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4400" dirty="0">
                <a:solidFill>
                  <a:srgbClr val="DC4400"/>
                </a:solidFill>
                <a:latin typeface="Impact"/>
              </a:rPr>
              <a:t>DNN Training Overview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964" y="1572685"/>
            <a:ext cx="8490215" cy="47256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179" y="8821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Gradient</a:t>
            </a:r>
            <a:r>
              <a:rPr spc="-55" dirty="0"/>
              <a:t> </a:t>
            </a:r>
            <a:r>
              <a:rPr dirty="0"/>
              <a:t>Descent</a:t>
            </a:r>
            <a:r>
              <a:rPr spc="-60" dirty="0"/>
              <a:t> </a:t>
            </a:r>
            <a:r>
              <a:rPr spc="-20" dirty="0"/>
              <a:t>(GD)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3790" y="1118034"/>
            <a:ext cx="10360168" cy="1269551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12696">
              <a:spcBef>
                <a:spcPts val="820"/>
              </a:spcBef>
            </a:pPr>
            <a:r>
              <a:rPr sz="2400" dirty="0"/>
              <a:t>Train</a:t>
            </a:r>
            <a:r>
              <a:rPr sz="2400" spc="-65" dirty="0"/>
              <a:t> </a:t>
            </a:r>
            <a:r>
              <a:rPr sz="2400" dirty="0"/>
              <a:t>ML</a:t>
            </a:r>
            <a:r>
              <a:rPr sz="2400" spc="-150" dirty="0"/>
              <a:t> </a:t>
            </a:r>
            <a:r>
              <a:rPr sz="2400" dirty="0"/>
              <a:t>models</a:t>
            </a:r>
            <a:r>
              <a:rPr sz="2400" spc="-65" dirty="0"/>
              <a:t> </a:t>
            </a:r>
            <a:r>
              <a:rPr sz="2400" dirty="0"/>
              <a:t>through</a:t>
            </a:r>
            <a:r>
              <a:rPr sz="2400" spc="-65" dirty="0"/>
              <a:t> </a:t>
            </a:r>
            <a:r>
              <a:rPr sz="2400" dirty="0"/>
              <a:t>many</a:t>
            </a:r>
            <a:r>
              <a:rPr sz="2400" spc="-65" dirty="0"/>
              <a:t> </a:t>
            </a:r>
            <a:r>
              <a:rPr sz="2400" dirty="0"/>
              <a:t>iterations</a:t>
            </a:r>
            <a:r>
              <a:rPr sz="2400" spc="-65" dirty="0"/>
              <a:t> </a:t>
            </a:r>
            <a:r>
              <a:rPr sz="2400" dirty="0"/>
              <a:t>of</a:t>
            </a:r>
            <a:r>
              <a:rPr sz="2400" spc="-65" dirty="0"/>
              <a:t> </a:t>
            </a:r>
            <a:r>
              <a:rPr sz="2400" dirty="0"/>
              <a:t>3</a:t>
            </a:r>
            <a:r>
              <a:rPr sz="2400" spc="-65" dirty="0"/>
              <a:t> </a:t>
            </a:r>
            <a:r>
              <a:rPr sz="2400" spc="-10" dirty="0"/>
              <a:t>stages</a:t>
            </a:r>
          </a:p>
          <a:p>
            <a:pPr marL="469759" marR="5078" indent="-457063">
              <a:lnSpc>
                <a:spcPts val="2619"/>
              </a:lnSpc>
              <a:spcBef>
                <a:spcPts val="1025"/>
              </a:spcBef>
              <a:buAutoNum type="arabicPeriod"/>
              <a:tabLst>
                <a:tab pos="469759" algn="l"/>
              </a:tabLst>
            </a:pPr>
            <a:r>
              <a:rPr sz="2400" b="1" dirty="0">
                <a:solidFill>
                  <a:srgbClr val="ED7D31"/>
                </a:solidFill>
                <a:latin typeface="Arial"/>
                <a:cs typeface="Arial"/>
              </a:rPr>
              <a:t>Forward</a:t>
            </a:r>
            <a:r>
              <a:rPr sz="2400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sz="2400" dirty="0"/>
              <a:t>:</a:t>
            </a:r>
            <a:r>
              <a:rPr sz="2400" spc="-50" dirty="0"/>
              <a:t> </a:t>
            </a:r>
            <a:r>
              <a:rPr sz="2400" dirty="0"/>
              <a:t>apply</a:t>
            </a:r>
            <a:r>
              <a:rPr sz="2400" spc="-45" dirty="0"/>
              <a:t> </a:t>
            </a:r>
            <a:r>
              <a:rPr sz="2400" dirty="0"/>
              <a:t>model</a:t>
            </a:r>
            <a:r>
              <a:rPr sz="2400" spc="-40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a</a:t>
            </a:r>
            <a:r>
              <a:rPr sz="2400" spc="-45" dirty="0"/>
              <a:t> </a:t>
            </a:r>
            <a:r>
              <a:rPr sz="2400" dirty="0"/>
              <a:t>batch</a:t>
            </a:r>
            <a:r>
              <a:rPr sz="2400" spc="-45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input</a:t>
            </a:r>
            <a:r>
              <a:rPr sz="2400" spc="-50" dirty="0"/>
              <a:t> </a:t>
            </a:r>
            <a:r>
              <a:rPr sz="2400" dirty="0"/>
              <a:t>samples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45" dirty="0"/>
              <a:t> </a:t>
            </a:r>
            <a:r>
              <a:rPr sz="2400" spc="-25" dirty="0"/>
              <a:t>run </a:t>
            </a:r>
            <a:r>
              <a:rPr sz="2400" dirty="0"/>
              <a:t>calculation</a:t>
            </a:r>
            <a:r>
              <a:rPr sz="2400" spc="-75" dirty="0"/>
              <a:t> </a:t>
            </a:r>
            <a:r>
              <a:rPr sz="2400" dirty="0"/>
              <a:t>through</a:t>
            </a:r>
            <a:r>
              <a:rPr sz="2400" spc="-75" dirty="0"/>
              <a:t> </a:t>
            </a:r>
            <a:r>
              <a:rPr sz="2400" dirty="0"/>
              <a:t>operators</a:t>
            </a:r>
            <a:r>
              <a:rPr sz="2400" spc="-75" dirty="0"/>
              <a:t> </a:t>
            </a:r>
            <a:r>
              <a:rPr sz="2400" dirty="0"/>
              <a:t>to</a:t>
            </a:r>
            <a:r>
              <a:rPr sz="2400" spc="-75" dirty="0"/>
              <a:t> </a:t>
            </a:r>
            <a:r>
              <a:rPr sz="2400" dirty="0"/>
              <a:t>produce</a:t>
            </a:r>
            <a:r>
              <a:rPr sz="2400" spc="-70" dirty="0"/>
              <a:t> </a:t>
            </a:r>
            <a:r>
              <a:rPr sz="2400" dirty="0"/>
              <a:t>a</a:t>
            </a:r>
            <a:r>
              <a:rPr sz="2400" spc="-75" dirty="0"/>
              <a:t> </a:t>
            </a:r>
            <a:r>
              <a:rPr sz="2400" spc="-10" dirty="0"/>
              <a:t>prediction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1383" y="4422334"/>
            <a:ext cx="6938108" cy="2244775"/>
            <a:chOff x="2422014" y="4422593"/>
            <a:chExt cx="6939915" cy="2245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014" y="4422593"/>
              <a:ext cx="6939486" cy="21041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08050" y="6318250"/>
              <a:ext cx="3451225" cy="349250"/>
            </a:xfrm>
            <a:custGeom>
              <a:avLst/>
              <a:gdLst/>
              <a:ahLst/>
              <a:cxnLst/>
              <a:rect l="l" t="t" r="r" b="b"/>
              <a:pathLst>
                <a:path w="3451225" h="349250">
                  <a:moveTo>
                    <a:pt x="3101472" y="0"/>
                  </a:moveTo>
                  <a:lnTo>
                    <a:pt x="3101472" y="349249"/>
                  </a:lnTo>
                  <a:lnTo>
                    <a:pt x="3380872" y="209549"/>
                  </a:lnTo>
                  <a:lnTo>
                    <a:pt x="3136397" y="209549"/>
                  </a:lnTo>
                  <a:lnTo>
                    <a:pt x="3136397" y="139699"/>
                  </a:lnTo>
                  <a:lnTo>
                    <a:pt x="3380871" y="139699"/>
                  </a:lnTo>
                  <a:lnTo>
                    <a:pt x="3101472" y="0"/>
                  </a:lnTo>
                  <a:close/>
                </a:path>
                <a:path w="3451225" h="349250">
                  <a:moveTo>
                    <a:pt x="3101472" y="139699"/>
                  </a:moveTo>
                  <a:lnTo>
                    <a:pt x="0" y="139699"/>
                  </a:lnTo>
                  <a:lnTo>
                    <a:pt x="0" y="209549"/>
                  </a:lnTo>
                  <a:lnTo>
                    <a:pt x="3101472" y="209549"/>
                  </a:lnTo>
                  <a:lnTo>
                    <a:pt x="3101472" y="139699"/>
                  </a:lnTo>
                  <a:close/>
                </a:path>
                <a:path w="3451225" h="349250">
                  <a:moveTo>
                    <a:pt x="3380871" y="139699"/>
                  </a:moveTo>
                  <a:lnTo>
                    <a:pt x="3136397" y="139699"/>
                  </a:lnTo>
                  <a:lnTo>
                    <a:pt x="3136397" y="209549"/>
                  </a:lnTo>
                  <a:lnTo>
                    <a:pt x="3380872" y="209549"/>
                  </a:lnTo>
                  <a:lnTo>
                    <a:pt x="3450722" y="174625"/>
                  </a:lnTo>
                  <a:lnTo>
                    <a:pt x="3380871" y="1396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85675" y="6000333"/>
            <a:ext cx="3069425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Forward</a:t>
            </a:r>
            <a:r>
              <a:rPr sz="2399" b="1" spc="-3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endParaRPr sz="2399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949" y="4868804"/>
            <a:ext cx="1465198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dirty="0">
                <a:latin typeface="Arial MT"/>
                <a:cs typeface="Arial MT"/>
              </a:rPr>
              <a:t>Model</a:t>
            </a:r>
            <a:r>
              <a:rPr sz="1999" spc="-40" dirty="0">
                <a:latin typeface="Arial MT"/>
                <a:cs typeface="Arial MT"/>
              </a:rPr>
              <a:t> </a:t>
            </a:r>
            <a:r>
              <a:rPr sz="1999" spc="-10" dirty="0">
                <a:latin typeface="Arial MT"/>
                <a:cs typeface="Arial MT"/>
              </a:rPr>
              <a:t>inputs</a:t>
            </a:r>
            <a:endParaRPr sz="1999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6307" y="4868804"/>
            <a:ext cx="1888633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dirty="0">
                <a:latin typeface="Arial MT"/>
                <a:cs typeface="Arial MT"/>
              </a:rPr>
              <a:t>Model</a:t>
            </a:r>
            <a:r>
              <a:rPr sz="1999" spc="-50" dirty="0">
                <a:latin typeface="Arial MT"/>
                <a:cs typeface="Arial MT"/>
              </a:rPr>
              <a:t> </a:t>
            </a:r>
            <a:r>
              <a:rPr sz="1999" spc="-10" dirty="0">
                <a:latin typeface="Arial MT"/>
                <a:cs typeface="Arial MT"/>
              </a:rPr>
              <a:t>prediction</a:t>
            </a:r>
            <a:endParaRPr sz="1999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56" y="79017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Gradient</a:t>
            </a:r>
            <a:r>
              <a:rPr spc="-55" dirty="0"/>
              <a:t> </a:t>
            </a:r>
            <a:r>
              <a:rPr dirty="0"/>
              <a:t>Descent</a:t>
            </a:r>
            <a:r>
              <a:rPr spc="-60" dirty="0"/>
              <a:t> </a:t>
            </a:r>
            <a:r>
              <a:rPr spc="-20" dirty="0"/>
              <a:t>(GD)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21383" y="4422335"/>
            <a:ext cx="6938108" cy="2334287"/>
            <a:chOff x="2422014" y="4422593"/>
            <a:chExt cx="6939915" cy="23348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014" y="4422593"/>
              <a:ext cx="6939486" cy="21041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91961" y="6407824"/>
              <a:ext cx="3177540" cy="349250"/>
            </a:xfrm>
            <a:custGeom>
              <a:avLst/>
              <a:gdLst/>
              <a:ahLst/>
              <a:cxnLst/>
              <a:rect l="l" t="t" r="r" b="b"/>
              <a:pathLst>
                <a:path w="3177540" h="349250">
                  <a:moveTo>
                    <a:pt x="349250" y="0"/>
                  </a:moveTo>
                  <a:lnTo>
                    <a:pt x="0" y="174625"/>
                  </a:lnTo>
                  <a:lnTo>
                    <a:pt x="349250" y="349250"/>
                  </a:lnTo>
                  <a:lnTo>
                    <a:pt x="349250" y="209550"/>
                  </a:lnTo>
                  <a:lnTo>
                    <a:pt x="314325" y="209550"/>
                  </a:lnTo>
                  <a:lnTo>
                    <a:pt x="314325" y="139700"/>
                  </a:lnTo>
                  <a:lnTo>
                    <a:pt x="349250" y="139700"/>
                  </a:lnTo>
                  <a:lnTo>
                    <a:pt x="349250" y="0"/>
                  </a:lnTo>
                  <a:close/>
                </a:path>
                <a:path w="3177540" h="349250">
                  <a:moveTo>
                    <a:pt x="349250" y="139700"/>
                  </a:moveTo>
                  <a:lnTo>
                    <a:pt x="314325" y="139700"/>
                  </a:lnTo>
                  <a:lnTo>
                    <a:pt x="314325" y="209550"/>
                  </a:lnTo>
                  <a:lnTo>
                    <a:pt x="349250" y="209550"/>
                  </a:lnTo>
                  <a:lnTo>
                    <a:pt x="349250" y="139700"/>
                  </a:lnTo>
                  <a:close/>
                </a:path>
                <a:path w="3177540" h="349250">
                  <a:moveTo>
                    <a:pt x="3177150" y="139700"/>
                  </a:moveTo>
                  <a:lnTo>
                    <a:pt x="349250" y="139700"/>
                  </a:lnTo>
                  <a:lnTo>
                    <a:pt x="349250" y="209550"/>
                  </a:lnTo>
                  <a:lnTo>
                    <a:pt x="3177150" y="209550"/>
                  </a:lnTo>
                  <a:lnTo>
                    <a:pt x="3177150" y="13970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38328" y="6000333"/>
            <a:ext cx="3308758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Backward</a:t>
            </a:r>
            <a:r>
              <a:rPr sz="2399" b="1" spc="-8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endParaRPr sz="239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949" y="4868804"/>
            <a:ext cx="1465198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dirty="0">
                <a:latin typeface="Arial MT"/>
                <a:cs typeface="Arial MT"/>
              </a:rPr>
              <a:t>Model</a:t>
            </a:r>
            <a:r>
              <a:rPr sz="1999" spc="-40" dirty="0">
                <a:latin typeface="Arial MT"/>
                <a:cs typeface="Arial MT"/>
              </a:rPr>
              <a:t> </a:t>
            </a:r>
            <a:r>
              <a:rPr sz="1999" spc="-10" dirty="0">
                <a:latin typeface="Arial MT"/>
                <a:cs typeface="Arial MT"/>
              </a:rPr>
              <a:t>inputs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6307" y="4868804"/>
            <a:ext cx="1888633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dirty="0">
                <a:latin typeface="Arial MT"/>
                <a:cs typeface="Arial MT"/>
              </a:rPr>
              <a:t>Model</a:t>
            </a:r>
            <a:r>
              <a:rPr sz="1999" spc="-50" dirty="0">
                <a:latin typeface="Arial MT"/>
                <a:cs typeface="Arial MT"/>
              </a:rPr>
              <a:t> </a:t>
            </a:r>
            <a:r>
              <a:rPr sz="1999" spc="-10" dirty="0">
                <a:latin typeface="Arial MT"/>
                <a:cs typeface="Arial MT"/>
              </a:rPr>
              <a:t>prediction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29745" y="6310639"/>
            <a:ext cx="622138" cy="12697"/>
          </a:xfrm>
          <a:custGeom>
            <a:avLst/>
            <a:gdLst/>
            <a:ahLst/>
            <a:cxnLst/>
            <a:rect l="l" t="t" r="r" b="b"/>
            <a:pathLst>
              <a:path w="622300" h="12700">
                <a:moveTo>
                  <a:pt x="622300" y="0"/>
                </a:moveTo>
                <a:lnTo>
                  <a:pt x="0" y="0"/>
                </a:lnTo>
                <a:lnTo>
                  <a:pt x="0" y="12700"/>
                </a:lnTo>
                <a:lnTo>
                  <a:pt x="622300" y="12700"/>
                </a:lnTo>
                <a:lnTo>
                  <a:pt x="622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1" name="object 11"/>
          <p:cNvSpPr txBox="1"/>
          <p:nvPr/>
        </p:nvSpPr>
        <p:spPr>
          <a:xfrm>
            <a:off x="7214509" y="5972908"/>
            <a:ext cx="6443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Cambria Math"/>
                <a:cs typeface="Cambria Math"/>
              </a:rPr>
              <a:t>𝜕𝐿(𝑤)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5066" y="6298960"/>
            <a:ext cx="42787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𝜕𝑤</a:t>
            </a:r>
            <a:r>
              <a:rPr sz="1949" spc="-37" baseline="-14957" dirty="0">
                <a:latin typeface="Cambria Math"/>
                <a:cs typeface="Cambria Math"/>
              </a:rPr>
              <a:t>𝑖</a:t>
            </a:r>
            <a:endParaRPr sz="1949" baseline="-14957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1274" y="5373530"/>
            <a:ext cx="566907" cy="801161"/>
          </a:xfrm>
          <a:custGeom>
            <a:avLst/>
            <a:gdLst/>
            <a:ahLst/>
            <a:cxnLst/>
            <a:rect l="l" t="t" r="r" b="b"/>
            <a:pathLst>
              <a:path w="567054" h="801370">
                <a:moveTo>
                  <a:pt x="80799" y="98443"/>
                </a:moveTo>
                <a:lnTo>
                  <a:pt x="65211" y="109394"/>
                </a:lnTo>
                <a:lnTo>
                  <a:pt x="551315" y="801346"/>
                </a:lnTo>
                <a:lnTo>
                  <a:pt x="566903" y="790395"/>
                </a:lnTo>
                <a:lnTo>
                  <a:pt x="80799" y="98443"/>
                </a:lnTo>
                <a:close/>
              </a:path>
              <a:path w="567054" h="801370">
                <a:moveTo>
                  <a:pt x="0" y="0"/>
                </a:moveTo>
                <a:lnTo>
                  <a:pt x="21045" y="140422"/>
                </a:lnTo>
                <a:lnTo>
                  <a:pt x="65211" y="109394"/>
                </a:lnTo>
                <a:lnTo>
                  <a:pt x="57910" y="99002"/>
                </a:lnTo>
                <a:lnTo>
                  <a:pt x="73498" y="88051"/>
                </a:lnTo>
                <a:lnTo>
                  <a:pt x="95591" y="88051"/>
                </a:lnTo>
                <a:lnTo>
                  <a:pt x="124964" y="67416"/>
                </a:lnTo>
                <a:lnTo>
                  <a:pt x="0" y="0"/>
                </a:lnTo>
                <a:close/>
              </a:path>
              <a:path w="567054" h="801370">
                <a:moveTo>
                  <a:pt x="73498" y="88051"/>
                </a:moveTo>
                <a:lnTo>
                  <a:pt x="57910" y="99002"/>
                </a:lnTo>
                <a:lnTo>
                  <a:pt x="65211" y="109394"/>
                </a:lnTo>
                <a:lnTo>
                  <a:pt x="80799" y="98443"/>
                </a:lnTo>
                <a:lnTo>
                  <a:pt x="73498" y="88051"/>
                </a:lnTo>
                <a:close/>
              </a:path>
              <a:path w="567054" h="801370">
                <a:moveTo>
                  <a:pt x="95591" y="88051"/>
                </a:moveTo>
                <a:lnTo>
                  <a:pt x="73498" y="88051"/>
                </a:lnTo>
                <a:lnTo>
                  <a:pt x="80799" y="98443"/>
                </a:lnTo>
                <a:lnTo>
                  <a:pt x="95591" y="88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4225" y="4529027"/>
            <a:ext cx="4127536" cy="2236822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F447E82-97F6-A028-8B3C-5DAF711A9D0D}"/>
              </a:ext>
            </a:extLst>
          </p:cNvPr>
          <p:cNvSpPr txBox="1">
            <a:spLocks/>
          </p:cNvSpPr>
          <p:nvPr/>
        </p:nvSpPr>
        <p:spPr>
          <a:xfrm>
            <a:off x="373790" y="1118034"/>
            <a:ext cx="10360168" cy="2064641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96">
              <a:spcBef>
                <a:spcPts val="820"/>
              </a:spcBef>
            </a:pPr>
            <a:r>
              <a:rPr lang="en-US" sz="2400" dirty="0"/>
              <a:t>Train</a:t>
            </a:r>
            <a:r>
              <a:rPr lang="en-US" sz="2400" spc="-65" dirty="0"/>
              <a:t> </a:t>
            </a:r>
            <a:r>
              <a:rPr lang="en-US" sz="2400" dirty="0"/>
              <a:t>ML</a:t>
            </a:r>
            <a:r>
              <a:rPr lang="en-US" sz="2400" spc="-150" dirty="0"/>
              <a:t> </a:t>
            </a:r>
            <a:r>
              <a:rPr lang="en-US" sz="2400" dirty="0"/>
              <a:t>models</a:t>
            </a:r>
            <a:r>
              <a:rPr lang="en-US" sz="2400" spc="-65" dirty="0"/>
              <a:t> </a:t>
            </a:r>
            <a:r>
              <a:rPr lang="en-US" sz="2400" dirty="0"/>
              <a:t>through</a:t>
            </a:r>
            <a:r>
              <a:rPr lang="en-US" sz="2400" spc="-65" dirty="0"/>
              <a:t> </a:t>
            </a:r>
            <a:r>
              <a:rPr lang="en-US" sz="2400" dirty="0"/>
              <a:t>many</a:t>
            </a:r>
            <a:r>
              <a:rPr lang="en-US" sz="2400" spc="-65" dirty="0"/>
              <a:t> </a:t>
            </a:r>
            <a:r>
              <a:rPr lang="en-US" sz="2400" dirty="0"/>
              <a:t>iterations</a:t>
            </a:r>
            <a:r>
              <a:rPr lang="en-US" sz="2400" spc="-65" dirty="0"/>
              <a:t> </a:t>
            </a:r>
            <a:r>
              <a:rPr lang="en-US" sz="2400" dirty="0"/>
              <a:t>of</a:t>
            </a:r>
            <a:r>
              <a:rPr lang="en-US" sz="2400" spc="-65" dirty="0"/>
              <a:t> </a:t>
            </a:r>
            <a:r>
              <a:rPr lang="en-US" sz="2400" dirty="0"/>
              <a:t>3</a:t>
            </a:r>
            <a:r>
              <a:rPr lang="en-US" sz="2400" spc="-65" dirty="0"/>
              <a:t> </a:t>
            </a:r>
            <a:r>
              <a:rPr lang="en-US" sz="2400" spc="-10" dirty="0"/>
              <a:t>stages</a:t>
            </a:r>
          </a:p>
          <a:p>
            <a:pPr marL="469759" marR="5078" indent="-457063">
              <a:lnSpc>
                <a:spcPts val="2619"/>
              </a:lnSpc>
              <a:spcBef>
                <a:spcPts val="1025"/>
              </a:spcBef>
              <a:buFont typeface="Arial"/>
              <a:buAutoNum type="arabicPeriod"/>
              <a:tabLst>
                <a:tab pos="469759" algn="l"/>
              </a:tabLst>
            </a:pP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Forward</a:t>
            </a:r>
            <a:r>
              <a:rPr lang="en-US" sz="2400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lang="en-US" sz="2400" dirty="0"/>
              <a:t>:</a:t>
            </a:r>
            <a:r>
              <a:rPr lang="en-US" sz="2400" spc="-50" dirty="0"/>
              <a:t> </a:t>
            </a:r>
            <a:r>
              <a:rPr lang="en-US" sz="2400" dirty="0"/>
              <a:t>apply</a:t>
            </a:r>
            <a:r>
              <a:rPr lang="en-US" sz="2400" spc="-45" dirty="0"/>
              <a:t> </a:t>
            </a:r>
            <a:r>
              <a:rPr lang="en-US" sz="2400" dirty="0"/>
              <a:t>model</a:t>
            </a:r>
            <a:r>
              <a:rPr lang="en-US" sz="2400" spc="-40" dirty="0"/>
              <a:t> </a:t>
            </a:r>
            <a:r>
              <a:rPr lang="en-US" sz="2400" dirty="0"/>
              <a:t>to</a:t>
            </a:r>
            <a:r>
              <a:rPr lang="en-US" sz="2400" spc="-50" dirty="0"/>
              <a:t> </a:t>
            </a:r>
            <a:r>
              <a:rPr lang="en-US" sz="2400" dirty="0"/>
              <a:t>a</a:t>
            </a:r>
            <a:r>
              <a:rPr lang="en-US" sz="2400" spc="-45" dirty="0"/>
              <a:t> </a:t>
            </a:r>
            <a:r>
              <a:rPr lang="en-US" sz="2400" dirty="0"/>
              <a:t>batch</a:t>
            </a:r>
            <a:r>
              <a:rPr lang="en-US" sz="2400" spc="-45" dirty="0"/>
              <a:t> </a:t>
            </a:r>
            <a:r>
              <a:rPr lang="en-US" sz="2400" dirty="0"/>
              <a:t>of</a:t>
            </a:r>
            <a:r>
              <a:rPr lang="en-US" sz="2400" spc="-55" dirty="0"/>
              <a:t> </a:t>
            </a:r>
            <a:r>
              <a:rPr lang="en-US" sz="2400" dirty="0"/>
              <a:t>input</a:t>
            </a:r>
            <a:r>
              <a:rPr lang="en-US" sz="2400" spc="-50" dirty="0"/>
              <a:t> </a:t>
            </a:r>
            <a:r>
              <a:rPr lang="en-US" sz="2400" dirty="0"/>
              <a:t>samples</a:t>
            </a:r>
            <a:r>
              <a:rPr lang="en-US" sz="2400" spc="-45" dirty="0"/>
              <a:t> </a:t>
            </a:r>
            <a:r>
              <a:rPr lang="en-US" sz="2400" dirty="0"/>
              <a:t>and</a:t>
            </a:r>
            <a:r>
              <a:rPr lang="en-US" sz="2400" spc="-45" dirty="0"/>
              <a:t> </a:t>
            </a:r>
            <a:r>
              <a:rPr lang="en-US" sz="2400" spc="-25" dirty="0"/>
              <a:t>run </a:t>
            </a:r>
            <a:r>
              <a:rPr lang="en-US" sz="2400" dirty="0"/>
              <a:t>calculation</a:t>
            </a:r>
            <a:r>
              <a:rPr lang="en-US" sz="2400" spc="-75" dirty="0"/>
              <a:t> </a:t>
            </a:r>
            <a:r>
              <a:rPr lang="en-US" sz="2400" dirty="0"/>
              <a:t>through</a:t>
            </a:r>
            <a:r>
              <a:rPr lang="en-US" sz="2400" spc="-75" dirty="0"/>
              <a:t> </a:t>
            </a:r>
            <a:r>
              <a:rPr lang="en-US" sz="2400" dirty="0"/>
              <a:t>operators</a:t>
            </a:r>
            <a:r>
              <a:rPr lang="en-US" sz="2400" spc="-75" dirty="0"/>
              <a:t> </a:t>
            </a:r>
            <a:r>
              <a:rPr lang="en-US" sz="2400" dirty="0"/>
              <a:t>to</a:t>
            </a:r>
            <a:r>
              <a:rPr lang="en-US" sz="2400" spc="-75" dirty="0"/>
              <a:t> </a:t>
            </a:r>
            <a:r>
              <a:rPr lang="en-US" sz="2400" dirty="0"/>
              <a:t>produce</a:t>
            </a:r>
            <a:r>
              <a:rPr lang="en-US" sz="2400" spc="-70" dirty="0"/>
              <a:t> </a:t>
            </a:r>
            <a:r>
              <a:rPr lang="en-US" sz="2400" dirty="0"/>
              <a:t>a</a:t>
            </a:r>
            <a:r>
              <a:rPr lang="en-US" sz="2400" spc="-75" dirty="0"/>
              <a:t> </a:t>
            </a:r>
            <a:r>
              <a:rPr lang="en-US" sz="2400" spc="-10" dirty="0"/>
              <a:t>prediction</a:t>
            </a:r>
          </a:p>
          <a:p>
            <a:pPr marL="469759" marR="274238" indent="-457063">
              <a:lnSpc>
                <a:spcPts val="2589"/>
              </a:lnSpc>
              <a:spcBef>
                <a:spcPts val="1000"/>
              </a:spcBef>
              <a:buFont typeface="Arial"/>
              <a:buAutoNum type="arabicPeriod"/>
              <a:tabLst>
                <a:tab pos="469759" algn="l"/>
              </a:tabLst>
            </a:pP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Backward</a:t>
            </a:r>
            <a:r>
              <a:rPr lang="en-US" sz="2400" b="1" spc="-6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lang="en-US" sz="2400" dirty="0"/>
              <a:t>:</a:t>
            </a:r>
            <a:r>
              <a:rPr lang="en-US" sz="2400" spc="-65" dirty="0"/>
              <a:t> </a:t>
            </a:r>
            <a:r>
              <a:rPr lang="en-US" sz="2400" dirty="0"/>
              <a:t>run</a:t>
            </a:r>
            <a:r>
              <a:rPr lang="en-US" sz="2400" spc="-55" dirty="0"/>
              <a:t> </a:t>
            </a:r>
            <a:r>
              <a:rPr lang="en-US" sz="2400" dirty="0"/>
              <a:t>the</a:t>
            </a:r>
            <a:r>
              <a:rPr lang="en-US" sz="2400" spc="-60" dirty="0"/>
              <a:t> </a:t>
            </a:r>
            <a:r>
              <a:rPr lang="en-US" sz="2400" dirty="0"/>
              <a:t>model</a:t>
            </a:r>
            <a:r>
              <a:rPr lang="en-US" sz="2400" spc="-55" dirty="0"/>
              <a:t> </a:t>
            </a:r>
            <a:r>
              <a:rPr lang="en-US" sz="2400" dirty="0"/>
              <a:t>in</a:t>
            </a:r>
            <a:r>
              <a:rPr lang="en-US" sz="2400" spc="-55" dirty="0"/>
              <a:t> </a:t>
            </a:r>
            <a:r>
              <a:rPr lang="en-US" sz="2400" dirty="0"/>
              <a:t>reverse</a:t>
            </a:r>
            <a:r>
              <a:rPr lang="en-US" sz="2400" spc="-60" dirty="0"/>
              <a:t> </a:t>
            </a:r>
            <a:r>
              <a:rPr lang="en-US" sz="2400" dirty="0"/>
              <a:t>to</a:t>
            </a:r>
            <a:r>
              <a:rPr lang="en-US" sz="2400" spc="-60" dirty="0"/>
              <a:t> </a:t>
            </a:r>
            <a:r>
              <a:rPr lang="en-US" sz="2400" dirty="0"/>
              <a:t>produce</a:t>
            </a:r>
            <a:r>
              <a:rPr lang="en-US" sz="2400" spc="-55" dirty="0"/>
              <a:t> </a:t>
            </a:r>
            <a:r>
              <a:rPr lang="en-US" sz="2400" dirty="0"/>
              <a:t>error</a:t>
            </a:r>
            <a:r>
              <a:rPr lang="en-US" sz="2400" spc="-60" dirty="0"/>
              <a:t> </a:t>
            </a:r>
            <a:r>
              <a:rPr lang="en-US" sz="2400" spc="-25" dirty="0"/>
              <a:t>for </a:t>
            </a:r>
            <a:r>
              <a:rPr lang="en-US" sz="2400" dirty="0"/>
              <a:t>each</a:t>
            </a:r>
            <a:r>
              <a:rPr lang="en-US" sz="2400" spc="-80" dirty="0"/>
              <a:t> </a:t>
            </a:r>
            <a:r>
              <a:rPr lang="en-US" sz="2400" dirty="0"/>
              <a:t>trainable</a:t>
            </a:r>
            <a:r>
              <a:rPr lang="en-US" sz="2400" spc="-80" dirty="0"/>
              <a:t> </a:t>
            </a:r>
            <a:r>
              <a:rPr lang="en-US" sz="2400" spc="-10" dirty="0"/>
              <a:t>weight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E65242AF-4C76-F30A-F759-8F83ABEFA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6179" y="8821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Gradient</a:t>
            </a:r>
            <a:r>
              <a:rPr spc="-55" dirty="0"/>
              <a:t> </a:t>
            </a:r>
            <a:r>
              <a:rPr dirty="0"/>
              <a:t>Descent</a:t>
            </a:r>
            <a:r>
              <a:rPr spc="-60" dirty="0"/>
              <a:t> </a:t>
            </a:r>
            <a:r>
              <a:rPr spc="-20" dirty="0"/>
              <a:t>(GD)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3B221B2-E07D-FBE7-ACAB-212178DAF288}"/>
              </a:ext>
            </a:extLst>
          </p:cNvPr>
          <p:cNvSpPr txBox="1">
            <a:spLocks/>
          </p:cNvSpPr>
          <p:nvPr/>
        </p:nvSpPr>
        <p:spPr>
          <a:xfrm>
            <a:off x="373790" y="1118034"/>
            <a:ext cx="10360168" cy="2523741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96">
              <a:spcBef>
                <a:spcPts val="820"/>
              </a:spcBef>
            </a:pPr>
            <a:r>
              <a:rPr lang="en-US" sz="2400"/>
              <a:t>Train</a:t>
            </a:r>
            <a:r>
              <a:rPr lang="en-US" sz="2400" spc="-65"/>
              <a:t> </a:t>
            </a:r>
            <a:r>
              <a:rPr lang="en-US" sz="2400"/>
              <a:t>ML</a:t>
            </a:r>
            <a:r>
              <a:rPr lang="en-US" sz="2400" spc="-150"/>
              <a:t> </a:t>
            </a:r>
            <a:r>
              <a:rPr lang="en-US" sz="2400"/>
              <a:t>models</a:t>
            </a:r>
            <a:r>
              <a:rPr lang="en-US" sz="2400" spc="-65"/>
              <a:t> </a:t>
            </a:r>
            <a:r>
              <a:rPr lang="en-US" sz="2400"/>
              <a:t>through</a:t>
            </a:r>
            <a:r>
              <a:rPr lang="en-US" sz="2400" spc="-65"/>
              <a:t> </a:t>
            </a:r>
            <a:r>
              <a:rPr lang="en-US" sz="2400"/>
              <a:t>many</a:t>
            </a:r>
            <a:r>
              <a:rPr lang="en-US" sz="2400" spc="-65"/>
              <a:t> </a:t>
            </a:r>
            <a:r>
              <a:rPr lang="en-US" sz="2400"/>
              <a:t>iterations</a:t>
            </a:r>
            <a:r>
              <a:rPr lang="en-US" sz="2400" spc="-65"/>
              <a:t> </a:t>
            </a:r>
            <a:r>
              <a:rPr lang="en-US" sz="2400"/>
              <a:t>of</a:t>
            </a:r>
            <a:r>
              <a:rPr lang="en-US" sz="2400" spc="-65"/>
              <a:t> </a:t>
            </a:r>
            <a:r>
              <a:rPr lang="en-US" sz="2400"/>
              <a:t>3</a:t>
            </a:r>
            <a:r>
              <a:rPr lang="en-US" sz="2400" spc="-65"/>
              <a:t> </a:t>
            </a:r>
            <a:r>
              <a:rPr lang="en-US" sz="2400" spc="-10"/>
              <a:t>stages</a:t>
            </a:r>
          </a:p>
          <a:p>
            <a:pPr marL="469759" marR="5078" indent="-457063">
              <a:lnSpc>
                <a:spcPts val="2619"/>
              </a:lnSpc>
              <a:spcBef>
                <a:spcPts val="1025"/>
              </a:spcBef>
              <a:buFont typeface="Arial"/>
              <a:buAutoNum type="arabicPeriod"/>
              <a:tabLst>
                <a:tab pos="469759" algn="l"/>
              </a:tabLst>
            </a:pP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Forward</a:t>
            </a:r>
            <a:r>
              <a:rPr lang="en-US" sz="2400" b="1" spc="-5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lang="en-US" sz="2400"/>
              <a:t>:</a:t>
            </a:r>
            <a:r>
              <a:rPr lang="en-US" sz="2400" spc="-50"/>
              <a:t> </a:t>
            </a:r>
            <a:r>
              <a:rPr lang="en-US" sz="2400"/>
              <a:t>apply</a:t>
            </a:r>
            <a:r>
              <a:rPr lang="en-US" sz="2400" spc="-45"/>
              <a:t> </a:t>
            </a:r>
            <a:r>
              <a:rPr lang="en-US" sz="2400"/>
              <a:t>model</a:t>
            </a:r>
            <a:r>
              <a:rPr lang="en-US" sz="2400" spc="-40"/>
              <a:t> </a:t>
            </a:r>
            <a:r>
              <a:rPr lang="en-US" sz="2400"/>
              <a:t>to</a:t>
            </a:r>
            <a:r>
              <a:rPr lang="en-US" sz="2400" spc="-50"/>
              <a:t> </a:t>
            </a:r>
            <a:r>
              <a:rPr lang="en-US" sz="2400"/>
              <a:t>a</a:t>
            </a:r>
            <a:r>
              <a:rPr lang="en-US" sz="2400" spc="-45"/>
              <a:t> </a:t>
            </a:r>
            <a:r>
              <a:rPr lang="en-US" sz="2400"/>
              <a:t>batch</a:t>
            </a:r>
            <a:r>
              <a:rPr lang="en-US" sz="2400" spc="-45"/>
              <a:t> </a:t>
            </a:r>
            <a:r>
              <a:rPr lang="en-US" sz="2400"/>
              <a:t>of</a:t>
            </a:r>
            <a:r>
              <a:rPr lang="en-US" sz="2400" spc="-55"/>
              <a:t> </a:t>
            </a:r>
            <a:r>
              <a:rPr lang="en-US" sz="2400"/>
              <a:t>input</a:t>
            </a:r>
            <a:r>
              <a:rPr lang="en-US" sz="2400" spc="-50"/>
              <a:t> </a:t>
            </a:r>
            <a:r>
              <a:rPr lang="en-US" sz="2400"/>
              <a:t>samples</a:t>
            </a:r>
            <a:r>
              <a:rPr lang="en-US" sz="2400" spc="-45"/>
              <a:t> </a:t>
            </a:r>
            <a:r>
              <a:rPr lang="en-US" sz="2400"/>
              <a:t>and</a:t>
            </a:r>
            <a:r>
              <a:rPr lang="en-US" sz="2400" spc="-45"/>
              <a:t> </a:t>
            </a:r>
            <a:r>
              <a:rPr lang="en-US" sz="2400" spc="-25"/>
              <a:t>run </a:t>
            </a:r>
            <a:r>
              <a:rPr lang="en-US" sz="2400"/>
              <a:t>calculation</a:t>
            </a:r>
            <a:r>
              <a:rPr lang="en-US" sz="2400" spc="-75"/>
              <a:t> </a:t>
            </a:r>
            <a:r>
              <a:rPr lang="en-US" sz="2400"/>
              <a:t>through</a:t>
            </a:r>
            <a:r>
              <a:rPr lang="en-US" sz="2400" spc="-75"/>
              <a:t> </a:t>
            </a:r>
            <a:r>
              <a:rPr lang="en-US" sz="2400"/>
              <a:t>operators</a:t>
            </a:r>
            <a:r>
              <a:rPr lang="en-US" sz="2400" spc="-75"/>
              <a:t> </a:t>
            </a:r>
            <a:r>
              <a:rPr lang="en-US" sz="2400"/>
              <a:t>to</a:t>
            </a:r>
            <a:r>
              <a:rPr lang="en-US" sz="2400" spc="-75"/>
              <a:t> </a:t>
            </a:r>
            <a:r>
              <a:rPr lang="en-US" sz="2400"/>
              <a:t>produce</a:t>
            </a:r>
            <a:r>
              <a:rPr lang="en-US" sz="2400" spc="-70"/>
              <a:t> </a:t>
            </a:r>
            <a:r>
              <a:rPr lang="en-US" sz="2400"/>
              <a:t>a</a:t>
            </a:r>
            <a:r>
              <a:rPr lang="en-US" sz="2400" spc="-75"/>
              <a:t> </a:t>
            </a:r>
            <a:r>
              <a:rPr lang="en-US" sz="2400" spc="-10"/>
              <a:t>prediction</a:t>
            </a:r>
          </a:p>
          <a:p>
            <a:pPr marL="469759" marR="274238" indent="-457063">
              <a:lnSpc>
                <a:spcPts val="2589"/>
              </a:lnSpc>
              <a:spcBef>
                <a:spcPts val="1000"/>
              </a:spcBef>
              <a:buFont typeface="Arial"/>
              <a:buAutoNum type="arabicPeriod"/>
              <a:tabLst>
                <a:tab pos="469759" algn="l"/>
              </a:tabLst>
            </a:pP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Backward</a:t>
            </a:r>
            <a:r>
              <a:rPr lang="en-US" sz="2400" b="1" spc="-6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lang="en-US" sz="2400"/>
              <a:t>:</a:t>
            </a:r>
            <a:r>
              <a:rPr lang="en-US" sz="2400" spc="-65"/>
              <a:t> </a:t>
            </a:r>
            <a:r>
              <a:rPr lang="en-US" sz="2400"/>
              <a:t>run</a:t>
            </a:r>
            <a:r>
              <a:rPr lang="en-US" sz="2400" spc="-55"/>
              <a:t> </a:t>
            </a:r>
            <a:r>
              <a:rPr lang="en-US" sz="2400"/>
              <a:t>the</a:t>
            </a:r>
            <a:r>
              <a:rPr lang="en-US" sz="2400" spc="-60"/>
              <a:t> </a:t>
            </a:r>
            <a:r>
              <a:rPr lang="en-US" sz="2400"/>
              <a:t>model</a:t>
            </a:r>
            <a:r>
              <a:rPr lang="en-US" sz="2400" spc="-55"/>
              <a:t> </a:t>
            </a:r>
            <a:r>
              <a:rPr lang="en-US" sz="2400"/>
              <a:t>in</a:t>
            </a:r>
            <a:r>
              <a:rPr lang="en-US" sz="2400" spc="-55"/>
              <a:t> </a:t>
            </a:r>
            <a:r>
              <a:rPr lang="en-US" sz="2400"/>
              <a:t>reverse</a:t>
            </a:r>
            <a:r>
              <a:rPr lang="en-US" sz="2400" spc="-60"/>
              <a:t> </a:t>
            </a:r>
            <a:r>
              <a:rPr lang="en-US" sz="2400"/>
              <a:t>to</a:t>
            </a:r>
            <a:r>
              <a:rPr lang="en-US" sz="2400" spc="-60"/>
              <a:t> </a:t>
            </a:r>
            <a:r>
              <a:rPr lang="en-US" sz="2400"/>
              <a:t>produce</a:t>
            </a:r>
            <a:r>
              <a:rPr lang="en-US" sz="2400" spc="-55"/>
              <a:t> </a:t>
            </a:r>
            <a:r>
              <a:rPr lang="en-US" sz="2400"/>
              <a:t>error</a:t>
            </a:r>
            <a:r>
              <a:rPr lang="en-US" sz="2400" spc="-60"/>
              <a:t> </a:t>
            </a:r>
            <a:r>
              <a:rPr lang="en-US" sz="2400" spc="-25"/>
              <a:t>for </a:t>
            </a:r>
            <a:r>
              <a:rPr lang="en-US" sz="2400"/>
              <a:t>each</a:t>
            </a:r>
            <a:r>
              <a:rPr lang="en-US" sz="2400" spc="-80"/>
              <a:t> </a:t>
            </a:r>
            <a:r>
              <a:rPr lang="en-US" sz="2400"/>
              <a:t>trainable</a:t>
            </a:r>
            <a:r>
              <a:rPr lang="en-US" sz="2400" spc="-80"/>
              <a:t> </a:t>
            </a:r>
            <a:r>
              <a:rPr lang="en-US" sz="2400" spc="-10"/>
              <a:t>weight</a:t>
            </a:r>
          </a:p>
          <a:p>
            <a:pPr marL="469124" indent="-456428">
              <a:spcBef>
                <a:spcPts val="680"/>
              </a:spcBef>
              <a:buFont typeface="Arial"/>
              <a:buAutoNum type="arabicPeriod"/>
              <a:tabLst>
                <a:tab pos="469124" algn="l"/>
              </a:tabLst>
            </a:pP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Weight</a:t>
            </a:r>
            <a:r>
              <a:rPr lang="en-US" sz="2400" b="1" spc="-5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>
                <a:solidFill>
                  <a:srgbClr val="ED7D31"/>
                </a:solidFill>
                <a:latin typeface="Arial"/>
                <a:cs typeface="Arial"/>
              </a:rPr>
              <a:t>update</a:t>
            </a:r>
            <a:r>
              <a:rPr lang="en-US" sz="2400"/>
              <a:t>:</a:t>
            </a:r>
            <a:r>
              <a:rPr lang="en-US" sz="2400" spc="-60"/>
              <a:t> </a:t>
            </a:r>
            <a:r>
              <a:rPr lang="en-US" sz="2400"/>
              <a:t>use</a:t>
            </a:r>
            <a:r>
              <a:rPr lang="en-US" sz="2400" spc="-55"/>
              <a:t> </a:t>
            </a:r>
            <a:r>
              <a:rPr lang="en-US" sz="2400"/>
              <a:t>the</a:t>
            </a:r>
            <a:r>
              <a:rPr lang="en-US" sz="2400" spc="-55"/>
              <a:t> </a:t>
            </a:r>
            <a:r>
              <a:rPr lang="en-US" sz="2400"/>
              <a:t>loss</a:t>
            </a:r>
            <a:r>
              <a:rPr lang="en-US" sz="2400" spc="-50"/>
              <a:t> </a:t>
            </a:r>
            <a:r>
              <a:rPr lang="en-US" sz="2400"/>
              <a:t>value</a:t>
            </a:r>
            <a:r>
              <a:rPr lang="en-US" sz="2400" spc="-55"/>
              <a:t> </a:t>
            </a:r>
            <a:r>
              <a:rPr lang="en-US" sz="2400"/>
              <a:t>to</a:t>
            </a:r>
            <a:r>
              <a:rPr lang="en-US" sz="2400" spc="-55"/>
              <a:t> </a:t>
            </a:r>
            <a:r>
              <a:rPr lang="en-US" sz="2400"/>
              <a:t>update</a:t>
            </a:r>
            <a:r>
              <a:rPr lang="en-US" sz="2400" spc="-55"/>
              <a:t> </a:t>
            </a:r>
            <a:r>
              <a:rPr lang="en-US" sz="2400"/>
              <a:t>model</a:t>
            </a:r>
            <a:r>
              <a:rPr lang="en-US" sz="2400" spc="-50"/>
              <a:t> </a:t>
            </a:r>
            <a:r>
              <a:rPr lang="en-US" sz="2400" spc="-10"/>
              <a:t>weights</a:t>
            </a:r>
            <a:endParaRPr lang="en-US" sz="2400" spc="-1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DAD4CAB-C4C8-BFE8-B7C5-7E1DEBCE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461" y="4028284"/>
            <a:ext cx="8124825" cy="1565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511" y="151460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Stochastic</a:t>
            </a:r>
            <a:r>
              <a:rPr spc="-55" dirty="0"/>
              <a:t> </a:t>
            </a:r>
            <a:r>
              <a:rPr dirty="0"/>
              <a:t>Gradient</a:t>
            </a:r>
            <a:r>
              <a:rPr spc="-55" dirty="0"/>
              <a:t> </a:t>
            </a:r>
            <a:r>
              <a:rPr dirty="0"/>
              <a:t>Descent</a:t>
            </a:r>
            <a:r>
              <a:rPr spc="-50" dirty="0"/>
              <a:t> </a:t>
            </a:r>
            <a:r>
              <a:rPr spc="-10" dirty="0"/>
              <a:t>(SGD)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45318"/>
            <a:ext cx="10236074" cy="2109798"/>
          </a:xfrm>
          <a:prstGeom prst="rect">
            <a:avLst/>
          </a:prstGeom>
        </p:spPr>
        <p:txBody>
          <a:bodyPr vert="horz" wrap="square" lIns="0" tIns="39995" rIns="0" bIns="0" rtlCol="0">
            <a:spAutoFit/>
          </a:bodyPr>
          <a:lstStyle/>
          <a:p>
            <a:pPr marL="239957" indent="-227261">
              <a:spcBef>
                <a:spcPts val="315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Inefficiency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8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gradient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descent</a:t>
            </a:r>
            <a:endParaRPr sz="2399" dirty="0">
              <a:latin typeface="Arial MT"/>
              <a:cs typeface="Arial MT"/>
            </a:endParaRPr>
          </a:p>
          <a:p>
            <a:pPr marL="697021" lvl="1" indent="-227261">
              <a:spcBef>
                <a:spcPts val="215"/>
              </a:spcBef>
              <a:buChar char="•"/>
              <a:tabLst>
                <a:tab pos="697021" algn="l"/>
              </a:tabLst>
            </a:pPr>
            <a:r>
              <a:rPr sz="2399" spc="-70" dirty="0">
                <a:latin typeface="Arial MT"/>
                <a:cs typeface="Arial MT"/>
              </a:rPr>
              <a:t>Too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expensive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gradients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all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training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samples</a:t>
            </a:r>
            <a:endParaRPr sz="2399" dirty="0">
              <a:latin typeface="Arial MT"/>
              <a:cs typeface="Arial MT"/>
            </a:endParaRPr>
          </a:p>
          <a:p>
            <a:pPr marL="697021" marR="5078" lvl="1" indent="-227261">
              <a:lnSpc>
                <a:spcPts val="2589"/>
              </a:lnSpc>
              <a:spcBef>
                <a:spcPts val="570"/>
              </a:spcBef>
              <a:buChar char="•"/>
              <a:tabLst>
                <a:tab pos="698290" algn="l"/>
              </a:tabLst>
            </a:pPr>
            <a:r>
              <a:rPr sz="2399" dirty="0">
                <a:latin typeface="Arial MT"/>
                <a:cs typeface="Arial MT"/>
              </a:rPr>
              <a:t>Especially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todays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large-</a:t>
            </a:r>
            <a:r>
              <a:rPr sz="2399" dirty="0">
                <a:latin typeface="Arial MT"/>
                <a:cs typeface="Arial MT"/>
              </a:rPr>
              <a:t>scale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training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datasets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(e.g.,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ImageNet-</a:t>
            </a:r>
            <a:r>
              <a:rPr sz="2399" spc="-25" dirty="0">
                <a:latin typeface="Arial MT"/>
                <a:cs typeface="Arial MT"/>
              </a:rPr>
              <a:t>22K 	</a:t>
            </a:r>
            <a:r>
              <a:rPr sz="2399" dirty="0">
                <a:latin typeface="Arial MT"/>
                <a:cs typeface="Arial MT"/>
              </a:rPr>
              <a:t>with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14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million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images)</a:t>
            </a:r>
            <a:endParaRPr sz="2399" dirty="0">
              <a:latin typeface="Arial MT"/>
              <a:cs typeface="Arial MT"/>
            </a:endParaRPr>
          </a:p>
          <a:p>
            <a:pPr lvl="1">
              <a:spcBef>
                <a:spcPts val="1520"/>
              </a:spcBef>
            </a:pPr>
            <a:endParaRPr sz="2399" dirty="0">
              <a:latin typeface="Arial MT"/>
              <a:cs typeface="Arial M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2FB324B-7FE8-0DE9-F088-8FBD2C05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66" y="3362165"/>
            <a:ext cx="9889286" cy="25221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CEB686-461B-E512-AE59-2B9DC1DCF992}"/>
              </a:ext>
            </a:extLst>
          </p:cNvPr>
          <p:cNvSpPr txBox="1"/>
          <p:nvPr/>
        </p:nvSpPr>
        <p:spPr>
          <a:xfrm>
            <a:off x="1600199" y="2985289"/>
            <a:ext cx="8222031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ts val="2620"/>
              </a:lnSpc>
              <a:spcBef>
                <a:spcPts val="1025"/>
              </a:spcBef>
              <a:tabLst>
                <a:tab pos="241300" algn="l"/>
              </a:tabLst>
            </a:pP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How</a:t>
            </a:r>
            <a:r>
              <a:rPr lang="en-US" sz="2400" b="1" spc="-6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to</a:t>
            </a:r>
            <a:r>
              <a:rPr lang="en-US" sz="2400" b="1" spc="-6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compute</a:t>
            </a:r>
            <a:r>
              <a:rPr lang="en-US" sz="2400" b="1" spc="-6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ED7D31"/>
                </a:solidFill>
                <a:latin typeface="Arial"/>
                <a:cs typeface="Arial"/>
              </a:rPr>
              <a:t>gradients</a:t>
            </a:r>
            <a:r>
              <a:rPr lang="en-US" sz="2400" b="1" spc="-10" dirty="0">
                <a:solidFill>
                  <a:srgbClr val="ED7D31"/>
                </a:solidFill>
                <a:latin typeface="Arial"/>
                <a:cs typeface="Arial"/>
              </a:rPr>
              <a:t>?</a:t>
            </a:r>
            <a:r>
              <a:rPr lang="en-US" sz="2400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</a:p>
          <a:p>
            <a:pPr marL="12700" marR="5080" algn="ctr">
              <a:lnSpc>
                <a:spcPts val="2620"/>
              </a:lnSpc>
              <a:spcBef>
                <a:spcPts val="1025"/>
              </a:spcBef>
              <a:tabLst>
                <a:tab pos="241300" algn="l"/>
              </a:tabLst>
            </a:pPr>
            <a:r>
              <a:rPr lang="en-US" sz="2400" b="1" dirty="0">
                <a:latin typeface="Arial"/>
                <a:cs typeface="Arial"/>
              </a:rPr>
              <a:t>Backpropagation</a:t>
            </a:r>
            <a:r>
              <a:rPr lang="en-US" sz="2400" b="1" spc="-65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and</a:t>
            </a:r>
            <a:r>
              <a:rPr lang="en-US" sz="2400" b="1" spc="-14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Automatic Differentiation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97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123" y="202003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compute</a:t>
            </a:r>
            <a:r>
              <a:rPr spc="-45" dirty="0"/>
              <a:t> </a:t>
            </a:r>
            <a:r>
              <a:rPr dirty="0"/>
              <a:t>gradients?</a:t>
            </a:r>
            <a:r>
              <a:rPr spc="-40" dirty="0"/>
              <a:t> 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1230054" y="2636726"/>
            <a:ext cx="1510906" cy="12697"/>
          </a:xfrm>
          <a:custGeom>
            <a:avLst/>
            <a:gdLst/>
            <a:ahLst/>
            <a:cxnLst/>
            <a:rect l="l" t="t" r="r" b="b"/>
            <a:pathLst>
              <a:path w="1511300" h="12700">
                <a:moveTo>
                  <a:pt x="1511300" y="0"/>
                </a:moveTo>
                <a:lnTo>
                  <a:pt x="0" y="0"/>
                </a:lnTo>
                <a:lnTo>
                  <a:pt x="0" y="12700"/>
                </a:lnTo>
                <a:lnTo>
                  <a:pt x="1511300" y="12700"/>
                </a:lnTo>
                <a:lnTo>
                  <a:pt x="151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/>
          <p:nvPr/>
        </p:nvSpPr>
        <p:spPr>
          <a:xfrm>
            <a:off x="1614473" y="2368823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8" y="8595"/>
                </a:lnTo>
                <a:lnTo>
                  <a:pt x="220435" y="13914"/>
                </a:lnTo>
                <a:lnTo>
                  <a:pt x="230976" y="21277"/>
                </a:lnTo>
                <a:lnTo>
                  <a:pt x="252380" y="55409"/>
                </a:lnTo>
                <a:lnTo>
                  <a:pt x="258598" y="86516"/>
                </a:lnTo>
                <a:lnTo>
                  <a:pt x="258631" y="86747"/>
                </a:lnTo>
                <a:lnTo>
                  <a:pt x="256273" y="140446"/>
                </a:lnTo>
                <a:lnTo>
                  <a:pt x="239749" y="180840"/>
                </a:lnTo>
                <a:lnTo>
                  <a:pt x="208512" y="203150"/>
                </a:lnTo>
                <a:lnTo>
                  <a:pt x="211192" y="211745"/>
                </a:lnTo>
                <a:lnTo>
                  <a:pt x="251647" y="187708"/>
                </a:lnTo>
                <a:lnTo>
                  <a:pt x="274369" y="143335"/>
                </a:lnTo>
                <a:lnTo>
                  <a:pt x="278723" y="105928"/>
                </a:lnTo>
                <a:lnTo>
                  <a:pt x="277644" y="86747"/>
                </a:lnTo>
                <a:lnTo>
                  <a:pt x="261254" y="37114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982" y="123487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9"/>
                </a:lnTo>
                <a:lnTo>
                  <a:pt x="47815" y="21277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/>
          <p:nvPr/>
        </p:nvSpPr>
        <p:spPr>
          <a:xfrm>
            <a:off x="2349865" y="2368823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8" y="8595"/>
                </a:lnTo>
                <a:lnTo>
                  <a:pt x="220435" y="13914"/>
                </a:lnTo>
                <a:lnTo>
                  <a:pt x="230976" y="21277"/>
                </a:lnTo>
                <a:lnTo>
                  <a:pt x="252380" y="55409"/>
                </a:lnTo>
                <a:lnTo>
                  <a:pt x="258598" y="86516"/>
                </a:lnTo>
                <a:lnTo>
                  <a:pt x="258631" y="86747"/>
                </a:lnTo>
                <a:lnTo>
                  <a:pt x="256273" y="140446"/>
                </a:lnTo>
                <a:lnTo>
                  <a:pt x="239749" y="180840"/>
                </a:lnTo>
                <a:lnTo>
                  <a:pt x="208512" y="203150"/>
                </a:lnTo>
                <a:lnTo>
                  <a:pt x="211192" y="211745"/>
                </a:lnTo>
                <a:lnTo>
                  <a:pt x="251647" y="187708"/>
                </a:lnTo>
                <a:lnTo>
                  <a:pt x="274369" y="143335"/>
                </a:lnTo>
                <a:lnTo>
                  <a:pt x="278723" y="105928"/>
                </a:lnTo>
                <a:lnTo>
                  <a:pt x="277644" y="86747"/>
                </a:lnTo>
                <a:lnTo>
                  <a:pt x="261254" y="37114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62" y="104811"/>
                </a:lnTo>
                <a:lnTo>
                  <a:pt x="0" y="105928"/>
                </a:lnTo>
                <a:lnTo>
                  <a:pt x="982" y="123487"/>
                </a:lnTo>
                <a:lnTo>
                  <a:pt x="1088" y="125381"/>
                </a:lnTo>
                <a:lnTo>
                  <a:pt x="4353" y="143335"/>
                </a:lnTo>
                <a:lnTo>
                  <a:pt x="27075" y="187708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9"/>
                </a:lnTo>
                <a:lnTo>
                  <a:pt x="47815" y="21277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/>
          <p:nvPr/>
        </p:nvSpPr>
        <p:spPr>
          <a:xfrm>
            <a:off x="3045682" y="2636726"/>
            <a:ext cx="584048" cy="12697"/>
          </a:xfrm>
          <a:custGeom>
            <a:avLst/>
            <a:gdLst/>
            <a:ahLst/>
            <a:cxnLst/>
            <a:rect l="l" t="t" r="r" b="b"/>
            <a:pathLst>
              <a:path w="584200" h="12700">
                <a:moveTo>
                  <a:pt x="584200" y="0"/>
                </a:moveTo>
                <a:lnTo>
                  <a:pt x="0" y="0"/>
                </a:lnTo>
                <a:lnTo>
                  <a:pt x="0" y="12700"/>
                </a:lnTo>
                <a:lnTo>
                  <a:pt x="584200" y="12700"/>
                </a:lnTo>
                <a:lnTo>
                  <a:pt x="584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/>
          <p:nvPr/>
        </p:nvSpPr>
        <p:spPr>
          <a:xfrm>
            <a:off x="3896360" y="2636726"/>
            <a:ext cx="596745" cy="12697"/>
          </a:xfrm>
          <a:custGeom>
            <a:avLst/>
            <a:gdLst/>
            <a:ahLst/>
            <a:cxnLst/>
            <a:rect l="l" t="t" r="r" b="b"/>
            <a:pathLst>
              <a:path w="596900" h="12700">
                <a:moveTo>
                  <a:pt x="596900" y="0"/>
                </a:moveTo>
                <a:lnTo>
                  <a:pt x="0" y="0"/>
                </a:lnTo>
                <a:lnTo>
                  <a:pt x="0" y="12700"/>
                </a:lnTo>
                <a:lnTo>
                  <a:pt x="596900" y="12700"/>
                </a:lnTo>
                <a:lnTo>
                  <a:pt x="596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/>
          <p:nvPr/>
        </p:nvSpPr>
        <p:spPr>
          <a:xfrm>
            <a:off x="1230054" y="3959869"/>
            <a:ext cx="1295063" cy="12697"/>
          </a:xfrm>
          <a:custGeom>
            <a:avLst/>
            <a:gdLst/>
            <a:ahLst/>
            <a:cxnLst/>
            <a:rect l="l" t="t" r="r" b="b"/>
            <a:pathLst>
              <a:path w="1295400" h="12700">
                <a:moveTo>
                  <a:pt x="1295400" y="0"/>
                </a:moveTo>
                <a:lnTo>
                  <a:pt x="0" y="0"/>
                </a:lnTo>
                <a:lnTo>
                  <a:pt x="0" y="12700"/>
                </a:lnTo>
                <a:lnTo>
                  <a:pt x="1295400" y="12700"/>
                </a:lnTo>
                <a:lnTo>
                  <a:pt x="129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/>
          <p:cNvSpPr/>
          <p:nvPr/>
        </p:nvSpPr>
        <p:spPr>
          <a:xfrm>
            <a:off x="1618092" y="3691965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8" y="8594"/>
                </a:lnTo>
                <a:lnTo>
                  <a:pt x="220435" y="13913"/>
                </a:lnTo>
                <a:lnTo>
                  <a:pt x="230976" y="21277"/>
                </a:lnTo>
                <a:lnTo>
                  <a:pt x="252380" y="55408"/>
                </a:lnTo>
                <a:lnTo>
                  <a:pt x="259412" y="104811"/>
                </a:lnTo>
                <a:lnTo>
                  <a:pt x="258627" y="123487"/>
                </a:lnTo>
                <a:lnTo>
                  <a:pt x="246854" y="169217"/>
                </a:lnTo>
                <a:lnTo>
                  <a:pt x="220578" y="197806"/>
                </a:lnTo>
                <a:lnTo>
                  <a:pt x="208512" y="203150"/>
                </a:lnTo>
                <a:lnTo>
                  <a:pt x="211192" y="211744"/>
                </a:lnTo>
                <a:lnTo>
                  <a:pt x="251647" y="187707"/>
                </a:lnTo>
                <a:lnTo>
                  <a:pt x="274369" y="143334"/>
                </a:lnTo>
                <a:lnTo>
                  <a:pt x="278723" y="105928"/>
                </a:lnTo>
                <a:lnTo>
                  <a:pt x="277644" y="86746"/>
                </a:lnTo>
                <a:lnTo>
                  <a:pt x="277631" y="86516"/>
                </a:lnTo>
                <a:lnTo>
                  <a:pt x="261254" y="37113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982" y="123487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8"/>
                </a:lnTo>
                <a:lnTo>
                  <a:pt x="47815" y="21277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0" name="object 10"/>
          <p:cNvSpPr/>
          <p:nvPr/>
        </p:nvSpPr>
        <p:spPr>
          <a:xfrm>
            <a:off x="2080505" y="3691965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8" y="8594"/>
                </a:lnTo>
                <a:lnTo>
                  <a:pt x="220435" y="13913"/>
                </a:lnTo>
                <a:lnTo>
                  <a:pt x="230976" y="21277"/>
                </a:lnTo>
                <a:lnTo>
                  <a:pt x="252380" y="55408"/>
                </a:lnTo>
                <a:lnTo>
                  <a:pt x="259412" y="104811"/>
                </a:lnTo>
                <a:lnTo>
                  <a:pt x="258627" y="123487"/>
                </a:lnTo>
                <a:lnTo>
                  <a:pt x="246854" y="169217"/>
                </a:lnTo>
                <a:lnTo>
                  <a:pt x="220578" y="197806"/>
                </a:lnTo>
                <a:lnTo>
                  <a:pt x="208512" y="203150"/>
                </a:lnTo>
                <a:lnTo>
                  <a:pt x="211192" y="211744"/>
                </a:lnTo>
                <a:lnTo>
                  <a:pt x="251647" y="187707"/>
                </a:lnTo>
                <a:lnTo>
                  <a:pt x="274369" y="143334"/>
                </a:lnTo>
                <a:lnTo>
                  <a:pt x="278723" y="105928"/>
                </a:lnTo>
                <a:lnTo>
                  <a:pt x="277644" y="86746"/>
                </a:lnTo>
                <a:lnTo>
                  <a:pt x="277631" y="86516"/>
                </a:lnTo>
                <a:lnTo>
                  <a:pt x="261254" y="37113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982" y="123487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8"/>
                </a:lnTo>
                <a:lnTo>
                  <a:pt x="47815" y="21277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1" name="object 11"/>
          <p:cNvSpPr/>
          <p:nvPr/>
        </p:nvSpPr>
        <p:spPr>
          <a:xfrm>
            <a:off x="2829838" y="3959869"/>
            <a:ext cx="584048" cy="12697"/>
          </a:xfrm>
          <a:custGeom>
            <a:avLst/>
            <a:gdLst/>
            <a:ahLst/>
            <a:cxnLst/>
            <a:rect l="l" t="t" r="r" b="b"/>
            <a:pathLst>
              <a:path w="584200" h="12700">
                <a:moveTo>
                  <a:pt x="584200" y="0"/>
                </a:moveTo>
                <a:lnTo>
                  <a:pt x="0" y="0"/>
                </a:lnTo>
                <a:lnTo>
                  <a:pt x="0" y="12700"/>
                </a:lnTo>
                <a:lnTo>
                  <a:pt x="584200" y="12700"/>
                </a:lnTo>
                <a:lnTo>
                  <a:pt x="584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2" name="object 12"/>
          <p:cNvSpPr/>
          <p:nvPr/>
        </p:nvSpPr>
        <p:spPr>
          <a:xfrm>
            <a:off x="3107477" y="3691965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8" y="8594"/>
                </a:lnTo>
                <a:lnTo>
                  <a:pt x="220435" y="13913"/>
                </a:lnTo>
                <a:lnTo>
                  <a:pt x="230976" y="21277"/>
                </a:lnTo>
                <a:lnTo>
                  <a:pt x="252380" y="55408"/>
                </a:lnTo>
                <a:lnTo>
                  <a:pt x="259412" y="104811"/>
                </a:lnTo>
                <a:lnTo>
                  <a:pt x="258627" y="123487"/>
                </a:lnTo>
                <a:lnTo>
                  <a:pt x="246854" y="169217"/>
                </a:lnTo>
                <a:lnTo>
                  <a:pt x="220578" y="197806"/>
                </a:lnTo>
                <a:lnTo>
                  <a:pt x="208512" y="203150"/>
                </a:lnTo>
                <a:lnTo>
                  <a:pt x="211192" y="211744"/>
                </a:lnTo>
                <a:lnTo>
                  <a:pt x="251647" y="187707"/>
                </a:lnTo>
                <a:lnTo>
                  <a:pt x="274369" y="143334"/>
                </a:lnTo>
                <a:lnTo>
                  <a:pt x="278723" y="105928"/>
                </a:lnTo>
                <a:lnTo>
                  <a:pt x="277644" y="86746"/>
                </a:lnTo>
                <a:lnTo>
                  <a:pt x="261254" y="37113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982" y="123487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8"/>
                </a:lnTo>
                <a:lnTo>
                  <a:pt x="47815" y="21277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3" name="object 13"/>
          <p:cNvSpPr/>
          <p:nvPr/>
        </p:nvSpPr>
        <p:spPr>
          <a:xfrm>
            <a:off x="4175688" y="3959869"/>
            <a:ext cx="596745" cy="12697"/>
          </a:xfrm>
          <a:custGeom>
            <a:avLst/>
            <a:gdLst/>
            <a:ahLst/>
            <a:cxnLst/>
            <a:rect l="l" t="t" r="r" b="b"/>
            <a:pathLst>
              <a:path w="596900" h="12700">
                <a:moveTo>
                  <a:pt x="596900" y="0"/>
                </a:moveTo>
                <a:lnTo>
                  <a:pt x="0" y="0"/>
                </a:lnTo>
                <a:lnTo>
                  <a:pt x="0" y="12700"/>
                </a:lnTo>
                <a:lnTo>
                  <a:pt x="596900" y="12700"/>
                </a:lnTo>
                <a:lnTo>
                  <a:pt x="596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4" name="object 14"/>
          <p:cNvSpPr/>
          <p:nvPr/>
        </p:nvSpPr>
        <p:spPr>
          <a:xfrm>
            <a:off x="4475863" y="3691965"/>
            <a:ext cx="278692" cy="212035"/>
          </a:xfrm>
          <a:custGeom>
            <a:avLst/>
            <a:gdLst/>
            <a:ahLst/>
            <a:cxnLst/>
            <a:rect l="l" t="t" r="r" b="b"/>
            <a:pathLst>
              <a:path w="278764" h="212089">
                <a:moveTo>
                  <a:pt x="211192" y="0"/>
                </a:moveTo>
                <a:lnTo>
                  <a:pt x="208177" y="8594"/>
                </a:lnTo>
                <a:lnTo>
                  <a:pt x="220434" y="13913"/>
                </a:lnTo>
                <a:lnTo>
                  <a:pt x="230976" y="21277"/>
                </a:lnTo>
                <a:lnTo>
                  <a:pt x="252379" y="55408"/>
                </a:lnTo>
                <a:lnTo>
                  <a:pt x="259411" y="104811"/>
                </a:lnTo>
                <a:lnTo>
                  <a:pt x="258626" y="123487"/>
                </a:lnTo>
                <a:lnTo>
                  <a:pt x="246854" y="169217"/>
                </a:lnTo>
                <a:lnTo>
                  <a:pt x="220577" y="197806"/>
                </a:lnTo>
                <a:lnTo>
                  <a:pt x="208512" y="203150"/>
                </a:lnTo>
                <a:lnTo>
                  <a:pt x="211192" y="211744"/>
                </a:lnTo>
                <a:lnTo>
                  <a:pt x="251646" y="187707"/>
                </a:lnTo>
                <a:lnTo>
                  <a:pt x="274368" y="143334"/>
                </a:lnTo>
                <a:lnTo>
                  <a:pt x="278721" y="105928"/>
                </a:lnTo>
                <a:lnTo>
                  <a:pt x="277642" y="86746"/>
                </a:lnTo>
                <a:lnTo>
                  <a:pt x="261252" y="37113"/>
                </a:lnTo>
                <a:lnTo>
                  <a:pt x="226543" y="5542"/>
                </a:lnTo>
                <a:lnTo>
                  <a:pt x="211192" y="0"/>
                </a:lnTo>
                <a:close/>
              </a:path>
              <a:path w="278764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982" y="123487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57" y="105928"/>
                </a:lnTo>
                <a:lnTo>
                  <a:pt x="19310" y="104811"/>
                </a:lnTo>
                <a:lnTo>
                  <a:pt x="26374" y="55408"/>
                </a:lnTo>
                <a:lnTo>
                  <a:pt x="47815" y="21277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5" name="object 15"/>
          <p:cNvSpPr/>
          <p:nvPr/>
        </p:nvSpPr>
        <p:spPr>
          <a:xfrm>
            <a:off x="1230054" y="5283010"/>
            <a:ext cx="914162" cy="12697"/>
          </a:xfrm>
          <a:custGeom>
            <a:avLst/>
            <a:gdLst/>
            <a:ahLst/>
            <a:cxnLst/>
            <a:rect l="l" t="t" r="r" b="b"/>
            <a:pathLst>
              <a:path w="914400" h="12700">
                <a:moveTo>
                  <a:pt x="914400" y="0"/>
                </a:moveTo>
                <a:lnTo>
                  <a:pt x="0" y="0"/>
                </a:lnTo>
                <a:lnTo>
                  <a:pt x="0" y="12700"/>
                </a:lnTo>
                <a:lnTo>
                  <a:pt x="914400" y="12700"/>
                </a:lnTo>
                <a:lnTo>
                  <a:pt x="914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/>
          <p:nvPr/>
        </p:nvSpPr>
        <p:spPr>
          <a:xfrm>
            <a:off x="1507884" y="5015107"/>
            <a:ext cx="613250" cy="212035"/>
          </a:xfrm>
          <a:custGeom>
            <a:avLst/>
            <a:gdLst/>
            <a:ahLst/>
            <a:cxnLst/>
            <a:rect l="l" t="t" r="r" b="b"/>
            <a:pathLst>
              <a:path w="613410" h="212089">
                <a:moveTo>
                  <a:pt x="545329" y="0"/>
                </a:moveTo>
                <a:lnTo>
                  <a:pt x="542315" y="8595"/>
                </a:lnTo>
                <a:lnTo>
                  <a:pt x="554572" y="13915"/>
                </a:lnTo>
                <a:lnTo>
                  <a:pt x="565113" y="21278"/>
                </a:lnTo>
                <a:lnTo>
                  <a:pt x="586517" y="55409"/>
                </a:lnTo>
                <a:lnTo>
                  <a:pt x="593549" y="104813"/>
                </a:lnTo>
                <a:lnTo>
                  <a:pt x="592764" y="123488"/>
                </a:lnTo>
                <a:lnTo>
                  <a:pt x="580991" y="169218"/>
                </a:lnTo>
                <a:lnTo>
                  <a:pt x="554715" y="197807"/>
                </a:lnTo>
                <a:lnTo>
                  <a:pt x="542649" y="203150"/>
                </a:lnTo>
                <a:lnTo>
                  <a:pt x="545329" y="211745"/>
                </a:lnTo>
                <a:lnTo>
                  <a:pt x="585784" y="187708"/>
                </a:lnTo>
                <a:lnTo>
                  <a:pt x="608506" y="143336"/>
                </a:lnTo>
                <a:lnTo>
                  <a:pt x="612860" y="105929"/>
                </a:lnTo>
                <a:lnTo>
                  <a:pt x="611781" y="86747"/>
                </a:lnTo>
                <a:lnTo>
                  <a:pt x="611768" y="86517"/>
                </a:lnTo>
                <a:lnTo>
                  <a:pt x="595391" y="37114"/>
                </a:lnTo>
                <a:lnTo>
                  <a:pt x="560680" y="5542"/>
                </a:lnTo>
                <a:lnTo>
                  <a:pt x="545329" y="0"/>
                </a:lnTo>
                <a:close/>
              </a:path>
              <a:path w="61341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982" y="123488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7"/>
                </a:lnTo>
                <a:lnTo>
                  <a:pt x="47732" y="190370"/>
                </a:lnTo>
                <a:lnTo>
                  <a:pt x="26374" y="155691"/>
                </a:lnTo>
                <a:lnTo>
                  <a:pt x="19357" y="105929"/>
                </a:lnTo>
                <a:lnTo>
                  <a:pt x="19310" y="104813"/>
                </a:lnTo>
                <a:lnTo>
                  <a:pt x="26374" y="55409"/>
                </a:lnTo>
                <a:lnTo>
                  <a:pt x="47815" y="21278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object 17"/>
          <p:cNvSpPr/>
          <p:nvPr/>
        </p:nvSpPr>
        <p:spPr>
          <a:xfrm>
            <a:off x="2436241" y="5283021"/>
            <a:ext cx="1218883" cy="12697"/>
          </a:xfrm>
          <a:custGeom>
            <a:avLst/>
            <a:gdLst/>
            <a:ahLst/>
            <a:cxnLst/>
            <a:rect l="l" t="t" r="r" b="b"/>
            <a:pathLst>
              <a:path w="1219200" h="12700">
                <a:moveTo>
                  <a:pt x="584200" y="0"/>
                </a:moveTo>
                <a:lnTo>
                  <a:pt x="0" y="0"/>
                </a:lnTo>
                <a:lnTo>
                  <a:pt x="0" y="12700"/>
                </a:lnTo>
                <a:lnTo>
                  <a:pt x="584200" y="12700"/>
                </a:lnTo>
                <a:lnTo>
                  <a:pt x="584200" y="0"/>
                </a:lnTo>
                <a:close/>
              </a:path>
              <a:path w="1219200" h="12700">
                <a:moveTo>
                  <a:pt x="1219200" y="0"/>
                </a:moveTo>
                <a:lnTo>
                  <a:pt x="622300" y="0"/>
                </a:lnTo>
                <a:lnTo>
                  <a:pt x="622300" y="12700"/>
                </a:lnTo>
                <a:lnTo>
                  <a:pt x="1219200" y="12700"/>
                </a:lnTo>
                <a:lnTo>
                  <a:pt x="1219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8" name="object 18"/>
          <p:cNvSpPr/>
          <p:nvPr/>
        </p:nvSpPr>
        <p:spPr>
          <a:xfrm>
            <a:off x="2722894" y="5015107"/>
            <a:ext cx="282501" cy="212035"/>
          </a:xfrm>
          <a:custGeom>
            <a:avLst/>
            <a:gdLst/>
            <a:ahLst/>
            <a:cxnLst/>
            <a:rect l="l" t="t" r="r" b="b"/>
            <a:pathLst>
              <a:path w="282575" h="212089">
                <a:moveTo>
                  <a:pt x="214557" y="0"/>
                </a:moveTo>
                <a:lnTo>
                  <a:pt x="211543" y="8595"/>
                </a:lnTo>
                <a:lnTo>
                  <a:pt x="223800" y="13915"/>
                </a:lnTo>
                <a:lnTo>
                  <a:pt x="234341" y="21278"/>
                </a:lnTo>
                <a:lnTo>
                  <a:pt x="255745" y="55409"/>
                </a:lnTo>
                <a:lnTo>
                  <a:pt x="261962" y="86517"/>
                </a:lnTo>
                <a:lnTo>
                  <a:pt x="261995" y="86747"/>
                </a:lnTo>
                <a:lnTo>
                  <a:pt x="259638" y="140448"/>
                </a:lnTo>
                <a:lnTo>
                  <a:pt x="243115" y="180840"/>
                </a:lnTo>
                <a:lnTo>
                  <a:pt x="211877" y="203150"/>
                </a:lnTo>
                <a:lnTo>
                  <a:pt x="214557" y="211745"/>
                </a:lnTo>
                <a:lnTo>
                  <a:pt x="255013" y="187708"/>
                </a:lnTo>
                <a:lnTo>
                  <a:pt x="277735" y="143336"/>
                </a:lnTo>
                <a:lnTo>
                  <a:pt x="282088" y="105929"/>
                </a:lnTo>
                <a:lnTo>
                  <a:pt x="281009" y="86747"/>
                </a:lnTo>
                <a:lnTo>
                  <a:pt x="280996" y="86517"/>
                </a:lnTo>
                <a:lnTo>
                  <a:pt x="264619" y="37114"/>
                </a:lnTo>
                <a:lnTo>
                  <a:pt x="229908" y="5542"/>
                </a:lnTo>
                <a:lnTo>
                  <a:pt x="214557" y="0"/>
                </a:lnTo>
                <a:close/>
              </a:path>
              <a:path w="28257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982" y="123488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7"/>
                </a:lnTo>
                <a:lnTo>
                  <a:pt x="47732" y="190370"/>
                </a:lnTo>
                <a:lnTo>
                  <a:pt x="26374" y="155691"/>
                </a:lnTo>
                <a:lnTo>
                  <a:pt x="19357" y="105929"/>
                </a:lnTo>
                <a:lnTo>
                  <a:pt x="19310" y="104813"/>
                </a:lnTo>
                <a:lnTo>
                  <a:pt x="26374" y="55409"/>
                </a:lnTo>
                <a:lnTo>
                  <a:pt x="47815" y="21278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9" name="object 19"/>
          <p:cNvSpPr txBox="1"/>
          <p:nvPr/>
        </p:nvSpPr>
        <p:spPr>
          <a:xfrm>
            <a:off x="853216" y="1572743"/>
            <a:ext cx="4499708" cy="39994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3439" indent="-227261">
              <a:spcBef>
                <a:spcPts val="100"/>
              </a:spcBef>
              <a:buChar char="•"/>
              <a:tabLst>
                <a:tab pos="303439" algn="l"/>
              </a:tabLst>
            </a:pPr>
            <a:r>
              <a:rPr sz="2399" dirty="0">
                <a:latin typeface="Arial MT"/>
                <a:cs typeface="Arial MT"/>
              </a:rPr>
              <a:t>Sum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rule</a:t>
            </a:r>
            <a:endParaRPr sz="2399" dirty="0">
              <a:latin typeface="Arial MT"/>
              <a:cs typeface="Arial MT"/>
            </a:endParaRPr>
          </a:p>
          <a:p>
            <a:pPr>
              <a:spcBef>
                <a:spcPts val="70"/>
              </a:spcBef>
              <a:buFont typeface="Arial MT"/>
              <a:buChar char="•"/>
            </a:pPr>
            <a:endParaRPr sz="2399" dirty="0">
              <a:latin typeface="Arial MT"/>
              <a:cs typeface="Arial MT"/>
            </a:endParaRPr>
          </a:p>
          <a:p>
            <a:pPr marL="374538">
              <a:tabLst>
                <a:tab pos="1110282" algn="l"/>
              </a:tabLst>
            </a:pPr>
            <a:r>
              <a:rPr sz="1799" dirty="0">
                <a:latin typeface="Cambria Math"/>
                <a:cs typeface="Cambria Math"/>
              </a:rPr>
              <a:t>𝑑(𝑓</a:t>
            </a:r>
            <a:r>
              <a:rPr sz="1799" spc="440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𝑥</a:t>
            </a:r>
            <a:r>
              <a:rPr sz="1799" dirty="0">
                <a:latin typeface="Cambria Math"/>
                <a:cs typeface="Cambria Math"/>
              </a:rPr>
              <a:t>	+</a:t>
            </a:r>
            <a:r>
              <a:rPr sz="1799" spc="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𝑔</a:t>
            </a:r>
            <a:r>
              <a:rPr sz="1799" spc="38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1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)</a:t>
            </a:r>
            <a:r>
              <a:rPr sz="1799" spc="105" dirty="0">
                <a:latin typeface="Cambria Math"/>
                <a:cs typeface="Cambria Math"/>
              </a:rPr>
              <a:t> </a:t>
            </a:r>
            <a:r>
              <a:rPr sz="2699" baseline="-41666" dirty="0">
                <a:latin typeface="Cambria Math"/>
                <a:cs typeface="Cambria Math"/>
              </a:rPr>
              <a:t>=</a:t>
            </a:r>
            <a:r>
              <a:rPr sz="2699" spc="165" baseline="-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𝑑𝑓(𝑥)</a:t>
            </a:r>
            <a:r>
              <a:rPr sz="1799" spc="5" dirty="0">
                <a:latin typeface="Cambria Math"/>
                <a:cs typeface="Cambria Math"/>
              </a:rPr>
              <a:t> </a:t>
            </a:r>
            <a:r>
              <a:rPr sz="2699" baseline="-41666" dirty="0">
                <a:latin typeface="Cambria Math"/>
                <a:cs typeface="Cambria Math"/>
              </a:rPr>
              <a:t>+</a:t>
            </a:r>
            <a:r>
              <a:rPr sz="2699" spc="7" baseline="-41666" dirty="0">
                <a:latin typeface="Cambria Math"/>
                <a:cs typeface="Cambria Math"/>
              </a:rPr>
              <a:t> </a:t>
            </a:r>
            <a:r>
              <a:rPr sz="1799" spc="-20" dirty="0">
                <a:latin typeface="Cambria Math"/>
                <a:cs typeface="Cambria Math"/>
              </a:rPr>
              <a:t>𝑑𝑔(𝑥)</a:t>
            </a:r>
            <a:endParaRPr sz="1799" dirty="0">
              <a:latin typeface="Cambria Math"/>
              <a:cs typeface="Cambria Math"/>
            </a:endParaRPr>
          </a:p>
          <a:p>
            <a:pPr marL="1001729">
              <a:spcBef>
                <a:spcPts val="409"/>
              </a:spcBef>
              <a:tabLst>
                <a:tab pos="2350065" algn="l"/>
                <a:tab pos="3212136" algn="l"/>
              </a:tabLst>
            </a:pPr>
            <a:r>
              <a:rPr sz="1799" spc="-25" dirty="0">
                <a:latin typeface="Cambria Math"/>
                <a:cs typeface="Cambria Math"/>
              </a:rPr>
              <a:t>𝑑𝑥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𝑑𝑥</a:t>
            </a:r>
            <a:endParaRPr sz="1799" dirty="0">
              <a:latin typeface="Cambria Math"/>
              <a:cs typeface="Cambria Math"/>
            </a:endParaRPr>
          </a:p>
          <a:p>
            <a:pPr marL="303439" indent="-227261">
              <a:spcBef>
                <a:spcPts val="360"/>
              </a:spcBef>
              <a:buChar char="•"/>
              <a:tabLst>
                <a:tab pos="303439" algn="l"/>
              </a:tabLst>
            </a:pPr>
            <a:r>
              <a:rPr sz="2399" dirty="0">
                <a:latin typeface="Arial MT"/>
                <a:cs typeface="Arial MT"/>
              </a:rPr>
              <a:t>Product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rule</a:t>
            </a:r>
            <a:endParaRPr sz="2399" dirty="0">
              <a:latin typeface="Arial MT"/>
              <a:cs typeface="Arial MT"/>
            </a:endParaRPr>
          </a:p>
          <a:p>
            <a:pPr marL="378346">
              <a:spcBef>
                <a:spcPts val="2444"/>
              </a:spcBef>
              <a:tabLst>
                <a:tab pos="2590658" algn="l"/>
                <a:tab pos="3958672" algn="l"/>
              </a:tabLst>
            </a:pPr>
            <a:r>
              <a:rPr sz="1799" dirty="0">
                <a:latin typeface="Cambria Math"/>
                <a:cs typeface="Cambria Math"/>
              </a:rPr>
              <a:t>𝑑(𝑓</a:t>
            </a:r>
            <a:r>
              <a:rPr sz="1799" spc="3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09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𝑔</a:t>
            </a:r>
            <a:r>
              <a:rPr sz="1799" spc="38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09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)</a:t>
            </a:r>
            <a:r>
              <a:rPr sz="1799" spc="50" dirty="0">
                <a:latin typeface="Cambria Math"/>
                <a:cs typeface="Cambria Math"/>
              </a:rPr>
              <a:t>  </a:t>
            </a:r>
            <a:r>
              <a:rPr sz="2699" baseline="-41666" dirty="0">
                <a:latin typeface="Cambria Math"/>
                <a:cs typeface="Cambria Math"/>
              </a:rPr>
              <a:t>=</a:t>
            </a:r>
            <a:r>
              <a:rPr sz="2699" spc="165" baseline="-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𝑑𝑓</a:t>
            </a:r>
            <a:r>
              <a:rPr sz="1799" spc="400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2699" baseline="-41666" dirty="0">
                <a:latin typeface="Cambria Math"/>
                <a:cs typeface="Cambria Math"/>
              </a:rPr>
              <a:t>𝑔(𝑥)</a:t>
            </a:r>
            <a:r>
              <a:rPr sz="2699" spc="15" baseline="-41666" dirty="0">
                <a:latin typeface="Cambria Math"/>
                <a:cs typeface="Cambria Math"/>
              </a:rPr>
              <a:t> </a:t>
            </a:r>
            <a:r>
              <a:rPr sz="2699" baseline="-41666" dirty="0">
                <a:latin typeface="Cambria Math"/>
                <a:cs typeface="Cambria Math"/>
              </a:rPr>
              <a:t>+</a:t>
            </a:r>
            <a:r>
              <a:rPr sz="2699" spc="22" baseline="-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𝑑𝑔</a:t>
            </a:r>
            <a:r>
              <a:rPr sz="1799" spc="3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2699" spc="-30" baseline="-41666" dirty="0">
                <a:latin typeface="Cambria Math"/>
                <a:cs typeface="Cambria Math"/>
              </a:rPr>
              <a:t>𝑓(𝑥)</a:t>
            </a:r>
            <a:endParaRPr sz="2699" baseline="-41666" dirty="0">
              <a:latin typeface="Cambria Math"/>
              <a:cs typeface="Cambria Math"/>
            </a:endParaRPr>
          </a:p>
          <a:p>
            <a:pPr marL="894447">
              <a:spcBef>
                <a:spcPts val="409"/>
              </a:spcBef>
              <a:tabLst>
                <a:tab pos="2131055" algn="l"/>
                <a:tab pos="3493356" algn="l"/>
              </a:tabLst>
            </a:pPr>
            <a:r>
              <a:rPr sz="1799" spc="-25" dirty="0">
                <a:latin typeface="Cambria Math"/>
                <a:cs typeface="Cambria Math"/>
              </a:rPr>
              <a:t>𝑑𝑥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𝑑𝑥</a:t>
            </a:r>
            <a:endParaRPr sz="1799" dirty="0">
              <a:latin typeface="Cambria Math"/>
              <a:cs typeface="Cambria Math"/>
            </a:endParaRPr>
          </a:p>
          <a:p>
            <a:pPr marL="303439" indent="-227261">
              <a:spcBef>
                <a:spcPts val="745"/>
              </a:spcBef>
              <a:buChar char="•"/>
              <a:tabLst>
                <a:tab pos="303439" algn="l"/>
              </a:tabLst>
            </a:pPr>
            <a:r>
              <a:rPr sz="2399" dirty="0">
                <a:latin typeface="Arial MT"/>
                <a:cs typeface="Arial MT"/>
              </a:rPr>
              <a:t>Chain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rule</a:t>
            </a:r>
            <a:endParaRPr sz="2399" dirty="0">
              <a:latin typeface="Arial MT"/>
              <a:cs typeface="Arial MT"/>
            </a:endParaRPr>
          </a:p>
          <a:p>
            <a:pPr marL="370729">
              <a:spcBef>
                <a:spcPts val="2084"/>
              </a:spcBef>
              <a:tabLst>
                <a:tab pos="1350240" algn="l"/>
                <a:tab pos="2209137" algn="l"/>
              </a:tabLst>
            </a:pPr>
            <a:r>
              <a:rPr sz="1799" dirty="0">
                <a:latin typeface="Cambria Math"/>
                <a:cs typeface="Cambria Math"/>
              </a:rPr>
              <a:t>𝑑𝑓</a:t>
            </a:r>
            <a:r>
              <a:rPr sz="1799" spc="380" dirty="0">
                <a:latin typeface="Cambria Math"/>
                <a:cs typeface="Cambria Math"/>
              </a:rPr>
              <a:t> </a:t>
            </a:r>
            <a:r>
              <a:rPr sz="1799" spc="-20" dirty="0">
                <a:latin typeface="Cambria Math"/>
                <a:cs typeface="Cambria Math"/>
              </a:rPr>
              <a:t>𝑔(𝑥)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2699" baseline="-41666" dirty="0">
                <a:latin typeface="Cambria Math"/>
                <a:cs typeface="Cambria Math"/>
              </a:rPr>
              <a:t>=</a:t>
            </a:r>
            <a:r>
              <a:rPr sz="2699" spc="142" baseline="-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𝑑𝑓</a:t>
            </a:r>
            <a:r>
              <a:rPr sz="1799" spc="38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𝑦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0" dirty="0">
                <a:latin typeface="Cambria Math"/>
                <a:cs typeface="Cambria Math"/>
              </a:rPr>
              <a:t>𝑑𝑔(𝑥)</a:t>
            </a:r>
            <a:endParaRPr sz="1799" dirty="0">
              <a:latin typeface="Cambria Math"/>
              <a:cs typeface="Cambria Math"/>
            </a:endParaRPr>
          </a:p>
          <a:p>
            <a:pPr marL="698290">
              <a:spcBef>
                <a:spcPts val="409"/>
              </a:spcBef>
              <a:tabLst>
                <a:tab pos="1746361" algn="l"/>
                <a:tab pos="2376727" algn="l"/>
              </a:tabLst>
            </a:pPr>
            <a:r>
              <a:rPr sz="1799" spc="-25" dirty="0">
                <a:latin typeface="Cambria Math"/>
                <a:cs typeface="Cambria Math"/>
              </a:rPr>
              <a:t>𝑑𝑥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𝑑𝑦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𝑑𝑥</a:t>
            </a:r>
            <a:endParaRPr sz="1799" dirty="0">
              <a:latin typeface="Cambria Math"/>
              <a:cs typeface="Cambria Math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DA59F-EC47-ABDF-3278-F11DD0481159}"/>
              </a:ext>
            </a:extLst>
          </p:cNvPr>
          <p:cNvSpPr txBox="1"/>
          <p:nvPr/>
        </p:nvSpPr>
        <p:spPr>
          <a:xfrm>
            <a:off x="5540474" y="21516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have two functions f(x) and g(x), the derivative of their sum is simply the sum of their derivatives.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B07530DA-E474-BF81-2D36-6BDC7BFD2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474" y="3359704"/>
            <a:ext cx="60080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differentiating a product of two functions, you take the first function times the derivative of the second, plus the second function times the derivative of the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30B77B-BD02-44CA-D7D3-F4E11ABF4743}"/>
              </a:ext>
            </a:extLst>
          </p:cNvPr>
          <p:cNvSpPr txBox="1"/>
          <p:nvPr/>
        </p:nvSpPr>
        <p:spPr>
          <a:xfrm>
            <a:off x="5540474" y="46488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one function is “inside” another, you multiply the outer derivative by the inner derivative. 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928" y="104731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Backpropagation: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simple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361902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1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/>
          <p:nvPr/>
        </p:nvSpPr>
        <p:spPr>
          <a:xfrm>
            <a:off x="2735304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7" y="164649"/>
                </a:lnTo>
                <a:lnTo>
                  <a:pt x="872975" y="207587"/>
                </a:lnTo>
                <a:lnTo>
                  <a:pt x="844497" y="253825"/>
                </a:lnTo>
                <a:lnTo>
                  <a:pt x="814528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8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916700" y="1572743"/>
            <a:ext cx="370616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39957" indent="-227261">
              <a:spcBef>
                <a:spcPts val="100"/>
              </a:spcBef>
              <a:buFont typeface="Arial MT"/>
              <a:buChar char="•"/>
              <a:tabLst>
                <a:tab pos="239957" algn="l"/>
                <a:tab pos="544667" algn="l"/>
                <a:tab pos="1479741" algn="l"/>
                <a:tab pos="1917759" algn="l"/>
                <a:tab pos="2752534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r>
              <a:rPr sz="2399" dirty="0">
                <a:latin typeface="Cambria Math"/>
                <a:cs typeface="Cambria Math"/>
              </a:rPr>
              <a:t>	</a:t>
            </a:r>
            <a:r>
              <a:rPr sz="2399" spc="-50" dirty="0">
                <a:latin typeface="Cambria Math"/>
                <a:cs typeface="Cambria Math"/>
              </a:rPr>
              <a:t>=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𝑦</a:t>
            </a:r>
            <a:r>
              <a:rPr sz="2399" dirty="0">
                <a:latin typeface="Cambria Math"/>
                <a:cs typeface="Cambria Math"/>
              </a:rPr>
              <a:t>	(𝑥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𝑧)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62989" y="22165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8031507" y="227969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0856" y="161235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04642" y="1809117"/>
            <a:ext cx="2826284" cy="1445518"/>
            <a:chOff x="6906441" y="1808694"/>
            <a:chExt cx="2827020" cy="1445895"/>
          </a:xfrm>
        </p:grpSpPr>
        <p:sp>
          <p:nvSpPr>
            <p:cNvPr id="10" name="object 10"/>
            <p:cNvSpPr/>
            <p:nvPr/>
          </p:nvSpPr>
          <p:spPr>
            <a:xfrm>
              <a:off x="6906437" y="1808695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42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64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51"/>
                  </a:lnTo>
                  <a:lnTo>
                    <a:pt x="1037717" y="486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" name="object 11"/>
            <p:cNvSpPr/>
            <p:nvPr/>
          </p:nvSpPr>
          <p:spPr>
            <a:xfrm>
              <a:off x="9178635" y="269995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50856" y="258746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74125" y="2800767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87829" y="2473129"/>
            <a:ext cx="3497304" cy="1517255"/>
          </a:xfrm>
          <a:custGeom>
            <a:avLst/>
            <a:gdLst/>
            <a:ahLst/>
            <a:cxnLst/>
            <a:rect l="l" t="t" r="r" b="b"/>
            <a:pathLst>
              <a:path w="3498215" h="1517650">
                <a:moveTo>
                  <a:pt x="1059319" y="1233106"/>
                </a:moveTo>
                <a:lnTo>
                  <a:pt x="965644" y="1212824"/>
                </a:lnTo>
                <a:lnTo>
                  <a:pt x="972731" y="1240510"/>
                </a:lnTo>
                <a:lnTo>
                  <a:pt x="0" y="1489367"/>
                </a:lnTo>
                <a:lnTo>
                  <a:pt x="7073" y="1517053"/>
                </a:lnTo>
                <a:lnTo>
                  <a:pt x="979805" y="1268196"/>
                </a:lnTo>
                <a:lnTo>
                  <a:pt x="986891" y="1295882"/>
                </a:lnTo>
                <a:lnTo>
                  <a:pt x="1054862" y="1236967"/>
                </a:lnTo>
                <a:lnTo>
                  <a:pt x="1059319" y="1233106"/>
                </a:lnTo>
                <a:close/>
              </a:path>
              <a:path w="3498215" h="1517650">
                <a:moveTo>
                  <a:pt x="2368131" y="306209"/>
                </a:moveTo>
                <a:lnTo>
                  <a:pt x="2358618" y="296519"/>
                </a:lnTo>
                <a:lnTo>
                  <a:pt x="2300973" y="237820"/>
                </a:lnTo>
                <a:lnTo>
                  <a:pt x="2291702" y="264845"/>
                </a:lnTo>
                <a:lnTo>
                  <a:pt x="1520380" y="0"/>
                </a:lnTo>
                <a:lnTo>
                  <a:pt x="1511096" y="27025"/>
                </a:lnTo>
                <a:lnTo>
                  <a:pt x="2282418" y="291871"/>
                </a:lnTo>
                <a:lnTo>
                  <a:pt x="2273135" y="318897"/>
                </a:lnTo>
                <a:lnTo>
                  <a:pt x="2368131" y="306209"/>
                </a:lnTo>
                <a:close/>
              </a:path>
              <a:path w="3498215" h="1517650">
                <a:moveTo>
                  <a:pt x="3497961" y="497243"/>
                </a:moveTo>
                <a:lnTo>
                  <a:pt x="3469386" y="482955"/>
                </a:lnTo>
                <a:lnTo>
                  <a:pt x="3412236" y="454380"/>
                </a:lnTo>
                <a:lnTo>
                  <a:pt x="3412236" y="482955"/>
                </a:lnTo>
                <a:lnTo>
                  <a:pt x="2829331" y="482955"/>
                </a:lnTo>
                <a:lnTo>
                  <a:pt x="2829331" y="511530"/>
                </a:lnTo>
                <a:lnTo>
                  <a:pt x="3412236" y="511530"/>
                </a:lnTo>
                <a:lnTo>
                  <a:pt x="3412236" y="540105"/>
                </a:lnTo>
                <a:lnTo>
                  <a:pt x="3469386" y="511530"/>
                </a:lnTo>
                <a:lnTo>
                  <a:pt x="3497961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5" name="object 15"/>
          <p:cNvSpPr/>
          <p:nvPr/>
        </p:nvSpPr>
        <p:spPr>
          <a:xfrm>
            <a:off x="10658096" y="2997937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8" y="0"/>
                </a:moveTo>
                <a:lnTo>
                  <a:pt x="829830" y="11459"/>
                </a:lnTo>
                <a:lnTo>
                  <a:pt x="846173" y="18552"/>
                </a:lnTo>
                <a:lnTo>
                  <a:pt x="860228" y="28370"/>
                </a:lnTo>
                <a:lnTo>
                  <a:pt x="888766" y="73878"/>
                </a:lnTo>
                <a:lnTo>
                  <a:pt x="897057" y="115355"/>
                </a:lnTo>
                <a:lnTo>
                  <a:pt x="898142" y="139749"/>
                </a:lnTo>
                <a:lnTo>
                  <a:pt x="897096" y="164650"/>
                </a:lnTo>
                <a:lnTo>
                  <a:pt x="888724" y="207587"/>
                </a:lnTo>
                <a:lnTo>
                  <a:pt x="860246" y="253826"/>
                </a:lnTo>
                <a:lnTo>
                  <a:pt x="830276" y="270866"/>
                </a:lnTo>
                <a:lnTo>
                  <a:pt x="833848" y="282327"/>
                </a:lnTo>
                <a:lnTo>
                  <a:pt x="872357" y="264263"/>
                </a:lnTo>
                <a:lnTo>
                  <a:pt x="900672" y="232990"/>
                </a:lnTo>
                <a:lnTo>
                  <a:pt x="918085" y="191113"/>
                </a:lnTo>
                <a:lnTo>
                  <a:pt x="923889" y="141237"/>
                </a:lnTo>
                <a:lnTo>
                  <a:pt x="922451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7" y="7390"/>
                </a:lnTo>
                <a:lnTo>
                  <a:pt x="833848" y="0"/>
                </a:lnTo>
                <a:close/>
              </a:path>
              <a:path w="92392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 txBox="1"/>
          <p:nvPr/>
        </p:nvSpPr>
        <p:spPr>
          <a:xfrm>
            <a:off x="10441436" y="2907420"/>
            <a:ext cx="104811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16135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06824" y="326394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67769" y="3244830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9" name="object 19"/>
          <p:cNvSpPr txBox="1"/>
          <p:nvPr/>
        </p:nvSpPr>
        <p:spPr>
          <a:xfrm>
            <a:off x="8036288" y="3306603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98837" y="1813993"/>
            <a:ext cx="2356506" cy="1714688"/>
          </a:xfrm>
          <a:custGeom>
            <a:avLst/>
            <a:gdLst/>
            <a:ahLst/>
            <a:cxnLst/>
            <a:rect l="l" t="t" r="r" b="b"/>
            <a:pathLst>
              <a:path w="2357120" h="1715135">
                <a:moveTo>
                  <a:pt x="1048308" y="1510347"/>
                </a:moveTo>
                <a:lnTo>
                  <a:pt x="1041146" y="1459661"/>
                </a:lnTo>
                <a:lnTo>
                  <a:pt x="1034897" y="1415440"/>
                </a:lnTo>
                <a:lnTo>
                  <a:pt x="1011377" y="1431671"/>
                </a:lnTo>
                <a:lnTo>
                  <a:pt x="23520" y="0"/>
                </a:lnTo>
                <a:lnTo>
                  <a:pt x="0" y="16230"/>
                </a:lnTo>
                <a:lnTo>
                  <a:pt x="987856" y="1447901"/>
                </a:lnTo>
                <a:lnTo>
                  <a:pt x="964336" y="1464132"/>
                </a:lnTo>
                <a:lnTo>
                  <a:pt x="1048308" y="1510347"/>
                </a:lnTo>
                <a:close/>
              </a:path>
              <a:path w="2357120" h="1715135">
                <a:moveTo>
                  <a:pt x="2357120" y="1347584"/>
                </a:moveTo>
                <a:lnTo>
                  <a:pt x="2261501" y="1341043"/>
                </a:lnTo>
                <a:lnTo>
                  <a:pt x="2272512" y="1367421"/>
                </a:lnTo>
                <a:lnTo>
                  <a:pt x="1503997" y="1688198"/>
                </a:lnTo>
                <a:lnTo>
                  <a:pt x="1515008" y="1714563"/>
                </a:lnTo>
                <a:lnTo>
                  <a:pt x="2283523" y="1393786"/>
                </a:lnTo>
                <a:lnTo>
                  <a:pt x="2294521" y="1420152"/>
                </a:lnTo>
                <a:lnTo>
                  <a:pt x="2344763" y="1361909"/>
                </a:lnTo>
                <a:lnTo>
                  <a:pt x="2357120" y="1347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1" name="object 21"/>
          <p:cNvSpPr txBox="1"/>
          <p:nvPr/>
        </p:nvSpPr>
        <p:spPr>
          <a:xfrm>
            <a:off x="8760145" y="2145618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0986" y="3766732"/>
            <a:ext cx="4203240" cy="16757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93317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  <a:p>
            <a:pPr>
              <a:spcBef>
                <a:spcPts val="780"/>
              </a:spcBef>
            </a:pPr>
            <a:endParaRPr sz="2399">
              <a:latin typeface="Arial MT"/>
              <a:cs typeface="Arial MT"/>
            </a:endParaRPr>
          </a:p>
          <a:p>
            <a:pPr marL="12696" marR="5078">
              <a:lnSpc>
                <a:spcPct val="99400"/>
              </a:lnSpc>
            </a:pPr>
            <a:r>
              <a:rPr sz="1799" dirty="0">
                <a:latin typeface="Arial MT"/>
                <a:cs typeface="Arial MT"/>
              </a:rPr>
              <a:t>Each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node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is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an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intermediate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variable. </a:t>
            </a:r>
            <a:r>
              <a:rPr sz="1799" dirty="0">
                <a:latin typeface="Arial MT"/>
                <a:cs typeface="Arial MT"/>
              </a:rPr>
              <a:t>Computation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graph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(a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DAG)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with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 </a:t>
            </a:r>
            <a:r>
              <a:rPr sz="1799" dirty="0">
                <a:latin typeface="Arial MT"/>
                <a:cs typeface="Arial MT"/>
              </a:rPr>
              <a:t>ordering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from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topological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spc="-20" dirty="0">
                <a:latin typeface="Arial MT"/>
                <a:cs typeface="Arial MT"/>
              </a:rPr>
              <a:t>sort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77" y="78544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Backpropagation: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simple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361902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1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/>
          <p:nvPr/>
        </p:nvSpPr>
        <p:spPr>
          <a:xfrm>
            <a:off x="2735304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7" y="164649"/>
                </a:lnTo>
                <a:lnTo>
                  <a:pt x="872975" y="207587"/>
                </a:lnTo>
                <a:lnTo>
                  <a:pt x="844497" y="253825"/>
                </a:lnTo>
                <a:lnTo>
                  <a:pt x="814528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8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916700" y="1481326"/>
            <a:ext cx="370616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Font typeface="Arial MT"/>
              <a:buChar char="•"/>
              <a:tabLst>
                <a:tab pos="239957" algn="l"/>
                <a:tab pos="544667" algn="l"/>
                <a:tab pos="1479741" algn="l"/>
                <a:tab pos="1917759" algn="l"/>
                <a:tab pos="2752534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r>
              <a:rPr sz="2399" dirty="0">
                <a:latin typeface="Cambria Math"/>
                <a:cs typeface="Cambria Math"/>
              </a:rPr>
              <a:t>	</a:t>
            </a:r>
            <a:r>
              <a:rPr sz="2399" spc="-50" dirty="0">
                <a:latin typeface="Cambria Math"/>
                <a:cs typeface="Cambria Math"/>
              </a:rPr>
              <a:t>=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𝑦</a:t>
            </a:r>
            <a:r>
              <a:rPr sz="2399" dirty="0">
                <a:latin typeface="Cambria Math"/>
                <a:cs typeface="Cambria Math"/>
              </a:rPr>
              <a:t>	(𝑥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𝑧)</a:t>
            </a:r>
            <a:endParaRPr sz="2399">
              <a:latin typeface="Cambria Math"/>
              <a:cs typeface="Cambria Math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E.g.,</a:t>
            </a:r>
            <a:r>
              <a:rPr sz="2399" spc="-2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x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dirty="0">
                <a:latin typeface="Arial MT"/>
                <a:cs typeface="Arial MT"/>
              </a:rPr>
              <a:t>2,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5,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z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spc="-50" dirty="0">
                <a:latin typeface="Arial MT"/>
                <a:cs typeface="Arial MT"/>
              </a:rPr>
              <a:t>4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62989" y="22165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8031507" y="227969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0856" y="161235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04642" y="1809117"/>
            <a:ext cx="2826284" cy="1445518"/>
            <a:chOff x="6906441" y="1808694"/>
            <a:chExt cx="2827020" cy="1445895"/>
          </a:xfrm>
        </p:grpSpPr>
        <p:sp>
          <p:nvSpPr>
            <p:cNvPr id="10" name="object 10"/>
            <p:cNvSpPr/>
            <p:nvPr/>
          </p:nvSpPr>
          <p:spPr>
            <a:xfrm>
              <a:off x="6906437" y="1808695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42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64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51"/>
                  </a:lnTo>
                  <a:lnTo>
                    <a:pt x="1037717" y="486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" name="object 11"/>
            <p:cNvSpPr/>
            <p:nvPr/>
          </p:nvSpPr>
          <p:spPr>
            <a:xfrm>
              <a:off x="9178635" y="269995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50856" y="258746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74125" y="2800767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87829" y="2473129"/>
            <a:ext cx="3497304" cy="1517255"/>
          </a:xfrm>
          <a:custGeom>
            <a:avLst/>
            <a:gdLst/>
            <a:ahLst/>
            <a:cxnLst/>
            <a:rect l="l" t="t" r="r" b="b"/>
            <a:pathLst>
              <a:path w="3498215" h="1517650">
                <a:moveTo>
                  <a:pt x="1059319" y="1233106"/>
                </a:moveTo>
                <a:lnTo>
                  <a:pt x="965644" y="1212824"/>
                </a:lnTo>
                <a:lnTo>
                  <a:pt x="972731" y="1240510"/>
                </a:lnTo>
                <a:lnTo>
                  <a:pt x="0" y="1489367"/>
                </a:lnTo>
                <a:lnTo>
                  <a:pt x="7073" y="1517053"/>
                </a:lnTo>
                <a:lnTo>
                  <a:pt x="979805" y="1268196"/>
                </a:lnTo>
                <a:lnTo>
                  <a:pt x="986891" y="1295882"/>
                </a:lnTo>
                <a:lnTo>
                  <a:pt x="1054862" y="1236967"/>
                </a:lnTo>
                <a:lnTo>
                  <a:pt x="1059319" y="1233106"/>
                </a:lnTo>
                <a:close/>
              </a:path>
              <a:path w="3498215" h="1517650">
                <a:moveTo>
                  <a:pt x="2368131" y="306209"/>
                </a:moveTo>
                <a:lnTo>
                  <a:pt x="2358618" y="296519"/>
                </a:lnTo>
                <a:lnTo>
                  <a:pt x="2300973" y="237820"/>
                </a:lnTo>
                <a:lnTo>
                  <a:pt x="2291702" y="264845"/>
                </a:lnTo>
                <a:lnTo>
                  <a:pt x="1520380" y="0"/>
                </a:lnTo>
                <a:lnTo>
                  <a:pt x="1511096" y="27025"/>
                </a:lnTo>
                <a:lnTo>
                  <a:pt x="2282418" y="291871"/>
                </a:lnTo>
                <a:lnTo>
                  <a:pt x="2273135" y="318897"/>
                </a:lnTo>
                <a:lnTo>
                  <a:pt x="2368131" y="306209"/>
                </a:lnTo>
                <a:close/>
              </a:path>
              <a:path w="3498215" h="1517650">
                <a:moveTo>
                  <a:pt x="3497961" y="497243"/>
                </a:moveTo>
                <a:lnTo>
                  <a:pt x="3469386" y="482955"/>
                </a:lnTo>
                <a:lnTo>
                  <a:pt x="3412236" y="454380"/>
                </a:lnTo>
                <a:lnTo>
                  <a:pt x="3412236" y="482955"/>
                </a:lnTo>
                <a:lnTo>
                  <a:pt x="2829331" y="482955"/>
                </a:lnTo>
                <a:lnTo>
                  <a:pt x="2829331" y="511530"/>
                </a:lnTo>
                <a:lnTo>
                  <a:pt x="3412236" y="511530"/>
                </a:lnTo>
                <a:lnTo>
                  <a:pt x="3412236" y="540105"/>
                </a:lnTo>
                <a:lnTo>
                  <a:pt x="3469386" y="511530"/>
                </a:lnTo>
                <a:lnTo>
                  <a:pt x="3497961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5" name="object 15"/>
          <p:cNvSpPr/>
          <p:nvPr/>
        </p:nvSpPr>
        <p:spPr>
          <a:xfrm>
            <a:off x="10658096" y="2997937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8" y="0"/>
                </a:moveTo>
                <a:lnTo>
                  <a:pt x="829830" y="11459"/>
                </a:lnTo>
                <a:lnTo>
                  <a:pt x="846173" y="18552"/>
                </a:lnTo>
                <a:lnTo>
                  <a:pt x="860228" y="28370"/>
                </a:lnTo>
                <a:lnTo>
                  <a:pt x="888766" y="73878"/>
                </a:lnTo>
                <a:lnTo>
                  <a:pt x="897057" y="115355"/>
                </a:lnTo>
                <a:lnTo>
                  <a:pt x="898142" y="139749"/>
                </a:lnTo>
                <a:lnTo>
                  <a:pt x="897096" y="164650"/>
                </a:lnTo>
                <a:lnTo>
                  <a:pt x="888724" y="207587"/>
                </a:lnTo>
                <a:lnTo>
                  <a:pt x="860246" y="253826"/>
                </a:lnTo>
                <a:lnTo>
                  <a:pt x="830276" y="270866"/>
                </a:lnTo>
                <a:lnTo>
                  <a:pt x="833848" y="282327"/>
                </a:lnTo>
                <a:lnTo>
                  <a:pt x="872357" y="264263"/>
                </a:lnTo>
                <a:lnTo>
                  <a:pt x="900672" y="232990"/>
                </a:lnTo>
                <a:lnTo>
                  <a:pt x="918085" y="191113"/>
                </a:lnTo>
                <a:lnTo>
                  <a:pt x="923889" y="141237"/>
                </a:lnTo>
                <a:lnTo>
                  <a:pt x="922451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7" y="7390"/>
                </a:lnTo>
                <a:lnTo>
                  <a:pt x="833848" y="0"/>
                </a:lnTo>
                <a:close/>
              </a:path>
              <a:path w="92392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 txBox="1"/>
          <p:nvPr/>
        </p:nvSpPr>
        <p:spPr>
          <a:xfrm>
            <a:off x="10441436" y="2907420"/>
            <a:ext cx="104811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16135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06824" y="326394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67769" y="3244830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9" name="object 19"/>
          <p:cNvSpPr txBox="1"/>
          <p:nvPr/>
        </p:nvSpPr>
        <p:spPr>
          <a:xfrm>
            <a:off x="8036288" y="3306603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98837" y="1813993"/>
            <a:ext cx="2356506" cy="1714688"/>
          </a:xfrm>
          <a:custGeom>
            <a:avLst/>
            <a:gdLst/>
            <a:ahLst/>
            <a:cxnLst/>
            <a:rect l="l" t="t" r="r" b="b"/>
            <a:pathLst>
              <a:path w="2357120" h="1715135">
                <a:moveTo>
                  <a:pt x="1048308" y="1510347"/>
                </a:moveTo>
                <a:lnTo>
                  <a:pt x="1041146" y="1459661"/>
                </a:lnTo>
                <a:lnTo>
                  <a:pt x="1034897" y="1415440"/>
                </a:lnTo>
                <a:lnTo>
                  <a:pt x="1011377" y="1431671"/>
                </a:lnTo>
                <a:lnTo>
                  <a:pt x="23520" y="0"/>
                </a:lnTo>
                <a:lnTo>
                  <a:pt x="0" y="16230"/>
                </a:lnTo>
                <a:lnTo>
                  <a:pt x="987856" y="1447901"/>
                </a:lnTo>
                <a:lnTo>
                  <a:pt x="964336" y="1464132"/>
                </a:lnTo>
                <a:lnTo>
                  <a:pt x="1048308" y="1510347"/>
                </a:lnTo>
                <a:close/>
              </a:path>
              <a:path w="2357120" h="1715135">
                <a:moveTo>
                  <a:pt x="2357120" y="1347584"/>
                </a:moveTo>
                <a:lnTo>
                  <a:pt x="2261501" y="1341043"/>
                </a:lnTo>
                <a:lnTo>
                  <a:pt x="2272512" y="1367421"/>
                </a:lnTo>
                <a:lnTo>
                  <a:pt x="1503997" y="1688198"/>
                </a:lnTo>
                <a:lnTo>
                  <a:pt x="1515008" y="1714563"/>
                </a:lnTo>
                <a:lnTo>
                  <a:pt x="2283523" y="1393786"/>
                </a:lnTo>
                <a:lnTo>
                  <a:pt x="2294521" y="1420152"/>
                </a:lnTo>
                <a:lnTo>
                  <a:pt x="2344763" y="1361909"/>
                </a:lnTo>
                <a:lnTo>
                  <a:pt x="2357120" y="1347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1" name="object 21"/>
          <p:cNvSpPr txBox="1"/>
          <p:nvPr/>
        </p:nvSpPr>
        <p:spPr>
          <a:xfrm>
            <a:off x="8760145" y="2145618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0986" y="3766732"/>
            <a:ext cx="4203240" cy="16757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93317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  <a:p>
            <a:pPr>
              <a:spcBef>
                <a:spcPts val="780"/>
              </a:spcBef>
            </a:pPr>
            <a:endParaRPr sz="2399">
              <a:latin typeface="Arial MT"/>
              <a:cs typeface="Arial MT"/>
            </a:endParaRPr>
          </a:p>
          <a:p>
            <a:pPr marL="12696" marR="5078">
              <a:lnSpc>
                <a:spcPct val="99400"/>
              </a:lnSpc>
            </a:pPr>
            <a:r>
              <a:rPr sz="1799" dirty="0">
                <a:latin typeface="Arial MT"/>
                <a:cs typeface="Arial MT"/>
              </a:rPr>
              <a:t>Each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node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is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an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intermediate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variable. </a:t>
            </a:r>
            <a:r>
              <a:rPr sz="1799" dirty="0">
                <a:latin typeface="Arial MT"/>
                <a:cs typeface="Arial MT"/>
              </a:rPr>
              <a:t>Computation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graph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(a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DAG)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with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 </a:t>
            </a:r>
            <a:r>
              <a:rPr sz="1799" dirty="0">
                <a:latin typeface="Arial MT"/>
                <a:cs typeface="Arial MT"/>
              </a:rPr>
              <a:t>ordering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from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topological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spc="-20" dirty="0">
                <a:latin typeface="Arial MT"/>
                <a:cs typeface="Arial MT"/>
              </a:rPr>
              <a:t>sort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306" y="557007"/>
            <a:ext cx="3980413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Exercise: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65" dirty="0"/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𝛛𝑓</a:t>
            </a:r>
            <a:endParaRPr sz="3449" baseline="44685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9078" y="875441"/>
            <a:ext cx="385979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299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endParaRPr sz="2299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1902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1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/>
          <p:nvPr/>
        </p:nvSpPr>
        <p:spPr>
          <a:xfrm>
            <a:off x="2735304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7" y="164649"/>
                </a:lnTo>
                <a:lnTo>
                  <a:pt x="872975" y="207587"/>
                </a:lnTo>
                <a:lnTo>
                  <a:pt x="844497" y="253825"/>
                </a:lnTo>
                <a:lnTo>
                  <a:pt x="814528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8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 txBox="1"/>
          <p:nvPr/>
        </p:nvSpPr>
        <p:spPr>
          <a:xfrm>
            <a:off x="916700" y="1481326"/>
            <a:ext cx="370616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Font typeface="Arial MT"/>
              <a:buChar char="•"/>
              <a:tabLst>
                <a:tab pos="239957" algn="l"/>
                <a:tab pos="544667" algn="l"/>
                <a:tab pos="1479741" algn="l"/>
                <a:tab pos="1917759" algn="l"/>
                <a:tab pos="2752534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r>
              <a:rPr sz="2399" dirty="0">
                <a:latin typeface="Cambria Math"/>
                <a:cs typeface="Cambria Math"/>
              </a:rPr>
              <a:t>	</a:t>
            </a:r>
            <a:r>
              <a:rPr sz="2399" spc="-50" dirty="0">
                <a:latin typeface="Cambria Math"/>
                <a:cs typeface="Cambria Math"/>
              </a:rPr>
              <a:t>=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𝑦</a:t>
            </a:r>
            <a:r>
              <a:rPr sz="2399" dirty="0">
                <a:latin typeface="Cambria Math"/>
                <a:cs typeface="Cambria Math"/>
              </a:rPr>
              <a:t>	(𝑥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𝑧)</a:t>
            </a:r>
            <a:endParaRPr sz="2399">
              <a:latin typeface="Cambria Math"/>
              <a:cs typeface="Cambria Math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E.g.,</a:t>
            </a:r>
            <a:r>
              <a:rPr sz="2399" spc="-2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x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dirty="0">
                <a:latin typeface="Arial MT"/>
                <a:cs typeface="Arial MT"/>
              </a:rPr>
              <a:t>2,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5,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z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spc="-50" dirty="0">
                <a:latin typeface="Arial MT"/>
                <a:cs typeface="Arial MT"/>
              </a:rPr>
              <a:t>4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62989" y="22165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 txBox="1"/>
          <p:nvPr/>
        </p:nvSpPr>
        <p:spPr>
          <a:xfrm>
            <a:off x="8031507" y="227969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0856" y="161235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04642" y="1809117"/>
            <a:ext cx="2826284" cy="1445518"/>
            <a:chOff x="6906441" y="1808694"/>
            <a:chExt cx="2827020" cy="1445895"/>
          </a:xfrm>
        </p:grpSpPr>
        <p:sp>
          <p:nvSpPr>
            <p:cNvPr id="11" name="object 11"/>
            <p:cNvSpPr/>
            <p:nvPr/>
          </p:nvSpPr>
          <p:spPr>
            <a:xfrm>
              <a:off x="6906437" y="1808695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42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64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51"/>
                  </a:lnTo>
                  <a:lnTo>
                    <a:pt x="1037717" y="486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" name="object 12"/>
            <p:cNvSpPr/>
            <p:nvPr/>
          </p:nvSpPr>
          <p:spPr>
            <a:xfrm>
              <a:off x="9178635" y="269995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0856" y="258746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4125" y="2800767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87829" y="2473129"/>
            <a:ext cx="3497304" cy="1517255"/>
          </a:xfrm>
          <a:custGeom>
            <a:avLst/>
            <a:gdLst/>
            <a:ahLst/>
            <a:cxnLst/>
            <a:rect l="l" t="t" r="r" b="b"/>
            <a:pathLst>
              <a:path w="3498215" h="1517650">
                <a:moveTo>
                  <a:pt x="1059319" y="1233106"/>
                </a:moveTo>
                <a:lnTo>
                  <a:pt x="965644" y="1212824"/>
                </a:lnTo>
                <a:lnTo>
                  <a:pt x="972731" y="1240510"/>
                </a:lnTo>
                <a:lnTo>
                  <a:pt x="0" y="1489367"/>
                </a:lnTo>
                <a:lnTo>
                  <a:pt x="7073" y="1517053"/>
                </a:lnTo>
                <a:lnTo>
                  <a:pt x="979805" y="1268196"/>
                </a:lnTo>
                <a:lnTo>
                  <a:pt x="986891" y="1295882"/>
                </a:lnTo>
                <a:lnTo>
                  <a:pt x="1054862" y="1236967"/>
                </a:lnTo>
                <a:lnTo>
                  <a:pt x="1059319" y="1233106"/>
                </a:lnTo>
                <a:close/>
              </a:path>
              <a:path w="3498215" h="1517650">
                <a:moveTo>
                  <a:pt x="2368131" y="306209"/>
                </a:moveTo>
                <a:lnTo>
                  <a:pt x="2358618" y="296519"/>
                </a:lnTo>
                <a:lnTo>
                  <a:pt x="2300973" y="237820"/>
                </a:lnTo>
                <a:lnTo>
                  <a:pt x="2291702" y="264845"/>
                </a:lnTo>
                <a:lnTo>
                  <a:pt x="1520380" y="0"/>
                </a:lnTo>
                <a:lnTo>
                  <a:pt x="1511096" y="27025"/>
                </a:lnTo>
                <a:lnTo>
                  <a:pt x="2282418" y="291871"/>
                </a:lnTo>
                <a:lnTo>
                  <a:pt x="2273135" y="318897"/>
                </a:lnTo>
                <a:lnTo>
                  <a:pt x="2368131" y="306209"/>
                </a:lnTo>
                <a:close/>
              </a:path>
              <a:path w="3498215" h="1517650">
                <a:moveTo>
                  <a:pt x="3497961" y="497243"/>
                </a:moveTo>
                <a:lnTo>
                  <a:pt x="3469386" y="482955"/>
                </a:lnTo>
                <a:lnTo>
                  <a:pt x="3412236" y="454380"/>
                </a:lnTo>
                <a:lnTo>
                  <a:pt x="3412236" y="482955"/>
                </a:lnTo>
                <a:lnTo>
                  <a:pt x="2829331" y="482955"/>
                </a:lnTo>
                <a:lnTo>
                  <a:pt x="2829331" y="511530"/>
                </a:lnTo>
                <a:lnTo>
                  <a:pt x="3412236" y="511530"/>
                </a:lnTo>
                <a:lnTo>
                  <a:pt x="3412236" y="540105"/>
                </a:lnTo>
                <a:lnTo>
                  <a:pt x="3469386" y="511530"/>
                </a:lnTo>
                <a:lnTo>
                  <a:pt x="3497961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 txBox="1"/>
          <p:nvPr/>
        </p:nvSpPr>
        <p:spPr>
          <a:xfrm>
            <a:off x="6631625" y="3766732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658096" y="2997937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8" y="0"/>
                </a:moveTo>
                <a:lnTo>
                  <a:pt x="829830" y="11459"/>
                </a:lnTo>
                <a:lnTo>
                  <a:pt x="846173" y="18552"/>
                </a:lnTo>
                <a:lnTo>
                  <a:pt x="860228" y="28370"/>
                </a:lnTo>
                <a:lnTo>
                  <a:pt x="888766" y="73878"/>
                </a:lnTo>
                <a:lnTo>
                  <a:pt x="897057" y="115355"/>
                </a:lnTo>
                <a:lnTo>
                  <a:pt x="898142" y="139749"/>
                </a:lnTo>
                <a:lnTo>
                  <a:pt x="897096" y="164650"/>
                </a:lnTo>
                <a:lnTo>
                  <a:pt x="888724" y="207587"/>
                </a:lnTo>
                <a:lnTo>
                  <a:pt x="860246" y="253826"/>
                </a:lnTo>
                <a:lnTo>
                  <a:pt x="830276" y="270866"/>
                </a:lnTo>
                <a:lnTo>
                  <a:pt x="833848" y="282327"/>
                </a:lnTo>
                <a:lnTo>
                  <a:pt x="872357" y="264263"/>
                </a:lnTo>
                <a:lnTo>
                  <a:pt x="900672" y="232990"/>
                </a:lnTo>
                <a:lnTo>
                  <a:pt x="918085" y="191113"/>
                </a:lnTo>
                <a:lnTo>
                  <a:pt x="923889" y="141237"/>
                </a:lnTo>
                <a:lnTo>
                  <a:pt x="922451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7" y="7390"/>
                </a:lnTo>
                <a:lnTo>
                  <a:pt x="833848" y="0"/>
                </a:lnTo>
                <a:close/>
              </a:path>
              <a:path w="92392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8" name="object 18"/>
          <p:cNvSpPr txBox="1"/>
          <p:nvPr/>
        </p:nvSpPr>
        <p:spPr>
          <a:xfrm>
            <a:off x="10441436" y="2907420"/>
            <a:ext cx="104811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16135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06824" y="326394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67769" y="3244830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1" name="object 21"/>
          <p:cNvSpPr txBox="1"/>
          <p:nvPr/>
        </p:nvSpPr>
        <p:spPr>
          <a:xfrm>
            <a:off x="8036288" y="3306603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98837" y="1813993"/>
            <a:ext cx="2356506" cy="1714688"/>
          </a:xfrm>
          <a:custGeom>
            <a:avLst/>
            <a:gdLst/>
            <a:ahLst/>
            <a:cxnLst/>
            <a:rect l="l" t="t" r="r" b="b"/>
            <a:pathLst>
              <a:path w="2357120" h="1715135">
                <a:moveTo>
                  <a:pt x="1048308" y="1510347"/>
                </a:moveTo>
                <a:lnTo>
                  <a:pt x="1041146" y="1459661"/>
                </a:lnTo>
                <a:lnTo>
                  <a:pt x="1034897" y="1415440"/>
                </a:lnTo>
                <a:lnTo>
                  <a:pt x="1011377" y="1431671"/>
                </a:lnTo>
                <a:lnTo>
                  <a:pt x="23520" y="0"/>
                </a:lnTo>
                <a:lnTo>
                  <a:pt x="0" y="16230"/>
                </a:lnTo>
                <a:lnTo>
                  <a:pt x="987856" y="1447901"/>
                </a:lnTo>
                <a:lnTo>
                  <a:pt x="964336" y="1464132"/>
                </a:lnTo>
                <a:lnTo>
                  <a:pt x="1048308" y="1510347"/>
                </a:lnTo>
                <a:close/>
              </a:path>
              <a:path w="2357120" h="1715135">
                <a:moveTo>
                  <a:pt x="2357120" y="1347584"/>
                </a:moveTo>
                <a:lnTo>
                  <a:pt x="2261501" y="1341043"/>
                </a:lnTo>
                <a:lnTo>
                  <a:pt x="2272512" y="1367421"/>
                </a:lnTo>
                <a:lnTo>
                  <a:pt x="1503997" y="1688198"/>
                </a:lnTo>
                <a:lnTo>
                  <a:pt x="1515008" y="1714563"/>
                </a:lnTo>
                <a:lnTo>
                  <a:pt x="2283523" y="1393786"/>
                </a:lnTo>
                <a:lnTo>
                  <a:pt x="2294521" y="1420152"/>
                </a:lnTo>
                <a:lnTo>
                  <a:pt x="2344763" y="1361909"/>
                </a:lnTo>
                <a:lnTo>
                  <a:pt x="2357120" y="1347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object 23"/>
          <p:cNvSpPr txBox="1"/>
          <p:nvPr/>
        </p:nvSpPr>
        <p:spPr>
          <a:xfrm>
            <a:off x="8760145" y="2145618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82008" y="2970670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5" name="object 25"/>
          <p:cNvSpPr txBox="1"/>
          <p:nvPr/>
        </p:nvSpPr>
        <p:spPr>
          <a:xfrm>
            <a:off x="3263915" y="2959222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99338" y="2806862"/>
            <a:ext cx="209685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5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 𝑦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100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165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1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69311" y="3491235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8" name="object 28"/>
          <p:cNvSpPr txBox="1"/>
          <p:nvPr/>
        </p:nvSpPr>
        <p:spPr>
          <a:xfrm>
            <a:off x="3255662" y="3480294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7147" y="3324886"/>
            <a:ext cx="208162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1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𝑧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217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1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70993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1" name="object 31"/>
          <p:cNvSpPr/>
          <p:nvPr/>
        </p:nvSpPr>
        <p:spPr>
          <a:xfrm>
            <a:off x="3129647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2" name="object 32"/>
          <p:cNvSpPr/>
          <p:nvPr/>
        </p:nvSpPr>
        <p:spPr>
          <a:xfrm>
            <a:off x="4005719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3" name="object 33"/>
          <p:cNvSpPr txBox="1"/>
          <p:nvPr/>
        </p:nvSpPr>
        <p:spPr>
          <a:xfrm>
            <a:off x="2561217" y="3998319"/>
            <a:ext cx="170389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568789" algn="l"/>
                <a:tab pos="1442287" algn="l"/>
              </a:tabLst>
            </a:pPr>
            <a:r>
              <a:rPr sz="1799" spc="-25" dirty="0">
                <a:latin typeface="Cambria Math"/>
                <a:cs typeface="Cambria Math"/>
              </a:rPr>
              <a:t>𝜕𝑥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𝜕𝑥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54664" y="3845958"/>
            <a:ext cx="338430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𝑓</a:t>
            </a:r>
            <a:r>
              <a:rPr sz="1799" spc="14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 𝑞</a:t>
            </a:r>
            <a:r>
              <a:rPr sz="1799" spc="75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𝜕𝑓</a:t>
            </a:r>
            <a:r>
              <a:rPr sz="2699" spc="209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22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5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82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𝑝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30586" y="4226859"/>
            <a:ext cx="223461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1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−6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1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3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spc="-25" dirty="0">
                <a:latin typeface="Cambria Math"/>
                <a:cs typeface="Cambria Math"/>
              </a:rPr>
              <a:t>−3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50986" y="4580335"/>
            <a:ext cx="4203240" cy="845599"/>
          </a:xfrm>
          <a:prstGeom prst="rect">
            <a:avLst/>
          </a:prstGeom>
        </p:spPr>
        <p:txBody>
          <a:bodyPr vert="horz" wrap="square" lIns="0" tIns="13966" rIns="0" bIns="0" rtlCol="0">
            <a:spAutoFit/>
          </a:bodyPr>
          <a:lstStyle/>
          <a:p>
            <a:pPr marL="12696" marR="5078">
              <a:lnSpc>
                <a:spcPct val="99400"/>
              </a:lnSpc>
              <a:spcBef>
                <a:spcPts val="110"/>
              </a:spcBef>
            </a:pPr>
            <a:r>
              <a:rPr sz="1799" dirty="0">
                <a:latin typeface="Arial MT"/>
                <a:cs typeface="Arial MT"/>
              </a:rPr>
              <a:t>Each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node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is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an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intermediate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variable. </a:t>
            </a:r>
            <a:r>
              <a:rPr sz="1799" dirty="0">
                <a:latin typeface="Arial MT"/>
                <a:cs typeface="Arial MT"/>
              </a:rPr>
              <a:t>Computation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graph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(a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DAG)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with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 </a:t>
            </a:r>
            <a:r>
              <a:rPr sz="1799" dirty="0">
                <a:latin typeface="Arial MT"/>
                <a:cs typeface="Arial MT"/>
              </a:rPr>
              <a:t>ordering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from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topological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spc="-20" dirty="0">
                <a:latin typeface="Arial MT"/>
                <a:cs typeface="Arial MT"/>
              </a:rPr>
              <a:t>sort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1307" y="532631"/>
            <a:ext cx="3984857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Exercise: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35" dirty="0"/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𝛛𝑓</a:t>
            </a:r>
            <a:endParaRPr sz="3449" baseline="4468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7490" y="851063"/>
            <a:ext cx="394867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299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endParaRPr sz="229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61902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1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/>
          <p:nvPr/>
        </p:nvSpPr>
        <p:spPr>
          <a:xfrm>
            <a:off x="2735304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7" y="164649"/>
                </a:lnTo>
                <a:lnTo>
                  <a:pt x="872975" y="207587"/>
                </a:lnTo>
                <a:lnTo>
                  <a:pt x="844497" y="253825"/>
                </a:lnTo>
                <a:lnTo>
                  <a:pt x="814528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8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916700" y="1481326"/>
            <a:ext cx="370616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Font typeface="Arial MT"/>
              <a:buChar char="•"/>
              <a:tabLst>
                <a:tab pos="239957" algn="l"/>
                <a:tab pos="544667" algn="l"/>
                <a:tab pos="1479741" algn="l"/>
                <a:tab pos="1917759" algn="l"/>
                <a:tab pos="2752534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r>
              <a:rPr sz="2399" dirty="0">
                <a:latin typeface="Cambria Math"/>
                <a:cs typeface="Cambria Math"/>
              </a:rPr>
              <a:t>	</a:t>
            </a:r>
            <a:r>
              <a:rPr sz="2399" spc="-50" dirty="0">
                <a:latin typeface="Cambria Math"/>
                <a:cs typeface="Cambria Math"/>
              </a:rPr>
              <a:t>=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𝑦</a:t>
            </a:r>
            <a:r>
              <a:rPr sz="2399" dirty="0">
                <a:latin typeface="Cambria Math"/>
                <a:cs typeface="Cambria Math"/>
              </a:rPr>
              <a:t>	(𝑥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𝑧)</a:t>
            </a:r>
            <a:endParaRPr sz="2399">
              <a:latin typeface="Cambria Math"/>
              <a:cs typeface="Cambria Math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E.g.,</a:t>
            </a:r>
            <a:r>
              <a:rPr sz="2399" spc="-2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x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dirty="0">
                <a:latin typeface="Arial MT"/>
                <a:cs typeface="Arial MT"/>
              </a:rPr>
              <a:t>2,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5,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z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spc="-50" dirty="0">
                <a:latin typeface="Arial MT"/>
                <a:cs typeface="Arial MT"/>
              </a:rPr>
              <a:t>4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62989" y="22165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/>
          <p:cNvSpPr txBox="1"/>
          <p:nvPr/>
        </p:nvSpPr>
        <p:spPr>
          <a:xfrm>
            <a:off x="8031507" y="227969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0856" y="161235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04642" y="1809117"/>
            <a:ext cx="2826284" cy="1445518"/>
            <a:chOff x="6906441" y="1808694"/>
            <a:chExt cx="2827020" cy="1445895"/>
          </a:xfrm>
        </p:grpSpPr>
        <p:sp>
          <p:nvSpPr>
            <p:cNvPr id="12" name="object 12"/>
            <p:cNvSpPr/>
            <p:nvPr/>
          </p:nvSpPr>
          <p:spPr>
            <a:xfrm>
              <a:off x="6906437" y="1808695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42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64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51"/>
                  </a:lnTo>
                  <a:lnTo>
                    <a:pt x="1037717" y="486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3" name="object 13"/>
            <p:cNvSpPr/>
            <p:nvPr/>
          </p:nvSpPr>
          <p:spPr>
            <a:xfrm>
              <a:off x="9178635" y="269995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50856" y="258746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74125" y="2800767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87829" y="2473129"/>
            <a:ext cx="3497304" cy="1517255"/>
          </a:xfrm>
          <a:custGeom>
            <a:avLst/>
            <a:gdLst/>
            <a:ahLst/>
            <a:cxnLst/>
            <a:rect l="l" t="t" r="r" b="b"/>
            <a:pathLst>
              <a:path w="3498215" h="1517650">
                <a:moveTo>
                  <a:pt x="1059319" y="1233106"/>
                </a:moveTo>
                <a:lnTo>
                  <a:pt x="965644" y="1212824"/>
                </a:lnTo>
                <a:lnTo>
                  <a:pt x="972731" y="1240510"/>
                </a:lnTo>
                <a:lnTo>
                  <a:pt x="0" y="1489367"/>
                </a:lnTo>
                <a:lnTo>
                  <a:pt x="7073" y="1517053"/>
                </a:lnTo>
                <a:lnTo>
                  <a:pt x="979805" y="1268196"/>
                </a:lnTo>
                <a:lnTo>
                  <a:pt x="986891" y="1295882"/>
                </a:lnTo>
                <a:lnTo>
                  <a:pt x="1054862" y="1236967"/>
                </a:lnTo>
                <a:lnTo>
                  <a:pt x="1059319" y="1233106"/>
                </a:lnTo>
                <a:close/>
              </a:path>
              <a:path w="3498215" h="1517650">
                <a:moveTo>
                  <a:pt x="2368131" y="306209"/>
                </a:moveTo>
                <a:lnTo>
                  <a:pt x="2358618" y="296519"/>
                </a:lnTo>
                <a:lnTo>
                  <a:pt x="2300973" y="237820"/>
                </a:lnTo>
                <a:lnTo>
                  <a:pt x="2291702" y="264845"/>
                </a:lnTo>
                <a:lnTo>
                  <a:pt x="1520380" y="0"/>
                </a:lnTo>
                <a:lnTo>
                  <a:pt x="1511096" y="27025"/>
                </a:lnTo>
                <a:lnTo>
                  <a:pt x="2282418" y="291871"/>
                </a:lnTo>
                <a:lnTo>
                  <a:pt x="2273135" y="318897"/>
                </a:lnTo>
                <a:lnTo>
                  <a:pt x="2368131" y="306209"/>
                </a:lnTo>
                <a:close/>
              </a:path>
              <a:path w="3498215" h="1517650">
                <a:moveTo>
                  <a:pt x="3497961" y="497243"/>
                </a:moveTo>
                <a:lnTo>
                  <a:pt x="3469386" y="482955"/>
                </a:lnTo>
                <a:lnTo>
                  <a:pt x="3412236" y="454380"/>
                </a:lnTo>
                <a:lnTo>
                  <a:pt x="3412236" y="482955"/>
                </a:lnTo>
                <a:lnTo>
                  <a:pt x="2829331" y="482955"/>
                </a:lnTo>
                <a:lnTo>
                  <a:pt x="2829331" y="511530"/>
                </a:lnTo>
                <a:lnTo>
                  <a:pt x="3412236" y="511530"/>
                </a:lnTo>
                <a:lnTo>
                  <a:pt x="3412236" y="540105"/>
                </a:lnTo>
                <a:lnTo>
                  <a:pt x="3469386" y="511530"/>
                </a:lnTo>
                <a:lnTo>
                  <a:pt x="3497961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object 17"/>
          <p:cNvSpPr txBox="1"/>
          <p:nvPr/>
        </p:nvSpPr>
        <p:spPr>
          <a:xfrm>
            <a:off x="6631625" y="3766732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658096" y="2997937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8" y="0"/>
                </a:moveTo>
                <a:lnTo>
                  <a:pt x="829830" y="11459"/>
                </a:lnTo>
                <a:lnTo>
                  <a:pt x="846173" y="18552"/>
                </a:lnTo>
                <a:lnTo>
                  <a:pt x="860228" y="28370"/>
                </a:lnTo>
                <a:lnTo>
                  <a:pt x="888766" y="73878"/>
                </a:lnTo>
                <a:lnTo>
                  <a:pt x="897057" y="115355"/>
                </a:lnTo>
                <a:lnTo>
                  <a:pt x="898142" y="139749"/>
                </a:lnTo>
                <a:lnTo>
                  <a:pt x="897096" y="164650"/>
                </a:lnTo>
                <a:lnTo>
                  <a:pt x="888724" y="207587"/>
                </a:lnTo>
                <a:lnTo>
                  <a:pt x="860246" y="253826"/>
                </a:lnTo>
                <a:lnTo>
                  <a:pt x="830276" y="270866"/>
                </a:lnTo>
                <a:lnTo>
                  <a:pt x="833848" y="282327"/>
                </a:lnTo>
                <a:lnTo>
                  <a:pt x="872357" y="264263"/>
                </a:lnTo>
                <a:lnTo>
                  <a:pt x="900672" y="232990"/>
                </a:lnTo>
                <a:lnTo>
                  <a:pt x="918085" y="191113"/>
                </a:lnTo>
                <a:lnTo>
                  <a:pt x="923889" y="141237"/>
                </a:lnTo>
                <a:lnTo>
                  <a:pt x="922451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7" y="7390"/>
                </a:lnTo>
                <a:lnTo>
                  <a:pt x="833848" y="0"/>
                </a:lnTo>
                <a:close/>
              </a:path>
              <a:path w="92392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9" name="object 19"/>
          <p:cNvSpPr txBox="1"/>
          <p:nvPr/>
        </p:nvSpPr>
        <p:spPr>
          <a:xfrm>
            <a:off x="10441436" y="2907420"/>
            <a:ext cx="104811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16135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06824" y="326394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67769" y="3244830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2" name="object 22"/>
          <p:cNvSpPr txBox="1"/>
          <p:nvPr/>
        </p:nvSpPr>
        <p:spPr>
          <a:xfrm>
            <a:off x="8036288" y="3306603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8837" y="1813993"/>
            <a:ext cx="2356506" cy="1714688"/>
          </a:xfrm>
          <a:custGeom>
            <a:avLst/>
            <a:gdLst/>
            <a:ahLst/>
            <a:cxnLst/>
            <a:rect l="l" t="t" r="r" b="b"/>
            <a:pathLst>
              <a:path w="2357120" h="1715135">
                <a:moveTo>
                  <a:pt x="1048308" y="1510347"/>
                </a:moveTo>
                <a:lnTo>
                  <a:pt x="1041146" y="1459661"/>
                </a:lnTo>
                <a:lnTo>
                  <a:pt x="1034897" y="1415440"/>
                </a:lnTo>
                <a:lnTo>
                  <a:pt x="1011377" y="1431671"/>
                </a:lnTo>
                <a:lnTo>
                  <a:pt x="23520" y="0"/>
                </a:lnTo>
                <a:lnTo>
                  <a:pt x="0" y="16230"/>
                </a:lnTo>
                <a:lnTo>
                  <a:pt x="987856" y="1447901"/>
                </a:lnTo>
                <a:lnTo>
                  <a:pt x="964336" y="1464132"/>
                </a:lnTo>
                <a:lnTo>
                  <a:pt x="1048308" y="1510347"/>
                </a:lnTo>
                <a:close/>
              </a:path>
              <a:path w="2357120" h="1715135">
                <a:moveTo>
                  <a:pt x="2357120" y="1347584"/>
                </a:moveTo>
                <a:lnTo>
                  <a:pt x="2261501" y="1341043"/>
                </a:lnTo>
                <a:lnTo>
                  <a:pt x="2272512" y="1367421"/>
                </a:lnTo>
                <a:lnTo>
                  <a:pt x="1503997" y="1688198"/>
                </a:lnTo>
                <a:lnTo>
                  <a:pt x="1515008" y="1714563"/>
                </a:lnTo>
                <a:lnTo>
                  <a:pt x="2283523" y="1393786"/>
                </a:lnTo>
                <a:lnTo>
                  <a:pt x="2294521" y="1420152"/>
                </a:lnTo>
                <a:lnTo>
                  <a:pt x="2344763" y="1361909"/>
                </a:lnTo>
                <a:lnTo>
                  <a:pt x="2357120" y="1347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4" name="object 24"/>
          <p:cNvSpPr txBox="1"/>
          <p:nvPr/>
        </p:nvSpPr>
        <p:spPr>
          <a:xfrm>
            <a:off x="8760145" y="2145618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69311" y="2970670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6" name="object 26"/>
          <p:cNvSpPr txBox="1"/>
          <p:nvPr/>
        </p:nvSpPr>
        <p:spPr>
          <a:xfrm>
            <a:off x="3262265" y="2959222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𝜕𝑦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98005" y="2806862"/>
            <a:ext cx="210003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5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 𝑦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110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179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1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69311" y="354202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9" name="object 29"/>
          <p:cNvSpPr txBox="1"/>
          <p:nvPr/>
        </p:nvSpPr>
        <p:spPr>
          <a:xfrm>
            <a:off x="3254012" y="3529050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𝜕𝑦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6258" y="3376690"/>
            <a:ext cx="208352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1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𝑧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100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225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0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70993" y="410067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2" name="object 32"/>
          <p:cNvSpPr/>
          <p:nvPr/>
        </p:nvSpPr>
        <p:spPr>
          <a:xfrm>
            <a:off x="3129647" y="410067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3" name="object 33"/>
          <p:cNvSpPr/>
          <p:nvPr/>
        </p:nvSpPr>
        <p:spPr>
          <a:xfrm>
            <a:off x="4005719" y="410067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4" name="object 34"/>
          <p:cNvSpPr txBox="1"/>
          <p:nvPr/>
        </p:nvSpPr>
        <p:spPr>
          <a:xfrm>
            <a:off x="1226794" y="3934327"/>
            <a:ext cx="3440169" cy="73259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algn="ctr">
              <a:lnSpc>
                <a:spcPts val="1688"/>
              </a:lnSpc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𝑓</a:t>
            </a:r>
            <a:r>
              <a:rPr sz="1799" spc="14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 𝑞</a:t>
            </a:r>
            <a:r>
              <a:rPr sz="1799" spc="75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𝜕𝑓</a:t>
            </a:r>
            <a:r>
              <a:rPr sz="2699" spc="217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10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37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5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97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𝑝</a:t>
            </a:r>
            <a:endParaRPr sz="1799">
              <a:latin typeface="Cambria Math"/>
              <a:cs typeface="Cambria Math"/>
            </a:endParaRPr>
          </a:p>
          <a:p>
            <a:pPr marL="1342622">
              <a:lnSpc>
                <a:spcPts val="1688"/>
              </a:lnSpc>
              <a:tabLst>
                <a:tab pos="1900619" algn="l"/>
                <a:tab pos="2776657" algn="l"/>
              </a:tabLst>
            </a:pPr>
            <a:r>
              <a:rPr sz="1799" spc="-25" dirty="0">
                <a:latin typeface="Cambria Math"/>
                <a:cs typeface="Cambria Math"/>
              </a:rPr>
              <a:t>𝜕𝑦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𝜕𝑦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𝜕𝑦</a:t>
            </a:r>
            <a:endParaRPr sz="1799">
              <a:latin typeface="Cambria Math"/>
              <a:cs typeface="Cambria Math"/>
            </a:endParaRPr>
          </a:p>
          <a:p>
            <a:pPr marL="1270" algn="ctr">
              <a:spcBef>
                <a:spcPts val="25"/>
              </a:spcBef>
            </a:pP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1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−6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0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3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spc="-25" dirty="0">
                <a:latin typeface="Cambria Math"/>
                <a:cs typeface="Cambria Math"/>
              </a:rPr>
              <a:t>−6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50986" y="4580335"/>
            <a:ext cx="4203240" cy="845599"/>
          </a:xfrm>
          <a:prstGeom prst="rect">
            <a:avLst/>
          </a:prstGeom>
        </p:spPr>
        <p:txBody>
          <a:bodyPr vert="horz" wrap="square" lIns="0" tIns="13966" rIns="0" bIns="0" rtlCol="0">
            <a:spAutoFit/>
          </a:bodyPr>
          <a:lstStyle/>
          <a:p>
            <a:pPr marL="12696" marR="5078">
              <a:lnSpc>
                <a:spcPct val="99400"/>
              </a:lnSpc>
              <a:spcBef>
                <a:spcPts val="110"/>
              </a:spcBef>
            </a:pPr>
            <a:r>
              <a:rPr sz="1799" dirty="0">
                <a:latin typeface="Arial MT"/>
                <a:cs typeface="Arial MT"/>
              </a:rPr>
              <a:t>Each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node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is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an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intermediate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variable. </a:t>
            </a:r>
            <a:r>
              <a:rPr sz="1799" dirty="0">
                <a:latin typeface="Arial MT"/>
                <a:cs typeface="Arial MT"/>
              </a:rPr>
              <a:t>Computation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graph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(a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DAG)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with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 </a:t>
            </a:r>
            <a:r>
              <a:rPr sz="1799" dirty="0">
                <a:latin typeface="Arial MT"/>
                <a:cs typeface="Arial MT"/>
              </a:rPr>
              <a:t>ordering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from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topological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spc="-20" dirty="0">
                <a:latin typeface="Arial MT"/>
                <a:cs typeface="Arial MT"/>
              </a:rPr>
              <a:t>sort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306" y="557007"/>
            <a:ext cx="3980413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Exercise: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65" dirty="0"/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𝛛𝑓</a:t>
            </a:r>
            <a:endParaRPr sz="3449" baseline="44685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8474" y="875441"/>
            <a:ext cx="36439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299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1902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1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/>
          <p:nvPr/>
        </p:nvSpPr>
        <p:spPr>
          <a:xfrm>
            <a:off x="2735304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7" y="164649"/>
                </a:lnTo>
                <a:lnTo>
                  <a:pt x="872975" y="207587"/>
                </a:lnTo>
                <a:lnTo>
                  <a:pt x="844497" y="253825"/>
                </a:lnTo>
                <a:lnTo>
                  <a:pt x="814528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8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6"/>
          <p:cNvSpPr txBox="1"/>
          <p:nvPr/>
        </p:nvSpPr>
        <p:spPr>
          <a:xfrm>
            <a:off x="916700" y="1481326"/>
            <a:ext cx="370616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Font typeface="Arial MT"/>
              <a:buChar char="•"/>
              <a:tabLst>
                <a:tab pos="239957" algn="l"/>
                <a:tab pos="544667" algn="l"/>
                <a:tab pos="1479741" algn="l"/>
                <a:tab pos="1917759" algn="l"/>
                <a:tab pos="2752534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r>
              <a:rPr sz="2399" dirty="0">
                <a:latin typeface="Cambria Math"/>
                <a:cs typeface="Cambria Math"/>
              </a:rPr>
              <a:t>	</a:t>
            </a:r>
            <a:r>
              <a:rPr sz="2399" spc="-50" dirty="0">
                <a:latin typeface="Cambria Math"/>
                <a:cs typeface="Cambria Math"/>
              </a:rPr>
              <a:t>=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𝑦</a:t>
            </a:r>
            <a:r>
              <a:rPr sz="2399" dirty="0">
                <a:latin typeface="Cambria Math"/>
                <a:cs typeface="Cambria Math"/>
              </a:rPr>
              <a:t>	(𝑥</a:t>
            </a:r>
            <a:r>
              <a:rPr sz="2399" spc="6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𝑧)</a:t>
            </a:r>
            <a:endParaRPr sz="2399">
              <a:latin typeface="Cambria Math"/>
              <a:cs typeface="Cambria Math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E.g.,</a:t>
            </a:r>
            <a:r>
              <a:rPr sz="2399" spc="-2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x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dirty="0">
                <a:latin typeface="Arial MT"/>
                <a:cs typeface="Arial MT"/>
              </a:rPr>
              <a:t>2,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</a:t>
            </a:r>
            <a:r>
              <a:rPr sz="2399" spc="-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5,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z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=</a:t>
            </a:r>
            <a:r>
              <a:rPr sz="2399" spc="-1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-</a:t>
            </a:r>
            <a:r>
              <a:rPr sz="2399" spc="-50" dirty="0">
                <a:latin typeface="Arial MT"/>
                <a:cs typeface="Arial MT"/>
              </a:rPr>
              <a:t>4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62989" y="22165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 txBox="1"/>
          <p:nvPr/>
        </p:nvSpPr>
        <p:spPr>
          <a:xfrm>
            <a:off x="8031507" y="227969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0856" y="161235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04642" y="1809117"/>
            <a:ext cx="2826284" cy="1445518"/>
            <a:chOff x="6906441" y="1808694"/>
            <a:chExt cx="2827020" cy="1445895"/>
          </a:xfrm>
        </p:grpSpPr>
        <p:sp>
          <p:nvSpPr>
            <p:cNvPr id="11" name="object 11"/>
            <p:cNvSpPr/>
            <p:nvPr/>
          </p:nvSpPr>
          <p:spPr>
            <a:xfrm>
              <a:off x="6906437" y="1808695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42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64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51"/>
                  </a:lnTo>
                  <a:lnTo>
                    <a:pt x="1037717" y="486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2" name="object 12"/>
            <p:cNvSpPr/>
            <p:nvPr/>
          </p:nvSpPr>
          <p:spPr>
            <a:xfrm>
              <a:off x="9178635" y="269995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0856" y="258746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4125" y="2800767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87829" y="2473129"/>
            <a:ext cx="3497304" cy="1517255"/>
          </a:xfrm>
          <a:custGeom>
            <a:avLst/>
            <a:gdLst/>
            <a:ahLst/>
            <a:cxnLst/>
            <a:rect l="l" t="t" r="r" b="b"/>
            <a:pathLst>
              <a:path w="3498215" h="1517650">
                <a:moveTo>
                  <a:pt x="1059319" y="1233106"/>
                </a:moveTo>
                <a:lnTo>
                  <a:pt x="965644" y="1212824"/>
                </a:lnTo>
                <a:lnTo>
                  <a:pt x="972731" y="1240510"/>
                </a:lnTo>
                <a:lnTo>
                  <a:pt x="0" y="1489367"/>
                </a:lnTo>
                <a:lnTo>
                  <a:pt x="7073" y="1517053"/>
                </a:lnTo>
                <a:lnTo>
                  <a:pt x="979805" y="1268196"/>
                </a:lnTo>
                <a:lnTo>
                  <a:pt x="986891" y="1295882"/>
                </a:lnTo>
                <a:lnTo>
                  <a:pt x="1054862" y="1236967"/>
                </a:lnTo>
                <a:lnTo>
                  <a:pt x="1059319" y="1233106"/>
                </a:lnTo>
                <a:close/>
              </a:path>
              <a:path w="3498215" h="1517650">
                <a:moveTo>
                  <a:pt x="2368131" y="306209"/>
                </a:moveTo>
                <a:lnTo>
                  <a:pt x="2358618" y="296519"/>
                </a:lnTo>
                <a:lnTo>
                  <a:pt x="2300973" y="237820"/>
                </a:lnTo>
                <a:lnTo>
                  <a:pt x="2291702" y="264845"/>
                </a:lnTo>
                <a:lnTo>
                  <a:pt x="1520380" y="0"/>
                </a:lnTo>
                <a:lnTo>
                  <a:pt x="1511096" y="27025"/>
                </a:lnTo>
                <a:lnTo>
                  <a:pt x="2282418" y="291871"/>
                </a:lnTo>
                <a:lnTo>
                  <a:pt x="2273135" y="318897"/>
                </a:lnTo>
                <a:lnTo>
                  <a:pt x="2368131" y="306209"/>
                </a:lnTo>
                <a:close/>
              </a:path>
              <a:path w="3498215" h="1517650">
                <a:moveTo>
                  <a:pt x="3497961" y="497243"/>
                </a:moveTo>
                <a:lnTo>
                  <a:pt x="3469386" y="482955"/>
                </a:lnTo>
                <a:lnTo>
                  <a:pt x="3412236" y="454380"/>
                </a:lnTo>
                <a:lnTo>
                  <a:pt x="3412236" y="482955"/>
                </a:lnTo>
                <a:lnTo>
                  <a:pt x="2829331" y="482955"/>
                </a:lnTo>
                <a:lnTo>
                  <a:pt x="2829331" y="511530"/>
                </a:lnTo>
                <a:lnTo>
                  <a:pt x="3412236" y="511530"/>
                </a:lnTo>
                <a:lnTo>
                  <a:pt x="3412236" y="540105"/>
                </a:lnTo>
                <a:lnTo>
                  <a:pt x="3469386" y="511530"/>
                </a:lnTo>
                <a:lnTo>
                  <a:pt x="3497961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 txBox="1"/>
          <p:nvPr/>
        </p:nvSpPr>
        <p:spPr>
          <a:xfrm>
            <a:off x="6631625" y="3766732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658096" y="2997937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8" y="0"/>
                </a:moveTo>
                <a:lnTo>
                  <a:pt x="829830" y="11459"/>
                </a:lnTo>
                <a:lnTo>
                  <a:pt x="846173" y="18552"/>
                </a:lnTo>
                <a:lnTo>
                  <a:pt x="860228" y="28370"/>
                </a:lnTo>
                <a:lnTo>
                  <a:pt x="888766" y="73878"/>
                </a:lnTo>
                <a:lnTo>
                  <a:pt x="897057" y="115355"/>
                </a:lnTo>
                <a:lnTo>
                  <a:pt x="898142" y="139749"/>
                </a:lnTo>
                <a:lnTo>
                  <a:pt x="897096" y="164650"/>
                </a:lnTo>
                <a:lnTo>
                  <a:pt x="888724" y="207587"/>
                </a:lnTo>
                <a:lnTo>
                  <a:pt x="860246" y="253826"/>
                </a:lnTo>
                <a:lnTo>
                  <a:pt x="830276" y="270866"/>
                </a:lnTo>
                <a:lnTo>
                  <a:pt x="833848" y="282327"/>
                </a:lnTo>
                <a:lnTo>
                  <a:pt x="872357" y="264263"/>
                </a:lnTo>
                <a:lnTo>
                  <a:pt x="900672" y="232990"/>
                </a:lnTo>
                <a:lnTo>
                  <a:pt x="918085" y="191113"/>
                </a:lnTo>
                <a:lnTo>
                  <a:pt x="923889" y="141237"/>
                </a:lnTo>
                <a:lnTo>
                  <a:pt x="922451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7" y="7390"/>
                </a:lnTo>
                <a:lnTo>
                  <a:pt x="833848" y="0"/>
                </a:lnTo>
                <a:close/>
              </a:path>
              <a:path w="92392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8" name="object 18"/>
          <p:cNvSpPr txBox="1"/>
          <p:nvPr/>
        </p:nvSpPr>
        <p:spPr>
          <a:xfrm>
            <a:off x="10441436" y="2907420"/>
            <a:ext cx="104811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16135" algn="l"/>
              </a:tabLst>
            </a:pPr>
            <a:r>
              <a:rPr sz="2399" spc="-50" dirty="0">
                <a:latin typeface="Cambria Math"/>
                <a:cs typeface="Cambria Math"/>
              </a:rPr>
              <a:t>𝑓</a:t>
            </a:r>
            <a:r>
              <a:rPr sz="2399" dirty="0">
                <a:latin typeface="Cambria Math"/>
                <a:cs typeface="Cambria Math"/>
              </a:rPr>
              <a:t>	𝑥,</a:t>
            </a:r>
            <a:r>
              <a:rPr sz="2399" spc="-8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𝑦,</a:t>
            </a:r>
            <a:r>
              <a:rPr sz="2399" spc="-80" dirty="0">
                <a:latin typeface="Cambria Math"/>
                <a:cs typeface="Cambria Math"/>
              </a:rPr>
              <a:t> </a:t>
            </a:r>
            <a:r>
              <a:rPr sz="2399" spc="-50" dirty="0">
                <a:latin typeface="Cambria Math"/>
                <a:cs typeface="Cambria Math"/>
              </a:rPr>
              <a:t>𝑧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06824" y="326394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67769" y="3244830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1" name="object 21"/>
          <p:cNvSpPr txBox="1"/>
          <p:nvPr/>
        </p:nvSpPr>
        <p:spPr>
          <a:xfrm>
            <a:off x="8036288" y="3306603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98837" y="1813993"/>
            <a:ext cx="2356506" cy="1714688"/>
          </a:xfrm>
          <a:custGeom>
            <a:avLst/>
            <a:gdLst/>
            <a:ahLst/>
            <a:cxnLst/>
            <a:rect l="l" t="t" r="r" b="b"/>
            <a:pathLst>
              <a:path w="2357120" h="1715135">
                <a:moveTo>
                  <a:pt x="1048308" y="1510347"/>
                </a:moveTo>
                <a:lnTo>
                  <a:pt x="1041146" y="1459661"/>
                </a:lnTo>
                <a:lnTo>
                  <a:pt x="1034897" y="1415440"/>
                </a:lnTo>
                <a:lnTo>
                  <a:pt x="1011377" y="1431671"/>
                </a:lnTo>
                <a:lnTo>
                  <a:pt x="23520" y="0"/>
                </a:lnTo>
                <a:lnTo>
                  <a:pt x="0" y="16230"/>
                </a:lnTo>
                <a:lnTo>
                  <a:pt x="987856" y="1447901"/>
                </a:lnTo>
                <a:lnTo>
                  <a:pt x="964336" y="1464132"/>
                </a:lnTo>
                <a:lnTo>
                  <a:pt x="1048308" y="1510347"/>
                </a:lnTo>
                <a:close/>
              </a:path>
              <a:path w="2357120" h="1715135">
                <a:moveTo>
                  <a:pt x="2357120" y="1347584"/>
                </a:moveTo>
                <a:lnTo>
                  <a:pt x="2261501" y="1341043"/>
                </a:lnTo>
                <a:lnTo>
                  <a:pt x="2272512" y="1367421"/>
                </a:lnTo>
                <a:lnTo>
                  <a:pt x="1503997" y="1688198"/>
                </a:lnTo>
                <a:lnTo>
                  <a:pt x="1515008" y="1714563"/>
                </a:lnTo>
                <a:lnTo>
                  <a:pt x="2283523" y="1393786"/>
                </a:lnTo>
                <a:lnTo>
                  <a:pt x="2294521" y="1420152"/>
                </a:lnTo>
                <a:lnTo>
                  <a:pt x="2344763" y="1361909"/>
                </a:lnTo>
                <a:lnTo>
                  <a:pt x="2357120" y="1347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object 23"/>
          <p:cNvSpPr txBox="1"/>
          <p:nvPr/>
        </p:nvSpPr>
        <p:spPr>
          <a:xfrm>
            <a:off x="8760145" y="2145618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82008" y="2970670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5" name="object 25"/>
          <p:cNvSpPr txBox="1"/>
          <p:nvPr/>
        </p:nvSpPr>
        <p:spPr>
          <a:xfrm>
            <a:off x="3273375" y="2959222"/>
            <a:ext cx="26345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𝜕𝑧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1751" y="2806862"/>
            <a:ext cx="209685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5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 𝑦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100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165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0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69311" y="3491235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8" name="object 28"/>
          <p:cNvSpPr txBox="1"/>
          <p:nvPr/>
        </p:nvSpPr>
        <p:spPr>
          <a:xfrm>
            <a:off x="3265059" y="3480294"/>
            <a:ext cx="26345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Cambria Math"/>
                <a:cs typeface="Cambria Math"/>
              </a:rPr>
              <a:t>𝜕𝑧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9495" y="3324886"/>
            <a:ext cx="208162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1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𝑥</a:t>
            </a:r>
            <a:r>
              <a:rPr sz="1799" spc="4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𝑧</a:t>
            </a:r>
            <a:r>
              <a:rPr sz="1799" spc="60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217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1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70993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1" name="object 31"/>
          <p:cNvSpPr/>
          <p:nvPr/>
        </p:nvSpPr>
        <p:spPr>
          <a:xfrm>
            <a:off x="3129647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2" name="object 32"/>
          <p:cNvSpPr/>
          <p:nvPr/>
        </p:nvSpPr>
        <p:spPr>
          <a:xfrm>
            <a:off x="4005719" y="401179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3" name="object 33"/>
          <p:cNvSpPr txBox="1"/>
          <p:nvPr/>
        </p:nvSpPr>
        <p:spPr>
          <a:xfrm>
            <a:off x="2570676" y="3998319"/>
            <a:ext cx="1693104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568789" algn="l"/>
                <a:tab pos="1442287" algn="l"/>
              </a:tabLst>
            </a:pPr>
            <a:r>
              <a:rPr sz="1799" spc="-25" dirty="0">
                <a:latin typeface="Cambria Math"/>
                <a:cs typeface="Cambria Math"/>
              </a:rPr>
              <a:t>𝜕𝑧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𝜕𝑧</a:t>
            </a:r>
            <a:r>
              <a:rPr sz="1799" dirty="0">
                <a:latin typeface="Cambria Math"/>
                <a:cs typeface="Cambria Math"/>
              </a:rPr>
              <a:t>	</a:t>
            </a:r>
            <a:r>
              <a:rPr sz="1799" spc="-25" dirty="0">
                <a:latin typeface="Cambria Math"/>
                <a:cs typeface="Cambria Math"/>
              </a:rPr>
              <a:t>𝜕𝑧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57077" y="3845958"/>
            <a:ext cx="338430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𝑓</a:t>
            </a:r>
            <a:r>
              <a:rPr sz="1799" spc="14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𝑝</a:t>
            </a:r>
            <a:r>
              <a:rPr sz="1799" spc="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 𝑞</a:t>
            </a:r>
            <a:r>
              <a:rPr sz="1799" spc="75" dirty="0">
                <a:latin typeface="Cambria Math"/>
                <a:cs typeface="Cambria Math"/>
              </a:rPr>
              <a:t>  </a:t>
            </a:r>
            <a:r>
              <a:rPr sz="1799" dirty="0">
                <a:latin typeface="Cambria Math"/>
                <a:cs typeface="Cambria Math"/>
              </a:rPr>
              <a:t>⇒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𝜕𝑓</a:t>
            </a:r>
            <a:r>
              <a:rPr sz="2699" spc="209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𝜕𝑝</a:t>
            </a:r>
            <a:r>
              <a:rPr sz="2699" spc="22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𝑞</a:t>
            </a:r>
            <a:r>
              <a:rPr sz="1799" spc="5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2699" baseline="41666" dirty="0">
                <a:latin typeface="Cambria Math"/>
                <a:cs typeface="Cambria Math"/>
              </a:rPr>
              <a:t>𝜕𝑞</a:t>
            </a:r>
            <a:r>
              <a:rPr sz="2699" spc="82" baseline="41666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𝑝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18700" y="4226859"/>
            <a:ext cx="206321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0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1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−6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+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1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∗</a:t>
            </a:r>
            <a:r>
              <a:rPr sz="1799" spc="-5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3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dirty="0">
                <a:latin typeface="Cambria Math"/>
                <a:cs typeface="Cambria Math"/>
              </a:rPr>
              <a:t>=</a:t>
            </a:r>
            <a:r>
              <a:rPr sz="1799" spc="90" dirty="0">
                <a:latin typeface="Cambria Math"/>
                <a:cs typeface="Cambria Math"/>
              </a:rPr>
              <a:t> </a:t>
            </a:r>
            <a:r>
              <a:rPr sz="1799" spc="-50" dirty="0">
                <a:latin typeface="Cambria Math"/>
                <a:cs typeface="Cambria Math"/>
              </a:rPr>
              <a:t>3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50986" y="4580335"/>
            <a:ext cx="4203240" cy="845599"/>
          </a:xfrm>
          <a:prstGeom prst="rect">
            <a:avLst/>
          </a:prstGeom>
        </p:spPr>
        <p:txBody>
          <a:bodyPr vert="horz" wrap="square" lIns="0" tIns="13966" rIns="0" bIns="0" rtlCol="0">
            <a:spAutoFit/>
          </a:bodyPr>
          <a:lstStyle/>
          <a:p>
            <a:pPr marL="12696" marR="5078">
              <a:lnSpc>
                <a:spcPct val="99400"/>
              </a:lnSpc>
              <a:spcBef>
                <a:spcPts val="110"/>
              </a:spcBef>
            </a:pPr>
            <a:r>
              <a:rPr sz="1799" dirty="0">
                <a:latin typeface="Arial MT"/>
                <a:cs typeface="Arial MT"/>
              </a:rPr>
              <a:t>Each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node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is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an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intermediate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variable. </a:t>
            </a:r>
            <a:r>
              <a:rPr sz="1799" dirty="0">
                <a:latin typeface="Arial MT"/>
                <a:cs typeface="Arial MT"/>
              </a:rPr>
              <a:t>Computation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graph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(a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DAG)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with</a:t>
            </a:r>
            <a:r>
              <a:rPr sz="1799" spc="-2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variable </a:t>
            </a:r>
            <a:r>
              <a:rPr sz="1799" dirty="0">
                <a:latin typeface="Arial MT"/>
                <a:cs typeface="Arial MT"/>
              </a:rPr>
              <a:t>ordering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from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topological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spc="-20" dirty="0">
                <a:latin typeface="Arial MT"/>
                <a:cs typeface="Arial MT"/>
              </a:rPr>
              <a:t>sort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7849" y="160844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pc="-10" dirty="0"/>
              <a:t>Issues?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2"/>
            <a:ext cx="10321776" cy="2423799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If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has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C00000"/>
                </a:solidFill>
                <a:latin typeface="Cambria Math"/>
                <a:cs typeface="Cambria Math"/>
              </a:rPr>
              <a:t>𝑛</a:t>
            </a:r>
            <a:r>
              <a:rPr sz="2399" spc="1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399" dirty="0">
                <a:latin typeface="Arial MT"/>
                <a:cs typeface="Arial MT"/>
              </a:rPr>
              <a:t>input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variables,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need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C00000"/>
                </a:solidFill>
                <a:latin typeface="Cambria Math"/>
                <a:cs typeface="Cambria Math"/>
              </a:rPr>
              <a:t>𝑛</a:t>
            </a:r>
            <a:r>
              <a:rPr sz="2399" spc="1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399" dirty="0">
                <a:latin typeface="Arial MT"/>
                <a:cs typeface="Arial MT"/>
              </a:rPr>
              <a:t>forward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passes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the 	</a:t>
            </a:r>
            <a:r>
              <a:rPr sz="2399" dirty="0">
                <a:latin typeface="Arial MT"/>
                <a:cs typeface="Arial MT"/>
              </a:rPr>
              <a:t>gradient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with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respect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each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input</a:t>
            </a:r>
            <a:endParaRPr sz="2399">
              <a:latin typeface="Arial MT"/>
              <a:cs typeface="Arial MT"/>
            </a:endParaRPr>
          </a:p>
          <a:p>
            <a:pPr marL="239957" marR="324388" indent="-227261">
              <a:lnSpc>
                <a:spcPts val="2589"/>
              </a:lnSpc>
              <a:spcBef>
                <a:spcPts val="1000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Deep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learning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have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large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number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inputs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(e.g.,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billions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up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to 	</a:t>
            </a:r>
            <a:r>
              <a:rPr sz="2399" dirty="0">
                <a:latin typeface="Arial MT"/>
                <a:cs typeface="Arial MT"/>
              </a:rPr>
              <a:t>trillions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trainable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weights)</a:t>
            </a:r>
            <a:endParaRPr sz="2399">
              <a:latin typeface="Arial MT"/>
              <a:cs typeface="Arial MT"/>
            </a:endParaRPr>
          </a:p>
          <a:p>
            <a:pPr>
              <a:spcBef>
                <a:spcPts val="1520"/>
              </a:spcBef>
              <a:buFont typeface="Arial MT"/>
              <a:buChar char="•"/>
            </a:pPr>
            <a:endParaRPr sz="2399">
              <a:latin typeface="Arial MT"/>
              <a:cs typeface="Arial MT"/>
            </a:endParaRPr>
          </a:p>
          <a:p>
            <a:pPr marL="239957" indent="-227261"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Solution:</a:t>
            </a:r>
            <a:r>
              <a:rPr sz="2399" spc="-1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reverse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mode</a:t>
            </a:r>
            <a:r>
              <a:rPr sz="2399" spc="-1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AutoDiff</a:t>
            </a:r>
            <a:endParaRPr sz="23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28" y="76803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Reverse</a:t>
            </a:r>
            <a:r>
              <a:rPr spc="-55" dirty="0"/>
              <a:t> </a:t>
            </a:r>
            <a:r>
              <a:rPr dirty="0"/>
              <a:t>Mode</a:t>
            </a:r>
            <a:r>
              <a:rPr spc="-220" dirty="0"/>
              <a:t> </a:t>
            </a:r>
            <a:r>
              <a:rPr dirty="0"/>
              <a:t>Automatic</a:t>
            </a:r>
            <a:r>
              <a:rPr spc="-50" dirty="0"/>
              <a:t> </a:t>
            </a:r>
            <a:r>
              <a:rPr spc="-10" dirty="0"/>
              <a:t>Differentiation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9652661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39957" indent="-227261">
              <a:spcBef>
                <a:spcPts val="10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each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node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Cambria Math"/>
                <a:cs typeface="Cambria Math"/>
              </a:rPr>
              <a:t>𝑣</a:t>
            </a:r>
            <a:r>
              <a:rPr sz="2399" dirty="0">
                <a:latin typeface="Arial MT"/>
                <a:cs typeface="Arial MT"/>
              </a:rPr>
              <a:t>,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introduce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adjoint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node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Cambria Math"/>
                <a:cs typeface="Cambria Math"/>
              </a:rPr>
              <a:t>𝑣̅</a:t>
            </a:r>
            <a:r>
              <a:rPr sz="2399" spc="90" dirty="0">
                <a:latin typeface="Cambria Math"/>
                <a:cs typeface="Cambria Math"/>
              </a:rPr>
              <a:t> </a:t>
            </a:r>
            <a:r>
              <a:rPr sz="2399" spc="-10" dirty="0">
                <a:latin typeface="Arial MT"/>
                <a:cs typeface="Arial MT"/>
              </a:rPr>
              <a:t>corresponding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the</a:t>
            </a:r>
            <a:endParaRPr sz="2399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6837" y="2208384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1119847" y="1993258"/>
            <a:ext cx="49561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2399" dirty="0">
                <a:latin typeface="Arial MT"/>
                <a:cs typeface="Arial MT"/>
              </a:rPr>
              <a:t>gradient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output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wrt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this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node</a:t>
            </a:r>
            <a:r>
              <a:rPr sz="2399" spc="-40" dirty="0">
                <a:latin typeface="Arial MT"/>
                <a:cs typeface="Arial MT"/>
              </a:rPr>
              <a:t> </a:t>
            </a:r>
            <a:r>
              <a:rPr sz="2699" spc="44" baseline="43209" dirty="0">
                <a:solidFill>
                  <a:srgbClr val="C00000"/>
                </a:solidFill>
                <a:latin typeface="Cambria Math"/>
                <a:cs typeface="Cambria Math"/>
              </a:rPr>
              <a:t>𝛛𝑓</a:t>
            </a:r>
            <a:endParaRPr sz="2699" baseline="43209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700" y="2221799"/>
            <a:ext cx="7822432" cy="68371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150100" algn="ctr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𝛛𝑣</a:t>
            </a:r>
            <a:endParaRPr sz="1799">
              <a:latin typeface="Cambria Math"/>
              <a:cs typeface="Cambria Math"/>
            </a:endParaRPr>
          </a:p>
          <a:p>
            <a:pPr marL="239957" indent="-227261">
              <a:spcBef>
                <a:spcPts val="14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Compute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nodes’</a:t>
            </a:r>
            <a:r>
              <a:rPr sz="2399" spc="-1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gradients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reverse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topological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order</a:t>
            </a:r>
            <a:endParaRPr sz="23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4565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37966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49"/>
                </a:lnTo>
                <a:lnTo>
                  <a:pt x="872974" y="207587"/>
                </a:lnTo>
                <a:lnTo>
                  <a:pt x="844497" y="253825"/>
                </a:lnTo>
                <a:lnTo>
                  <a:pt x="814527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7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 dirty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11" name="object 11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16" name="object 16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22" name="object 22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21546" y="4616902"/>
            <a:ext cx="656419" cy="1101438"/>
          </a:xfrm>
          <a:prstGeom prst="rect">
            <a:avLst/>
          </a:prstGeom>
        </p:spPr>
        <p:txBody>
          <a:bodyPr vert="horz" wrap="square" lIns="0" tIns="113001" rIns="0" bIns="0" rtlCol="0">
            <a:spAutoFit/>
          </a:bodyPr>
          <a:lstStyle/>
          <a:p>
            <a:pPr marL="12696" defTabSz="914126">
              <a:spcBef>
                <a:spcPts val="89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417070" defTabSz="914126">
              <a:spcBef>
                <a:spcPts val="79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390408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403485" y="2659600"/>
            <a:ext cx="85703" cy="1946403"/>
          </a:xfrm>
          <a:custGeom>
            <a:avLst/>
            <a:gdLst/>
            <a:ahLst/>
            <a:cxnLst/>
            <a:rect l="l" t="t" r="r" b="b"/>
            <a:pathLst>
              <a:path w="85725" h="1946910">
                <a:moveTo>
                  <a:pt x="28575" y="1860571"/>
                </a:moveTo>
                <a:lnTo>
                  <a:pt x="0" y="1860571"/>
                </a:lnTo>
                <a:lnTo>
                  <a:pt x="42862" y="1946296"/>
                </a:lnTo>
                <a:lnTo>
                  <a:pt x="78579" y="1874861"/>
                </a:lnTo>
                <a:lnTo>
                  <a:pt x="28575" y="1874861"/>
                </a:lnTo>
                <a:lnTo>
                  <a:pt x="28575" y="1860571"/>
                </a:lnTo>
                <a:close/>
              </a:path>
              <a:path w="85725" h="1946910">
                <a:moveTo>
                  <a:pt x="57151" y="0"/>
                </a:moveTo>
                <a:lnTo>
                  <a:pt x="28576" y="0"/>
                </a:lnTo>
                <a:lnTo>
                  <a:pt x="28575" y="1874861"/>
                </a:lnTo>
                <a:lnTo>
                  <a:pt x="57150" y="1874861"/>
                </a:lnTo>
                <a:lnTo>
                  <a:pt x="57151" y="0"/>
                </a:lnTo>
                <a:close/>
              </a:path>
              <a:path w="85725" h="1946910">
                <a:moveTo>
                  <a:pt x="85725" y="1860571"/>
                </a:moveTo>
                <a:lnTo>
                  <a:pt x="57150" y="1860571"/>
                </a:lnTo>
                <a:lnTo>
                  <a:pt x="57150" y="1874861"/>
                </a:lnTo>
                <a:lnTo>
                  <a:pt x="78579" y="1874861"/>
                </a:lnTo>
                <a:lnTo>
                  <a:pt x="85725" y="1860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455F307-3C7A-3817-3588-5A545535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4565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966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49"/>
                </a:lnTo>
                <a:lnTo>
                  <a:pt x="872974" y="207587"/>
                </a:lnTo>
                <a:lnTo>
                  <a:pt x="844497" y="253825"/>
                </a:lnTo>
                <a:lnTo>
                  <a:pt x="814527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7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1307" y="3044544"/>
            <a:ext cx="353412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93282" indent="-255193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93282" algn="l"/>
              </a:tabLst>
            </a:pP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7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47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7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179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spc="3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47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×𝑝</a:t>
            </a:r>
            <a:r>
              <a:rPr sz="3599" kern="0" spc="277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22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spc="-7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3599" kern="0" baseline="-32407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57937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0862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27606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00531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5241" y="3452870"/>
            <a:ext cx="224287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6864" algn="l"/>
                <a:tab pos="1282950" algn="l"/>
                <a:tab pos="1957118" algn="l"/>
              </a:tabLst>
            </a:pP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2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22" name="object 22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27" name="object 27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33" name="object 33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21546" y="4616902"/>
            <a:ext cx="656419" cy="1101438"/>
          </a:xfrm>
          <a:prstGeom prst="rect">
            <a:avLst/>
          </a:prstGeom>
        </p:spPr>
        <p:txBody>
          <a:bodyPr vert="horz" wrap="square" lIns="0" tIns="113001" rIns="0" bIns="0" rtlCol="0">
            <a:spAutoFit/>
          </a:bodyPr>
          <a:lstStyle/>
          <a:p>
            <a:pPr marL="12696" defTabSz="914126">
              <a:spcBef>
                <a:spcPts val="89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417070" defTabSz="914126">
              <a:spcBef>
                <a:spcPts val="79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390408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961340" y="2659600"/>
            <a:ext cx="1528047" cy="3583007"/>
            <a:chOff x="7963414" y="2659400"/>
            <a:chExt cx="1528445" cy="3583940"/>
          </a:xfrm>
        </p:grpSpPr>
        <p:sp>
          <p:nvSpPr>
            <p:cNvPr id="39" name="object 39"/>
            <p:cNvSpPr/>
            <p:nvPr/>
          </p:nvSpPr>
          <p:spPr>
            <a:xfrm>
              <a:off x="9405936" y="265940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977702" y="56883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1" name="object 41"/>
          <p:cNvSpPr/>
          <p:nvPr/>
        </p:nvSpPr>
        <p:spPr>
          <a:xfrm>
            <a:off x="8592896" y="63627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02736" y="6024712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76709" y="6350762"/>
            <a:ext cx="27551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99235" y="5863210"/>
            <a:ext cx="11490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12677" y="2099174"/>
            <a:ext cx="952887" cy="3732193"/>
          </a:xfrm>
          <a:custGeom>
            <a:avLst/>
            <a:gdLst/>
            <a:ahLst/>
            <a:cxnLst/>
            <a:rect l="l" t="t" r="r" b="b"/>
            <a:pathLst>
              <a:path w="953134" h="3733165">
                <a:moveTo>
                  <a:pt x="602805" y="1289075"/>
                </a:moveTo>
                <a:lnTo>
                  <a:pt x="601281" y="1234744"/>
                </a:lnTo>
                <a:lnTo>
                  <a:pt x="601243" y="1233309"/>
                </a:lnTo>
                <a:lnTo>
                  <a:pt x="598220" y="1181290"/>
                </a:lnTo>
                <a:lnTo>
                  <a:pt x="598195" y="1180858"/>
                </a:lnTo>
                <a:lnTo>
                  <a:pt x="598093" y="1178991"/>
                </a:lnTo>
                <a:lnTo>
                  <a:pt x="593407" y="1126083"/>
                </a:lnTo>
                <a:lnTo>
                  <a:pt x="587235" y="1074534"/>
                </a:lnTo>
                <a:lnTo>
                  <a:pt x="579640" y="1024305"/>
                </a:lnTo>
                <a:lnTo>
                  <a:pt x="570661" y="975347"/>
                </a:lnTo>
                <a:lnTo>
                  <a:pt x="560349" y="927620"/>
                </a:lnTo>
                <a:lnTo>
                  <a:pt x="548754" y="881075"/>
                </a:lnTo>
                <a:lnTo>
                  <a:pt x="535927" y="835672"/>
                </a:lnTo>
                <a:lnTo>
                  <a:pt x="521893" y="791260"/>
                </a:lnTo>
                <a:lnTo>
                  <a:pt x="490613" y="705853"/>
                </a:lnTo>
                <a:lnTo>
                  <a:pt x="455218" y="624154"/>
                </a:lnTo>
                <a:lnTo>
                  <a:pt x="416153" y="545934"/>
                </a:lnTo>
                <a:lnTo>
                  <a:pt x="373849" y="470814"/>
                </a:lnTo>
                <a:lnTo>
                  <a:pt x="328726" y="398399"/>
                </a:lnTo>
                <a:lnTo>
                  <a:pt x="281203" y="328345"/>
                </a:lnTo>
                <a:lnTo>
                  <a:pt x="231686" y="260248"/>
                </a:lnTo>
                <a:lnTo>
                  <a:pt x="180594" y="193751"/>
                </a:lnTo>
                <a:lnTo>
                  <a:pt x="128320" y="128435"/>
                </a:lnTo>
                <a:lnTo>
                  <a:pt x="22009" y="0"/>
                </a:lnTo>
                <a:lnTo>
                  <a:pt x="0" y="18224"/>
                </a:lnTo>
                <a:lnTo>
                  <a:pt x="106133" y="146431"/>
                </a:lnTo>
                <a:lnTo>
                  <a:pt x="158076" y="211353"/>
                </a:lnTo>
                <a:lnTo>
                  <a:pt x="208686" y="277202"/>
                </a:lnTo>
                <a:lnTo>
                  <a:pt x="257683" y="344576"/>
                </a:lnTo>
                <a:lnTo>
                  <a:pt x="304622" y="413753"/>
                </a:lnTo>
                <a:lnTo>
                  <a:pt x="349110" y="485101"/>
                </a:lnTo>
                <a:lnTo>
                  <a:pt x="390753" y="559015"/>
                </a:lnTo>
                <a:lnTo>
                  <a:pt x="429158" y="635876"/>
                </a:lnTo>
                <a:lnTo>
                  <a:pt x="459473" y="705853"/>
                </a:lnTo>
                <a:lnTo>
                  <a:pt x="463931" y="716064"/>
                </a:lnTo>
                <a:lnTo>
                  <a:pt x="491464" y="791260"/>
                </a:lnTo>
                <a:lnTo>
                  <a:pt x="494753" y="800176"/>
                </a:lnTo>
                <a:lnTo>
                  <a:pt x="508495" y="843648"/>
                </a:lnTo>
                <a:lnTo>
                  <a:pt x="521081" y="888199"/>
                </a:lnTo>
                <a:lnTo>
                  <a:pt x="532460" y="933869"/>
                </a:lnTo>
                <a:lnTo>
                  <a:pt x="542594" y="980719"/>
                </a:lnTo>
                <a:lnTo>
                  <a:pt x="551421" y="1028801"/>
                </a:lnTo>
                <a:lnTo>
                  <a:pt x="558888" y="1078141"/>
                </a:lnTo>
                <a:lnTo>
                  <a:pt x="564959" y="1128814"/>
                </a:lnTo>
                <a:lnTo>
                  <a:pt x="569582" y="1180858"/>
                </a:lnTo>
                <a:lnTo>
                  <a:pt x="572617" y="1233309"/>
                </a:lnTo>
                <a:lnTo>
                  <a:pt x="574217" y="1289075"/>
                </a:lnTo>
                <a:lnTo>
                  <a:pt x="574167" y="1346314"/>
                </a:lnTo>
                <a:lnTo>
                  <a:pt x="572579" y="1403667"/>
                </a:lnTo>
                <a:lnTo>
                  <a:pt x="569455" y="1463065"/>
                </a:lnTo>
                <a:lnTo>
                  <a:pt x="564870" y="1523847"/>
                </a:lnTo>
                <a:lnTo>
                  <a:pt x="558876" y="1585988"/>
                </a:lnTo>
                <a:lnTo>
                  <a:pt x="551510" y="1649412"/>
                </a:lnTo>
                <a:lnTo>
                  <a:pt x="542823" y="1714080"/>
                </a:lnTo>
                <a:lnTo>
                  <a:pt x="532879" y="1779955"/>
                </a:lnTo>
                <a:lnTo>
                  <a:pt x="521716" y="1846973"/>
                </a:lnTo>
                <a:lnTo>
                  <a:pt x="509397" y="1915007"/>
                </a:lnTo>
                <a:lnTo>
                  <a:pt x="481444" y="2054364"/>
                </a:lnTo>
                <a:lnTo>
                  <a:pt x="449427" y="2197544"/>
                </a:lnTo>
                <a:lnTo>
                  <a:pt x="413766" y="2344153"/>
                </a:lnTo>
                <a:lnTo>
                  <a:pt x="374853" y="2493822"/>
                </a:lnTo>
                <a:lnTo>
                  <a:pt x="333095" y="2646159"/>
                </a:lnTo>
                <a:lnTo>
                  <a:pt x="288899" y="2800794"/>
                </a:lnTo>
                <a:lnTo>
                  <a:pt x="242658" y="2957334"/>
                </a:lnTo>
                <a:lnTo>
                  <a:pt x="194805" y="3115411"/>
                </a:lnTo>
                <a:lnTo>
                  <a:pt x="145719" y="3274631"/>
                </a:lnTo>
                <a:lnTo>
                  <a:pt x="71081" y="3513251"/>
                </a:lnTo>
                <a:lnTo>
                  <a:pt x="43815" y="3504717"/>
                </a:lnTo>
                <a:lnTo>
                  <a:pt x="59131" y="3599332"/>
                </a:lnTo>
                <a:lnTo>
                  <a:pt x="120713" y="3535413"/>
                </a:lnTo>
                <a:lnTo>
                  <a:pt x="125628" y="3530308"/>
                </a:lnTo>
                <a:lnTo>
                  <a:pt x="98361" y="3521786"/>
                </a:lnTo>
                <a:lnTo>
                  <a:pt x="172999" y="3283127"/>
                </a:lnTo>
                <a:lnTo>
                  <a:pt x="222123" y="3123793"/>
                </a:lnTo>
                <a:lnTo>
                  <a:pt x="270027" y="2965564"/>
                </a:lnTo>
                <a:lnTo>
                  <a:pt x="316318" y="2808821"/>
                </a:lnTo>
                <a:lnTo>
                  <a:pt x="360591" y="2653931"/>
                </a:lnTo>
                <a:lnTo>
                  <a:pt x="402437" y="2501277"/>
                </a:lnTo>
                <a:lnTo>
                  <a:pt x="441452" y="2351240"/>
                </a:lnTo>
                <a:lnTo>
                  <a:pt x="477227" y="2204161"/>
                </a:lnTo>
                <a:lnTo>
                  <a:pt x="509371" y="2060448"/>
                </a:lnTo>
                <a:lnTo>
                  <a:pt x="537451" y="1920494"/>
                </a:lnTo>
                <a:lnTo>
                  <a:pt x="549846" y="1851964"/>
                </a:lnTo>
                <a:lnTo>
                  <a:pt x="561086" y="1784540"/>
                </a:lnTo>
                <a:lnTo>
                  <a:pt x="571093" y="1718233"/>
                </a:lnTo>
                <a:lnTo>
                  <a:pt x="579843" y="1653082"/>
                </a:lnTo>
                <a:lnTo>
                  <a:pt x="587273" y="1589138"/>
                </a:lnTo>
                <a:lnTo>
                  <a:pt x="593331" y="1526451"/>
                </a:lnTo>
                <a:lnTo>
                  <a:pt x="597966" y="1465046"/>
                </a:lnTo>
                <a:lnTo>
                  <a:pt x="601129" y="1404988"/>
                </a:lnTo>
                <a:lnTo>
                  <a:pt x="602754" y="1346314"/>
                </a:lnTo>
                <a:lnTo>
                  <a:pt x="602805" y="1289075"/>
                </a:lnTo>
                <a:close/>
              </a:path>
              <a:path w="953134" h="3733165">
                <a:moveTo>
                  <a:pt x="952842" y="2978353"/>
                </a:moveTo>
                <a:lnTo>
                  <a:pt x="932992" y="2957792"/>
                </a:lnTo>
                <a:lnTo>
                  <a:pt x="202514" y="3662743"/>
                </a:lnTo>
                <a:lnTo>
                  <a:pt x="182664" y="3642182"/>
                </a:lnTo>
                <a:lnTo>
                  <a:pt x="150749" y="3732555"/>
                </a:lnTo>
                <a:lnTo>
                  <a:pt x="242201" y="3703866"/>
                </a:lnTo>
                <a:lnTo>
                  <a:pt x="231927" y="3693236"/>
                </a:lnTo>
                <a:lnTo>
                  <a:pt x="222351" y="3683304"/>
                </a:lnTo>
                <a:lnTo>
                  <a:pt x="952842" y="297835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66C091D-5921-3E60-D82A-1427935EE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4565" y="1662826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8141" y="139749"/>
                </a:lnTo>
                <a:lnTo>
                  <a:pt x="897095" y="164649"/>
                </a:lnTo>
                <a:lnTo>
                  <a:pt x="888724" y="207587"/>
                </a:lnTo>
                <a:lnTo>
                  <a:pt x="860245" y="253825"/>
                </a:lnTo>
                <a:lnTo>
                  <a:pt x="830276" y="270866"/>
                </a:lnTo>
                <a:lnTo>
                  <a:pt x="833847" y="282326"/>
                </a:lnTo>
                <a:lnTo>
                  <a:pt x="872357" y="264262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22433" y="115355"/>
                </a:lnTo>
                <a:lnTo>
                  <a:pt x="910787" y="69478"/>
                </a:lnTo>
                <a:lnTo>
                  <a:pt x="887691" y="32132"/>
                </a:lnTo>
                <a:lnTo>
                  <a:pt x="854316" y="7389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0"/>
                </a:lnTo>
                <a:lnTo>
                  <a:pt x="23291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2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966" y="1662826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49"/>
                </a:lnTo>
                <a:lnTo>
                  <a:pt x="872974" y="207587"/>
                </a:lnTo>
                <a:lnTo>
                  <a:pt x="844497" y="253825"/>
                </a:lnTo>
                <a:lnTo>
                  <a:pt x="814527" y="270866"/>
                </a:lnTo>
                <a:lnTo>
                  <a:pt x="818099" y="282326"/>
                </a:lnTo>
                <a:lnTo>
                  <a:pt x="856609" y="264262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895039" y="69478"/>
                </a:lnTo>
                <a:lnTo>
                  <a:pt x="871943" y="32132"/>
                </a:lnTo>
                <a:lnTo>
                  <a:pt x="838567" y="7389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0"/>
                </a:lnTo>
                <a:lnTo>
                  <a:pt x="23290" y="49484"/>
                </a:lnTo>
                <a:lnTo>
                  <a:pt x="5822" y="91435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49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 dirty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7937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0862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7606" y="3439963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610" y="3224330"/>
            <a:ext cx="3399539" cy="52818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5978" indent="-255193" defTabSz="914126">
              <a:lnSpc>
                <a:spcPts val="233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305978" algn="l"/>
              </a:tabLst>
            </a:pP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4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2699" kern="0" spc="48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1×𝑝</a:t>
            </a:r>
            <a:r>
              <a:rPr sz="2399" kern="0" spc="19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20"/>
              </a:lnSpc>
              <a:tabLst>
                <a:tab pos="953483" algn="l"/>
                <a:tab pos="1549570" algn="l"/>
              </a:tabLst>
            </a:pP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57937" y="4087494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30862" y="4087494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27606" y="4087494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13228" y="4087494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8610" y="3870337"/>
            <a:ext cx="3789963" cy="53135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7248" indent="-256463" defTabSz="914126">
              <a:lnSpc>
                <a:spcPts val="234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307248" algn="l"/>
              </a:tabLst>
            </a:pPr>
            <a:r>
              <a:rPr sz="2699" kern="0" spc="7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104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7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0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2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2699" kern="0" spc="47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7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39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×𝑞</a:t>
            </a:r>
            <a:r>
              <a:rPr sz="2399" kern="0" spc="204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30"/>
              </a:lnSpc>
              <a:tabLst>
                <a:tab pos="955388" algn="l"/>
                <a:tab pos="1552109" algn="l"/>
                <a:tab pos="2228816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25" name="object 25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30" name="object 30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36" name="object 36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21546" y="4717459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848702" y="2099169"/>
            <a:ext cx="1641048" cy="4143566"/>
            <a:chOff x="7850747" y="2098822"/>
            <a:chExt cx="1641475" cy="4144645"/>
          </a:xfrm>
        </p:grpSpPr>
        <p:sp>
          <p:nvSpPr>
            <p:cNvPr id="42" name="object 42"/>
            <p:cNvSpPr/>
            <p:nvPr/>
          </p:nvSpPr>
          <p:spPr>
            <a:xfrm>
              <a:off x="9405936" y="265940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7977702" y="56883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8314843" y="2098827"/>
              <a:ext cx="953135" cy="3733165"/>
            </a:xfrm>
            <a:custGeom>
              <a:avLst/>
              <a:gdLst/>
              <a:ahLst/>
              <a:cxnLst/>
              <a:rect l="l" t="t" r="r" b="b"/>
              <a:pathLst>
                <a:path w="953134" h="3733165">
                  <a:moveTo>
                    <a:pt x="602805" y="1289075"/>
                  </a:moveTo>
                  <a:lnTo>
                    <a:pt x="601281" y="1234744"/>
                  </a:lnTo>
                  <a:lnTo>
                    <a:pt x="601243" y="1233309"/>
                  </a:lnTo>
                  <a:lnTo>
                    <a:pt x="598220" y="1181290"/>
                  </a:lnTo>
                  <a:lnTo>
                    <a:pt x="598195" y="1180858"/>
                  </a:lnTo>
                  <a:lnTo>
                    <a:pt x="598093" y="1178991"/>
                  </a:lnTo>
                  <a:lnTo>
                    <a:pt x="593407" y="1126083"/>
                  </a:lnTo>
                  <a:lnTo>
                    <a:pt x="587235" y="1074534"/>
                  </a:lnTo>
                  <a:lnTo>
                    <a:pt x="579640" y="1024305"/>
                  </a:lnTo>
                  <a:lnTo>
                    <a:pt x="570661" y="975347"/>
                  </a:lnTo>
                  <a:lnTo>
                    <a:pt x="560349" y="927620"/>
                  </a:lnTo>
                  <a:lnTo>
                    <a:pt x="548754" y="881075"/>
                  </a:lnTo>
                  <a:lnTo>
                    <a:pt x="535927" y="835672"/>
                  </a:lnTo>
                  <a:lnTo>
                    <a:pt x="521893" y="791260"/>
                  </a:lnTo>
                  <a:lnTo>
                    <a:pt x="490613" y="705853"/>
                  </a:lnTo>
                  <a:lnTo>
                    <a:pt x="455218" y="624154"/>
                  </a:lnTo>
                  <a:lnTo>
                    <a:pt x="416153" y="545934"/>
                  </a:lnTo>
                  <a:lnTo>
                    <a:pt x="373849" y="470814"/>
                  </a:lnTo>
                  <a:lnTo>
                    <a:pt x="328726" y="398399"/>
                  </a:lnTo>
                  <a:lnTo>
                    <a:pt x="281203" y="328345"/>
                  </a:lnTo>
                  <a:lnTo>
                    <a:pt x="231686" y="260248"/>
                  </a:lnTo>
                  <a:lnTo>
                    <a:pt x="180594" y="193751"/>
                  </a:lnTo>
                  <a:lnTo>
                    <a:pt x="128320" y="128435"/>
                  </a:lnTo>
                  <a:lnTo>
                    <a:pt x="22009" y="0"/>
                  </a:lnTo>
                  <a:lnTo>
                    <a:pt x="0" y="18224"/>
                  </a:lnTo>
                  <a:lnTo>
                    <a:pt x="106133" y="146431"/>
                  </a:lnTo>
                  <a:lnTo>
                    <a:pt x="158076" y="211353"/>
                  </a:lnTo>
                  <a:lnTo>
                    <a:pt x="208686" y="277202"/>
                  </a:lnTo>
                  <a:lnTo>
                    <a:pt x="257683" y="344576"/>
                  </a:lnTo>
                  <a:lnTo>
                    <a:pt x="304622" y="413753"/>
                  </a:lnTo>
                  <a:lnTo>
                    <a:pt x="349110" y="485101"/>
                  </a:lnTo>
                  <a:lnTo>
                    <a:pt x="390753" y="559015"/>
                  </a:lnTo>
                  <a:lnTo>
                    <a:pt x="429158" y="635876"/>
                  </a:lnTo>
                  <a:lnTo>
                    <a:pt x="459473" y="705853"/>
                  </a:lnTo>
                  <a:lnTo>
                    <a:pt x="463931" y="716064"/>
                  </a:lnTo>
                  <a:lnTo>
                    <a:pt x="491464" y="791260"/>
                  </a:lnTo>
                  <a:lnTo>
                    <a:pt x="494753" y="800176"/>
                  </a:lnTo>
                  <a:lnTo>
                    <a:pt x="508495" y="843648"/>
                  </a:lnTo>
                  <a:lnTo>
                    <a:pt x="521081" y="888199"/>
                  </a:lnTo>
                  <a:lnTo>
                    <a:pt x="532460" y="933869"/>
                  </a:lnTo>
                  <a:lnTo>
                    <a:pt x="542594" y="980719"/>
                  </a:lnTo>
                  <a:lnTo>
                    <a:pt x="551421" y="1028801"/>
                  </a:lnTo>
                  <a:lnTo>
                    <a:pt x="558888" y="1078141"/>
                  </a:lnTo>
                  <a:lnTo>
                    <a:pt x="564959" y="1128814"/>
                  </a:lnTo>
                  <a:lnTo>
                    <a:pt x="569582" y="1180858"/>
                  </a:lnTo>
                  <a:lnTo>
                    <a:pt x="572617" y="1233309"/>
                  </a:lnTo>
                  <a:lnTo>
                    <a:pt x="574217" y="1289075"/>
                  </a:lnTo>
                  <a:lnTo>
                    <a:pt x="574167" y="1346314"/>
                  </a:lnTo>
                  <a:lnTo>
                    <a:pt x="572579" y="1403667"/>
                  </a:lnTo>
                  <a:lnTo>
                    <a:pt x="569455" y="1463065"/>
                  </a:lnTo>
                  <a:lnTo>
                    <a:pt x="564870" y="1523847"/>
                  </a:lnTo>
                  <a:lnTo>
                    <a:pt x="558876" y="1585988"/>
                  </a:lnTo>
                  <a:lnTo>
                    <a:pt x="551510" y="1649412"/>
                  </a:lnTo>
                  <a:lnTo>
                    <a:pt x="542823" y="1714080"/>
                  </a:lnTo>
                  <a:lnTo>
                    <a:pt x="532879" y="1779955"/>
                  </a:lnTo>
                  <a:lnTo>
                    <a:pt x="521716" y="1846973"/>
                  </a:lnTo>
                  <a:lnTo>
                    <a:pt x="509397" y="1915007"/>
                  </a:lnTo>
                  <a:lnTo>
                    <a:pt x="481444" y="2054364"/>
                  </a:lnTo>
                  <a:lnTo>
                    <a:pt x="449427" y="2197544"/>
                  </a:lnTo>
                  <a:lnTo>
                    <a:pt x="413766" y="2344153"/>
                  </a:lnTo>
                  <a:lnTo>
                    <a:pt x="374853" y="2493822"/>
                  </a:lnTo>
                  <a:lnTo>
                    <a:pt x="333095" y="2646159"/>
                  </a:lnTo>
                  <a:lnTo>
                    <a:pt x="288899" y="2800794"/>
                  </a:lnTo>
                  <a:lnTo>
                    <a:pt x="242658" y="2957334"/>
                  </a:lnTo>
                  <a:lnTo>
                    <a:pt x="194805" y="3115411"/>
                  </a:lnTo>
                  <a:lnTo>
                    <a:pt x="145719" y="3274631"/>
                  </a:lnTo>
                  <a:lnTo>
                    <a:pt x="71081" y="3513251"/>
                  </a:lnTo>
                  <a:lnTo>
                    <a:pt x="43815" y="3504717"/>
                  </a:lnTo>
                  <a:lnTo>
                    <a:pt x="59131" y="3599332"/>
                  </a:lnTo>
                  <a:lnTo>
                    <a:pt x="120713" y="3535413"/>
                  </a:lnTo>
                  <a:lnTo>
                    <a:pt x="125628" y="3530308"/>
                  </a:lnTo>
                  <a:lnTo>
                    <a:pt x="98361" y="3521786"/>
                  </a:lnTo>
                  <a:lnTo>
                    <a:pt x="172999" y="3283127"/>
                  </a:lnTo>
                  <a:lnTo>
                    <a:pt x="222123" y="3123793"/>
                  </a:lnTo>
                  <a:lnTo>
                    <a:pt x="270027" y="2965564"/>
                  </a:lnTo>
                  <a:lnTo>
                    <a:pt x="316318" y="2808821"/>
                  </a:lnTo>
                  <a:lnTo>
                    <a:pt x="360591" y="2653931"/>
                  </a:lnTo>
                  <a:lnTo>
                    <a:pt x="402437" y="2501277"/>
                  </a:lnTo>
                  <a:lnTo>
                    <a:pt x="441452" y="2351240"/>
                  </a:lnTo>
                  <a:lnTo>
                    <a:pt x="477227" y="2204161"/>
                  </a:lnTo>
                  <a:lnTo>
                    <a:pt x="509371" y="2060448"/>
                  </a:lnTo>
                  <a:lnTo>
                    <a:pt x="537451" y="1920494"/>
                  </a:lnTo>
                  <a:lnTo>
                    <a:pt x="549846" y="1851964"/>
                  </a:lnTo>
                  <a:lnTo>
                    <a:pt x="561086" y="1784540"/>
                  </a:lnTo>
                  <a:lnTo>
                    <a:pt x="571093" y="1718233"/>
                  </a:lnTo>
                  <a:lnTo>
                    <a:pt x="579843" y="1653082"/>
                  </a:lnTo>
                  <a:lnTo>
                    <a:pt x="587273" y="1589138"/>
                  </a:lnTo>
                  <a:lnTo>
                    <a:pt x="593331" y="1526451"/>
                  </a:lnTo>
                  <a:lnTo>
                    <a:pt x="597966" y="1465046"/>
                  </a:lnTo>
                  <a:lnTo>
                    <a:pt x="601129" y="1404988"/>
                  </a:lnTo>
                  <a:lnTo>
                    <a:pt x="602754" y="1346314"/>
                  </a:lnTo>
                  <a:lnTo>
                    <a:pt x="602805" y="1289075"/>
                  </a:lnTo>
                  <a:close/>
                </a:path>
                <a:path w="953134" h="3733165">
                  <a:moveTo>
                    <a:pt x="952842" y="2978353"/>
                  </a:moveTo>
                  <a:lnTo>
                    <a:pt x="932992" y="2957792"/>
                  </a:lnTo>
                  <a:lnTo>
                    <a:pt x="202514" y="3662743"/>
                  </a:lnTo>
                  <a:lnTo>
                    <a:pt x="182664" y="3642182"/>
                  </a:lnTo>
                  <a:lnTo>
                    <a:pt x="150749" y="3732555"/>
                  </a:lnTo>
                  <a:lnTo>
                    <a:pt x="242201" y="3703866"/>
                  </a:lnTo>
                  <a:lnTo>
                    <a:pt x="231927" y="3693236"/>
                  </a:lnTo>
                  <a:lnTo>
                    <a:pt x="222351" y="3683304"/>
                  </a:lnTo>
                  <a:lnTo>
                    <a:pt x="952842" y="297835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865035" y="425766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6" name="object 46"/>
          <p:cNvSpPr/>
          <p:nvPr/>
        </p:nvSpPr>
        <p:spPr>
          <a:xfrm>
            <a:off x="8592896" y="63627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90841" y="4409692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932995" y="3204230"/>
            <a:ext cx="1325535" cy="1891807"/>
          </a:xfrm>
          <a:custGeom>
            <a:avLst/>
            <a:gdLst/>
            <a:ahLst/>
            <a:cxnLst/>
            <a:rect l="l" t="t" r="r" b="b"/>
            <a:pathLst>
              <a:path w="1325879" h="1892300">
                <a:moveTo>
                  <a:pt x="243382" y="967968"/>
                </a:moveTo>
                <a:lnTo>
                  <a:pt x="214807" y="967841"/>
                </a:lnTo>
                <a:lnTo>
                  <a:pt x="219202" y="127"/>
                </a:lnTo>
                <a:lnTo>
                  <a:pt x="190627" y="0"/>
                </a:lnTo>
                <a:lnTo>
                  <a:pt x="186232" y="967587"/>
                </a:lnTo>
                <a:lnTo>
                  <a:pt x="186232" y="967714"/>
                </a:lnTo>
                <a:lnTo>
                  <a:pt x="157657" y="967587"/>
                </a:lnTo>
                <a:lnTo>
                  <a:pt x="200126" y="1053503"/>
                </a:lnTo>
                <a:lnTo>
                  <a:pt x="236220" y="982129"/>
                </a:lnTo>
                <a:lnTo>
                  <a:pt x="243382" y="967968"/>
                </a:lnTo>
                <a:close/>
              </a:path>
              <a:path w="1325879" h="1892300">
                <a:moveTo>
                  <a:pt x="254000" y="1879384"/>
                </a:moveTo>
                <a:lnTo>
                  <a:pt x="0" y="1879384"/>
                </a:lnTo>
                <a:lnTo>
                  <a:pt x="0" y="1892084"/>
                </a:lnTo>
                <a:lnTo>
                  <a:pt x="254000" y="1892084"/>
                </a:lnTo>
                <a:lnTo>
                  <a:pt x="254000" y="1879384"/>
                </a:lnTo>
                <a:close/>
              </a:path>
              <a:path w="1325879" h="1892300">
                <a:moveTo>
                  <a:pt x="1325283" y="1466608"/>
                </a:moveTo>
                <a:lnTo>
                  <a:pt x="557187" y="1325143"/>
                </a:lnTo>
                <a:lnTo>
                  <a:pt x="557669" y="1322552"/>
                </a:lnTo>
                <a:lnTo>
                  <a:pt x="562368" y="1297038"/>
                </a:lnTo>
                <a:lnTo>
                  <a:pt x="470293" y="1323670"/>
                </a:lnTo>
                <a:lnTo>
                  <a:pt x="546836" y="1381340"/>
                </a:lnTo>
                <a:lnTo>
                  <a:pt x="552018" y="1353248"/>
                </a:lnTo>
                <a:lnTo>
                  <a:pt x="1320114" y="1494713"/>
                </a:lnTo>
                <a:lnTo>
                  <a:pt x="1325283" y="146660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55535" y="4744885"/>
            <a:ext cx="1993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17318" y="5082319"/>
            <a:ext cx="279962" cy="2780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696" defTabSz="914126">
              <a:spcBef>
                <a:spcPts val="1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99462" y="5103649"/>
            <a:ext cx="278058" cy="61959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9358" defTabSz="914126">
              <a:spcBef>
                <a:spcPts val="1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12696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99235" y="5884858"/>
            <a:ext cx="114905" cy="269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6" defTabSz="914126">
              <a:lnSpc>
                <a:spcPts val="2089"/>
              </a:lnSpc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76709" y="6036094"/>
            <a:ext cx="275518" cy="61959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723" defTabSz="914126">
              <a:spcBef>
                <a:spcPts val="1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12696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86B7CAA-6034-8CB1-801D-2BF111CF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4565" y="1662825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7099" y="115662"/>
                </a:lnTo>
                <a:lnTo>
                  <a:pt x="897095" y="164650"/>
                </a:lnTo>
                <a:lnTo>
                  <a:pt x="888724" y="207587"/>
                </a:lnTo>
                <a:lnTo>
                  <a:pt x="860245" y="253826"/>
                </a:lnTo>
                <a:lnTo>
                  <a:pt x="830276" y="270866"/>
                </a:lnTo>
                <a:lnTo>
                  <a:pt x="833847" y="282327"/>
                </a:lnTo>
                <a:lnTo>
                  <a:pt x="872357" y="264263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6" y="7390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966" y="1662825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50"/>
                </a:lnTo>
                <a:lnTo>
                  <a:pt x="872974" y="207587"/>
                </a:lnTo>
                <a:lnTo>
                  <a:pt x="844497" y="253826"/>
                </a:lnTo>
                <a:lnTo>
                  <a:pt x="814527" y="270866"/>
                </a:lnTo>
                <a:lnTo>
                  <a:pt x="818099" y="282327"/>
                </a:lnTo>
                <a:lnTo>
                  <a:pt x="856609" y="264263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906684" y="115355"/>
                </a:lnTo>
                <a:lnTo>
                  <a:pt x="895039" y="69479"/>
                </a:lnTo>
                <a:lnTo>
                  <a:pt x="871943" y="32133"/>
                </a:lnTo>
                <a:lnTo>
                  <a:pt x="838567" y="7390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3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7937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0862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7606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610" y="3224330"/>
            <a:ext cx="3399539" cy="52818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5978" indent="-255193" defTabSz="914126">
              <a:lnSpc>
                <a:spcPts val="233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305978" algn="l"/>
              </a:tabLst>
            </a:pP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4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2699" kern="0" spc="48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1×𝑝</a:t>
            </a:r>
            <a:r>
              <a:rPr sz="2399" kern="0" spc="19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20"/>
              </a:lnSpc>
              <a:tabLst>
                <a:tab pos="953483" algn="l"/>
                <a:tab pos="1549570" algn="l"/>
              </a:tabLst>
            </a:pP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240" y="4101925"/>
            <a:ext cx="15807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8768" algn="l"/>
                <a:tab pos="1285489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307" y="3870337"/>
            <a:ext cx="3605226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65350" indent="-227261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65350" algn="l"/>
              </a:tabLst>
            </a:pPr>
            <a:r>
              <a:rPr sz="2699" u="heavy" kern="0" spc="-33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12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u="heavy" kern="0" spc="-30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434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spc="82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𝑓</a:t>
            </a:r>
            <a:r>
              <a:rPr sz="2699" kern="0" spc="50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1×𝑞</a:t>
            </a:r>
            <a:r>
              <a:rPr sz="2399" kern="0" spc="22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306" y="4339607"/>
            <a:ext cx="437655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92647" indent="-254559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92647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3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7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3599" kern="0" spc="32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spc="30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2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41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3599" kern="0" spc="31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7937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0862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27606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75138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71883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44808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92339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5240" y="4747932"/>
            <a:ext cx="412642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4325" algn="l"/>
                <a:tab pos="1286124" algn="l"/>
                <a:tab pos="1926647" algn="l"/>
                <a:tab pos="2524637" algn="l"/>
                <a:tab pos="3198170" algn="l"/>
                <a:tab pos="3840597" algn="l"/>
              </a:tabLst>
            </a:pP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4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31" name="object 31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36" name="object 36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42" name="object 42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726125" y="509226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99462" y="5418317"/>
            <a:ext cx="27805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321546" y="4717459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848702" y="2099169"/>
            <a:ext cx="1641048" cy="4143566"/>
            <a:chOff x="7850747" y="2098822"/>
            <a:chExt cx="1641475" cy="4144645"/>
          </a:xfrm>
        </p:grpSpPr>
        <p:sp>
          <p:nvSpPr>
            <p:cNvPr id="50" name="object 50"/>
            <p:cNvSpPr/>
            <p:nvPr/>
          </p:nvSpPr>
          <p:spPr>
            <a:xfrm>
              <a:off x="9405936" y="265940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977702" y="56883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8314843" y="2098827"/>
              <a:ext cx="953135" cy="3733165"/>
            </a:xfrm>
            <a:custGeom>
              <a:avLst/>
              <a:gdLst/>
              <a:ahLst/>
              <a:cxnLst/>
              <a:rect l="l" t="t" r="r" b="b"/>
              <a:pathLst>
                <a:path w="953134" h="3733165">
                  <a:moveTo>
                    <a:pt x="602805" y="1289075"/>
                  </a:moveTo>
                  <a:lnTo>
                    <a:pt x="601281" y="1234744"/>
                  </a:lnTo>
                  <a:lnTo>
                    <a:pt x="601243" y="1233309"/>
                  </a:lnTo>
                  <a:lnTo>
                    <a:pt x="598220" y="1181290"/>
                  </a:lnTo>
                  <a:lnTo>
                    <a:pt x="598195" y="1180858"/>
                  </a:lnTo>
                  <a:lnTo>
                    <a:pt x="598093" y="1178991"/>
                  </a:lnTo>
                  <a:lnTo>
                    <a:pt x="593407" y="1126083"/>
                  </a:lnTo>
                  <a:lnTo>
                    <a:pt x="587235" y="1074534"/>
                  </a:lnTo>
                  <a:lnTo>
                    <a:pt x="579640" y="1024305"/>
                  </a:lnTo>
                  <a:lnTo>
                    <a:pt x="570661" y="975347"/>
                  </a:lnTo>
                  <a:lnTo>
                    <a:pt x="560349" y="927620"/>
                  </a:lnTo>
                  <a:lnTo>
                    <a:pt x="548754" y="881075"/>
                  </a:lnTo>
                  <a:lnTo>
                    <a:pt x="535927" y="835672"/>
                  </a:lnTo>
                  <a:lnTo>
                    <a:pt x="521893" y="791260"/>
                  </a:lnTo>
                  <a:lnTo>
                    <a:pt x="490613" y="705853"/>
                  </a:lnTo>
                  <a:lnTo>
                    <a:pt x="455218" y="624154"/>
                  </a:lnTo>
                  <a:lnTo>
                    <a:pt x="416153" y="545934"/>
                  </a:lnTo>
                  <a:lnTo>
                    <a:pt x="373849" y="470814"/>
                  </a:lnTo>
                  <a:lnTo>
                    <a:pt x="328726" y="398399"/>
                  </a:lnTo>
                  <a:lnTo>
                    <a:pt x="281203" y="328345"/>
                  </a:lnTo>
                  <a:lnTo>
                    <a:pt x="231686" y="260248"/>
                  </a:lnTo>
                  <a:lnTo>
                    <a:pt x="180594" y="193751"/>
                  </a:lnTo>
                  <a:lnTo>
                    <a:pt x="128320" y="128435"/>
                  </a:lnTo>
                  <a:lnTo>
                    <a:pt x="22009" y="0"/>
                  </a:lnTo>
                  <a:lnTo>
                    <a:pt x="0" y="18224"/>
                  </a:lnTo>
                  <a:lnTo>
                    <a:pt x="106133" y="146431"/>
                  </a:lnTo>
                  <a:lnTo>
                    <a:pt x="158076" y="211353"/>
                  </a:lnTo>
                  <a:lnTo>
                    <a:pt x="208686" y="277202"/>
                  </a:lnTo>
                  <a:lnTo>
                    <a:pt x="257683" y="344576"/>
                  </a:lnTo>
                  <a:lnTo>
                    <a:pt x="304622" y="413753"/>
                  </a:lnTo>
                  <a:lnTo>
                    <a:pt x="349110" y="485101"/>
                  </a:lnTo>
                  <a:lnTo>
                    <a:pt x="390753" y="559015"/>
                  </a:lnTo>
                  <a:lnTo>
                    <a:pt x="429158" y="635876"/>
                  </a:lnTo>
                  <a:lnTo>
                    <a:pt x="459473" y="705853"/>
                  </a:lnTo>
                  <a:lnTo>
                    <a:pt x="463931" y="716064"/>
                  </a:lnTo>
                  <a:lnTo>
                    <a:pt x="491464" y="791260"/>
                  </a:lnTo>
                  <a:lnTo>
                    <a:pt x="494753" y="800176"/>
                  </a:lnTo>
                  <a:lnTo>
                    <a:pt x="508495" y="843648"/>
                  </a:lnTo>
                  <a:lnTo>
                    <a:pt x="521081" y="888199"/>
                  </a:lnTo>
                  <a:lnTo>
                    <a:pt x="532460" y="933869"/>
                  </a:lnTo>
                  <a:lnTo>
                    <a:pt x="542594" y="980719"/>
                  </a:lnTo>
                  <a:lnTo>
                    <a:pt x="551421" y="1028801"/>
                  </a:lnTo>
                  <a:lnTo>
                    <a:pt x="558888" y="1078141"/>
                  </a:lnTo>
                  <a:lnTo>
                    <a:pt x="564959" y="1128814"/>
                  </a:lnTo>
                  <a:lnTo>
                    <a:pt x="569582" y="1180858"/>
                  </a:lnTo>
                  <a:lnTo>
                    <a:pt x="572617" y="1233309"/>
                  </a:lnTo>
                  <a:lnTo>
                    <a:pt x="574217" y="1289075"/>
                  </a:lnTo>
                  <a:lnTo>
                    <a:pt x="574167" y="1346314"/>
                  </a:lnTo>
                  <a:lnTo>
                    <a:pt x="572579" y="1403667"/>
                  </a:lnTo>
                  <a:lnTo>
                    <a:pt x="569455" y="1463065"/>
                  </a:lnTo>
                  <a:lnTo>
                    <a:pt x="564870" y="1523847"/>
                  </a:lnTo>
                  <a:lnTo>
                    <a:pt x="558876" y="1585988"/>
                  </a:lnTo>
                  <a:lnTo>
                    <a:pt x="551510" y="1649412"/>
                  </a:lnTo>
                  <a:lnTo>
                    <a:pt x="542823" y="1714080"/>
                  </a:lnTo>
                  <a:lnTo>
                    <a:pt x="532879" y="1779955"/>
                  </a:lnTo>
                  <a:lnTo>
                    <a:pt x="521716" y="1846973"/>
                  </a:lnTo>
                  <a:lnTo>
                    <a:pt x="509397" y="1915007"/>
                  </a:lnTo>
                  <a:lnTo>
                    <a:pt x="481444" y="2054364"/>
                  </a:lnTo>
                  <a:lnTo>
                    <a:pt x="449427" y="2197544"/>
                  </a:lnTo>
                  <a:lnTo>
                    <a:pt x="413766" y="2344153"/>
                  </a:lnTo>
                  <a:lnTo>
                    <a:pt x="374853" y="2493822"/>
                  </a:lnTo>
                  <a:lnTo>
                    <a:pt x="333095" y="2646159"/>
                  </a:lnTo>
                  <a:lnTo>
                    <a:pt x="288899" y="2800794"/>
                  </a:lnTo>
                  <a:lnTo>
                    <a:pt x="242658" y="2957334"/>
                  </a:lnTo>
                  <a:lnTo>
                    <a:pt x="194805" y="3115411"/>
                  </a:lnTo>
                  <a:lnTo>
                    <a:pt x="145719" y="3274631"/>
                  </a:lnTo>
                  <a:lnTo>
                    <a:pt x="71081" y="3513251"/>
                  </a:lnTo>
                  <a:lnTo>
                    <a:pt x="43815" y="3504717"/>
                  </a:lnTo>
                  <a:lnTo>
                    <a:pt x="59131" y="3599332"/>
                  </a:lnTo>
                  <a:lnTo>
                    <a:pt x="120713" y="3535413"/>
                  </a:lnTo>
                  <a:lnTo>
                    <a:pt x="125628" y="3530308"/>
                  </a:lnTo>
                  <a:lnTo>
                    <a:pt x="98361" y="3521786"/>
                  </a:lnTo>
                  <a:lnTo>
                    <a:pt x="172999" y="3283127"/>
                  </a:lnTo>
                  <a:lnTo>
                    <a:pt x="222123" y="3123793"/>
                  </a:lnTo>
                  <a:lnTo>
                    <a:pt x="270027" y="2965564"/>
                  </a:lnTo>
                  <a:lnTo>
                    <a:pt x="316318" y="2808821"/>
                  </a:lnTo>
                  <a:lnTo>
                    <a:pt x="360591" y="2653931"/>
                  </a:lnTo>
                  <a:lnTo>
                    <a:pt x="402437" y="2501277"/>
                  </a:lnTo>
                  <a:lnTo>
                    <a:pt x="441452" y="2351240"/>
                  </a:lnTo>
                  <a:lnTo>
                    <a:pt x="477227" y="2204161"/>
                  </a:lnTo>
                  <a:lnTo>
                    <a:pt x="509371" y="2060448"/>
                  </a:lnTo>
                  <a:lnTo>
                    <a:pt x="537451" y="1920494"/>
                  </a:lnTo>
                  <a:lnTo>
                    <a:pt x="549846" y="1851964"/>
                  </a:lnTo>
                  <a:lnTo>
                    <a:pt x="561086" y="1784540"/>
                  </a:lnTo>
                  <a:lnTo>
                    <a:pt x="571093" y="1718233"/>
                  </a:lnTo>
                  <a:lnTo>
                    <a:pt x="579843" y="1653082"/>
                  </a:lnTo>
                  <a:lnTo>
                    <a:pt x="587273" y="1589138"/>
                  </a:lnTo>
                  <a:lnTo>
                    <a:pt x="593331" y="1526451"/>
                  </a:lnTo>
                  <a:lnTo>
                    <a:pt x="597966" y="1465046"/>
                  </a:lnTo>
                  <a:lnTo>
                    <a:pt x="601129" y="1404988"/>
                  </a:lnTo>
                  <a:lnTo>
                    <a:pt x="602754" y="1346314"/>
                  </a:lnTo>
                  <a:lnTo>
                    <a:pt x="602805" y="1289075"/>
                  </a:lnTo>
                  <a:close/>
                </a:path>
                <a:path w="953134" h="3733165">
                  <a:moveTo>
                    <a:pt x="952842" y="2978353"/>
                  </a:moveTo>
                  <a:lnTo>
                    <a:pt x="932992" y="2957792"/>
                  </a:lnTo>
                  <a:lnTo>
                    <a:pt x="202514" y="3662743"/>
                  </a:lnTo>
                  <a:lnTo>
                    <a:pt x="182664" y="3642182"/>
                  </a:lnTo>
                  <a:lnTo>
                    <a:pt x="150749" y="3732555"/>
                  </a:lnTo>
                  <a:lnTo>
                    <a:pt x="242201" y="3703866"/>
                  </a:lnTo>
                  <a:lnTo>
                    <a:pt x="231927" y="3693236"/>
                  </a:lnTo>
                  <a:lnTo>
                    <a:pt x="222351" y="3683304"/>
                  </a:lnTo>
                  <a:lnTo>
                    <a:pt x="952842" y="297835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865035" y="425766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4" name="object 54"/>
          <p:cNvSpPr/>
          <p:nvPr/>
        </p:nvSpPr>
        <p:spPr>
          <a:xfrm>
            <a:off x="8592896" y="63627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090841" y="4409692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932995" y="3204230"/>
            <a:ext cx="1325535" cy="1891807"/>
          </a:xfrm>
          <a:custGeom>
            <a:avLst/>
            <a:gdLst/>
            <a:ahLst/>
            <a:cxnLst/>
            <a:rect l="l" t="t" r="r" b="b"/>
            <a:pathLst>
              <a:path w="1325879" h="1892300">
                <a:moveTo>
                  <a:pt x="243382" y="967968"/>
                </a:moveTo>
                <a:lnTo>
                  <a:pt x="214807" y="967841"/>
                </a:lnTo>
                <a:lnTo>
                  <a:pt x="219202" y="127"/>
                </a:lnTo>
                <a:lnTo>
                  <a:pt x="190627" y="0"/>
                </a:lnTo>
                <a:lnTo>
                  <a:pt x="186232" y="967587"/>
                </a:lnTo>
                <a:lnTo>
                  <a:pt x="186232" y="967714"/>
                </a:lnTo>
                <a:lnTo>
                  <a:pt x="157657" y="967587"/>
                </a:lnTo>
                <a:lnTo>
                  <a:pt x="200126" y="1053503"/>
                </a:lnTo>
                <a:lnTo>
                  <a:pt x="236220" y="982129"/>
                </a:lnTo>
                <a:lnTo>
                  <a:pt x="243382" y="967968"/>
                </a:lnTo>
                <a:close/>
              </a:path>
              <a:path w="1325879" h="1892300">
                <a:moveTo>
                  <a:pt x="254000" y="1879384"/>
                </a:moveTo>
                <a:lnTo>
                  <a:pt x="0" y="1879384"/>
                </a:lnTo>
                <a:lnTo>
                  <a:pt x="0" y="1892084"/>
                </a:lnTo>
                <a:lnTo>
                  <a:pt x="254000" y="1892084"/>
                </a:lnTo>
                <a:lnTo>
                  <a:pt x="254000" y="1879384"/>
                </a:lnTo>
                <a:close/>
              </a:path>
              <a:path w="1325879" h="1892300">
                <a:moveTo>
                  <a:pt x="1325283" y="1466608"/>
                </a:moveTo>
                <a:lnTo>
                  <a:pt x="557187" y="1325143"/>
                </a:lnTo>
                <a:lnTo>
                  <a:pt x="557669" y="1322552"/>
                </a:lnTo>
                <a:lnTo>
                  <a:pt x="562368" y="1297038"/>
                </a:lnTo>
                <a:lnTo>
                  <a:pt x="470293" y="1323670"/>
                </a:lnTo>
                <a:lnTo>
                  <a:pt x="546836" y="1381340"/>
                </a:lnTo>
                <a:lnTo>
                  <a:pt x="552018" y="1353248"/>
                </a:lnTo>
                <a:lnTo>
                  <a:pt x="1320114" y="1494713"/>
                </a:lnTo>
                <a:lnTo>
                  <a:pt x="1325283" y="146660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55535" y="4744885"/>
            <a:ext cx="1993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917318" y="5070936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431854" y="4051136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00373" y="4114114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972039" y="4298816"/>
            <a:ext cx="894482" cy="243141"/>
          </a:xfrm>
          <a:custGeom>
            <a:avLst/>
            <a:gdLst/>
            <a:ahLst/>
            <a:cxnLst/>
            <a:rect l="l" t="t" r="r" b="b"/>
            <a:pathLst>
              <a:path w="894715" h="243204">
                <a:moveTo>
                  <a:pt x="86738" y="27838"/>
                </a:moveTo>
                <a:lnTo>
                  <a:pt x="80291" y="55676"/>
                </a:lnTo>
                <a:lnTo>
                  <a:pt x="887956" y="242707"/>
                </a:lnTo>
                <a:lnTo>
                  <a:pt x="894402" y="214868"/>
                </a:lnTo>
                <a:lnTo>
                  <a:pt x="86738" y="27838"/>
                </a:lnTo>
                <a:close/>
              </a:path>
              <a:path w="894715" h="243204">
                <a:moveTo>
                  <a:pt x="93184" y="0"/>
                </a:moveTo>
                <a:lnTo>
                  <a:pt x="0" y="22418"/>
                </a:lnTo>
                <a:lnTo>
                  <a:pt x="73845" y="83515"/>
                </a:lnTo>
                <a:lnTo>
                  <a:pt x="80291" y="55676"/>
                </a:lnTo>
                <a:lnTo>
                  <a:pt x="66372" y="52453"/>
                </a:lnTo>
                <a:lnTo>
                  <a:pt x="72817" y="24615"/>
                </a:lnTo>
                <a:lnTo>
                  <a:pt x="87484" y="24615"/>
                </a:lnTo>
                <a:lnTo>
                  <a:pt x="93184" y="0"/>
                </a:lnTo>
                <a:close/>
              </a:path>
              <a:path w="894715" h="243204">
                <a:moveTo>
                  <a:pt x="72817" y="24615"/>
                </a:moveTo>
                <a:lnTo>
                  <a:pt x="66372" y="52453"/>
                </a:lnTo>
                <a:lnTo>
                  <a:pt x="80291" y="55676"/>
                </a:lnTo>
                <a:lnTo>
                  <a:pt x="86738" y="27838"/>
                </a:lnTo>
                <a:lnTo>
                  <a:pt x="72817" y="24615"/>
                </a:lnTo>
                <a:close/>
              </a:path>
              <a:path w="894715" h="243204">
                <a:moveTo>
                  <a:pt x="87484" y="24615"/>
                </a:moveTo>
                <a:lnTo>
                  <a:pt x="72817" y="24615"/>
                </a:lnTo>
                <a:lnTo>
                  <a:pt x="86738" y="27838"/>
                </a:lnTo>
                <a:lnTo>
                  <a:pt x="87484" y="2461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913585" y="4326198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921838" y="398917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96635" y="4315228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92929" y="4512213"/>
            <a:ext cx="1172540" cy="1264591"/>
          </a:xfrm>
          <a:custGeom>
            <a:avLst/>
            <a:gdLst/>
            <a:ahLst/>
            <a:cxnLst/>
            <a:rect l="l" t="t" r="r" b="b"/>
            <a:pathLst>
              <a:path w="1172845" h="1264920">
                <a:moveTo>
                  <a:pt x="68727" y="53193"/>
                </a:moveTo>
                <a:lnTo>
                  <a:pt x="47761" y="72607"/>
                </a:lnTo>
                <a:lnTo>
                  <a:pt x="1151620" y="1264698"/>
                </a:lnTo>
                <a:lnTo>
                  <a:pt x="1172588" y="1245283"/>
                </a:lnTo>
                <a:lnTo>
                  <a:pt x="68727" y="53193"/>
                </a:lnTo>
                <a:close/>
              </a:path>
              <a:path w="1172845" h="1264920">
                <a:moveTo>
                  <a:pt x="0" y="0"/>
                </a:moveTo>
                <a:lnTo>
                  <a:pt x="26794" y="92021"/>
                </a:lnTo>
                <a:lnTo>
                  <a:pt x="47761" y="72607"/>
                </a:lnTo>
                <a:lnTo>
                  <a:pt x="38051" y="62122"/>
                </a:lnTo>
                <a:lnTo>
                  <a:pt x="59018" y="42707"/>
                </a:lnTo>
                <a:lnTo>
                  <a:pt x="80051" y="42707"/>
                </a:lnTo>
                <a:lnTo>
                  <a:pt x="89695" y="33778"/>
                </a:lnTo>
                <a:lnTo>
                  <a:pt x="0" y="0"/>
                </a:lnTo>
                <a:close/>
              </a:path>
              <a:path w="1172845" h="1264920">
                <a:moveTo>
                  <a:pt x="59018" y="42707"/>
                </a:moveTo>
                <a:lnTo>
                  <a:pt x="38051" y="62122"/>
                </a:lnTo>
                <a:lnTo>
                  <a:pt x="47761" y="72607"/>
                </a:lnTo>
                <a:lnTo>
                  <a:pt x="68727" y="53193"/>
                </a:lnTo>
                <a:lnTo>
                  <a:pt x="59018" y="42707"/>
                </a:lnTo>
                <a:close/>
              </a:path>
              <a:path w="1172845" h="1264920">
                <a:moveTo>
                  <a:pt x="80051" y="42707"/>
                </a:moveTo>
                <a:lnTo>
                  <a:pt x="59018" y="42707"/>
                </a:lnTo>
                <a:lnTo>
                  <a:pt x="68727" y="53193"/>
                </a:lnTo>
                <a:lnTo>
                  <a:pt x="80051" y="4270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99235" y="5884858"/>
            <a:ext cx="114905" cy="269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6" defTabSz="914126">
              <a:lnSpc>
                <a:spcPts val="2089"/>
              </a:lnSpc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576709" y="6036094"/>
            <a:ext cx="275518" cy="61959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723" defTabSz="914126">
              <a:spcBef>
                <a:spcPts val="1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12696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3726EB3-E18A-9901-7656-30467613D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4565" y="1662825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7099" y="115662"/>
                </a:lnTo>
                <a:lnTo>
                  <a:pt x="897095" y="164650"/>
                </a:lnTo>
                <a:lnTo>
                  <a:pt x="888724" y="207587"/>
                </a:lnTo>
                <a:lnTo>
                  <a:pt x="860245" y="253826"/>
                </a:lnTo>
                <a:lnTo>
                  <a:pt x="830276" y="270866"/>
                </a:lnTo>
                <a:lnTo>
                  <a:pt x="833847" y="282327"/>
                </a:lnTo>
                <a:lnTo>
                  <a:pt x="872357" y="264263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6" y="7390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966" y="1662825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50"/>
                </a:lnTo>
                <a:lnTo>
                  <a:pt x="872974" y="207587"/>
                </a:lnTo>
                <a:lnTo>
                  <a:pt x="844497" y="253826"/>
                </a:lnTo>
                <a:lnTo>
                  <a:pt x="814527" y="270866"/>
                </a:lnTo>
                <a:lnTo>
                  <a:pt x="818099" y="282327"/>
                </a:lnTo>
                <a:lnTo>
                  <a:pt x="856609" y="264263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906684" y="115355"/>
                </a:lnTo>
                <a:lnTo>
                  <a:pt x="895039" y="69479"/>
                </a:lnTo>
                <a:lnTo>
                  <a:pt x="871943" y="32133"/>
                </a:lnTo>
                <a:lnTo>
                  <a:pt x="838567" y="7390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3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7937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0862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7606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610" y="3224330"/>
            <a:ext cx="3399539" cy="52818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5978" indent="-255193" defTabSz="914126">
              <a:lnSpc>
                <a:spcPts val="233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305978" algn="l"/>
              </a:tabLst>
            </a:pP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4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2699" kern="0" spc="48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1×𝑝</a:t>
            </a:r>
            <a:r>
              <a:rPr sz="2399" kern="0" spc="19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20"/>
              </a:lnSpc>
              <a:tabLst>
                <a:tab pos="953483" algn="l"/>
                <a:tab pos="1549570" algn="l"/>
              </a:tabLst>
            </a:pP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240" y="4101925"/>
            <a:ext cx="15807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8768" algn="l"/>
                <a:tab pos="1285489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307" y="3870337"/>
            <a:ext cx="3605226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65350" indent="-227261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65350" algn="l"/>
              </a:tabLst>
            </a:pPr>
            <a:r>
              <a:rPr sz="2699" u="heavy" kern="0" spc="-33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12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u="heavy" kern="0" spc="-30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434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spc="82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𝑓</a:t>
            </a:r>
            <a:r>
              <a:rPr sz="2699" kern="0" spc="50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1×𝑞</a:t>
            </a:r>
            <a:r>
              <a:rPr sz="2399" kern="0" spc="22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306" y="4339607"/>
            <a:ext cx="3886458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92647" indent="-254559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92647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3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7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3599" kern="0" spc="32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spc="30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19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spc="-37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−3</a:t>
            </a:r>
            <a:endParaRPr sz="3599" kern="0" baseline="-32407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7937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0862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27606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75138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71883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5240" y="4747932"/>
            <a:ext cx="280850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4325" algn="l"/>
                <a:tab pos="1286124" algn="l"/>
                <a:tab pos="1926647" algn="l"/>
                <a:tab pos="2524637" algn="l"/>
              </a:tabLst>
            </a:pP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610" y="5165400"/>
            <a:ext cx="3864238" cy="53135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78047" indent="-227261" defTabSz="914126">
              <a:lnSpc>
                <a:spcPts val="234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278047" algn="l"/>
              </a:tabLst>
            </a:pPr>
            <a:r>
              <a:rPr sz="2699" u="heavy" kern="0" spc="-30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14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u="heavy" kern="0" spc="-39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45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0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spc="112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𝑝</a:t>
            </a:r>
            <a:r>
              <a:rPr sz="2699" kern="0" spc="46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−6×1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30"/>
              </a:lnSpc>
              <a:tabLst>
                <a:tab pos="959831" algn="l"/>
                <a:tab pos="1559092" algn="l"/>
              </a:tabLst>
            </a:pPr>
            <a:r>
              <a:rPr sz="1799" kern="0" spc="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𝛛𝑦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𝛛𝑦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30" name="object 30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35" name="object 35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41" name="object 41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26125" y="509226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99462" y="5418317"/>
            <a:ext cx="27805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21546" y="4717459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848702" y="2099169"/>
            <a:ext cx="1641048" cy="4143566"/>
            <a:chOff x="7850747" y="2098822"/>
            <a:chExt cx="1641475" cy="4144645"/>
          </a:xfrm>
        </p:grpSpPr>
        <p:sp>
          <p:nvSpPr>
            <p:cNvPr id="49" name="object 49"/>
            <p:cNvSpPr/>
            <p:nvPr/>
          </p:nvSpPr>
          <p:spPr>
            <a:xfrm>
              <a:off x="9405936" y="265940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977702" y="56883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8314843" y="2098827"/>
              <a:ext cx="953135" cy="3733165"/>
            </a:xfrm>
            <a:custGeom>
              <a:avLst/>
              <a:gdLst/>
              <a:ahLst/>
              <a:cxnLst/>
              <a:rect l="l" t="t" r="r" b="b"/>
              <a:pathLst>
                <a:path w="953134" h="3733165">
                  <a:moveTo>
                    <a:pt x="602805" y="1289075"/>
                  </a:moveTo>
                  <a:lnTo>
                    <a:pt x="601281" y="1234744"/>
                  </a:lnTo>
                  <a:lnTo>
                    <a:pt x="601243" y="1233309"/>
                  </a:lnTo>
                  <a:lnTo>
                    <a:pt x="598220" y="1181290"/>
                  </a:lnTo>
                  <a:lnTo>
                    <a:pt x="598195" y="1180858"/>
                  </a:lnTo>
                  <a:lnTo>
                    <a:pt x="598093" y="1178991"/>
                  </a:lnTo>
                  <a:lnTo>
                    <a:pt x="593407" y="1126083"/>
                  </a:lnTo>
                  <a:lnTo>
                    <a:pt x="587235" y="1074534"/>
                  </a:lnTo>
                  <a:lnTo>
                    <a:pt x="579640" y="1024305"/>
                  </a:lnTo>
                  <a:lnTo>
                    <a:pt x="570661" y="975347"/>
                  </a:lnTo>
                  <a:lnTo>
                    <a:pt x="560349" y="927620"/>
                  </a:lnTo>
                  <a:lnTo>
                    <a:pt x="548754" y="881075"/>
                  </a:lnTo>
                  <a:lnTo>
                    <a:pt x="535927" y="835672"/>
                  </a:lnTo>
                  <a:lnTo>
                    <a:pt x="521893" y="791260"/>
                  </a:lnTo>
                  <a:lnTo>
                    <a:pt x="490613" y="705853"/>
                  </a:lnTo>
                  <a:lnTo>
                    <a:pt x="455218" y="624154"/>
                  </a:lnTo>
                  <a:lnTo>
                    <a:pt x="416153" y="545934"/>
                  </a:lnTo>
                  <a:lnTo>
                    <a:pt x="373849" y="470814"/>
                  </a:lnTo>
                  <a:lnTo>
                    <a:pt x="328726" y="398399"/>
                  </a:lnTo>
                  <a:lnTo>
                    <a:pt x="281203" y="328345"/>
                  </a:lnTo>
                  <a:lnTo>
                    <a:pt x="231686" y="260248"/>
                  </a:lnTo>
                  <a:lnTo>
                    <a:pt x="180594" y="193751"/>
                  </a:lnTo>
                  <a:lnTo>
                    <a:pt x="128320" y="128435"/>
                  </a:lnTo>
                  <a:lnTo>
                    <a:pt x="22009" y="0"/>
                  </a:lnTo>
                  <a:lnTo>
                    <a:pt x="0" y="18224"/>
                  </a:lnTo>
                  <a:lnTo>
                    <a:pt x="106133" y="146431"/>
                  </a:lnTo>
                  <a:lnTo>
                    <a:pt x="158076" y="211353"/>
                  </a:lnTo>
                  <a:lnTo>
                    <a:pt x="208686" y="277202"/>
                  </a:lnTo>
                  <a:lnTo>
                    <a:pt x="257683" y="344576"/>
                  </a:lnTo>
                  <a:lnTo>
                    <a:pt x="304622" y="413753"/>
                  </a:lnTo>
                  <a:lnTo>
                    <a:pt x="349110" y="485101"/>
                  </a:lnTo>
                  <a:lnTo>
                    <a:pt x="390753" y="559015"/>
                  </a:lnTo>
                  <a:lnTo>
                    <a:pt x="429158" y="635876"/>
                  </a:lnTo>
                  <a:lnTo>
                    <a:pt x="459473" y="705853"/>
                  </a:lnTo>
                  <a:lnTo>
                    <a:pt x="463931" y="716064"/>
                  </a:lnTo>
                  <a:lnTo>
                    <a:pt x="491464" y="791260"/>
                  </a:lnTo>
                  <a:lnTo>
                    <a:pt x="494753" y="800176"/>
                  </a:lnTo>
                  <a:lnTo>
                    <a:pt x="508495" y="843648"/>
                  </a:lnTo>
                  <a:lnTo>
                    <a:pt x="521081" y="888199"/>
                  </a:lnTo>
                  <a:lnTo>
                    <a:pt x="532460" y="933869"/>
                  </a:lnTo>
                  <a:lnTo>
                    <a:pt x="542594" y="980719"/>
                  </a:lnTo>
                  <a:lnTo>
                    <a:pt x="551421" y="1028801"/>
                  </a:lnTo>
                  <a:lnTo>
                    <a:pt x="558888" y="1078141"/>
                  </a:lnTo>
                  <a:lnTo>
                    <a:pt x="564959" y="1128814"/>
                  </a:lnTo>
                  <a:lnTo>
                    <a:pt x="569582" y="1180858"/>
                  </a:lnTo>
                  <a:lnTo>
                    <a:pt x="572617" y="1233309"/>
                  </a:lnTo>
                  <a:lnTo>
                    <a:pt x="574217" y="1289075"/>
                  </a:lnTo>
                  <a:lnTo>
                    <a:pt x="574167" y="1346314"/>
                  </a:lnTo>
                  <a:lnTo>
                    <a:pt x="572579" y="1403667"/>
                  </a:lnTo>
                  <a:lnTo>
                    <a:pt x="569455" y="1463065"/>
                  </a:lnTo>
                  <a:lnTo>
                    <a:pt x="564870" y="1523847"/>
                  </a:lnTo>
                  <a:lnTo>
                    <a:pt x="558876" y="1585988"/>
                  </a:lnTo>
                  <a:lnTo>
                    <a:pt x="551510" y="1649412"/>
                  </a:lnTo>
                  <a:lnTo>
                    <a:pt x="542823" y="1714080"/>
                  </a:lnTo>
                  <a:lnTo>
                    <a:pt x="532879" y="1779955"/>
                  </a:lnTo>
                  <a:lnTo>
                    <a:pt x="521716" y="1846973"/>
                  </a:lnTo>
                  <a:lnTo>
                    <a:pt x="509397" y="1915007"/>
                  </a:lnTo>
                  <a:lnTo>
                    <a:pt x="481444" y="2054364"/>
                  </a:lnTo>
                  <a:lnTo>
                    <a:pt x="449427" y="2197544"/>
                  </a:lnTo>
                  <a:lnTo>
                    <a:pt x="413766" y="2344153"/>
                  </a:lnTo>
                  <a:lnTo>
                    <a:pt x="374853" y="2493822"/>
                  </a:lnTo>
                  <a:lnTo>
                    <a:pt x="333095" y="2646159"/>
                  </a:lnTo>
                  <a:lnTo>
                    <a:pt x="288899" y="2800794"/>
                  </a:lnTo>
                  <a:lnTo>
                    <a:pt x="242658" y="2957334"/>
                  </a:lnTo>
                  <a:lnTo>
                    <a:pt x="194805" y="3115411"/>
                  </a:lnTo>
                  <a:lnTo>
                    <a:pt x="145719" y="3274631"/>
                  </a:lnTo>
                  <a:lnTo>
                    <a:pt x="71081" y="3513251"/>
                  </a:lnTo>
                  <a:lnTo>
                    <a:pt x="43815" y="3504717"/>
                  </a:lnTo>
                  <a:lnTo>
                    <a:pt x="59131" y="3599332"/>
                  </a:lnTo>
                  <a:lnTo>
                    <a:pt x="120713" y="3535413"/>
                  </a:lnTo>
                  <a:lnTo>
                    <a:pt x="125628" y="3530308"/>
                  </a:lnTo>
                  <a:lnTo>
                    <a:pt x="98361" y="3521786"/>
                  </a:lnTo>
                  <a:lnTo>
                    <a:pt x="172999" y="3283127"/>
                  </a:lnTo>
                  <a:lnTo>
                    <a:pt x="222123" y="3123793"/>
                  </a:lnTo>
                  <a:lnTo>
                    <a:pt x="270027" y="2965564"/>
                  </a:lnTo>
                  <a:lnTo>
                    <a:pt x="316318" y="2808821"/>
                  </a:lnTo>
                  <a:lnTo>
                    <a:pt x="360591" y="2653931"/>
                  </a:lnTo>
                  <a:lnTo>
                    <a:pt x="402437" y="2501277"/>
                  </a:lnTo>
                  <a:lnTo>
                    <a:pt x="441452" y="2351240"/>
                  </a:lnTo>
                  <a:lnTo>
                    <a:pt x="477227" y="2204161"/>
                  </a:lnTo>
                  <a:lnTo>
                    <a:pt x="509371" y="2060448"/>
                  </a:lnTo>
                  <a:lnTo>
                    <a:pt x="537451" y="1920494"/>
                  </a:lnTo>
                  <a:lnTo>
                    <a:pt x="549846" y="1851964"/>
                  </a:lnTo>
                  <a:lnTo>
                    <a:pt x="561086" y="1784540"/>
                  </a:lnTo>
                  <a:lnTo>
                    <a:pt x="571093" y="1718233"/>
                  </a:lnTo>
                  <a:lnTo>
                    <a:pt x="579843" y="1653082"/>
                  </a:lnTo>
                  <a:lnTo>
                    <a:pt x="587273" y="1589138"/>
                  </a:lnTo>
                  <a:lnTo>
                    <a:pt x="593331" y="1526451"/>
                  </a:lnTo>
                  <a:lnTo>
                    <a:pt x="597966" y="1465046"/>
                  </a:lnTo>
                  <a:lnTo>
                    <a:pt x="601129" y="1404988"/>
                  </a:lnTo>
                  <a:lnTo>
                    <a:pt x="602754" y="1346314"/>
                  </a:lnTo>
                  <a:lnTo>
                    <a:pt x="602805" y="1289075"/>
                  </a:lnTo>
                  <a:close/>
                </a:path>
                <a:path w="953134" h="3733165">
                  <a:moveTo>
                    <a:pt x="952842" y="2978353"/>
                  </a:moveTo>
                  <a:lnTo>
                    <a:pt x="932992" y="2957792"/>
                  </a:lnTo>
                  <a:lnTo>
                    <a:pt x="202514" y="3662743"/>
                  </a:lnTo>
                  <a:lnTo>
                    <a:pt x="182664" y="3642182"/>
                  </a:lnTo>
                  <a:lnTo>
                    <a:pt x="150749" y="3732555"/>
                  </a:lnTo>
                  <a:lnTo>
                    <a:pt x="242201" y="3703866"/>
                  </a:lnTo>
                  <a:lnTo>
                    <a:pt x="231927" y="3693236"/>
                  </a:lnTo>
                  <a:lnTo>
                    <a:pt x="222351" y="3683304"/>
                  </a:lnTo>
                  <a:lnTo>
                    <a:pt x="952842" y="297835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7865035" y="425766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3" name="object 53"/>
          <p:cNvSpPr/>
          <p:nvPr/>
        </p:nvSpPr>
        <p:spPr>
          <a:xfrm>
            <a:off x="8592896" y="63627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90841" y="4409692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932995" y="3204230"/>
            <a:ext cx="1325535" cy="1891807"/>
          </a:xfrm>
          <a:custGeom>
            <a:avLst/>
            <a:gdLst/>
            <a:ahLst/>
            <a:cxnLst/>
            <a:rect l="l" t="t" r="r" b="b"/>
            <a:pathLst>
              <a:path w="1325879" h="1892300">
                <a:moveTo>
                  <a:pt x="243382" y="967968"/>
                </a:moveTo>
                <a:lnTo>
                  <a:pt x="214807" y="967841"/>
                </a:lnTo>
                <a:lnTo>
                  <a:pt x="219202" y="127"/>
                </a:lnTo>
                <a:lnTo>
                  <a:pt x="190627" y="0"/>
                </a:lnTo>
                <a:lnTo>
                  <a:pt x="186232" y="967587"/>
                </a:lnTo>
                <a:lnTo>
                  <a:pt x="186232" y="967714"/>
                </a:lnTo>
                <a:lnTo>
                  <a:pt x="157657" y="967587"/>
                </a:lnTo>
                <a:lnTo>
                  <a:pt x="200126" y="1053503"/>
                </a:lnTo>
                <a:lnTo>
                  <a:pt x="236220" y="982129"/>
                </a:lnTo>
                <a:lnTo>
                  <a:pt x="243382" y="967968"/>
                </a:lnTo>
                <a:close/>
              </a:path>
              <a:path w="1325879" h="1892300">
                <a:moveTo>
                  <a:pt x="254000" y="1879384"/>
                </a:moveTo>
                <a:lnTo>
                  <a:pt x="0" y="1879384"/>
                </a:lnTo>
                <a:lnTo>
                  <a:pt x="0" y="1892084"/>
                </a:lnTo>
                <a:lnTo>
                  <a:pt x="254000" y="1892084"/>
                </a:lnTo>
                <a:lnTo>
                  <a:pt x="254000" y="1879384"/>
                </a:lnTo>
                <a:close/>
              </a:path>
              <a:path w="1325879" h="1892300">
                <a:moveTo>
                  <a:pt x="1325283" y="1466608"/>
                </a:moveTo>
                <a:lnTo>
                  <a:pt x="557187" y="1325143"/>
                </a:lnTo>
                <a:lnTo>
                  <a:pt x="557669" y="1322552"/>
                </a:lnTo>
                <a:lnTo>
                  <a:pt x="562368" y="1297038"/>
                </a:lnTo>
                <a:lnTo>
                  <a:pt x="470293" y="1323670"/>
                </a:lnTo>
                <a:lnTo>
                  <a:pt x="546836" y="1381340"/>
                </a:lnTo>
                <a:lnTo>
                  <a:pt x="552018" y="1353248"/>
                </a:lnTo>
                <a:lnTo>
                  <a:pt x="1320114" y="1494713"/>
                </a:lnTo>
                <a:lnTo>
                  <a:pt x="1325283" y="146660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955535" y="4744885"/>
            <a:ext cx="1993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17318" y="5070936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431854" y="4051136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00373" y="4114114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373023" y="4298816"/>
            <a:ext cx="1692469" cy="1477895"/>
            <a:chOff x="6374684" y="4299043"/>
            <a:chExt cx="1692910" cy="1478280"/>
          </a:xfrm>
        </p:grpSpPr>
        <p:sp>
          <p:nvSpPr>
            <p:cNvPr id="61" name="object 61"/>
            <p:cNvSpPr/>
            <p:nvPr/>
          </p:nvSpPr>
          <p:spPr>
            <a:xfrm>
              <a:off x="6894715" y="4299051"/>
              <a:ext cx="1172845" cy="1478280"/>
            </a:xfrm>
            <a:custGeom>
              <a:avLst/>
              <a:gdLst/>
              <a:ahLst/>
              <a:cxnLst/>
              <a:rect l="l" t="t" r="r" b="b"/>
              <a:pathLst>
                <a:path w="1172845" h="1478279">
                  <a:moveTo>
                    <a:pt x="973531" y="214871"/>
                  </a:moveTo>
                  <a:lnTo>
                    <a:pt x="165874" y="27838"/>
                  </a:lnTo>
                  <a:lnTo>
                    <a:pt x="166624" y="24612"/>
                  </a:lnTo>
                  <a:lnTo>
                    <a:pt x="172313" y="0"/>
                  </a:lnTo>
                  <a:lnTo>
                    <a:pt x="79133" y="22415"/>
                  </a:lnTo>
                  <a:lnTo>
                    <a:pt x="152984" y="83515"/>
                  </a:lnTo>
                  <a:lnTo>
                    <a:pt x="159423" y="55676"/>
                  </a:lnTo>
                  <a:lnTo>
                    <a:pt x="967092" y="242709"/>
                  </a:lnTo>
                  <a:lnTo>
                    <a:pt x="973531" y="214871"/>
                  </a:lnTo>
                  <a:close/>
                </a:path>
                <a:path w="1172845" h="1478279">
                  <a:moveTo>
                    <a:pt x="1172591" y="1458734"/>
                  </a:moveTo>
                  <a:lnTo>
                    <a:pt x="68732" y="266649"/>
                  </a:lnTo>
                  <a:lnTo>
                    <a:pt x="80060" y="256159"/>
                  </a:lnTo>
                  <a:lnTo>
                    <a:pt x="89700" y="247230"/>
                  </a:lnTo>
                  <a:lnTo>
                    <a:pt x="0" y="213448"/>
                  </a:lnTo>
                  <a:lnTo>
                    <a:pt x="26797" y="305473"/>
                  </a:lnTo>
                  <a:lnTo>
                    <a:pt x="47764" y="286054"/>
                  </a:lnTo>
                  <a:lnTo>
                    <a:pt x="1151623" y="1478153"/>
                  </a:lnTo>
                  <a:lnTo>
                    <a:pt x="1172591" y="145873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6388972" y="5146023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3" name="object 63"/>
          <p:cNvSpPr/>
          <p:nvPr/>
        </p:nvSpPr>
        <p:spPr>
          <a:xfrm>
            <a:off x="5913585" y="4326198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21838" y="398917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896635" y="4315228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927620" y="538038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37460" y="5043511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10543" y="5369561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𝜕𝑦</a:t>
            </a:r>
            <a:endParaRPr sz="1799" kern="0" dirty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532610" y="5256815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848386" y="4705567"/>
            <a:ext cx="1100168" cy="522469"/>
          </a:xfrm>
          <a:custGeom>
            <a:avLst/>
            <a:gdLst/>
            <a:ahLst/>
            <a:cxnLst/>
            <a:rect l="l" t="t" r="r" b="b"/>
            <a:pathLst>
              <a:path w="1100454" h="522604">
                <a:moveTo>
                  <a:pt x="59796" y="444350"/>
                </a:moveTo>
                <a:lnTo>
                  <a:pt x="0" y="519252"/>
                </a:lnTo>
                <a:lnTo>
                  <a:pt x="95799" y="522147"/>
                </a:lnTo>
                <a:lnTo>
                  <a:pt x="86576" y="502216"/>
                </a:lnTo>
                <a:lnTo>
                  <a:pt x="70831" y="502216"/>
                </a:lnTo>
                <a:lnTo>
                  <a:pt x="58830" y="476284"/>
                </a:lnTo>
                <a:lnTo>
                  <a:pt x="71797" y="470283"/>
                </a:lnTo>
                <a:lnTo>
                  <a:pt x="59796" y="444350"/>
                </a:lnTo>
                <a:close/>
              </a:path>
              <a:path w="1100454" h="522604">
                <a:moveTo>
                  <a:pt x="71797" y="470283"/>
                </a:moveTo>
                <a:lnTo>
                  <a:pt x="58830" y="476284"/>
                </a:lnTo>
                <a:lnTo>
                  <a:pt x="70831" y="502216"/>
                </a:lnTo>
                <a:lnTo>
                  <a:pt x="83798" y="496215"/>
                </a:lnTo>
                <a:lnTo>
                  <a:pt x="71797" y="470283"/>
                </a:lnTo>
                <a:close/>
              </a:path>
              <a:path w="1100454" h="522604">
                <a:moveTo>
                  <a:pt x="83798" y="496215"/>
                </a:moveTo>
                <a:lnTo>
                  <a:pt x="70831" y="502216"/>
                </a:lnTo>
                <a:lnTo>
                  <a:pt x="86576" y="502216"/>
                </a:lnTo>
                <a:lnTo>
                  <a:pt x="83798" y="496215"/>
                </a:lnTo>
                <a:close/>
              </a:path>
              <a:path w="1100454" h="522604">
                <a:moveTo>
                  <a:pt x="1087993" y="0"/>
                </a:moveTo>
                <a:lnTo>
                  <a:pt x="71797" y="470283"/>
                </a:lnTo>
                <a:lnTo>
                  <a:pt x="83798" y="496215"/>
                </a:lnTo>
                <a:lnTo>
                  <a:pt x="1099995" y="25932"/>
                </a:lnTo>
                <a:lnTo>
                  <a:pt x="108799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199235" y="5884858"/>
            <a:ext cx="114905" cy="269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6" defTabSz="914126">
              <a:lnSpc>
                <a:spcPts val="2089"/>
              </a:lnSpc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76709" y="6036094"/>
            <a:ext cx="275518" cy="61959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723" defTabSz="914126">
              <a:spcBef>
                <a:spcPts val="1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12696" defTabSz="914126">
              <a:spcBef>
                <a:spcPts val="4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84B213B0-F8A9-6BE3-98CC-7424CF18A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1775" y="823900"/>
            <a:ext cx="368204" cy="25393"/>
          </a:xfrm>
          <a:custGeom>
            <a:avLst/>
            <a:gdLst/>
            <a:ahLst/>
            <a:cxnLst/>
            <a:rect l="l" t="t" r="r" b="b"/>
            <a:pathLst>
              <a:path w="368300" h="25400">
                <a:moveTo>
                  <a:pt x="368300" y="0"/>
                </a:moveTo>
                <a:lnTo>
                  <a:pt x="0" y="0"/>
                </a:lnTo>
                <a:lnTo>
                  <a:pt x="0" y="25400"/>
                </a:lnTo>
                <a:lnTo>
                  <a:pt x="368300" y="25400"/>
                </a:lnTo>
                <a:lnTo>
                  <a:pt x="368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822" y="823900"/>
            <a:ext cx="380901" cy="25393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0"/>
                </a:moveTo>
                <a:lnTo>
                  <a:pt x="0" y="0"/>
                </a:lnTo>
                <a:lnTo>
                  <a:pt x="0" y="25400"/>
                </a:lnTo>
                <a:lnTo>
                  <a:pt x="3810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3354" y="823900"/>
            <a:ext cx="342811" cy="25393"/>
          </a:xfrm>
          <a:custGeom>
            <a:avLst/>
            <a:gdLst/>
            <a:ahLst/>
            <a:cxnLst/>
            <a:rect l="l" t="t" r="r" b="b"/>
            <a:pathLst>
              <a:path w="342900" h="25400">
                <a:moveTo>
                  <a:pt x="342900" y="0"/>
                </a:moveTo>
                <a:lnTo>
                  <a:pt x="0" y="0"/>
                </a:lnTo>
                <a:lnTo>
                  <a:pt x="0" y="25400"/>
                </a:lnTo>
                <a:lnTo>
                  <a:pt x="342900" y="254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490" y="851063"/>
            <a:ext cx="1593435" cy="37582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598625" algn="l"/>
                <a:tab pos="1241687" algn="l"/>
              </a:tabLst>
            </a:pPr>
            <a:r>
              <a:rPr sz="2299" kern="0" spc="80" dirty="0">
                <a:solidFill>
                  <a:srgbClr val="C00000"/>
                </a:solidFill>
                <a:latin typeface="Cambria Math"/>
                <a:cs typeface="Cambria Math"/>
              </a:rPr>
              <a:t>𝛛𝑥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100" dirty="0">
                <a:solidFill>
                  <a:srgbClr val="C00000"/>
                </a:solidFill>
                <a:latin typeface="Cambria Math"/>
                <a:cs typeface="Cambria Math"/>
              </a:rPr>
              <a:t>𝛛𝑦</a:t>
            </a:r>
            <a:r>
              <a:rPr sz="2299" kern="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299" kern="0" spc="70" dirty="0">
                <a:solidFill>
                  <a:srgbClr val="C00000"/>
                </a:solidFill>
                <a:latin typeface="Cambria Math"/>
                <a:cs typeface="Cambria Math"/>
              </a:rPr>
              <a:t>𝛛𝑧</a:t>
            </a:r>
            <a:endParaRPr sz="22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1306" y="532631"/>
            <a:ext cx="5345308" cy="51294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  <a:tabLst>
                <a:tab pos="4832170" algn="l"/>
              </a:tabLst>
            </a:pPr>
            <a:r>
              <a:rPr dirty="0"/>
              <a:t>Exercise:</a:t>
            </a:r>
            <a:r>
              <a:rPr spc="-30" dirty="0"/>
              <a:t> </a:t>
            </a:r>
            <a:r>
              <a:rPr dirty="0"/>
              <a:t>Compute</a:t>
            </a:r>
            <a:r>
              <a:rPr spc="229" dirty="0"/>
              <a:t> </a:t>
            </a:r>
            <a:r>
              <a:rPr sz="3449" spc="127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555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600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3449" spc="112" baseline="44685" dirty="0">
                <a:solidFill>
                  <a:srgbClr val="C00000"/>
                </a:solidFill>
                <a:latin typeface="Cambria Math"/>
                <a:cs typeface="Cambria Math"/>
              </a:rPr>
              <a:t>𝛛𝑙</a:t>
            </a:r>
            <a:r>
              <a:rPr sz="3449" spc="457" baseline="4468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50" dirty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4565" y="1662825"/>
            <a:ext cx="923684" cy="282501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847" y="0"/>
                </a:moveTo>
                <a:lnTo>
                  <a:pt x="829829" y="11459"/>
                </a:lnTo>
                <a:lnTo>
                  <a:pt x="846172" y="18552"/>
                </a:lnTo>
                <a:lnTo>
                  <a:pt x="860227" y="28370"/>
                </a:lnTo>
                <a:lnTo>
                  <a:pt x="888765" y="73878"/>
                </a:lnTo>
                <a:lnTo>
                  <a:pt x="897055" y="115355"/>
                </a:lnTo>
                <a:lnTo>
                  <a:pt x="897099" y="115662"/>
                </a:lnTo>
                <a:lnTo>
                  <a:pt x="897095" y="164650"/>
                </a:lnTo>
                <a:lnTo>
                  <a:pt x="888724" y="207587"/>
                </a:lnTo>
                <a:lnTo>
                  <a:pt x="860245" y="253826"/>
                </a:lnTo>
                <a:lnTo>
                  <a:pt x="830276" y="270866"/>
                </a:lnTo>
                <a:lnTo>
                  <a:pt x="833847" y="282327"/>
                </a:lnTo>
                <a:lnTo>
                  <a:pt x="872357" y="264263"/>
                </a:lnTo>
                <a:lnTo>
                  <a:pt x="900671" y="232990"/>
                </a:lnTo>
                <a:lnTo>
                  <a:pt x="918084" y="191113"/>
                </a:lnTo>
                <a:lnTo>
                  <a:pt x="923889" y="141237"/>
                </a:lnTo>
                <a:lnTo>
                  <a:pt x="922450" y="115662"/>
                </a:lnTo>
                <a:lnTo>
                  <a:pt x="910787" y="69479"/>
                </a:lnTo>
                <a:lnTo>
                  <a:pt x="887691" y="32133"/>
                </a:lnTo>
                <a:lnTo>
                  <a:pt x="854316" y="7390"/>
                </a:lnTo>
                <a:lnTo>
                  <a:pt x="833847" y="0"/>
                </a:lnTo>
                <a:close/>
              </a:path>
              <a:path w="92392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966" y="1662825"/>
            <a:ext cx="908448" cy="282501"/>
          </a:xfrm>
          <a:custGeom>
            <a:avLst/>
            <a:gdLst/>
            <a:ahLst/>
            <a:cxnLst/>
            <a:rect l="l" t="t" r="r" b="b"/>
            <a:pathLst>
              <a:path w="908685" h="282575">
                <a:moveTo>
                  <a:pt x="818099" y="0"/>
                </a:moveTo>
                <a:lnTo>
                  <a:pt x="814081" y="11459"/>
                </a:lnTo>
                <a:lnTo>
                  <a:pt x="830424" y="18552"/>
                </a:lnTo>
                <a:lnTo>
                  <a:pt x="844479" y="28370"/>
                </a:lnTo>
                <a:lnTo>
                  <a:pt x="873017" y="73878"/>
                </a:lnTo>
                <a:lnTo>
                  <a:pt x="881307" y="115355"/>
                </a:lnTo>
                <a:lnTo>
                  <a:pt x="881351" y="115662"/>
                </a:lnTo>
                <a:lnTo>
                  <a:pt x="881346" y="164650"/>
                </a:lnTo>
                <a:lnTo>
                  <a:pt x="872974" y="207587"/>
                </a:lnTo>
                <a:lnTo>
                  <a:pt x="844497" y="253826"/>
                </a:lnTo>
                <a:lnTo>
                  <a:pt x="814527" y="270866"/>
                </a:lnTo>
                <a:lnTo>
                  <a:pt x="818099" y="282327"/>
                </a:lnTo>
                <a:lnTo>
                  <a:pt x="856609" y="264263"/>
                </a:lnTo>
                <a:lnTo>
                  <a:pt x="884923" y="232990"/>
                </a:lnTo>
                <a:lnTo>
                  <a:pt x="902336" y="191113"/>
                </a:lnTo>
                <a:lnTo>
                  <a:pt x="908140" y="141237"/>
                </a:lnTo>
                <a:lnTo>
                  <a:pt x="906701" y="115662"/>
                </a:lnTo>
                <a:lnTo>
                  <a:pt x="906684" y="115355"/>
                </a:lnTo>
                <a:lnTo>
                  <a:pt x="895039" y="69479"/>
                </a:lnTo>
                <a:lnTo>
                  <a:pt x="871943" y="32133"/>
                </a:lnTo>
                <a:lnTo>
                  <a:pt x="838567" y="7390"/>
                </a:lnTo>
                <a:lnTo>
                  <a:pt x="818099" y="0"/>
                </a:lnTo>
                <a:close/>
              </a:path>
              <a:path w="90868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83" y="139749"/>
                </a:lnTo>
                <a:lnTo>
                  <a:pt x="0" y="141237"/>
                </a:lnTo>
                <a:lnTo>
                  <a:pt x="5803" y="191113"/>
                </a:lnTo>
                <a:lnTo>
                  <a:pt x="23216" y="232990"/>
                </a:lnTo>
                <a:lnTo>
                  <a:pt x="51530" y="264263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809" y="141237"/>
                </a:lnTo>
                <a:lnTo>
                  <a:pt x="25746" y="139749"/>
                </a:lnTo>
                <a:lnTo>
                  <a:pt x="29932" y="93705"/>
                </a:lnTo>
                <a:lnTo>
                  <a:pt x="42490" y="56182"/>
                </a:lnTo>
                <a:lnTo>
                  <a:pt x="77776" y="18552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00" y="1481326"/>
            <a:ext cx="4208954" cy="939555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 defTabSz="914126">
              <a:spcBef>
                <a:spcPts val="820"/>
              </a:spcBef>
              <a:buFont typeface="Arial MT"/>
              <a:buChar char="•"/>
              <a:tabLst>
                <a:tab pos="239957" algn="l"/>
                <a:tab pos="1047436" algn="l"/>
                <a:tab pos="1982510" algn="l"/>
                <a:tab pos="2420529" algn="l"/>
                <a:tab pos="3255302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𝑙</a:t>
            </a:r>
            <a:r>
              <a:rPr sz="2399" kern="0" spc="2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𝑥,</a:t>
            </a:r>
            <a:r>
              <a:rPr sz="2399" kern="0" spc="-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𝑦,</a:t>
            </a:r>
            <a:r>
              <a:rPr sz="2399" kern="0" spc="-8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𝑦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(𝑥</a:t>
            </a:r>
            <a:r>
              <a:rPr sz="2399" kern="0" spc="6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2399" kern="0" spc="-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𝑧)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39957" indent="-227261" defTabSz="914126">
              <a:spcBef>
                <a:spcPts val="720"/>
              </a:spcBef>
              <a:buFontTx/>
              <a:buChar char="•"/>
              <a:tabLst>
                <a:tab pos="239957" algn="l"/>
              </a:tabLst>
            </a:pP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E.g.,</a:t>
            </a:r>
            <a:r>
              <a:rPr sz="2399" kern="0" spc="-2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2,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5,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=</a:t>
            </a:r>
            <a:r>
              <a:rPr sz="2399" kern="0" spc="-1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399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4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7937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0862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7606" y="3439962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610" y="3224330"/>
            <a:ext cx="3399539" cy="52818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05978" indent="-255193" defTabSz="914126">
              <a:lnSpc>
                <a:spcPts val="233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305978" algn="l"/>
              </a:tabLst>
            </a:pP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4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2699" kern="0" spc="48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1×𝑝</a:t>
            </a:r>
            <a:r>
              <a:rPr sz="2399" kern="0" spc="19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20"/>
              </a:lnSpc>
              <a:tabLst>
                <a:tab pos="953483" algn="l"/>
                <a:tab pos="1549570" algn="l"/>
              </a:tabLst>
            </a:pP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240" y="4101925"/>
            <a:ext cx="15807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8768" algn="l"/>
                <a:tab pos="1285489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𝛛𝑓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307" y="3870337"/>
            <a:ext cx="3605226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65350" indent="-227261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65350" algn="l"/>
              </a:tabLst>
            </a:pPr>
            <a:r>
              <a:rPr sz="2699" u="heavy" kern="0" spc="-33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127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u="heavy" kern="0" spc="-30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434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1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spc="82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𝑓</a:t>
            </a:r>
            <a:r>
              <a:rPr sz="2699" kern="0" spc="50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1×𝑞</a:t>
            </a:r>
            <a:r>
              <a:rPr sz="2399" kern="0" spc="22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306" y="4339607"/>
            <a:ext cx="3886458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92647" indent="-254559" defTabSz="914126">
              <a:spcBef>
                <a:spcPts val="100"/>
              </a:spcBef>
              <a:buSzPct val="133333"/>
              <a:buFont typeface="Arial MT"/>
              <a:buChar char="•"/>
              <a:tabLst>
                <a:tab pos="292647" algn="l"/>
              </a:tabLst>
            </a:pP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53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7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spc="1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+</a:t>
            </a:r>
            <a:r>
              <a:rPr sz="3599" kern="0" spc="32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1799" kern="0" spc="27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3599" kern="0" spc="-202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1799" kern="0" spc="6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spc="30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3599" kern="0" spc="195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3599" kern="0" spc="-37" baseline="-32407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−3</a:t>
            </a:r>
            <a:endParaRPr sz="3599" kern="0" baseline="-32407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7937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0862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27606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75138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71883" y="4735025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5240" y="4747932"/>
            <a:ext cx="280850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  <a:tabLst>
                <a:tab pos="684325" algn="l"/>
                <a:tab pos="1286124" algn="l"/>
                <a:tab pos="1926647" algn="l"/>
                <a:tab pos="2524637" algn="l"/>
              </a:tabLst>
            </a:pP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𝛛𝑥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610" y="5165400"/>
            <a:ext cx="3864238" cy="53135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78047" indent="-227261" defTabSz="914126">
              <a:lnSpc>
                <a:spcPts val="234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278047" algn="l"/>
              </a:tabLst>
            </a:pPr>
            <a:r>
              <a:rPr sz="2699" u="heavy" kern="0" spc="-307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14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8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u="heavy" kern="0" spc="-39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99" kern="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𝑙</a:t>
            </a:r>
            <a:r>
              <a:rPr sz="2699" kern="0" spc="450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0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11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</a:t>
            </a:r>
            <a:r>
              <a:rPr sz="2699" u="heavy" kern="0" spc="112" baseline="43209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𝑝</a:t>
            </a:r>
            <a:r>
              <a:rPr sz="2699" kern="0" spc="46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−6×1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−6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30"/>
              </a:lnSpc>
              <a:tabLst>
                <a:tab pos="959831" algn="l"/>
                <a:tab pos="1559092" algn="l"/>
              </a:tabLst>
            </a:pPr>
            <a:r>
              <a:rPr sz="1799" kern="0" spc="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𝛛𝑦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5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𝛛𝑝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4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𝛛𝑦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57937" y="6030088"/>
            <a:ext cx="266631" cy="25393"/>
          </a:xfrm>
          <a:custGeom>
            <a:avLst/>
            <a:gdLst/>
            <a:ahLst/>
            <a:cxnLst/>
            <a:rect l="l" t="t" r="r" b="b"/>
            <a:pathLst>
              <a:path w="266700" h="25400">
                <a:moveTo>
                  <a:pt x="266700" y="0"/>
                </a:moveTo>
                <a:lnTo>
                  <a:pt x="0" y="0"/>
                </a:lnTo>
                <a:lnTo>
                  <a:pt x="0" y="25400"/>
                </a:lnTo>
                <a:lnTo>
                  <a:pt x="266700" y="25400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18165" y="6030088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414910" y="6030088"/>
            <a:ext cx="279327" cy="25393"/>
          </a:xfrm>
          <a:custGeom>
            <a:avLst/>
            <a:gdLst/>
            <a:ahLst/>
            <a:cxnLst/>
            <a:rect l="l" t="t" r="r" b="b"/>
            <a:pathLst>
              <a:path w="279400" h="25400">
                <a:moveTo>
                  <a:pt x="279400" y="0"/>
                </a:moveTo>
                <a:lnTo>
                  <a:pt x="0" y="0"/>
                </a:lnTo>
                <a:lnTo>
                  <a:pt x="0" y="25400"/>
                </a:lnTo>
                <a:lnTo>
                  <a:pt x="279400" y="25400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8610" y="5814455"/>
            <a:ext cx="3377320" cy="52818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97726" indent="-246941" defTabSz="914126">
              <a:lnSpc>
                <a:spcPts val="2339"/>
              </a:lnSpc>
              <a:spcBef>
                <a:spcPts val="100"/>
              </a:spcBef>
              <a:buSzPct val="133333"/>
              <a:buFont typeface="Arial MT"/>
              <a:buChar char="•"/>
              <a:tabLst>
                <a:tab pos="297726" algn="l"/>
              </a:tabLst>
            </a:pPr>
            <a:r>
              <a:rPr sz="2699" kern="0" spc="7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68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34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7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𝛛𝑙</a:t>
            </a:r>
            <a:r>
              <a:rPr sz="2699" kern="0" spc="405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×</a:t>
            </a:r>
            <a:r>
              <a:rPr sz="2399" kern="0" spc="-1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699" kern="0" spc="89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2699" kern="0" spc="442" baseline="43209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3×1</a:t>
            </a:r>
            <a:r>
              <a:rPr sz="2399" kern="0" spc="1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=</a:t>
            </a:r>
            <a:r>
              <a:rPr sz="2399" kern="0" spc="13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 </a:t>
            </a: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3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279316" defTabSz="914126">
              <a:lnSpc>
                <a:spcPts val="1620"/>
              </a:lnSpc>
              <a:tabLst>
                <a:tab pos="935709" algn="l"/>
                <a:tab pos="1541317" algn="l"/>
              </a:tabLst>
            </a:pPr>
            <a:r>
              <a:rPr sz="17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𝛛𝑧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3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𝛛𝑞</a:t>
            </a:r>
            <a:r>
              <a:rPr sz="1799" kern="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	</a:t>
            </a:r>
            <a:r>
              <a:rPr sz="1799" kern="0" spc="-25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𝛛𝑧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862989" y="1635812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31507" y="1697679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50856" y="1030340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x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904642" y="1228390"/>
            <a:ext cx="2826284" cy="1445518"/>
            <a:chOff x="6906441" y="1227816"/>
            <a:chExt cx="2827020" cy="1445895"/>
          </a:xfrm>
        </p:grpSpPr>
        <p:sp>
          <p:nvSpPr>
            <p:cNvPr id="34" name="object 34"/>
            <p:cNvSpPr/>
            <p:nvPr/>
          </p:nvSpPr>
          <p:spPr>
            <a:xfrm>
              <a:off x="6906437" y="1227822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17" y="868730"/>
                  </a:moveTo>
                  <a:lnTo>
                    <a:pt x="1021473" y="862850"/>
                  </a:lnTo>
                  <a:lnTo>
                    <a:pt x="947585" y="836129"/>
                  </a:lnTo>
                  <a:lnTo>
                    <a:pt x="950912" y="864514"/>
                  </a:lnTo>
                  <a:lnTo>
                    <a:pt x="4292" y="975487"/>
                  </a:lnTo>
                  <a:lnTo>
                    <a:pt x="7620" y="1003871"/>
                  </a:lnTo>
                  <a:lnTo>
                    <a:pt x="954239" y="892898"/>
                  </a:lnTo>
                  <a:lnTo>
                    <a:pt x="957567" y="921283"/>
                  </a:lnTo>
                  <a:lnTo>
                    <a:pt x="1037717" y="868730"/>
                  </a:lnTo>
                  <a:close/>
                </a:path>
                <a:path w="1038225" h="1003935">
                  <a:moveTo>
                    <a:pt x="1037717" y="486651"/>
                  </a:moveTo>
                  <a:lnTo>
                    <a:pt x="1024204" y="469836"/>
                  </a:lnTo>
                  <a:lnTo>
                    <a:pt x="977696" y="411937"/>
                  </a:lnTo>
                  <a:lnTo>
                    <a:pt x="965771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17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9178635" y="211907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650856" y="200849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y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74125" y="2218750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b="1" kern="0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87831" y="1892396"/>
            <a:ext cx="3497304" cy="1517255"/>
            <a:chOff x="6889625" y="1891996"/>
            <a:chExt cx="3498215" cy="1517650"/>
          </a:xfrm>
        </p:grpSpPr>
        <p:sp>
          <p:nvSpPr>
            <p:cNvPr id="39" name="object 39"/>
            <p:cNvSpPr/>
            <p:nvPr/>
          </p:nvSpPr>
          <p:spPr>
            <a:xfrm>
              <a:off x="6889622" y="189200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73" y="1517053"/>
                  </a:lnTo>
                  <a:lnTo>
                    <a:pt x="979805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31" y="306197"/>
                  </a:moveTo>
                  <a:lnTo>
                    <a:pt x="2358618" y="296506"/>
                  </a:lnTo>
                  <a:lnTo>
                    <a:pt x="2300973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35" y="318897"/>
                  </a:lnTo>
                  <a:lnTo>
                    <a:pt x="2368131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31" y="482942"/>
                  </a:lnTo>
                  <a:lnTo>
                    <a:pt x="2829331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869817" y="26639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31625" y="3184716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z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93846" y="2532613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Cambria Math"/>
                <a:cs typeface="Cambria Math"/>
              </a:rPr>
              <a:t>𝑓</a:t>
            </a:r>
            <a:endParaRPr sz="23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36288" y="2675831"/>
            <a:ext cx="344715" cy="854487"/>
          </a:xfrm>
          <a:prstGeom prst="rect">
            <a:avLst/>
          </a:prstGeom>
        </p:spPr>
        <p:txBody>
          <a:bodyPr vert="horz" wrap="square" lIns="0" tIns="61578" rIns="0" bIns="0" rtlCol="0">
            <a:spAutoFit/>
          </a:bodyPr>
          <a:lstStyle/>
          <a:p>
            <a:pPr marL="12696" defTabSz="914126">
              <a:spcBef>
                <a:spcPts val="484"/>
              </a:spcBef>
            </a:pPr>
            <a:r>
              <a:rPr sz="2399" kern="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61876" defTabSz="914126">
              <a:spcBef>
                <a:spcPts val="38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q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98846" y="1233259"/>
            <a:ext cx="2831997" cy="3927087"/>
            <a:chOff x="6900643" y="1232687"/>
            <a:chExt cx="2832735" cy="3928110"/>
          </a:xfrm>
        </p:grpSpPr>
        <p:sp>
          <p:nvSpPr>
            <p:cNvPr id="45" name="object 45"/>
            <p:cNvSpPr/>
            <p:nvPr/>
          </p:nvSpPr>
          <p:spPr>
            <a:xfrm>
              <a:off x="6900634" y="123268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308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76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9178635" y="460569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260232" y="119184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p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716284" y="542986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726125" y="509226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99462" y="5418317"/>
            <a:ext cx="27805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21546" y="4717459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961340" y="2659600"/>
            <a:ext cx="1528047" cy="3583007"/>
            <a:chOff x="7963414" y="2659400"/>
            <a:chExt cx="1528445" cy="3583940"/>
          </a:xfrm>
        </p:grpSpPr>
        <p:sp>
          <p:nvSpPr>
            <p:cNvPr id="53" name="object 53"/>
            <p:cNvSpPr/>
            <p:nvPr/>
          </p:nvSpPr>
          <p:spPr>
            <a:xfrm>
              <a:off x="9405936" y="265940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977702" y="56883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" name="object 55"/>
          <p:cNvSpPr/>
          <p:nvPr/>
        </p:nvSpPr>
        <p:spPr>
          <a:xfrm>
            <a:off x="8592896" y="63627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02736" y="6024712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76709" y="6350762"/>
            <a:ext cx="27551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99235" y="5863210"/>
            <a:ext cx="11490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848702" y="2099169"/>
            <a:ext cx="1416951" cy="3732193"/>
            <a:chOff x="7850747" y="2098822"/>
            <a:chExt cx="1417320" cy="3733165"/>
          </a:xfrm>
        </p:grpSpPr>
        <p:sp>
          <p:nvSpPr>
            <p:cNvPr id="60" name="object 60"/>
            <p:cNvSpPr/>
            <p:nvPr/>
          </p:nvSpPr>
          <p:spPr>
            <a:xfrm>
              <a:off x="8314843" y="2098827"/>
              <a:ext cx="953135" cy="3733165"/>
            </a:xfrm>
            <a:custGeom>
              <a:avLst/>
              <a:gdLst/>
              <a:ahLst/>
              <a:cxnLst/>
              <a:rect l="l" t="t" r="r" b="b"/>
              <a:pathLst>
                <a:path w="953134" h="3733165">
                  <a:moveTo>
                    <a:pt x="602805" y="1289075"/>
                  </a:moveTo>
                  <a:lnTo>
                    <a:pt x="601281" y="1234744"/>
                  </a:lnTo>
                  <a:lnTo>
                    <a:pt x="601243" y="1233309"/>
                  </a:lnTo>
                  <a:lnTo>
                    <a:pt x="598220" y="1181290"/>
                  </a:lnTo>
                  <a:lnTo>
                    <a:pt x="598195" y="1180858"/>
                  </a:lnTo>
                  <a:lnTo>
                    <a:pt x="598093" y="1178991"/>
                  </a:lnTo>
                  <a:lnTo>
                    <a:pt x="593407" y="1126083"/>
                  </a:lnTo>
                  <a:lnTo>
                    <a:pt x="587235" y="1074534"/>
                  </a:lnTo>
                  <a:lnTo>
                    <a:pt x="579640" y="1024305"/>
                  </a:lnTo>
                  <a:lnTo>
                    <a:pt x="570661" y="975347"/>
                  </a:lnTo>
                  <a:lnTo>
                    <a:pt x="560349" y="927620"/>
                  </a:lnTo>
                  <a:lnTo>
                    <a:pt x="548754" y="881075"/>
                  </a:lnTo>
                  <a:lnTo>
                    <a:pt x="535927" y="835672"/>
                  </a:lnTo>
                  <a:lnTo>
                    <a:pt x="521893" y="791260"/>
                  </a:lnTo>
                  <a:lnTo>
                    <a:pt x="490613" y="705853"/>
                  </a:lnTo>
                  <a:lnTo>
                    <a:pt x="455218" y="624154"/>
                  </a:lnTo>
                  <a:lnTo>
                    <a:pt x="416153" y="545934"/>
                  </a:lnTo>
                  <a:lnTo>
                    <a:pt x="373849" y="470814"/>
                  </a:lnTo>
                  <a:lnTo>
                    <a:pt x="328726" y="398399"/>
                  </a:lnTo>
                  <a:lnTo>
                    <a:pt x="281203" y="328345"/>
                  </a:lnTo>
                  <a:lnTo>
                    <a:pt x="231686" y="260248"/>
                  </a:lnTo>
                  <a:lnTo>
                    <a:pt x="180594" y="193751"/>
                  </a:lnTo>
                  <a:lnTo>
                    <a:pt x="128320" y="128435"/>
                  </a:lnTo>
                  <a:lnTo>
                    <a:pt x="22009" y="0"/>
                  </a:lnTo>
                  <a:lnTo>
                    <a:pt x="0" y="18224"/>
                  </a:lnTo>
                  <a:lnTo>
                    <a:pt x="106133" y="146431"/>
                  </a:lnTo>
                  <a:lnTo>
                    <a:pt x="158076" y="211353"/>
                  </a:lnTo>
                  <a:lnTo>
                    <a:pt x="208686" y="277202"/>
                  </a:lnTo>
                  <a:lnTo>
                    <a:pt x="257683" y="344576"/>
                  </a:lnTo>
                  <a:lnTo>
                    <a:pt x="304622" y="413753"/>
                  </a:lnTo>
                  <a:lnTo>
                    <a:pt x="349110" y="485101"/>
                  </a:lnTo>
                  <a:lnTo>
                    <a:pt x="390753" y="559015"/>
                  </a:lnTo>
                  <a:lnTo>
                    <a:pt x="429158" y="635876"/>
                  </a:lnTo>
                  <a:lnTo>
                    <a:pt x="459473" y="705853"/>
                  </a:lnTo>
                  <a:lnTo>
                    <a:pt x="463931" y="716064"/>
                  </a:lnTo>
                  <a:lnTo>
                    <a:pt x="491464" y="791260"/>
                  </a:lnTo>
                  <a:lnTo>
                    <a:pt x="494753" y="800176"/>
                  </a:lnTo>
                  <a:lnTo>
                    <a:pt x="508495" y="843648"/>
                  </a:lnTo>
                  <a:lnTo>
                    <a:pt x="521081" y="888199"/>
                  </a:lnTo>
                  <a:lnTo>
                    <a:pt x="532460" y="933869"/>
                  </a:lnTo>
                  <a:lnTo>
                    <a:pt x="542594" y="980719"/>
                  </a:lnTo>
                  <a:lnTo>
                    <a:pt x="551421" y="1028801"/>
                  </a:lnTo>
                  <a:lnTo>
                    <a:pt x="558888" y="1078141"/>
                  </a:lnTo>
                  <a:lnTo>
                    <a:pt x="564959" y="1128814"/>
                  </a:lnTo>
                  <a:lnTo>
                    <a:pt x="569582" y="1180858"/>
                  </a:lnTo>
                  <a:lnTo>
                    <a:pt x="572617" y="1233309"/>
                  </a:lnTo>
                  <a:lnTo>
                    <a:pt x="574217" y="1289075"/>
                  </a:lnTo>
                  <a:lnTo>
                    <a:pt x="574167" y="1346314"/>
                  </a:lnTo>
                  <a:lnTo>
                    <a:pt x="572579" y="1403667"/>
                  </a:lnTo>
                  <a:lnTo>
                    <a:pt x="569455" y="1463065"/>
                  </a:lnTo>
                  <a:lnTo>
                    <a:pt x="564870" y="1523847"/>
                  </a:lnTo>
                  <a:lnTo>
                    <a:pt x="558876" y="1585988"/>
                  </a:lnTo>
                  <a:lnTo>
                    <a:pt x="551510" y="1649412"/>
                  </a:lnTo>
                  <a:lnTo>
                    <a:pt x="542823" y="1714080"/>
                  </a:lnTo>
                  <a:lnTo>
                    <a:pt x="532879" y="1779955"/>
                  </a:lnTo>
                  <a:lnTo>
                    <a:pt x="521716" y="1846973"/>
                  </a:lnTo>
                  <a:lnTo>
                    <a:pt x="509397" y="1915007"/>
                  </a:lnTo>
                  <a:lnTo>
                    <a:pt x="481444" y="2054364"/>
                  </a:lnTo>
                  <a:lnTo>
                    <a:pt x="449427" y="2197544"/>
                  </a:lnTo>
                  <a:lnTo>
                    <a:pt x="413766" y="2344153"/>
                  </a:lnTo>
                  <a:lnTo>
                    <a:pt x="374853" y="2493822"/>
                  </a:lnTo>
                  <a:lnTo>
                    <a:pt x="333095" y="2646159"/>
                  </a:lnTo>
                  <a:lnTo>
                    <a:pt x="288899" y="2800794"/>
                  </a:lnTo>
                  <a:lnTo>
                    <a:pt x="242658" y="2957334"/>
                  </a:lnTo>
                  <a:lnTo>
                    <a:pt x="194805" y="3115411"/>
                  </a:lnTo>
                  <a:lnTo>
                    <a:pt x="145719" y="3274631"/>
                  </a:lnTo>
                  <a:lnTo>
                    <a:pt x="71081" y="3513251"/>
                  </a:lnTo>
                  <a:lnTo>
                    <a:pt x="43815" y="3504717"/>
                  </a:lnTo>
                  <a:lnTo>
                    <a:pt x="59131" y="3599332"/>
                  </a:lnTo>
                  <a:lnTo>
                    <a:pt x="120713" y="3535413"/>
                  </a:lnTo>
                  <a:lnTo>
                    <a:pt x="125628" y="3530308"/>
                  </a:lnTo>
                  <a:lnTo>
                    <a:pt x="98361" y="3521786"/>
                  </a:lnTo>
                  <a:lnTo>
                    <a:pt x="172999" y="3283127"/>
                  </a:lnTo>
                  <a:lnTo>
                    <a:pt x="222123" y="3123793"/>
                  </a:lnTo>
                  <a:lnTo>
                    <a:pt x="270027" y="2965564"/>
                  </a:lnTo>
                  <a:lnTo>
                    <a:pt x="316318" y="2808821"/>
                  </a:lnTo>
                  <a:lnTo>
                    <a:pt x="360591" y="2653931"/>
                  </a:lnTo>
                  <a:lnTo>
                    <a:pt x="402437" y="2501277"/>
                  </a:lnTo>
                  <a:lnTo>
                    <a:pt x="441452" y="2351240"/>
                  </a:lnTo>
                  <a:lnTo>
                    <a:pt x="477227" y="2204161"/>
                  </a:lnTo>
                  <a:lnTo>
                    <a:pt x="509371" y="2060448"/>
                  </a:lnTo>
                  <a:lnTo>
                    <a:pt x="537451" y="1920494"/>
                  </a:lnTo>
                  <a:lnTo>
                    <a:pt x="549846" y="1851964"/>
                  </a:lnTo>
                  <a:lnTo>
                    <a:pt x="561086" y="1784540"/>
                  </a:lnTo>
                  <a:lnTo>
                    <a:pt x="571093" y="1718233"/>
                  </a:lnTo>
                  <a:lnTo>
                    <a:pt x="579843" y="1653082"/>
                  </a:lnTo>
                  <a:lnTo>
                    <a:pt x="587273" y="1589138"/>
                  </a:lnTo>
                  <a:lnTo>
                    <a:pt x="593331" y="1526451"/>
                  </a:lnTo>
                  <a:lnTo>
                    <a:pt x="597966" y="1465046"/>
                  </a:lnTo>
                  <a:lnTo>
                    <a:pt x="601129" y="1404988"/>
                  </a:lnTo>
                  <a:lnTo>
                    <a:pt x="602754" y="1346314"/>
                  </a:lnTo>
                  <a:lnTo>
                    <a:pt x="602805" y="1289075"/>
                  </a:lnTo>
                  <a:close/>
                </a:path>
                <a:path w="953134" h="3733165">
                  <a:moveTo>
                    <a:pt x="952842" y="2978353"/>
                  </a:moveTo>
                  <a:lnTo>
                    <a:pt x="932992" y="2957792"/>
                  </a:lnTo>
                  <a:lnTo>
                    <a:pt x="202514" y="3662743"/>
                  </a:lnTo>
                  <a:lnTo>
                    <a:pt x="182664" y="3642182"/>
                  </a:lnTo>
                  <a:lnTo>
                    <a:pt x="150749" y="3732555"/>
                  </a:lnTo>
                  <a:lnTo>
                    <a:pt x="242201" y="3703866"/>
                  </a:lnTo>
                  <a:lnTo>
                    <a:pt x="231927" y="3693236"/>
                  </a:lnTo>
                  <a:lnTo>
                    <a:pt x="222351" y="3683304"/>
                  </a:lnTo>
                  <a:lnTo>
                    <a:pt x="952842" y="297835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7865035" y="425766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090841" y="4409692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b="1" kern="0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932995" y="3204230"/>
            <a:ext cx="1325535" cy="1891807"/>
          </a:xfrm>
          <a:custGeom>
            <a:avLst/>
            <a:gdLst/>
            <a:ahLst/>
            <a:cxnLst/>
            <a:rect l="l" t="t" r="r" b="b"/>
            <a:pathLst>
              <a:path w="1325879" h="1892300">
                <a:moveTo>
                  <a:pt x="243382" y="967968"/>
                </a:moveTo>
                <a:lnTo>
                  <a:pt x="214807" y="967841"/>
                </a:lnTo>
                <a:lnTo>
                  <a:pt x="219202" y="127"/>
                </a:lnTo>
                <a:lnTo>
                  <a:pt x="190627" y="0"/>
                </a:lnTo>
                <a:lnTo>
                  <a:pt x="186232" y="967587"/>
                </a:lnTo>
                <a:lnTo>
                  <a:pt x="186232" y="967714"/>
                </a:lnTo>
                <a:lnTo>
                  <a:pt x="157657" y="967587"/>
                </a:lnTo>
                <a:lnTo>
                  <a:pt x="200126" y="1053503"/>
                </a:lnTo>
                <a:lnTo>
                  <a:pt x="236220" y="982129"/>
                </a:lnTo>
                <a:lnTo>
                  <a:pt x="243382" y="967968"/>
                </a:lnTo>
                <a:close/>
              </a:path>
              <a:path w="1325879" h="1892300">
                <a:moveTo>
                  <a:pt x="254000" y="1879384"/>
                </a:moveTo>
                <a:lnTo>
                  <a:pt x="0" y="1879384"/>
                </a:lnTo>
                <a:lnTo>
                  <a:pt x="0" y="1892084"/>
                </a:lnTo>
                <a:lnTo>
                  <a:pt x="254000" y="1892084"/>
                </a:lnTo>
                <a:lnTo>
                  <a:pt x="254000" y="1879384"/>
                </a:lnTo>
                <a:close/>
              </a:path>
              <a:path w="1325879" h="1892300">
                <a:moveTo>
                  <a:pt x="1325283" y="1466608"/>
                </a:moveTo>
                <a:lnTo>
                  <a:pt x="557187" y="1325143"/>
                </a:lnTo>
                <a:lnTo>
                  <a:pt x="557669" y="1322552"/>
                </a:lnTo>
                <a:lnTo>
                  <a:pt x="562368" y="1297038"/>
                </a:lnTo>
                <a:lnTo>
                  <a:pt x="470293" y="1323670"/>
                </a:lnTo>
                <a:lnTo>
                  <a:pt x="546836" y="1381340"/>
                </a:lnTo>
                <a:lnTo>
                  <a:pt x="552018" y="1353248"/>
                </a:lnTo>
                <a:lnTo>
                  <a:pt x="1320114" y="1494713"/>
                </a:lnTo>
                <a:lnTo>
                  <a:pt x="1325283" y="146660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55535" y="4744885"/>
            <a:ext cx="1993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917318" y="5070936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431854" y="4051136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600373" y="4114114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2399" kern="0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239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373023" y="4298816"/>
            <a:ext cx="1692469" cy="1477895"/>
            <a:chOff x="6374684" y="4299043"/>
            <a:chExt cx="1692910" cy="1478280"/>
          </a:xfrm>
        </p:grpSpPr>
        <p:sp>
          <p:nvSpPr>
            <p:cNvPr id="69" name="object 69"/>
            <p:cNvSpPr/>
            <p:nvPr/>
          </p:nvSpPr>
          <p:spPr>
            <a:xfrm>
              <a:off x="6894715" y="4299051"/>
              <a:ext cx="1172845" cy="1478280"/>
            </a:xfrm>
            <a:custGeom>
              <a:avLst/>
              <a:gdLst/>
              <a:ahLst/>
              <a:cxnLst/>
              <a:rect l="l" t="t" r="r" b="b"/>
              <a:pathLst>
                <a:path w="1172845" h="1478279">
                  <a:moveTo>
                    <a:pt x="973531" y="214871"/>
                  </a:moveTo>
                  <a:lnTo>
                    <a:pt x="165874" y="27838"/>
                  </a:lnTo>
                  <a:lnTo>
                    <a:pt x="166624" y="24612"/>
                  </a:lnTo>
                  <a:lnTo>
                    <a:pt x="172313" y="0"/>
                  </a:lnTo>
                  <a:lnTo>
                    <a:pt x="79133" y="22415"/>
                  </a:lnTo>
                  <a:lnTo>
                    <a:pt x="152984" y="83515"/>
                  </a:lnTo>
                  <a:lnTo>
                    <a:pt x="159423" y="55676"/>
                  </a:lnTo>
                  <a:lnTo>
                    <a:pt x="967092" y="242709"/>
                  </a:lnTo>
                  <a:lnTo>
                    <a:pt x="973531" y="214871"/>
                  </a:lnTo>
                  <a:close/>
                </a:path>
                <a:path w="1172845" h="1478279">
                  <a:moveTo>
                    <a:pt x="1172591" y="1458734"/>
                  </a:moveTo>
                  <a:lnTo>
                    <a:pt x="68732" y="266649"/>
                  </a:lnTo>
                  <a:lnTo>
                    <a:pt x="80060" y="256159"/>
                  </a:lnTo>
                  <a:lnTo>
                    <a:pt x="89700" y="247230"/>
                  </a:lnTo>
                  <a:lnTo>
                    <a:pt x="0" y="213448"/>
                  </a:lnTo>
                  <a:lnTo>
                    <a:pt x="26797" y="305473"/>
                  </a:lnTo>
                  <a:lnTo>
                    <a:pt x="47764" y="286054"/>
                  </a:lnTo>
                  <a:lnTo>
                    <a:pt x="1151623" y="1478153"/>
                  </a:lnTo>
                  <a:lnTo>
                    <a:pt x="1172591" y="145873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388972" y="5146023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1" name="object 71"/>
          <p:cNvSpPr/>
          <p:nvPr/>
        </p:nvSpPr>
        <p:spPr>
          <a:xfrm>
            <a:off x="5913585" y="4326198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921838" y="3989177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896635" y="4315228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927620" y="538038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937460" y="5043511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910543" y="5369561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𝜕𝑦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532610" y="5256815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384633" y="4705566"/>
            <a:ext cx="1563598" cy="1882920"/>
            <a:chOff x="6386296" y="4705899"/>
            <a:chExt cx="1564005" cy="1883410"/>
          </a:xfrm>
        </p:grpSpPr>
        <p:sp>
          <p:nvSpPr>
            <p:cNvPr id="79" name="object 79"/>
            <p:cNvSpPr/>
            <p:nvPr/>
          </p:nvSpPr>
          <p:spPr>
            <a:xfrm>
              <a:off x="6850170" y="4705899"/>
              <a:ext cx="1100455" cy="522605"/>
            </a:xfrm>
            <a:custGeom>
              <a:avLst/>
              <a:gdLst/>
              <a:ahLst/>
              <a:cxnLst/>
              <a:rect l="l" t="t" r="r" b="b"/>
              <a:pathLst>
                <a:path w="1100454" h="522604">
                  <a:moveTo>
                    <a:pt x="59796" y="444350"/>
                  </a:moveTo>
                  <a:lnTo>
                    <a:pt x="0" y="519252"/>
                  </a:lnTo>
                  <a:lnTo>
                    <a:pt x="95799" y="522147"/>
                  </a:lnTo>
                  <a:lnTo>
                    <a:pt x="86576" y="502216"/>
                  </a:lnTo>
                  <a:lnTo>
                    <a:pt x="70831" y="502216"/>
                  </a:lnTo>
                  <a:lnTo>
                    <a:pt x="58830" y="476284"/>
                  </a:lnTo>
                  <a:lnTo>
                    <a:pt x="71797" y="470283"/>
                  </a:lnTo>
                  <a:lnTo>
                    <a:pt x="59796" y="444350"/>
                  </a:lnTo>
                  <a:close/>
                </a:path>
                <a:path w="1100454" h="522604">
                  <a:moveTo>
                    <a:pt x="71797" y="470283"/>
                  </a:moveTo>
                  <a:lnTo>
                    <a:pt x="58830" y="476284"/>
                  </a:lnTo>
                  <a:lnTo>
                    <a:pt x="70831" y="502216"/>
                  </a:lnTo>
                  <a:lnTo>
                    <a:pt x="83798" y="496215"/>
                  </a:lnTo>
                  <a:lnTo>
                    <a:pt x="71797" y="470283"/>
                  </a:lnTo>
                  <a:close/>
                </a:path>
                <a:path w="1100454" h="522604">
                  <a:moveTo>
                    <a:pt x="83798" y="496215"/>
                  </a:moveTo>
                  <a:lnTo>
                    <a:pt x="70831" y="502216"/>
                  </a:lnTo>
                  <a:lnTo>
                    <a:pt x="86576" y="502216"/>
                  </a:lnTo>
                  <a:lnTo>
                    <a:pt x="83798" y="496215"/>
                  </a:lnTo>
                  <a:close/>
                </a:path>
                <a:path w="1100454" h="522604">
                  <a:moveTo>
                    <a:pt x="1087993" y="0"/>
                  </a:moveTo>
                  <a:lnTo>
                    <a:pt x="71797" y="470283"/>
                  </a:lnTo>
                  <a:lnTo>
                    <a:pt x="83798" y="496215"/>
                  </a:lnTo>
                  <a:lnTo>
                    <a:pt x="1099995" y="25932"/>
                  </a:lnTo>
                  <a:lnTo>
                    <a:pt x="108799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6400584" y="603424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4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 defTabSz="914126"/>
              <a:endParaRPr sz="179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1" name="object 81"/>
          <p:cNvSpPr/>
          <p:nvPr/>
        </p:nvSpPr>
        <p:spPr>
          <a:xfrm>
            <a:off x="5939228" y="6268375"/>
            <a:ext cx="241237" cy="12697"/>
          </a:xfrm>
          <a:custGeom>
            <a:avLst/>
            <a:gdLst/>
            <a:ahLst/>
            <a:cxnLst/>
            <a:rect l="l" t="t" r="r" b="b"/>
            <a:pathLst>
              <a:path w="241300" h="12700">
                <a:moveTo>
                  <a:pt x="241300" y="0"/>
                </a:moveTo>
                <a:lnTo>
                  <a:pt x="0" y="0"/>
                </a:lnTo>
                <a:lnTo>
                  <a:pt x="0" y="12700"/>
                </a:lnTo>
                <a:lnTo>
                  <a:pt x="241300" y="12700"/>
                </a:lnTo>
                <a:lnTo>
                  <a:pt x="241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922151" y="5878446"/>
            <a:ext cx="263456" cy="678003"/>
          </a:xfrm>
          <a:prstGeom prst="rect">
            <a:avLst/>
          </a:prstGeom>
        </p:spPr>
        <p:txBody>
          <a:bodyPr vert="horz" wrap="square" lIns="0" tIns="64118" rIns="0" bIns="0" rtlCol="0">
            <a:spAutoFit/>
          </a:bodyPr>
          <a:lstStyle/>
          <a:p>
            <a:pPr marL="30471" defTabSz="914126">
              <a:spcBef>
                <a:spcPts val="505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  <a:p>
            <a:pPr marL="12696" defTabSz="914126">
              <a:spcBef>
                <a:spcPts val="409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𝜕𝑧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44219" y="6143552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defTabSz="914126">
              <a:spcBef>
                <a:spcPts val="100"/>
              </a:spcBef>
            </a:pPr>
            <a:r>
              <a:rPr sz="1799" kern="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 kern="0">
              <a:solidFill>
                <a:sysClr val="windowText" lastClr="000000"/>
              </a:solidFill>
              <a:latin typeface="Cambria Math"/>
              <a:cs typeface="Cambria Math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939102" y="5944313"/>
            <a:ext cx="1041129" cy="373283"/>
          </a:xfrm>
          <a:custGeom>
            <a:avLst/>
            <a:gdLst/>
            <a:ahLst/>
            <a:cxnLst/>
            <a:rect l="l" t="t" r="r" b="b"/>
            <a:pathLst>
              <a:path w="1041400" h="373379">
                <a:moveTo>
                  <a:pt x="67754" y="291648"/>
                </a:moveTo>
                <a:lnTo>
                  <a:pt x="0" y="359437"/>
                </a:lnTo>
                <a:lnTo>
                  <a:pt x="94882" y="372967"/>
                </a:lnTo>
                <a:lnTo>
                  <a:pt x="87348" y="350383"/>
                </a:lnTo>
                <a:lnTo>
                  <a:pt x="72285" y="350383"/>
                </a:lnTo>
                <a:lnTo>
                  <a:pt x="63243" y="323276"/>
                </a:lnTo>
                <a:lnTo>
                  <a:pt x="76797" y="318755"/>
                </a:lnTo>
                <a:lnTo>
                  <a:pt x="67754" y="291648"/>
                </a:lnTo>
                <a:close/>
              </a:path>
              <a:path w="1041400" h="373379">
                <a:moveTo>
                  <a:pt x="76797" y="318755"/>
                </a:moveTo>
                <a:lnTo>
                  <a:pt x="63243" y="323276"/>
                </a:lnTo>
                <a:lnTo>
                  <a:pt x="72285" y="350383"/>
                </a:lnTo>
                <a:lnTo>
                  <a:pt x="85840" y="345861"/>
                </a:lnTo>
                <a:lnTo>
                  <a:pt x="76797" y="318755"/>
                </a:lnTo>
                <a:close/>
              </a:path>
              <a:path w="1041400" h="373379">
                <a:moveTo>
                  <a:pt x="85840" y="345861"/>
                </a:moveTo>
                <a:lnTo>
                  <a:pt x="72285" y="350383"/>
                </a:lnTo>
                <a:lnTo>
                  <a:pt x="87348" y="350383"/>
                </a:lnTo>
                <a:lnTo>
                  <a:pt x="85840" y="345861"/>
                </a:lnTo>
                <a:close/>
              </a:path>
              <a:path w="1041400" h="373379">
                <a:moveTo>
                  <a:pt x="1032269" y="0"/>
                </a:moveTo>
                <a:lnTo>
                  <a:pt x="76797" y="318755"/>
                </a:lnTo>
                <a:lnTo>
                  <a:pt x="85840" y="345861"/>
                </a:lnTo>
                <a:lnTo>
                  <a:pt x="1041312" y="27106"/>
                </a:lnTo>
                <a:lnTo>
                  <a:pt x="103226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defTabSz="914126"/>
            <a:endParaRPr sz="1799" kern="0">
              <a:solidFill>
                <a:sysClr val="windowText" lastClr="000000"/>
              </a:solidFill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1BE11D9-15C7-DBDC-9212-08085614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3" y="2420881"/>
            <a:ext cx="1402488" cy="7224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1449" y="422689"/>
            <a:ext cx="5947131" cy="2906273"/>
          </a:xfrm>
          <a:custGeom>
            <a:avLst/>
            <a:gdLst/>
            <a:ahLst/>
            <a:cxnLst/>
            <a:rect l="l" t="t" r="r" b="b"/>
            <a:pathLst>
              <a:path w="5948680" h="2907029">
                <a:moveTo>
                  <a:pt x="5948413" y="0"/>
                </a:moveTo>
                <a:lnTo>
                  <a:pt x="0" y="0"/>
                </a:lnTo>
                <a:lnTo>
                  <a:pt x="0" y="2906830"/>
                </a:lnTo>
                <a:lnTo>
                  <a:pt x="5948413" y="2906830"/>
                </a:lnTo>
                <a:lnTo>
                  <a:pt x="5948413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" name="object 3"/>
          <p:cNvSpPr/>
          <p:nvPr/>
        </p:nvSpPr>
        <p:spPr>
          <a:xfrm>
            <a:off x="2983373" y="3437701"/>
            <a:ext cx="5947131" cy="2906273"/>
          </a:xfrm>
          <a:custGeom>
            <a:avLst/>
            <a:gdLst/>
            <a:ahLst/>
            <a:cxnLst/>
            <a:rect l="l" t="t" r="r" b="b"/>
            <a:pathLst>
              <a:path w="5948680" h="2907029">
                <a:moveTo>
                  <a:pt x="5948413" y="0"/>
                </a:moveTo>
                <a:lnTo>
                  <a:pt x="0" y="0"/>
                </a:lnTo>
                <a:lnTo>
                  <a:pt x="0" y="2906830"/>
                </a:lnTo>
                <a:lnTo>
                  <a:pt x="5948413" y="2906830"/>
                </a:lnTo>
                <a:lnTo>
                  <a:pt x="5948413" y="0"/>
                </a:lnTo>
                <a:close/>
              </a:path>
            </a:pathLst>
          </a:custGeom>
          <a:solidFill>
            <a:srgbClr val="FBE5D6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/>
          <p:nvPr/>
        </p:nvSpPr>
        <p:spPr>
          <a:xfrm>
            <a:off x="5457299" y="1087315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5625819" y="1149182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5166" y="481844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98952" y="679893"/>
            <a:ext cx="2826284" cy="1445518"/>
            <a:chOff x="4500125" y="679176"/>
            <a:chExt cx="2827020" cy="1445895"/>
          </a:xfrm>
        </p:grpSpPr>
        <p:sp>
          <p:nvSpPr>
            <p:cNvPr id="8" name="object 8"/>
            <p:cNvSpPr/>
            <p:nvPr/>
          </p:nvSpPr>
          <p:spPr>
            <a:xfrm>
              <a:off x="4500118" y="679183"/>
              <a:ext cx="1038225" cy="1003935"/>
            </a:xfrm>
            <a:custGeom>
              <a:avLst/>
              <a:gdLst/>
              <a:ahLst/>
              <a:cxnLst/>
              <a:rect l="l" t="t" r="r" b="b"/>
              <a:pathLst>
                <a:path w="1038225" h="1003935">
                  <a:moveTo>
                    <a:pt x="1037729" y="868730"/>
                  </a:moveTo>
                  <a:lnTo>
                    <a:pt x="1021486" y="862850"/>
                  </a:lnTo>
                  <a:lnTo>
                    <a:pt x="947597" y="836129"/>
                  </a:lnTo>
                  <a:lnTo>
                    <a:pt x="950925" y="864514"/>
                  </a:lnTo>
                  <a:lnTo>
                    <a:pt x="4305" y="975487"/>
                  </a:lnTo>
                  <a:lnTo>
                    <a:pt x="7632" y="1003871"/>
                  </a:lnTo>
                  <a:lnTo>
                    <a:pt x="954252" y="892898"/>
                  </a:lnTo>
                  <a:lnTo>
                    <a:pt x="957580" y="921283"/>
                  </a:lnTo>
                  <a:lnTo>
                    <a:pt x="1037729" y="868730"/>
                  </a:lnTo>
                  <a:close/>
                </a:path>
                <a:path w="1038225" h="1003935">
                  <a:moveTo>
                    <a:pt x="1037729" y="486651"/>
                  </a:moveTo>
                  <a:lnTo>
                    <a:pt x="1024216" y="469836"/>
                  </a:lnTo>
                  <a:lnTo>
                    <a:pt x="977696" y="411937"/>
                  </a:lnTo>
                  <a:lnTo>
                    <a:pt x="965784" y="437908"/>
                  </a:lnTo>
                  <a:lnTo>
                    <a:pt x="11925" y="0"/>
                  </a:lnTo>
                  <a:lnTo>
                    <a:pt x="0" y="25971"/>
                  </a:lnTo>
                  <a:lnTo>
                    <a:pt x="953858" y="463880"/>
                  </a:lnTo>
                  <a:lnTo>
                    <a:pt x="941933" y="489839"/>
                  </a:lnTo>
                  <a:lnTo>
                    <a:pt x="1037729" y="486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" name="object 9"/>
            <p:cNvSpPr/>
            <p:nvPr/>
          </p:nvSpPr>
          <p:spPr>
            <a:xfrm>
              <a:off x="6772319" y="157043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45166" y="1459997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8436" y="1670254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2141" y="1343899"/>
            <a:ext cx="3497304" cy="1517255"/>
            <a:chOff x="4483309" y="1343356"/>
            <a:chExt cx="3498215" cy="1517650"/>
          </a:xfrm>
        </p:grpSpPr>
        <p:sp>
          <p:nvSpPr>
            <p:cNvPr id="13" name="object 13"/>
            <p:cNvSpPr/>
            <p:nvPr/>
          </p:nvSpPr>
          <p:spPr>
            <a:xfrm>
              <a:off x="4483303" y="1343367"/>
              <a:ext cx="3498215" cy="1517650"/>
            </a:xfrm>
            <a:custGeom>
              <a:avLst/>
              <a:gdLst/>
              <a:ahLst/>
              <a:cxnLst/>
              <a:rect l="l" t="t" r="r" b="b"/>
              <a:pathLst>
                <a:path w="3498215" h="1517650">
                  <a:moveTo>
                    <a:pt x="1059319" y="1233106"/>
                  </a:moveTo>
                  <a:lnTo>
                    <a:pt x="965644" y="1212824"/>
                  </a:lnTo>
                  <a:lnTo>
                    <a:pt x="972731" y="1240510"/>
                  </a:lnTo>
                  <a:lnTo>
                    <a:pt x="0" y="1489367"/>
                  </a:lnTo>
                  <a:lnTo>
                    <a:pt x="7086" y="1517053"/>
                  </a:lnTo>
                  <a:lnTo>
                    <a:pt x="979817" y="1268196"/>
                  </a:lnTo>
                  <a:lnTo>
                    <a:pt x="986891" y="1295869"/>
                  </a:lnTo>
                  <a:lnTo>
                    <a:pt x="1054862" y="1236967"/>
                  </a:lnTo>
                  <a:lnTo>
                    <a:pt x="1059319" y="1233106"/>
                  </a:lnTo>
                  <a:close/>
                </a:path>
                <a:path w="3498215" h="1517650">
                  <a:moveTo>
                    <a:pt x="2368143" y="306197"/>
                  </a:moveTo>
                  <a:lnTo>
                    <a:pt x="2358631" y="296506"/>
                  </a:lnTo>
                  <a:lnTo>
                    <a:pt x="2300986" y="237820"/>
                  </a:lnTo>
                  <a:lnTo>
                    <a:pt x="2291702" y="264845"/>
                  </a:lnTo>
                  <a:lnTo>
                    <a:pt x="1520380" y="0"/>
                  </a:lnTo>
                  <a:lnTo>
                    <a:pt x="1511096" y="27025"/>
                  </a:lnTo>
                  <a:lnTo>
                    <a:pt x="2282418" y="291871"/>
                  </a:lnTo>
                  <a:lnTo>
                    <a:pt x="2273147" y="318897"/>
                  </a:lnTo>
                  <a:lnTo>
                    <a:pt x="2368143" y="306197"/>
                  </a:lnTo>
                  <a:close/>
                </a:path>
                <a:path w="3498215" h="1517650">
                  <a:moveTo>
                    <a:pt x="3497961" y="497230"/>
                  </a:moveTo>
                  <a:lnTo>
                    <a:pt x="3469386" y="482942"/>
                  </a:lnTo>
                  <a:lnTo>
                    <a:pt x="3412236" y="454367"/>
                  </a:lnTo>
                  <a:lnTo>
                    <a:pt x="3412236" y="482942"/>
                  </a:lnTo>
                  <a:lnTo>
                    <a:pt x="2829344" y="482942"/>
                  </a:lnTo>
                  <a:lnTo>
                    <a:pt x="2829344" y="511517"/>
                  </a:lnTo>
                  <a:lnTo>
                    <a:pt x="3412236" y="511517"/>
                  </a:lnTo>
                  <a:lnTo>
                    <a:pt x="3412236" y="540092"/>
                  </a:lnTo>
                  <a:lnTo>
                    <a:pt x="3469386" y="511517"/>
                  </a:lnTo>
                  <a:lnTo>
                    <a:pt x="3497961" y="4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" name="object 14"/>
            <p:cNvSpPr/>
            <p:nvPr/>
          </p:nvSpPr>
          <p:spPr>
            <a:xfrm>
              <a:off x="5463501" y="211526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25936" y="2636218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8157" y="1984116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Cambria Math"/>
                <a:cs typeface="Cambria Math"/>
              </a:rPr>
              <a:t>𝑓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0598" y="2127335"/>
            <a:ext cx="344715" cy="854487"/>
          </a:xfrm>
          <a:prstGeom prst="rect">
            <a:avLst/>
          </a:prstGeom>
        </p:spPr>
        <p:txBody>
          <a:bodyPr vert="horz" wrap="square" lIns="0" tIns="60944" rIns="0" bIns="0" rtlCol="0">
            <a:spAutoFit/>
          </a:bodyPr>
          <a:lstStyle/>
          <a:p>
            <a:pPr marL="12696">
              <a:spcBef>
                <a:spcPts val="48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 dirty="0">
              <a:latin typeface="Arial MT"/>
              <a:cs typeface="Arial MT"/>
            </a:endParaRPr>
          </a:p>
          <a:p>
            <a:pPr marL="161876">
              <a:spcBef>
                <a:spcPts val="385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 dirty="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93156" y="684762"/>
            <a:ext cx="2831997" cy="3927087"/>
            <a:chOff x="4494326" y="684047"/>
            <a:chExt cx="2832735" cy="3928110"/>
          </a:xfrm>
        </p:grpSpPr>
        <p:sp>
          <p:nvSpPr>
            <p:cNvPr id="19" name="object 19"/>
            <p:cNvSpPr/>
            <p:nvPr/>
          </p:nvSpPr>
          <p:spPr>
            <a:xfrm>
              <a:off x="4494327" y="684047"/>
              <a:ext cx="2357120" cy="1715135"/>
            </a:xfrm>
            <a:custGeom>
              <a:avLst/>
              <a:gdLst/>
              <a:ahLst/>
              <a:cxnLst/>
              <a:rect l="l" t="t" r="r" b="b"/>
              <a:pathLst>
                <a:path w="2357120" h="1715135">
                  <a:moveTo>
                    <a:pt x="1048296" y="1510347"/>
                  </a:moveTo>
                  <a:lnTo>
                    <a:pt x="1041133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56" y="1447914"/>
                  </a:lnTo>
                  <a:lnTo>
                    <a:pt x="964336" y="1464132"/>
                  </a:lnTo>
                  <a:lnTo>
                    <a:pt x="1048296" y="1510347"/>
                  </a:lnTo>
                  <a:close/>
                </a:path>
                <a:path w="2357120" h="1715135">
                  <a:moveTo>
                    <a:pt x="2357120" y="1347584"/>
                  </a:moveTo>
                  <a:lnTo>
                    <a:pt x="2261501" y="1341056"/>
                  </a:lnTo>
                  <a:lnTo>
                    <a:pt x="2272500" y="1367421"/>
                  </a:lnTo>
                  <a:lnTo>
                    <a:pt x="1503997" y="1688198"/>
                  </a:lnTo>
                  <a:lnTo>
                    <a:pt x="1514995" y="1714576"/>
                  </a:lnTo>
                  <a:lnTo>
                    <a:pt x="2283510" y="1393799"/>
                  </a:lnTo>
                  <a:lnTo>
                    <a:pt x="2294521" y="1420164"/>
                  </a:lnTo>
                  <a:lnTo>
                    <a:pt x="2344750" y="1361922"/>
                  </a:lnTo>
                  <a:lnTo>
                    <a:pt x="2357120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0" name="object 20"/>
            <p:cNvSpPr/>
            <p:nvPr/>
          </p:nvSpPr>
          <p:spPr>
            <a:xfrm>
              <a:off x="6772318" y="405705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54543" y="643345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10595" y="4881364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object 23"/>
          <p:cNvSpPr txBox="1"/>
          <p:nvPr/>
        </p:nvSpPr>
        <p:spPr>
          <a:xfrm>
            <a:off x="7320435" y="4543769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3771" y="4869820"/>
            <a:ext cx="27805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5856" y="4168962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55651" y="2111103"/>
            <a:ext cx="1528047" cy="3583007"/>
            <a:chOff x="5557098" y="2110760"/>
            <a:chExt cx="1528445" cy="3583940"/>
          </a:xfrm>
        </p:grpSpPr>
        <p:sp>
          <p:nvSpPr>
            <p:cNvPr id="27" name="object 27"/>
            <p:cNvSpPr/>
            <p:nvPr/>
          </p:nvSpPr>
          <p:spPr>
            <a:xfrm>
              <a:off x="6999620" y="2110760"/>
              <a:ext cx="85725" cy="1946910"/>
            </a:xfrm>
            <a:custGeom>
              <a:avLst/>
              <a:gdLst/>
              <a:ahLst/>
              <a:cxnLst/>
              <a:rect l="l" t="t" r="r" b="b"/>
              <a:pathLst>
                <a:path w="85725" h="1946910">
                  <a:moveTo>
                    <a:pt x="28575" y="1860571"/>
                  </a:moveTo>
                  <a:lnTo>
                    <a:pt x="0" y="1860571"/>
                  </a:lnTo>
                  <a:lnTo>
                    <a:pt x="42862" y="1946296"/>
                  </a:lnTo>
                  <a:lnTo>
                    <a:pt x="78579" y="1874861"/>
                  </a:lnTo>
                  <a:lnTo>
                    <a:pt x="28575" y="1874861"/>
                  </a:lnTo>
                  <a:lnTo>
                    <a:pt x="28575" y="1860571"/>
                  </a:lnTo>
                  <a:close/>
                </a:path>
                <a:path w="85725" h="1946910">
                  <a:moveTo>
                    <a:pt x="57151" y="0"/>
                  </a:moveTo>
                  <a:lnTo>
                    <a:pt x="28576" y="0"/>
                  </a:lnTo>
                  <a:lnTo>
                    <a:pt x="28575" y="1874861"/>
                  </a:lnTo>
                  <a:lnTo>
                    <a:pt x="57150" y="1874861"/>
                  </a:lnTo>
                  <a:lnTo>
                    <a:pt x="57151" y="0"/>
                  </a:lnTo>
                  <a:close/>
                </a:path>
                <a:path w="85725" h="1946910">
                  <a:moveTo>
                    <a:pt x="85725" y="1860571"/>
                  </a:moveTo>
                  <a:lnTo>
                    <a:pt x="57150" y="1860571"/>
                  </a:lnTo>
                  <a:lnTo>
                    <a:pt x="57150" y="1874861"/>
                  </a:lnTo>
                  <a:lnTo>
                    <a:pt x="78579" y="1874861"/>
                  </a:lnTo>
                  <a:lnTo>
                    <a:pt x="85725" y="186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8" name="object 28"/>
            <p:cNvSpPr/>
            <p:nvPr/>
          </p:nvSpPr>
          <p:spPr>
            <a:xfrm>
              <a:off x="5571385" y="513971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9" name="object 29"/>
          <p:cNvSpPr/>
          <p:nvPr/>
        </p:nvSpPr>
        <p:spPr>
          <a:xfrm>
            <a:off x="6187207" y="5814229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0" name="object 30"/>
          <p:cNvSpPr txBox="1"/>
          <p:nvPr/>
        </p:nvSpPr>
        <p:spPr>
          <a:xfrm>
            <a:off x="6197046" y="5476214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1018" y="5802265"/>
            <a:ext cx="27551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93546" y="5314712"/>
            <a:ext cx="11490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43013" y="1550672"/>
            <a:ext cx="1416951" cy="3732193"/>
            <a:chOff x="5444431" y="1550182"/>
            <a:chExt cx="1417320" cy="3733165"/>
          </a:xfrm>
        </p:grpSpPr>
        <p:sp>
          <p:nvSpPr>
            <p:cNvPr id="34" name="object 34"/>
            <p:cNvSpPr/>
            <p:nvPr/>
          </p:nvSpPr>
          <p:spPr>
            <a:xfrm>
              <a:off x="5908522" y="1550187"/>
              <a:ext cx="953135" cy="3733165"/>
            </a:xfrm>
            <a:custGeom>
              <a:avLst/>
              <a:gdLst/>
              <a:ahLst/>
              <a:cxnLst/>
              <a:rect l="l" t="t" r="r" b="b"/>
              <a:pathLst>
                <a:path w="953134" h="3733165">
                  <a:moveTo>
                    <a:pt x="602805" y="1289075"/>
                  </a:moveTo>
                  <a:lnTo>
                    <a:pt x="601281" y="1234744"/>
                  </a:lnTo>
                  <a:lnTo>
                    <a:pt x="601243" y="1233309"/>
                  </a:lnTo>
                  <a:lnTo>
                    <a:pt x="598233" y="1181290"/>
                  </a:lnTo>
                  <a:lnTo>
                    <a:pt x="593407" y="1126083"/>
                  </a:lnTo>
                  <a:lnTo>
                    <a:pt x="587248" y="1074534"/>
                  </a:lnTo>
                  <a:lnTo>
                    <a:pt x="579640" y="1024305"/>
                  </a:lnTo>
                  <a:lnTo>
                    <a:pt x="570661" y="975347"/>
                  </a:lnTo>
                  <a:lnTo>
                    <a:pt x="560349" y="927620"/>
                  </a:lnTo>
                  <a:lnTo>
                    <a:pt x="548754" y="881075"/>
                  </a:lnTo>
                  <a:lnTo>
                    <a:pt x="535940" y="835672"/>
                  </a:lnTo>
                  <a:lnTo>
                    <a:pt x="521906" y="791260"/>
                  </a:lnTo>
                  <a:lnTo>
                    <a:pt x="490626" y="705853"/>
                  </a:lnTo>
                  <a:lnTo>
                    <a:pt x="455218" y="624154"/>
                  </a:lnTo>
                  <a:lnTo>
                    <a:pt x="416166" y="545934"/>
                  </a:lnTo>
                  <a:lnTo>
                    <a:pt x="373862" y="470814"/>
                  </a:lnTo>
                  <a:lnTo>
                    <a:pt x="328739" y="398399"/>
                  </a:lnTo>
                  <a:lnTo>
                    <a:pt x="281203" y="328345"/>
                  </a:lnTo>
                  <a:lnTo>
                    <a:pt x="231686" y="260248"/>
                  </a:lnTo>
                  <a:lnTo>
                    <a:pt x="180594" y="193751"/>
                  </a:lnTo>
                  <a:lnTo>
                    <a:pt x="128333" y="128435"/>
                  </a:lnTo>
                  <a:lnTo>
                    <a:pt x="22009" y="0"/>
                  </a:lnTo>
                  <a:lnTo>
                    <a:pt x="0" y="18224"/>
                  </a:lnTo>
                  <a:lnTo>
                    <a:pt x="106133" y="146431"/>
                  </a:lnTo>
                  <a:lnTo>
                    <a:pt x="158089" y="211353"/>
                  </a:lnTo>
                  <a:lnTo>
                    <a:pt x="208686" y="277202"/>
                  </a:lnTo>
                  <a:lnTo>
                    <a:pt x="257695" y="344576"/>
                  </a:lnTo>
                  <a:lnTo>
                    <a:pt x="304634" y="413753"/>
                  </a:lnTo>
                  <a:lnTo>
                    <a:pt x="349110" y="485101"/>
                  </a:lnTo>
                  <a:lnTo>
                    <a:pt x="390753" y="559015"/>
                  </a:lnTo>
                  <a:lnTo>
                    <a:pt x="429158" y="635876"/>
                  </a:lnTo>
                  <a:lnTo>
                    <a:pt x="459486" y="705853"/>
                  </a:lnTo>
                  <a:lnTo>
                    <a:pt x="463931" y="716064"/>
                  </a:lnTo>
                  <a:lnTo>
                    <a:pt x="491477" y="791260"/>
                  </a:lnTo>
                  <a:lnTo>
                    <a:pt x="494753" y="800176"/>
                  </a:lnTo>
                  <a:lnTo>
                    <a:pt x="508495" y="843648"/>
                  </a:lnTo>
                  <a:lnTo>
                    <a:pt x="521081" y="888199"/>
                  </a:lnTo>
                  <a:lnTo>
                    <a:pt x="532460" y="933869"/>
                  </a:lnTo>
                  <a:lnTo>
                    <a:pt x="542594" y="980719"/>
                  </a:lnTo>
                  <a:lnTo>
                    <a:pt x="551421" y="1028801"/>
                  </a:lnTo>
                  <a:lnTo>
                    <a:pt x="558901" y="1078141"/>
                  </a:lnTo>
                  <a:lnTo>
                    <a:pt x="564972" y="1128814"/>
                  </a:lnTo>
                  <a:lnTo>
                    <a:pt x="569582" y="1180858"/>
                  </a:lnTo>
                  <a:lnTo>
                    <a:pt x="572617" y="1233309"/>
                  </a:lnTo>
                  <a:lnTo>
                    <a:pt x="574217" y="1289075"/>
                  </a:lnTo>
                  <a:lnTo>
                    <a:pt x="574179" y="1346314"/>
                  </a:lnTo>
                  <a:lnTo>
                    <a:pt x="572579" y="1403667"/>
                  </a:lnTo>
                  <a:lnTo>
                    <a:pt x="569468" y="1463065"/>
                  </a:lnTo>
                  <a:lnTo>
                    <a:pt x="564883" y="1523847"/>
                  </a:lnTo>
                  <a:lnTo>
                    <a:pt x="558876" y="1585988"/>
                  </a:lnTo>
                  <a:lnTo>
                    <a:pt x="551510" y="1649412"/>
                  </a:lnTo>
                  <a:lnTo>
                    <a:pt x="542823" y="1714080"/>
                  </a:lnTo>
                  <a:lnTo>
                    <a:pt x="532879" y="1779955"/>
                  </a:lnTo>
                  <a:lnTo>
                    <a:pt x="521716" y="1846973"/>
                  </a:lnTo>
                  <a:lnTo>
                    <a:pt x="509409" y="1915007"/>
                  </a:lnTo>
                  <a:lnTo>
                    <a:pt x="481444" y="2054364"/>
                  </a:lnTo>
                  <a:lnTo>
                    <a:pt x="449440" y="2197544"/>
                  </a:lnTo>
                  <a:lnTo>
                    <a:pt x="413766" y="2344153"/>
                  </a:lnTo>
                  <a:lnTo>
                    <a:pt x="374853" y="2493822"/>
                  </a:lnTo>
                  <a:lnTo>
                    <a:pt x="333095" y="2646159"/>
                  </a:lnTo>
                  <a:lnTo>
                    <a:pt x="288899" y="2800794"/>
                  </a:lnTo>
                  <a:lnTo>
                    <a:pt x="242658" y="2957334"/>
                  </a:lnTo>
                  <a:lnTo>
                    <a:pt x="194805" y="3115411"/>
                  </a:lnTo>
                  <a:lnTo>
                    <a:pt x="145719" y="3274631"/>
                  </a:lnTo>
                  <a:lnTo>
                    <a:pt x="71081" y="3513251"/>
                  </a:lnTo>
                  <a:lnTo>
                    <a:pt x="43815" y="3504717"/>
                  </a:lnTo>
                  <a:lnTo>
                    <a:pt x="59131" y="3599332"/>
                  </a:lnTo>
                  <a:lnTo>
                    <a:pt x="120713" y="3535413"/>
                  </a:lnTo>
                  <a:lnTo>
                    <a:pt x="125628" y="3530308"/>
                  </a:lnTo>
                  <a:lnTo>
                    <a:pt x="98361" y="3521786"/>
                  </a:lnTo>
                  <a:lnTo>
                    <a:pt x="172999" y="3283127"/>
                  </a:lnTo>
                  <a:lnTo>
                    <a:pt x="222123" y="3123793"/>
                  </a:lnTo>
                  <a:lnTo>
                    <a:pt x="270027" y="2965564"/>
                  </a:lnTo>
                  <a:lnTo>
                    <a:pt x="316318" y="2808821"/>
                  </a:lnTo>
                  <a:lnTo>
                    <a:pt x="360591" y="2653931"/>
                  </a:lnTo>
                  <a:lnTo>
                    <a:pt x="402437" y="2501277"/>
                  </a:lnTo>
                  <a:lnTo>
                    <a:pt x="441452" y="2351240"/>
                  </a:lnTo>
                  <a:lnTo>
                    <a:pt x="477240" y="2204161"/>
                  </a:lnTo>
                  <a:lnTo>
                    <a:pt x="509371" y="2060448"/>
                  </a:lnTo>
                  <a:lnTo>
                    <a:pt x="537451" y="1920494"/>
                  </a:lnTo>
                  <a:lnTo>
                    <a:pt x="549859" y="1851964"/>
                  </a:lnTo>
                  <a:lnTo>
                    <a:pt x="561086" y="1784540"/>
                  </a:lnTo>
                  <a:lnTo>
                    <a:pt x="571106" y="1718233"/>
                  </a:lnTo>
                  <a:lnTo>
                    <a:pt x="579856" y="1653082"/>
                  </a:lnTo>
                  <a:lnTo>
                    <a:pt x="587273" y="1589138"/>
                  </a:lnTo>
                  <a:lnTo>
                    <a:pt x="593331" y="1526451"/>
                  </a:lnTo>
                  <a:lnTo>
                    <a:pt x="597966" y="1465046"/>
                  </a:lnTo>
                  <a:lnTo>
                    <a:pt x="601129" y="1404988"/>
                  </a:lnTo>
                  <a:lnTo>
                    <a:pt x="602754" y="1346314"/>
                  </a:lnTo>
                  <a:lnTo>
                    <a:pt x="602805" y="1289075"/>
                  </a:lnTo>
                  <a:close/>
                </a:path>
                <a:path w="953134" h="3733165">
                  <a:moveTo>
                    <a:pt x="952842" y="2978353"/>
                  </a:moveTo>
                  <a:lnTo>
                    <a:pt x="932992" y="2957792"/>
                  </a:lnTo>
                  <a:lnTo>
                    <a:pt x="202514" y="3662743"/>
                  </a:lnTo>
                  <a:lnTo>
                    <a:pt x="182676" y="3642182"/>
                  </a:lnTo>
                  <a:lnTo>
                    <a:pt x="150749" y="3732555"/>
                  </a:lnTo>
                  <a:lnTo>
                    <a:pt x="242201" y="3703866"/>
                  </a:lnTo>
                  <a:lnTo>
                    <a:pt x="231927" y="3693236"/>
                  </a:lnTo>
                  <a:lnTo>
                    <a:pt x="222351" y="3683304"/>
                  </a:lnTo>
                  <a:lnTo>
                    <a:pt x="952842" y="297835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5" name="object 35"/>
            <p:cNvSpPr/>
            <p:nvPr/>
          </p:nvSpPr>
          <p:spPr>
            <a:xfrm>
              <a:off x="5458719" y="370902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685153" y="3861194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527301" y="2655733"/>
            <a:ext cx="1325535" cy="1891807"/>
          </a:xfrm>
          <a:custGeom>
            <a:avLst/>
            <a:gdLst/>
            <a:ahLst/>
            <a:cxnLst/>
            <a:rect l="l" t="t" r="r" b="b"/>
            <a:pathLst>
              <a:path w="1325879" h="1892300">
                <a:moveTo>
                  <a:pt x="243382" y="967968"/>
                </a:moveTo>
                <a:lnTo>
                  <a:pt x="214807" y="967841"/>
                </a:lnTo>
                <a:lnTo>
                  <a:pt x="219202" y="127"/>
                </a:lnTo>
                <a:lnTo>
                  <a:pt x="190627" y="0"/>
                </a:lnTo>
                <a:lnTo>
                  <a:pt x="186232" y="967587"/>
                </a:lnTo>
                <a:lnTo>
                  <a:pt x="186232" y="967714"/>
                </a:lnTo>
                <a:lnTo>
                  <a:pt x="157657" y="967587"/>
                </a:lnTo>
                <a:lnTo>
                  <a:pt x="200139" y="1053503"/>
                </a:lnTo>
                <a:lnTo>
                  <a:pt x="236232" y="982129"/>
                </a:lnTo>
                <a:lnTo>
                  <a:pt x="243382" y="967968"/>
                </a:lnTo>
                <a:close/>
              </a:path>
              <a:path w="1325879" h="1892300">
                <a:moveTo>
                  <a:pt x="254000" y="1879384"/>
                </a:moveTo>
                <a:lnTo>
                  <a:pt x="0" y="1879384"/>
                </a:lnTo>
                <a:lnTo>
                  <a:pt x="0" y="1892084"/>
                </a:lnTo>
                <a:lnTo>
                  <a:pt x="254000" y="1892084"/>
                </a:lnTo>
                <a:lnTo>
                  <a:pt x="254000" y="1879384"/>
                </a:lnTo>
                <a:close/>
              </a:path>
              <a:path w="1325879" h="1892300">
                <a:moveTo>
                  <a:pt x="1325283" y="1466608"/>
                </a:moveTo>
                <a:lnTo>
                  <a:pt x="557187" y="1325143"/>
                </a:lnTo>
                <a:lnTo>
                  <a:pt x="557669" y="1322552"/>
                </a:lnTo>
                <a:lnTo>
                  <a:pt x="562368" y="1297038"/>
                </a:lnTo>
                <a:lnTo>
                  <a:pt x="470293" y="1323670"/>
                </a:lnTo>
                <a:lnTo>
                  <a:pt x="546836" y="1381340"/>
                </a:lnTo>
                <a:lnTo>
                  <a:pt x="552018" y="1353248"/>
                </a:lnTo>
                <a:lnTo>
                  <a:pt x="1320114" y="1494713"/>
                </a:lnTo>
                <a:lnTo>
                  <a:pt x="1325283" y="146660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8" name="object 38"/>
          <p:cNvSpPr txBox="1"/>
          <p:nvPr/>
        </p:nvSpPr>
        <p:spPr>
          <a:xfrm>
            <a:off x="5549845" y="4196388"/>
            <a:ext cx="19933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11629" y="4522438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026164" y="3502638"/>
            <a:ext cx="540244" cy="540244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0" y="270163"/>
                </a:moveTo>
                <a:lnTo>
                  <a:pt x="4352" y="221601"/>
                </a:lnTo>
                <a:lnTo>
                  <a:pt x="16902" y="175894"/>
                </a:lnTo>
                <a:lnTo>
                  <a:pt x="36885" y="133806"/>
                </a:lnTo>
                <a:lnTo>
                  <a:pt x="63539" y="96100"/>
                </a:lnTo>
                <a:lnTo>
                  <a:pt x="96100" y="63539"/>
                </a:lnTo>
                <a:lnTo>
                  <a:pt x="133806" y="36885"/>
                </a:lnTo>
                <a:lnTo>
                  <a:pt x="175894" y="16902"/>
                </a:lnTo>
                <a:lnTo>
                  <a:pt x="221601" y="4352"/>
                </a:lnTo>
                <a:lnTo>
                  <a:pt x="270163" y="0"/>
                </a:lnTo>
                <a:lnTo>
                  <a:pt x="318725" y="4352"/>
                </a:lnTo>
                <a:lnTo>
                  <a:pt x="364432" y="16902"/>
                </a:lnTo>
                <a:lnTo>
                  <a:pt x="406520" y="36885"/>
                </a:lnTo>
                <a:lnTo>
                  <a:pt x="444226" y="63539"/>
                </a:lnTo>
                <a:lnTo>
                  <a:pt x="476787" y="96100"/>
                </a:lnTo>
                <a:lnTo>
                  <a:pt x="503441" y="133806"/>
                </a:lnTo>
                <a:lnTo>
                  <a:pt x="523424" y="175894"/>
                </a:lnTo>
                <a:lnTo>
                  <a:pt x="535974" y="221601"/>
                </a:lnTo>
                <a:lnTo>
                  <a:pt x="540327" y="270163"/>
                </a:lnTo>
                <a:lnTo>
                  <a:pt x="535974" y="318725"/>
                </a:lnTo>
                <a:lnTo>
                  <a:pt x="523424" y="364432"/>
                </a:lnTo>
                <a:lnTo>
                  <a:pt x="503441" y="406520"/>
                </a:lnTo>
                <a:lnTo>
                  <a:pt x="476787" y="444226"/>
                </a:lnTo>
                <a:lnTo>
                  <a:pt x="444226" y="476787"/>
                </a:lnTo>
                <a:lnTo>
                  <a:pt x="406520" y="503441"/>
                </a:lnTo>
                <a:lnTo>
                  <a:pt x="364432" y="523424"/>
                </a:lnTo>
                <a:lnTo>
                  <a:pt x="318725" y="535974"/>
                </a:lnTo>
                <a:lnTo>
                  <a:pt x="270163" y="540327"/>
                </a:lnTo>
                <a:lnTo>
                  <a:pt x="221601" y="535974"/>
                </a:lnTo>
                <a:lnTo>
                  <a:pt x="175894" y="523424"/>
                </a:lnTo>
                <a:lnTo>
                  <a:pt x="133806" y="503441"/>
                </a:lnTo>
                <a:lnTo>
                  <a:pt x="96100" y="476787"/>
                </a:lnTo>
                <a:lnTo>
                  <a:pt x="63539" y="444226"/>
                </a:lnTo>
                <a:lnTo>
                  <a:pt x="36885" y="406520"/>
                </a:lnTo>
                <a:lnTo>
                  <a:pt x="16902" y="364432"/>
                </a:lnTo>
                <a:lnTo>
                  <a:pt x="4352" y="318725"/>
                </a:lnTo>
                <a:lnTo>
                  <a:pt x="0" y="270163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1" name="object 41"/>
          <p:cNvSpPr txBox="1"/>
          <p:nvPr/>
        </p:nvSpPr>
        <p:spPr>
          <a:xfrm>
            <a:off x="4194683" y="3565616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507896" y="377770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grpSp>
        <p:nvGrpSpPr>
          <p:cNvPr id="43" name="object 43"/>
          <p:cNvGrpSpPr/>
          <p:nvPr/>
        </p:nvGrpSpPr>
        <p:grpSpPr>
          <a:xfrm>
            <a:off x="3967335" y="3750320"/>
            <a:ext cx="1692469" cy="1477895"/>
            <a:chOff x="3968369" y="3750404"/>
            <a:chExt cx="1692910" cy="1478280"/>
          </a:xfrm>
        </p:grpSpPr>
        <p:sp>
          <p:nvSpPr>
            <p:cNvPr id="44" name="object 44"/>
            <p:cNvSpPr/>
            <p:nvPr/>
          </p:nvSpPr>
          <p:spPr>
            <a:xfrm>
              <a:off x="4488408" y="3750411"/>
              <a:ext cx="1172845" cy="1478280"/>
            </a:xfrm>
            <a:custGeom>
              <a:avLst/>
              <a:gdLst/>
              <a:ahLst/>
              <a:cxnLst/>
              <a:rect l="l" t="t" r="r" b="b"/>
              <a:pathLst>
                <a:path w="1172845" h="1478279">
                  <a:moveTo>
                    <a:pt x="973531" y="214871"/>
                  </a:moveTo>
                  <a:lnTo>
                    <a:pt x="165862" y="27838"/>
                  </a:lnTo>
                  <a:lnTo>
                    <a:pt x="166611" y="24612"/>
                  </a:lnTo>
                  <a:lnTo>
                    <a:pt x="172313" y="0"/>
                  </a:lnTo>
                  <a:lnTo>
                    <a:pt x="79121" y="22415"/>
                  </a:lnTo>
                  <a:lnTo>
                    <a:pt x="152971" y="83515"/>
                  </a:lnTo>
                  <a:lnTo>
                    <a:pt x="159410" y="55676"/>
                  </a:lnTo>
                  <a:lnTo>
                    <a:pt x="967079" y="242709"/>
                  </a:lnTo>
                  <a:lnTo>
                    <a:pt x="973531" y="214871"/>
                  </a:lnTo>
                  <a:close/>
                </a:path>
                <a:path w="1172845" h="1478279">
                  <a:moveTo>
                    <a:pt x="1172578" y="1458734"/>
                  </a:moveTo>
                  <a:lnTo>
                    <a:pt x="68719" y="266649"/>
                  </a:lnTo>
                  <a:lnTo>
                    <a:pt x="80048" y="256159"/>
                  </a:lnTo>
                  <a:lnTo>
                    <a:pt x="89687" y="247230"/>
                  </a:lnTo>
                  <a:lnTo>
                    <a:pt x="0" y="213448"/>
                  </a:lnTo>
                  <a:lnTo>
                    <a:pt x="26797" y="305473"/>
                  </a:lnTo>
                  <a:lnTo>
                    <a:pt x="47752" y="286054"/>
                  </a:lnTo>
                  <a:lnTo>
                    <a:pt x="1151623" y="1478153"/>
                  </a:lnTo>
                  <a:lnTo>
                    <a:pt x="1172578" y="145873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5" name="object 45"/>
            <p:cNvSpPr/>
            <p:nvPr/>
          </p:nvSpPr>
          <p:spPr>
            <a:xfrm>
              <a:off x="3982656" y="4597383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516149" y="3440680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90946" y="3766732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521931" y="4831891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9" name="object 49"/>
          <p:cNvSpPr txBox="1"/>
          <p:nvPr/>
        </p:nvSpPr>
        <p:spPr>
          <a:xfrm>
            <a:off x="3531771" y="4495014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04853" y="4821065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𝜕𝑦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26920" y="4708319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978943" y="4157069"/>
            <a:ext cx="1563598" cy="1882920"/>
            <a:chOff x="3979980" y="4157259"/>
            <a:chExt cx="1564005" cy="1883410"/>
          </a:xfrm>
        </p:grpSpPr>
        <p:sp>
          <p:nvSpPr>
            <p:cNvPr id="53" name="object 53"/>
            <p:cNvSpPr/>
            <p:nvPr/>
          </p:nvSpPr>
          <p:spPr>
            <a:xfrm>
              <a:off x="4443854" y="4157259"/>
              <a:ext cx="1100455" cy="522605"/>
            </a:xfrm>
            <a:custGeom>
              <a:avLst/>
              <a:gdLst/>
              <a:ahLst/>
              <a:cxnLst/>
              <a:rect l="l" t="t" r="r" b="b"/>
              <a:pathLst>
                <a:path w="1100454" h="522604">
                  <a:moveTo>
                    <a:pt x="59796" y="444350"/>
                  </a:moveTo>
                  <a:lnTo>
                    <a:pt x="0" y="519252"/>
                  </a:lnTo>
                  <a:lnTo>
                    <a:pt x="95799" y="522147"/>
                  </a:lnTo>
                  <a:lnTo>
                    <a:pt x="86576" y="502216"/>
                  </a:lnTo>
                  <a:lnTo>
                    <a:pt x="70831" y="502216"/>
                  </a:lnTo>
                  <a:lnTo>
                    <a:pt x="58830" y="476284"/>
                  </a:lnTo>
                  <a:lnTo>
                    <a:pt x="71797" y="470283"/>
                  </a:lnTo>
                  <a:lnTo>
                    <a:pt x="59796" y="444350"/>
                  </a:lnTo>
                  <a:close/>
                </a:path>
                <a:path w="1100454" h="522604">
                  <a:moveTo>
                    <a:pt x="71797" y="470283"/>
                  </a:moveTo>
                  <a:lnTo>
                    <a:pt x="58830" y="476284"/>
                  </a:lnTo>
                  <a:lnTo>
                    <a:pt x="70831" y="502216"/>
                  </a:lnTo>
                  <a:lnTo>
                    <a:pt x="83798" y="496215"/>
                  </a:lnTo>
                  <a:lnTo>
                    <a:pt x="71797" y="470283"/>
                  </a:lnTo>
                  <a:close/>
                </a:path>
                <a:path w="1100454" h="522604">
                  <a:moveTo>
                    <a:pt x="83798" y="496215"/>
                  </a:moveTo>
                  <a:lnTo>
                    <a:pt x="70831" y="502216"/>
                  </a:lnTo>
                  <a:lnTo>
                    <a:pt x="86576" y="502216"/>
                  </a:lnTo>
                  <a:lnTo>
                    <a:pt x="83798" y="496215"/>
                  </a:lnTo>
                  <a:close/>
                </a:path>
                <a:path w="1100454" h="522604">
                  <a:moveTo>
                    <a:pt x="1087993" y="0"/>
                  </a:moveTo>
                  <a:lnTo>
                    <a:pt x="71797" y="470283"/>
                  </a:lnTo>
                  <a:lnTo>
                    <a:pt x="83798" y="496215"/>
                  </a:lnTo>
                  <a:lnTo>
                    <a:pt x="1099995" y="25932"/>
                  </a:lnTo>
                  <a:lnTo>
                    <a:pt x="108799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4" name="object 54"/>
            <p:cNvSpPr/>
            <p:nvPr/>
          </p:nvSpPr>
          <p:spPr>
            <a:xfrm>
              <a:off x="3994268" y="548560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55" name="object 55"/>
          <p:cNvSpPr/>
          <p:nvPr/>
        </p:nvSpPr>
        <p:spPr>
          <a:xfrm>
            <a:off x="3533538" y="5719879"/>
            <a:ext cx="241237" cy="12697"/>
          </a:xfrm>
          <a:custGeom>
            <a:avLst/>
            <a:gdLst/>
            <a:ahLst/>
            <a:cxnLst/>
            <a:rect l="l" t="t" r="r" b="b"/>
            <a:pathLst>
              <a:path w="241300" h="12700">
                <a:moveTo>
                  <a:pt x="241300" y="0"/>
                </a:moveTo>
                <a:lnTo>
                  <a:pt x="0" y="0"/>
                </a:lnTo>
                <a:lnTo>
                  <a:pt x="0" y="12699"/>
                </a:lnTo>
                <a:lnTo>
                  <a:pt x="241300" y="12699"/>
                </a:lnTo>
                <a:lnTo>
                  <a:pt x="241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6" name="object 56"/>
          <p:cNvSpPr txBox="1"/>
          <p:nvPr/>
        </p:nvSpPr>
        <p:spPr>
          <a:xfrm>
            <a:off x="3516461" y="5329949"/>
            <a:ext cx="263456" cy="678003"/>
          </a:xfrm>
          <a:prstGeom prst="rect">
            <a:avLst/>
          </a:prstGeom>
        </p:spPr>
        <p:txBody>
          <a:bodyPr vert="horz" wrap="square" lIns="0" tIns="64118" rIns="0" bIns="0" rtlCol="0">
            <a:spAutoFit/>
          </a:bodyPr>
          <a:lstStyle/>
          <a:p>
            <a:pPr marL="30471">
              <a:spcBef>
                <a:spcPts val="50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  <a:p>
            <a:pPr marL="12696">
              <a:spcBef>
                <a:spcPts val="409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𝜕𝑧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38529" y="5595056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533413" y="5395817"/>
            <a:ext cx="1041129" cy="373283"/>
          </a:xfrm>
          <a:custGeom>
            <a:avLst/>
            <a:gdLst/>
            <a:ahLst/>
            <a:cxnLst/>
            <a:rect l="l" t="t" r="r" b="b"/>
            <a:pathLst>
              <a:path w="1041400" h="373379">
                <a:moveTo>
                  <a:pt x="67754" y="291648"/>
                </a:moveTo>
                <a:lnTo>
                  <a:pt x="0" y="359436"/>
                </a:lnTo>
                <a:lnTo>
                  <a:pt x="94884" y="372967"/>
                </a:lnTo>
                <a:lnTo>
                  <a:pt x="87349" y="350382"/>
                </a:lnTo>
                <a:lnTo>
                  <a:pt x="72287" y="350382"/>
                </a:lnTo>
                <a:lnTo>
                  <a:pt x="63243" y="323276"/>
                </a:lnTo>
                <a:lnTo>
                  <a:pt x="76797" y="318754"/>
                </a:lnTo>
                <a:lnTo>
                  <a:pt x="67754" y="291648"/>
                </a:lnTo>
                <a:close/>
              </a:path>
              <a:path w="1041400" h="373379">
                <a:moveTo>
                  <a:pt x="76797" y="318754"/>
                </a:moveTo>
                <a:lnTo>
                  <a:pt x="63243" y="323276"/>
                </a:lnTo>
                <a:lnTo>
                  <a:pt x="72287" y="350382"/>
                </a:lnTo>
                <a:lnTo>
                  <a:pt x="85841" y="345861"/>
                </a:lnTo>
                <a:lnTo>
                  <a:pt x="76797" y="318754"/>
                </a:lnTo>
                <a:close/>
              </a:path>
              <a:path w="1041400" h="373379">
                <a:moveTo>
                  <a:pt x="85841" y="345861"/>
                </a:moveTo>
                <a:lnTo>
                  <a:pt x="72287" y="350382"/>
                </a:lnTo>
                <a:lnTo>
                  <a:pt x="87349" y="350382"/>
                </a:lnTo>
                <a:lnTo>
                  <a:pt x="85841" y="345861"/>
                </a:lnTo>
                <a:close/>
              </a:path>
              <a:path w="1041400" h="373379">
                <a:moveTo>
                  <a:pt x="1032269" y="0"/>
                </a:moveTo>
                <a:lnTo>
                  <a:pt x="76797" y="318754"/>
                </a:lnTo>
                <a:lnTo>
                  <a:pt x="85841" y="345861"/>
                </a:lnTo>
                <a:lnTo>
                  <a:pt x="1041312" y="27105"/>
                </a:lnTo>
                <a:lnTo>
                  <a:pt x="103226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9" name="object 59"/>
          <p:cNvSpPr txBox="1"/>
          <p:nvPr/>
        </p:nvSpPr>
        <p:spPr>
          <a:xfrm>
            <a:off x="9123624" y="1185748"/>
            <a:ext cx="1853081" cy="1128736"/>
          </a:xfrm>
          <a:prstGeom prst="rect">
            <a:avLst/>
          </a:prstGeom>
        </p:spPr>
        <p:txBody>
          <a:bodyPr vert="horz" wrap="square" lIns="0" tIns="9523" rIns="0" bIns="0" rtlCol="0">
            <a:spAutoFit/>
          </a:bodyPr>
          <a:lstStyle/>
          <a:p>
            <a:pPr marL="12696" marR="5078">
              <a:lnSpc>
                <a:spcPct val="100800"/>
              </a:lnSpc>
              <a:spcBef>
                <a:spcPts val="75"/>
              </a:spcBef>
            </a:pPr>
            <a:r>
              <a:rPr sz="2399" b="1" spc="-10" dirty="0">
                <a:solidFill>
                  <a:srgbClr val="4472C4"/>
                </a:solidFill>
                <a:latin typeface="Arial"/>
                <a:cs typeface="Arial"/>
              </a:rPr>
              <a:t>Forward computation graph</a:t>
            </a:r>
            <a:endParaRPr sz="2399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23624" y="4217718"/>
            <a:ext cx="1853081" cy="1125562"/>
          </a:xfrm>
          <a:prstGeom prst="rect">
            <a:avLst/>
          </a:prstGeom>
        </p:spPr>
        <p:txBody>
          <a:bodyPr vert="horz" wrap="square" lIns="0" tIns="10792" rIns="0" bIns="0" rtlCol="0">
            <a:spAutoFit/>
          </a:bodyPr>
          <a:lstStyle/>
          <a:p>
            <a:pPr marL="12696" marR="5078">
              <a:lnSpc>
                <a:spcPct val="100400"/>
              </a:lnSpc>
              <a:spcBef>
                <a:spcPts val="85"/>
              </a:spcBef>
            </a:pP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Backward computation graph</a:t>
            </a:r>
            <a:endParaRPr sz="239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651" y="69930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4000" dirty="0"/>
              <a:t>Discuss:</a:t>
            </a:r>
            <a:r>
              <a:rPr sz="4000" spc="-114" dirty="0"/>
              <a:t> </a:t>
            </a:r>
            <a:r>
              <a:rPr sz="4000" dirty="0"/>
              <a:t>Backpropagation</a:t>
            </a:r>
            <a:r>
              <a:rPr sz="4000" spc="-85" dirty="0"/>
              <a:t> </a:t>
            </a:r>
            <a:r>
              <a:rPr sz="4000" spc="-20" dirty="0"/>
              <a:t>v.s.</a:t>
            </a:r>
            <a:r>
              <a:rPr sz="4000" spc="-75" dirty="0"/>
              <a:t> </a:t>
            </a:r>
            <a:r>
              <a:rPr sz="4000" spc="-10" dirty="0"/>
              <a:t>Reverse</a:t>
            </a:r>
            <a:r>
              <a:rPr sz="4000" spc="-215" dirty="0"/>
              <a:t> </a:t>
            </a:r>
            <a:r>
              <a:rPr sz="4000" spc="-10" dirty="0"/>
              <a:t>AutoDiff</a:t>
            </a:r>
          </a:p>
        </p:txBody>
      </p:sp>
      <p:sp>
        <p:nvSpPr>
          <p:cNvPr id="3" name="object 3"/>
          <p:cNvSpPr/>
          <p:nvPr/>
        </p:nvSpPr>
        <p:spPr>
          <a:xfrm>
            <a:off x="9207177" y="2476745"/>
            <a:ext cx="307895" cy="307895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0" y="153693"/>
                </a:moveTo>
                <a:lnTo>
                  <a:pt x="7835" y="105114"/>
                </a:lnTo>
                <a:lnTo>
                  <a:pt x="29653" y="62924"/>
                </a:lnTo>
                <a:lnTo>
                  <a:pt x="62924" y="29653"/>
                </a:lnTo>
                <a:lnTo>
                  <a:pt x="105114" y="7835"/>
                </a:lnTo>
                <a:lnTo>
                  <a:pt x="153693" y="0"/>
                </a:lnTo>
                <a:lnTo>
                  <a:pt x="202272" y="7835"/>
                </a:lnTo>
                <a:lnTo>
                  <a:pt x="244462" y="29653"/>
                </a:lnTo>
                <a:lnTo>
                  <a:pt x="277733" y="62924"/>
                </a:lnTo>
                <a:lnTo>
                  <a:pt x="299551" y="105114"/>
                </a:lnTo>
                <a:lnTo>
                  <a:pt x="307386" y="153693"/>
                </a:lnTo>
                <a:lnTo>
                  <a:pt x="299551" y="202272"/>
                </a:lnTo>
                <a:lnTo>
                  <a:pt x="277733" y="244462"/>
                </a:lnTo>
                <a:lnTo>
                  <a:pt x="244462" y="277733"/>
                </a:lnTo>
                <a:lnTo>
                  <a:pt x="202272" y="299551"/>
                </a:lnTo>
                <a:lnTo>
                  <a:pt x="153693" y="307387"/>
                </a:lnTo>
                <a:lnTo>
                  <a:pt x="105114" y="299551"/>
                </a:lnTo>
                <a:lnTo>
                  <a:pt x="62924" y="277733"/>
                </a:lnTo>
                <a:lnTo>
                  <a:pt x="29653" y="244462"/>
                </a:lnTo>
                <a:lnTo>
                  <a:pt x="7835" y="202272"/>
                </a:lnTo>
                <a:lnTo>
                  <a:pt x="0" y="153693"/>
                </a:lnTo>
                <a:close/>
              </a:path>
            </a:pathLst>
          </a:custGeom>
          <a:ln w="16273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" name="object 4"/>
          <p:cNvSpPr txBox="1"/>
          <p:nvPr/>
        </p:nvSpPr>
        <p:spPr>
          <a:xfrm>
            <a:off x="9294387" y="2502009"/>
            <a:ext cx="126967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8108" y="2122395"/>
            <a:ext cx="112366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latin typeface="Arial MT"/>
                <a:cs typeface="Arial MT"/>
              </a:rPr>
              <a:t>x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61477" y="2241583"/>
            <a:ext cx="591031" cy="279327"/>
          </a:xfrm>
          <a:custGeom>
            <a:avLst/>
            <a:gdLst/>
            <a:ahLst/>
            <a:cxnLst/>
            <a:rect l="l" t="t" r="r" b="b"/>
            <a:pathLst>
              <a:path w="591184" h="279400">
                <a:moveTo>
                  <a:pt x="543219" y="264176"/>
                </a:moveTo>
                <a:lnTo>
                  <a:pt x="536430" y="278965"/>
                </a:lnTo>
                <a:lnTo>
                  <a:pt x="590983" y="277150"/>
                </a:lnTo>
                <a:lnTo>
                  <a:pt x="583287" y="267571"/>
                </a:lnTo>
                <a:lnTo>
                  <a:pt x="550614" y="267571"/>
                </a:lnTo>
                <a:lnTo>
                  <a:pt x="543219" y="264176"/>
                </a:lnTo>
                <a:close/>
              </a:path>
              <a:path w="591184" h="279400">
                <a:moveTo>
                  <a:pt x="550008" y="249386"/>
                </a:moveTo>
                <a:lnTo>
                  <a:pt x="543219" y="264176"/>
                </a:lnTo>
                <a:lnTo>
                  <a:pt x="550614" y="267571"/>
                </a:lnTo>
                <a:lnTo>
                  <a:pt x="557404" y="252782"/>
                </a:lnTo>
                <a:lnTo>
                  <a:pt x="550008" y="249386"/>
                </a:lnTo>
                <a:close/>
              </a:path>
              <a:path w="591184" h="279400">
                <a:moveTo>
                  <a:pt x="556798" y="234596"/>
                </a:moveTo>
                <a:lnTo>
                  <a:pt x="550008" y="249386"/>
                </a:lnTo>
                <a:lnTo>
                  <a:pt x="557404" y="252782"/>
                </a:lnTo>
                <a:lnTo>
                  <a:pt x="550614" y="267571"/>
                </a:lnTo>
                <a:lnTo>
                  <a:pt x="583287" y="267571"/>
                </a:lnTo>
                <a:lnTo>
                  <a:pt x="556798" y="234596"/>
                </a:lnTo>
                <a:close/>
              </a:path>
              <a:path w="591184" h="279400">
                <a:moveTo>
                  <a:pt x="6789" y="0"/>
                </a:moveTo>
                <a:lnTo>
                  <a:pt x="0" y="14789"/>
                </a:lnTo>
                <a:lnTo>
                  <a:pt x="543219" y="264176"/>
                </a:lnTo>
                <a:lnTo>
                  <a:pt x="550008" y="249386"/>
                </a:lnTo>
                <a:lnTo>
                  <a:pt x="6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8508108" y="2679163"/>
            <a:ext cx="112366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latin typeface="Arial MT"/>
                <a:cs typeface="Arial MT"/>
              </a:rPr>
              <a:t>y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63923" y="2718496"/>
            <a:ext cx="1607401" cy="349159"/>
            <a:chOff x="8666180" y="2718311"/>
            <a:chExt cx="1607820" cy="349250"/>
          </a:xfrm>
        </p:grpSpPr>
        <p:sp>
          <p:nvSpPr>
            <p:cNvPr id="9" name="object 9"/>
            <p:cNvSpPr/>
            <p:nvPr/>
          </p:nvSpPr>
          <p:spPr>
            <a:xfrm>
              <a:off x="8666180" y="2718311"/>
              <a:ext cx="588645" cy="95885"/>
            </a:xfrm>
            <a:custGeom>
              <a:avLst/>
              <a:gdLst/>
              <a:ahLst/>
              <a:cxnLst/>
              <a:rect l="l" t="t" r="r" b="b"/>
              <a:pathLst>
                <a:path w="588645" h="95885">
                  <a:moveTo>
                    <a:pt x="539099" y="16163"/>
                  </a:moveTo>
                  <a:lnTo>
                    <a:pt x="0" y="79359"/>
                  </a:lnTo>
                  <a:lnTo>
                    <a:pt x="1894" y="95523"/>
                  </a:lnTo>
                  <a:lnTo>
                    <a:pt x="540993" y="32326"/>
                  </a:lnTo>
                  <a:lnTo>
                    <a:pt x="539099" y="16163"/>
                  </a:lnTo>
                  <a:close/>
                </a:path>
                <a:path w="588645" h="95885">
                  <a:moveTo>
                    <a:pt x="579287" y="15215"/>
                  </a:moveTo>
                  <a:lnTo>
                    <a:pt x="547180" y="15215"/>
                  </a:lnTo>
                  <a:lnTo>
                    <a:pt x="549075" y="31379"/>
                  </a:lnTo>
                  <a:lnTo>
                    <a:pt x="540993" y="32326"/>
                  </a:lnTo>
                  <a:lnTo>
                    <a:pt x="542888" y="48488"/>
                  </a:lnTo>
                  <a:lnTo>
                    <a:pt x="588535" y="18559"/>
                  </a:lnTo>
                  <a:lnTo>
                    <a:pt x="579287" y="15215"/>
                  </a:lnTo>
                  <a:close/>
                </a:path>
                <a:path w="588645" h="95885">
                  <a:moveTo>
                    <a:pt x="547180" y="15215"/>
                  </a:moveTo>
                  <a:lnTo>
                    <a:pt x="539099" y="16163"/>
                  </a:lnTo>
                  <a:lnTo>
                    <a:pt x="540882" y="31379"/>
                  </a:lnTo>
                  <a:lnTo>
                    <a:pt x="540993" y="32326"/>
                  </a:lnTo>
                  <a:lnTo>
                    <a:pt x="549075" y="31379"/>
                  </a:lnTo>
                  <a:lnTo>
                    <a:pt x="547291" y="16163"/>
                  </a:lnTo>
                  <a:lnTo>
                    <a:pt x="547180" y="15215"/>
                  </a:lnTo>
                  <a:close/>
                </a:path>
                <a:path w="588645" h="95885">
                  <a:moveTo>
                    <a:pt x="537204" y="0"/>
                  </a:moveTo>
                  <a:lnTo>
                    <a:pt x="538988" y="15215"/>
                  </a:lnTo>
                  <a:lnTo>
                    <a:pt x="539099" y="16163"/>
                  </a:lnTo>
                  <a:lnTo>
                    <a:pt x="547180" y="15215"/>
                  </a:lnTo>
                  <a:lnTo>
                    <a:pt x="579287" y="15215"/>
                  </a:lnTo>
                  <a:lnTo>
                    <a:pt x="537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" name="object 10"/>
            <p:cNvSpPr/>
            <p:nvPr/>
          </p:nvSpPr>
          <p:spPr>
            <a:xfrm>
              <a:off x="9954536" y="2751336"/>
              <a:ext cx="311150" cy="307975"/>
            </a:xfrm>
            <a:custGeom>
              <a:avLst/>
              <a:gdLst/>
              <a:ahLst/>
              <a:cxnLst/>
              <a:rect l="l" t="t" r="r" b="b"/>
              <a:pathLst>
                <a:path w="311150" h="307975">
                  <a:moveTo>
                    <a:pt x="0" y="153693"/>
                  </a:moveTo>
                  <a:lnTo>
                    <a:pt x="7927" y="105114"/>
                  </a:lnTo>
                  <a:lnTo>
                    <a:pt x="30002" y="62924"/>
                  </a:lnTo>
                  <a:lnTo>
                    <a:pt x="63664" y="29653"/>
                  </a:lnTo>
                  <a:lnTo>
                    <a:pt x="106351" y="7835"/>
                  </a:lnTo>
                  <a:lnTo>
                    <a:pt x="155501" y="0"/>
                  </a:lnTo>
                  <a:lnTo>
                    <a:pt x="204652" y="7835"/>
                  </a:lnTo>
                  <a:lnTo>
                    <a:pt x="247338" y="29653"/>
                  </a:lnTo>
                  <a:lnTo>
                    <a:pt x="281000" y="62924"/>
                  </a:lnTo>
                  <a:lnTo>
                    <a:pt x="303075" y="105114"/>
                  </a:lnTo>
                  <a:lnTo>
                    <a:pt x="311003" y="153693"/>
                  </a:lnTo>
                  <a:lnTo>
                    <a:pt x="303075" y="202272"/>
                  </a:lnTo>
                  <a:lnTo>
                    <a:pt x="281000" y="244462"/>
                  </a:lnTo>
                  <a:lnTo>
                    <a:pt x="247338" y="277733"/>
                  </a:lnTo>
                  <a:lnTo>
                    <a:pt x="204652" y="299551"/>
                  </a:lnTo>
                  <a:lnTo>
                    <a:pt x="155501" y="307387"/>
                  </a:lnTo>
                  <a:lnTo>
                    <a:pt x="106351" y="299551"/>
                  </a:lnTo>
                  <a:lnTo>
                    <a:pt x="63664" y="277733"/>
                  </a:lnTo>
                  <a:lnTo>
                    <a:pt x="30002" y="244462"/>
                  </a:lnTo>
                  <a:lnTo>
                    <a:pt x="7927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71703" y="2798470"/>
            <a:ext cx="67927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>
              <a:spcBef>
                <a:spcPts val="114"/>
              </a:spcBef>
            </a:pPr>
            <a:r>
              <a:rPr sz="1350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52008" y="2620897"/>
            <a:ext cx="1992111" cy="864010"/>
            <a:chOff x="8654262" y="2620686"/>
            <a:chExt cx="1992630" cy="864235"/>
          </a:xfrm>
        </p:grpSpPr>
        <p:sp>
          <p:nvSpPr>
            <p:cNvPr id="13" name="object 13"/>
            <p:cNvSpPr/>
            <p:nvPr/>
          </p:nvSpPr>
          <p:spPr>
            <a:xfrm>
              <a:off x="8654262" y="2620695"/>
              <a:ext cx="1992630" cy="864235"/>
            </a:xfrm>
            <a:custGeom>
              <a:avLst/>
              <a:gdLst/>
              <a:ahLst/>
              <a:cxnLst/>
              <a:rect l="l" t="t" r="r" b="b"/>
              <a:pathLst>
                <a:path w="1992629" h="864235">
                  <a:moveTo>
                    <a:pt x="603275" y="702030"/>
                  </a:moveTo>
                  <a:lnTo>
                    <a:pt x="549922" y="690473"/>
                  </a:lnTo>
                  <a:lnTo>
                    <a:pt x="553961" y="706247"/>
                  </a:lnTo>
                  <a:lnTo>
                    <a:pt x="0" y="847966"/>
                  </a:lnTo>
                  <a:lnTo>
                    <a:pt x="4025" y="863739"/>
                  </a:lnTo>
                  <a:lnTo>
                    <a:pt x="557999" y="722007"/>
                  </a:lnTo>
                  <a:lnTo>
                    <a:pt x="562025" y="737768"/>
                  </a:lnTo>
                  <a:lnTo>
                    <a:pt x="600735" y="704227"/>
                  </a:lnTo>
                  <a:lnTo>
                    <a:pt x="603275" y="702030"/>
                  </a:lnTo>
                  <a:close/>
                </a:path>
                <a:path w="1992629" h="864235">
                  <a:moveTo>
                    <a:pt x="1348130" y="174383"/>
                  </a:moveTo>
                  <a:lnTo>
                    <a:pt x="1342720" y="168859"/>
                  </a:lnTo>
                  <a:lnTo>
                    <a:pt x="1309890" y="135432"/>
                  </a:lnTo>
                  <a:lnTo>
                    <a:pt x="1304607" y="150825"/>
                  </a:lnTo>
                  <a:lnTo>
                    <a:pt x="865339" y="0"/>
                  </a:lnTo>
                  <a:lnTo>
                    <a:pt x="860056" y="15392"/>
                  </a:lnTo>
                  <a:lnTo>
                    <a:pt x="1299324" y="166217"/>
                  </a:lnTo>
                  <a:lnTo>
                    <a:pt x="1294028" y="181610"/>
                  </a:lnTo>
                  <a:lnTo>
                    <a:pt x="1348130" y="174383"/>
                  </a:lnTo>
                  <a:close/>
                </a:path>
                <a:path w="1992629" h="864235">
                  <a:moveTo>
                    <a:pt x="1992045" y="282536"/>
                  </a:moveTo>
                  <a:lnTo>
                    <a:pt x="1975777" y="274396"/>
                  </a:lnTo>
                  <a:lnTo>
                    <a:pt x="1943227" y="258127"/>
                  </a:lnTo>
                  <a:lnTo>
                    <a:pt x="1943227" y="274396"/>
                  </a:lnTo>
                  <a:lnTo>
                    <a:pt x="1611274" y="274396"/>
                  </a:lnTo>
                  <a:lnTo>
                    <a:pt x="1611274" y="290664"/>
                  </a:lnTo>
                  <a:lnTo>
                    <a:pt x="1943227" y="290664"/>
                  </a:lnTo>
                  <a:lnTo>
                    <a:pt x="1943227" y="306946"/>
                  </a:lnTo>
                  <a:lnTo>
                    <a:pt x="1975777" y="290664"/>
                  </a:lnTo>
                  <a:lnTo>
                    <a:pt x="1992045" y="282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4" name="object 14"/>
            <p:cNvSpPr/>
            <p:nvPr/>
          </p:nvSpPr>
          <p:spPr>
            <a:xfrm>
              <a:off x="9209575" y="3062340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0" y="153693"/>
                  </a:moveTo>
                  <a:lnTo>
                    <a:pt x="7835" y="105114"/>
                  </a:lnTo>
                  <a:lnTo>
                    <a:pt x="29653" y="62924"/>
                  </a:lnTo>
                  <a:lnTo>
                    <a:pt x="62924" y="29653"/>
                  </a:lnTo>
                  <a:lnTo>
                    <a:pt x="105114" y="7835"/>
                  </a:lnTo>
                  <a:lnTo>
                    <a:pt x="153693" y="0"/>
                  </a:lnTo>
                  <a:lnTo>
                    <a:pt x="202272" y="7835"/>
                  </a:lnTo>
                  <a:lnTo>
                    <a:pt x="244462" y="29653"/>
                  </a:lnTo>
                  <a:lnTo>
                    <a:pt x="277733" y="62924"/>
                  </a:lnTo>
                  <a:lnTo>
                    <a:pt x="299551" y="105114"/>
                  </a:lnTo>
                  <a:lnTo>
                    <a:pt x="307386" y="153693"/>
                  </a:lnTo>
                  <a:lnTo>
                    <a:pt x="299551" y="202272"/>
                  </a:lnTo>
                  <a:lnTo>
                    <a:pt x="277733" y="244462"/>
                  </a:lnTo>
                  <a:lnTo>
                    <a:pt x="244462" y="277733"/>
                  </a:lnTo>
                  <a:lnTo>
                    <a:pt x="202272" y="299551"/>
                  </a:lnTo>
                  <a:lnTo>
                    <a:pt x="153693" y="307387"/>
                  </a:lnTo>
                  <a:lnTo>
                    <a:pt x="105114" y="299551"/>
                  </a:lnTo>
                  <a:lnTo>
                    <a:pt x="62924" y="277733"/>
                  </a:lnTo>
                  <a:lnTo>
                    <a:pt x="29653" y="244462"/>
                  </a:lnTo>
                  <a:lnTo>
                    <a:pt x="7835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497155" y="3351623"/>
            <a:ext cx="112366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latin typeface="Arial MT"/>
                <a:cs typeface="Arial MT"/>
              </a:rPr>
              <a:t>z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96833" y="2979239"/>
            <a:ext cx="95860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>
              <a:spcBef>
                <a:spcPts val="114"/>
              </a:spcBef>
            </a:pPr>
            <a:r>
              <a:rPr sz="1350" spc="-50" dirty="0">
                <a:latin typeface="Cambria Math"/>
                <a:cs typeface="Cambria Math"/>
              </a:rPr>
              <a:t>𝑓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97108" y="3060946"/>
            <a:ext cx="207591" cy="495805"/>
          </a:xfrm>
          <a:prstGeom prst="rect">
            <a:avLst/>
          </a:prstGeom>
        </p:spPr>
        <p:txBody>
          <a:bodyPr vert="horz" wrap="square" lIns="0" tIns="41264" rIns="0" bIns="0" rtlCol="0">
            <a:spAutoFit/>
          </a:bodyPr>
          <a:lstStyle/>
          <a:p>
            <a:pPr marL="12696">
              <a:spcBef>
                <a:spcPts val="325"/>
              </a:spcBef>
            </a:pPr>
            <a:r>
              <a:rPr sz="1350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1350">
              <a:latin typeface="Arial MT"/>
              <a:cs typeface="Arial MT"/>
            </a:endParaRPr>
          </a:p>
          <a:p>
            <a:pPr marL="97761">
              <a:spcBef>
                <a:spcPts val="229"/>
              </a:spcBef>
            </a:pPr>
            <a:r>
              <a:rPr sz="1350" spc="-50" dirty="0">
                <a:latin typeface="Arial MT"/>
                <a:cs typeface="Arial MT"/>
              </a:rPr>
              <a:t>q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58176" y="2244357"/>
            <a:ext cx="1613115" cy="2236522"/>
            <a:chOff x="8660431" y="2244048"/>
            <a:chExt cx="1613535" cy="2237105"/>
          </a:xfrm>
        </p:grpSpPr>
        <p:sp>
          <p:nvSpPr>
            <p:cNvPr id="19" name="object 19"/>
            <p:cNvSpPr/>
            <p:nvPr/>
          </p:nvSpPr>
          <p:spPr>
            <a:xfrm>
              <a:off x="8660422" y="2244051"/>
              <a:ext cx="1339850" cy="977265"/>
            </a:xfrm>
            <a:custGeom>
              <a:avLst/>
              <a:gdLst/>
              <a:ahLst/>
              <a:cxnLst/>
              <a:rect l="l" t="t" r="r" b="b"/>
              <a:pathLst>
                <a:path w="1339850" h="977264">
                  <a:moveTo>
                    <a:pt x="597014" y="860145"/>
                  </a:moveTo>
                  <a:lnTo>
                    <a:pt x="592937" y="831278"/>
                  </a:lnTo>
                  <a:lnTo>
                    <a:pt x="589381" y="806094"/>
                  </a:lnTo>
                  <a:lnTo>
                    <a:pt x="575983" y="815340"/>
                  </a:lnTo>
                  <a:lnTo>
                    <a:pt x="13398" y="0"/>
                  </a:lnTo>
                  <a:lnTo>
                    <a:pt x="0" y="9245"/>
                  </a:lnTo>
                  <a:lnTo>
                    <a:pt x="562584" y="824585"/>
                  </a:lnTo>
                  <a:lnTo>
                    <a:pt x="549186" y="833818"/>
                  </a:lnTo>
                  <a:lnTo>
                    <a:pt x="597014" y="860145"/>
                  </a:lnTo>
                  <a:close/>
                </a:path>
                <a:path w="1339850" h="977264">
                  <a:moveTo>
                    <a:pt x="1339253" y="767664"/>
                  </a:moveTo>
                  <a:lnTo>
                    <a:pt x="1284795" y="763943"/>
                  </a:lnTo>
                  <a:lnTo>
                    <a:pt x="1291069" y="778967"/>
                  </a:lnTo>
                  <a:lnTo>
                    <a:pt x="853401" y="961644"/>
                  </a:lnTo>
                  <a:lnTo>
                    <a:pt x="859663" y="976668"/>
                  </a:lnTo>
                  <a:lnTo>
                    <a:pt x="1297330" y="793978"/>
                  </a:lnTo>
                  <a:lnTo>
                    <a:pt x="1303604" y="809002"/>
                  </a:lnTo>
                  <a:lnTo>
                    <a:pt x="1332217" y="775830"/>
                  </a:lnTo>
                  <a:lnTo>
                    <a:pt x="1339253" y="767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0" name="object 20"/>
            <p:cNvSpPr/>
            <p:nvPr/>
          </p:nvSpPr>
          <p:spPr>
            <a:xfrm>
              <a:off x="9954536" y="4165318"/>
              <a:ext cx="311150" cy="307975"/>
            </a:xfrm>
            <a:custGeom>
              <a:avLst/>
              <a:gdLst/>
              <a:ahLst/>
              <a:cxnLst/>
              <a:rect l="l" t="t" r="r" b="b"/>
              <a:pathLst>
                <a:path w="311150" h="307975">
                  <a:moveTo>
                    <a:pt x="0" y="153693"/>
                  </a:moveTo>
                  <a:lnTo>
                    <a:pt x="7927" y="105114"/>
                  </a:lnTo>
                  <a:lnTo>
                    <a:pt x="30002" y="62924"/>
                  </a:lnTo>
                  <a:lnTo>
                    <a:pt x="63664" y="29653"/>
                  </a:lnTo>
                  <a:lnTo>
                    <a:pt x="106351" y="7835"/>
                  </a:lnTo>
                  <a:lnTo>
                    <a:pt x="155501" y="0"/>
                  </a:lnTo>
                  <a:lnTo>
                    <a:pt x="204652" y="7835"/>
                  </a:lnTo>
                  <a:lnTo>
                    <a:pt x="247338" y="29653"/>
                  </a:lnTo>
                  <a:lnTo>
                    <a:pt x="281000" y="62924"/>
                  </a:lnTo>
                  <a:lnTo>
                    <a:pt x="303075" y="105114"/>
                  </a:lnTo>
                  <a:lnTo>
                    <a:pt x="311003" y="153693"/>
                  </a:lnTo>
                  <a:lnTo>
                    <a:pt x="303075" y="202272"/>
                  </a:lnTo>
                  <a:lnTo>
                    <a:pt x="281000" y="244462"/>
                  </a:lnTo>
                  <a:lnTo>
                    <a:pt x="247338" y="277733"/>
                  </a:lnTo>
                  <a:lnTo>
                    <a:pt x="204652" y="299551"/>
                  </a:lnTo>
                  <a:lnTo>
                    <a:pt x="155501" y="307387"/>
                  </a:lnTo>
                  <a:lnTo>
                    <a:pt x="106351" y="299551"/>
                  </a:lnTo>
                  <a:lnTo>
                    <a:pt x="63664" y="277733"/>
                  </a:lnTo>
                  <a:lnTo>
                    <a:pt x="30002" y="244462"/>
                  </a:lnTo>
                  <a:lnTo>
                    <a:pt x="7927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424645" y="2212780"/>
            <a:ext cx="122523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44285" y="4408037"/>
            <a:ext cx="169501" cy="394232"/>
          </a:xfrm>
          <a:prstGeom prst="rect">
            <a:avLst/>
          </a:prstGeom>
        </p:spPr>
        <p:txBody>
          <a:bodyPr vert="horz" wrap="square" lIns="0" tIns="43804" rIns="0" bIns="0" rtlCol="0">
            <a:spAutoFit/>
          </a:bodyPr>
          <a:lstStyle/>
          <a:p>
            <a:pPr marL="27297">
              <a:spcBef>
                <a:spcPts val="34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 marL="12696">
              <a:spcBef>
                <a:spcPts val="254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259330" y="4633961"/>
            <a:ext cx="144742" cy="7618"/>
          </a:xfrm>
          <a:custGeom>
            <a:avLst/>
            <a:gdLst/>
            <a:ahLst/>
            <a:cxnLst/>
            <a:rect l="l" t="t" r="r" b="b"/>
            <a:pathLst>
              <a:path w="144779" h="7620">
                <a:moveTo>
                  <a:pt x="144652" y="0"/>
                </a:moveTo>
                <a:lnTo>
                  <a:pt x="0" y="0"/>
                </a:lnTo>
                <a:lnTo>
                  <a:pt x="0" y="7232"/>
                </a:lnTo>
                <a:lnTo>
                  <a:pt x="144652" y="7232"/>
                </a:lnTo>
                <a:lnTo>
                  <a:pt x="144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4" name="object 24"/>
          <p:cNvSpPr txBox="1"/>
          <p:nvPr/>
        </p:nvSpPr>
        <p:spPr>
          <a:xfrm>
            <a:off x="10029062" y="4222928"/>
            <a:ext cx="142838" cy="169874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/>
          <a:p>
            <a:pPr marL="12696">
              <a:spcBef>
                <a:spcPts val="12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260385" y="3058820"/>
            <a:ext cx="871628" cy="2040358"/>
            <a:chOff x="9262797" y="3058723"/>
            <a:chExt cx="871855" cy="2040889"/>
          </a:xfrm>
        </p:grpSpPr>
        <p:sp>
          <p:nvSpPr>
            <p:cNvPr id="26" name="object 26"/>
            <p:cNvSpPr/>
            <p:nvPr/>
          </p:nvSpPr>
          <p:spPr>
            <a:xfrm>
              <a:off x="10085627" y="3058723"/>
              <a:ext cx="48895" cy="1108710"/>
            </a:xfrm>
            <a:custGeom>
              <a:avLst/>
              <a:gdLst/>
              <a:ahLst/>
              <a:cxnLst/>
              <a:rect l="l" t="t" r="r" b="b"/>
              <a:pathLst>
                <a:path w="48895" h="1108710">
                  <a:moveTo>
                    <a:pt x="16273" y="1059594"/>
                  </a:moveTo>
                  <a:lnTo>
                    <a:pt x="0" y="1059594"/>
                  </a:lnTo>
                  <a:lnTo>
                    <a:pt x="24410" y="1108414"/>
                  </a:lnTo>
                  <a:lnTo>
                    <a:pt x="44752" y="1067732"/>
                  </a:lnTo>
                  <a:lnTo>
                    <a:pt x="16273" y="1067732"/>
                  </a:lnTo>
                  <a:lnTo>
                    <a:pt x="16273" y="1059594"/>
                  </a:lnTo>
                  <a:close/>
                </a:path>
                <a:path w="48895" h="1108710">
                  <a:moveTo>
                    <a:pt x="32547" y="0"/>
                  </a:moveTo>
                  <a:lnTo>
                    <a:pt x="16275" y="0"/>
                  </a:lnTo>
                  <a:lnTo>
                    <a:pt x="16273" y="1067732"/>
                  </a:lnTo>
                  <a:lnTo>
                    <a:pt x="32547" y="1067732"/>
                  </a:lnTo>
                  <a:lnTo>
                    <a:pt x="32547" y="0"/>
                  </a:lnTo>
                  <a:close/>
                </a:path>
                <a:path w="48895" h="1108710">
                  <a:moveTo>
                    <a:pt x="48821" y="1059594"/>
                  </a:moveTo>
                  <a:lnTo>
                    <a:pt x="32547" y="1059594"/>
                  </a:lnTo>
                  <a:lnTo>
                    <a:pt x="32547" y="1067732"/>
                  </a:lnTo>
                  <a:lnTo>
                    <a:pt x="44752" y="1067732"/>
                  </a:lnTo>
                  <a:lnTo>
                    <a:pt x="48821" y="1059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7" name="object 27"/>
            <p:cNvSpPr/>
            <p:nvPr/>
          </p:nvSpPr>
          <p:spPr>
            <a:xfrm>
              <a:off x="9271052" y="4783707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0" y="153693"/>
                  </a:moveTo>
                  <a:lnTo>
                    <a:pt x="7835" y="105114"/>
                  </a:lnTo>
                  <a:lnTo>
                    <a:pt x="29653" y="62924"/>
                  </a:lnTo>
                  <a:lnTo>
                    <a:pt x="62924" y="29653"/>
                  </a:lnTo>
                  <a:lnTo>
                    <a:pt x="105114" y="7835"/>
                  </a:lnTo>
                  <a:lnTo>
                    <a:pt x="153693" y="0"/>
                  </a:lnTo>
                  <a:lnTo>
                    <a:pt x="202272" y="7835"/>
                  </a:lnTo>
                  <a:lnTo>
                    <a:pt x="244462" y="29653"/>
                  </a:lnTo>
                  <a:lnTo>
                    <a:pt x="277733" y="62924"/>
                  </a:lnTo>
                  <a:lnTo>
                    <a:pt x="299551" y="105114"/>
                  </a:lnTo>
                  <a:lnTo>
                    <a:pt x="307386" y="153693"/>
                  </a:lnTo>
                  <a:lnTo>
                    <a:pt x="299551" y="202272"/>
                  </a:lnTo>
                  <a:lnTo>
                    <a:pt x="277733" y="244462"/>
                  </a:lnTo>
                  <a:lnTo>
                    <a:pt x="244462" y="277733"/>
                  </a:lnTo>
                  <a:lnTo>
                    <a:pt x="202272" y="299551"/>
                  </a:lnTo>
                  <a:lnTo>
                    <a:pt x="153693" y="307387"/>
                  </a:lnTo>
                  <a:lnTo>
                    <a:pt x="105114" y="299551"/>
                  </a:lnTo>
                  <a:lnTo>
                    <a:pt x="62924" y="277733"/>
                  </a:lnTo>
                  <a:lnTo>
                    <a:pt x="29653" y="244462"/>
                  </a:lnTo>
                  <a:lnTo>
                    <a:pt x="7835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604877" y="4939497"/>
            <a:ext cx="168231" cy="394232"/>
          </a:xfrm>
          <a:prstGeom prst="rect">
            <a:avLst/>
          </a:prstGeom>
        </p:spPr>
        <p:txBody>
          <a:bodyPr vert="horz" wrap="square" lIns="0" tIns="43804" rIns="0" bIns="0" rtlCol="0">
            <a:spAutoFit/>
          </a:bodyPr>
          <a:lstStyle/>
          <a:p>
            <a:pPr marL="27297">
              <a:spcBef>
                <a:spcPts val="34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 marL="12696">
              <a:spcBef>
                <a:spcPts val="254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619562" y="5165227"/>
            <a:ext cx="144742" cy="7618"/>
          </a:xfrm>
          <a:custGeom>
            <a:avLst/>
            <a:gdLst/>
            <a:ahLst/>
            <a:cxnLst/>
            <a:rect l="l" t="t" r="r" b="b"/>
            <a:pathLst>
              <a:path w="144779" h="7620">
                <a:moveTo>
                  <a:pt x="144652" y="0"/>
                </a:moveTo>
                <a:lnTo>
                  <a:pt x="0" y="0"/>
                </a:lnTo>
                <a:lnTo>
                  <a:pt x="0" y="7232"/>
                </a:lnTo>
                <a:lnTo>
                  <a:pt x="144652" y="7232"/>
                </a:lnTo>
                <a:lnTo>
                  <a:pt x="144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0" name="object 30"/>
          <p:cNvSpPr txBox="1"/>
          <p:nvPr/>
        </p:nvSpPr>
        <p:spPr>
          <a:xfrm>
            <a:off x="9389907" y="4877311"/>
            <a:ext cx="76180" cy="169874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/>
          <a:p>
            <a:pPr marL="12696">
              <a:spcBef>
                <a:spcPts val="125"/>
              </a:spcBef>
            </a:pPr>
            <a:r>
              <a:rPr sz="1000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198923" y="2739093"/>
            <a:ext cx="804970" cy="2125426"/>
            <a:chOff x="9201320" y="2738913"/>
            <a:chExt cx="805180" cy="2125980"/>
          </a:xfrm>
        </p:grpSpPr>
        <p:sp>
          <p:nvSpPr>
            <p:cNvPr id="32" name="object 32"/>
            <p:cNvSpPr/>
            <p:nvPr/>
          </p:nvSpPr>
          <p:spPr>
            <a:xfrm>
              <a:off x="9463685" y="2738919"/>
              <a:ext cx="542925" cy="2125980"/>
            </a:xfrm>
            <a:custGeom>
              <a:avLst/>
              <a:gdLst/>
              <a:ahLst/>
              <a:cxnLst/>
              <a:rect l="l" t="t" r="r" b="b"/>
              <a:pathLst>
                <a:path w="542925" h="2125979">
                  <a:moveTo>
                    <a:pt x="343382" y="733628"/>
                  </a:moveTo>
                  <a:lnTo>
                    <a:pt x="340753" y="672414"/>
                  </a:lnTo>
                  <a:lnTo>
                    <a:pt x="340702" y="670979"/>
                  </a:lnTo>
                  <a:lnTo>
                    <a:pt x="334518" y="611530"/>
                  </a:lnTo>
                  <a:lnTo>
                    <a:pt x="325069" y="555078"/>
                  </a:lnTo>
                  <a:lnTo>
                    <a:pt x="312597" y="501434"/>
                  </a:lnTo>
                  <a:lnTo>
                    <a:pt x="297319" y="450367"/>
                  </a:lnTo>
                  <a:lnTo>
                    <a:pt x="279476" y="401701"/>
                  </a:lnTo>
                  <a:lnTo>
                    <a:pt x="259308" y="355219"/>
                  </a:lnTo>
                  <a:lnTo>
                    <a:pt x="237058" y="310692"/>
                  </a:lnTo>
                  <a:lnTo>
                    <a:pt x="212953" y="267944"/>
                  </a:lnTo>
                  <a:lnTo>
                    <a:pt x="187248" y="226733"/>
                  </a:lnTo>
                  <a:lnTo>
                    <a:pt x="160172" y="186855"/>
                  </a:lnTo>
                  <a:lnTo>
                    <a:pt x="131940" y="148082"/>
                  </a:lnTo>
                  <a:lnTo>
                    <a:pt x="73113" y="73113"/>
                  </a:lnTo>
                  <a:lnTo>
                    <a:pt x="12522" y="0"/>
                  </a:lnTo>
                  <a:lnTo>
                    <a:pt x="0" y="10375"/>
                  </a:lnTo>
                  <a:lnTo>
                    <a:pt x="60515" y="83426"/>
                  </a:lnTo>
                  <a:lnTo>
                    <a:pt x="119049" y="158013"/>
                  </a:lnTo>
                  <a:lnTo>
                    <a:pt x="146939" y="196329"/>
                  </a:lnTo>
                  <a:lnTo>
                    <a:pt x="173532" y="235483"/>
                  </a:lnTo>
                  <a:lnTo>
                    <a:pt x="198869" y="276085"/>
                  </a:lnTo>
                  <a:lnTo>
                    <a:pt x="222592" y="318147"/>
                  </a:lnTo>
                  <a:lnTo>
                    <a:pt x="244462" y="361886"/>
                  </a:lnTo>
                  <a:lnTo>
                    <a:pt x="264274" y="407530"/>
                  </a:lnTo>
                  <a:lnTo>
                    <a:pt x="279984" y="450367"/>
                  </a:lnTo>
                  <a:lnTo>
                    <a:pt x="281787" y="455269"/>
                  </a:lnTo>
                  <a:lnTo>
                    <a:pt x="295605" y="501434"/>
                  </a:lnTo>
                  <a:lnTo>
                    <a:pt x="296799" y="505358"/>
                  </a:lnTo>
                  <a:lnTo>
                    <a:pt x="308368" y="555078"/>
                  </a:lnTo>
                  <a:lnTo>
                    <a:pt x="309067" y="558012"/>
                  </a:lnTo>
                  <a:lnTo>
                    <a:pt x="318020" y="611530"/>
                  </a:lnTo>
                  <a:lnTo>
                    <a:pt x="318363" y="613460"/>
                  </a:lnTo>
                  <a:lnTo>
                    <a:pt x="324332" y="670979"/>
                  </a:lnTo>
                  <a:lnTo>
                    <a:pt x="324446" y="671918"/>
                  </a:lnTo>
                  <a:lnTo>
                    <a:pt x="327113" y="733628"/>
                  </a:lnTo>
                  <a:lnTo>
                    <a:pt x="326174" y="798753"/>
                  </a:lnTo>
                  <a:lnTo>
                    <a:pt x="321792" y="867156"/>
                  </a:lnTo>
                  <a:lnTo>
                    <a:pt x="314172" y="938631"/>
                  </a:lnTo>
                  <a:lnTo>
                    <a:pt x="303542" y="1013028"/>
                  </a:lnTo>
                  <a:lnTo>
                    <a:pt x="290169" y="1089850"/>
                  </a:lnTo>
                  <a:lnTo>
                    <a:pt x="274256" y="1169149"/>
                  </a:lnTo>
                  <a:lnTo>
                    <a:pt x="256019" y="1250632"/>
                  </a:lnTo>
                  <a:lnTo>
                    <a:pt x="235699" y="1334071"/>
                  </a:lnTo>
                  <a:lnTo>
                    <a:pt x="213525" y="1419250"/>
                  </a:lnTo>
                  <a:lnTo>
                    <a:pt x="189738" y="1505953"/>
                  </a:lnTo>
                  <a:lnTo>
                    <a:pt x="164566" y="1593951"/>
                  </a:lnTo>
                  <a:lnTo>
                    <a:pt x="138226" y="1683016"/>
                  </a:lnTo>
                  <a:lnTo>
                    <a:pt x="83007" y="1863610"/>
                  </a:lnTo>
                  <a:lnTo>
                    <a:pt x="40500" y="1999386"/>
                  </a:lnTo>
                  <a:lnTo>
                    <a:pt x="24968" y="1994522"/>
                  </a:lnTo>
                  <a:lnTo>
                    <a:pt x="33680" y="2048408"/>
                  </a:lnTo>
                  <a:lnTo>
                    <a:pt x="68757" y="2012010"/>
                  </a:lnTo>
                  <a:lnTo>
                    <a:pt x="71551" y="2009114"/>
                  </a:lnTo>
                  <a:lnTo>
                    <a:pt x="56032" y="2004250"/>
                  </a:lnTo>
                  <a:lnTo>
                    <a:pt x="98539" y="1868449"/>
                  </a:lnTo>
                  <a:lnTo>
                    <a:pt x="153809" y="1687741"/>
                  </a:lnTo>
                  <a:lnTo>
                    <a:pt x="180174" y="1598523"/>
                  </a:lnTo>
                  <a:lnTo>
                    <a:pt x="205397" y="1510385"/>
                  </a:lnTo>
                  <a:lnTo>
                    <a:pt x="229235" y="1423504"/>
                  </a:lnTo>
                  <a:lnTo>
                    <a:pt x="251460" y="1338110"/>
                  </a:lnTo>
                  <a:lnTo>
                    <a:pt x="271843" y="1254417"/>
                  </a:lnTo>
                  <a:lnTo>
                    <a:pt x="290156" y="1172616"/>
                  </a:lnTo>
                  <a:lnTo>
                    <a:pt x="306158" y="1092949"/>
                  </a:lnTo>
                  <a:lnTo>
                    <a:pt x="319620" y="1015593"/>
                  </a:lnTo>
                  <a:lnTo>
                    <a:pt x="330301" y="940790"/>
                  </a:lnTo>
                  <a:lnTo>
                    <a:pt x="337985" y="868718"/>
                  </a:lnTo>
                  <a:lnTo>
                    <a:pt x="342430" y="799592"/>
                  </a:lnTo>
                  <a:lnTo>
                    <a:pt x="343382" y="734085"/>
                  </a:lnTo>
                  <a:lnTo>
                    <a:pt x="343382" y="733628"/>
                  </a:lnTo>
                  <a:close/>
                </a:path>
                <a:path w="542925" h="2125979">
                  <a:moveTo>
                    <a:pt x="542607" y="1696250"/>
                  </a:moveTo>
                  <a:lnTo>
                    <a:pt x="531304" y="1684540"/>
                  </a:lnTo>
                  <a:lnTo>
                    <a:pt x="115303" y="2086013"/>
                  </a:lnTo>
                  <a:lnTo>
                    <a:pt x="104000" y="2074303"/>
                  </a:lnTo>
                  <a:lnTo>
                    <a:pt x="85813" y="2125764"/>
                  </a:lnTo>
                  <a:lnTo>
                    <a:pt x="137896" y="2109432"/>
                  </a:lnTo>
                  <a:lnTo>
                    <a:pt x="132054" y="2103374"/>
                  </a:lnTo>
                  <a:lnTo>
                    <a:pt x="126593" y="2097722"/>
                  </a:lnTo>
                  <a:lnTo>
                    <a:pt x="542607" y="16962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3" name="object 33"/>
            <p:cNvSpPr/>
            <p:nvPr/>
          </p:nvSpPr>
          <p:spPr>
            <a:xfrm>
              <a:off x="9209575" y="3966419"/>
              <a:ext cx="307975" cy="311150"/>
            </a:xfrm>
            <a:custGeom>
              <a:avLst/>
              <a:gdLst/>
              <a:ahLst/>
              <a:cxnLst/>
              <a:rect l="l" t="t" r="r" b="b"/>
              <a:pathLst>
                <a:path w="307975" h="311150">
                  <a:moveTo>
                    <a:pt x="0" y="155501"/>
                  </a:moveTo>
                  <a:lnTo>
                    <a:pt x="7835" y="106351"/>
                  </a:lnTo>
                  <a:lnTo>
                    <a:pt x="29653" y="63664"/>
                  </a:lnTo>
                  <a:lnTo>
                    <a:pt x="62924" y="30002"/>
                  </a:lnTo>
                  <a:lnTo>
                    <a:pt x="105114" y="7927"/>
                  </a:lnTo>
                  <a:lnTo>
                    <a:pt x="153693" y="0"/>
                  </a:lnTo>
                  <a:lnTo>
                    <a:pt x="202272" y="7927"/>
                  </a:lnTo>
                  <a:lnTo>
                    <a:pt x="244462" y="30002"/>
                  </a:lnTo>
                  <a:lnTo>
                    <a:pt x="277733" y="63664"/>
                  </a:lnTo>
                  <a:lnTo>
                    <a:pt x="299551" y="106351"/>
                  </a:lnTo>
                  <a:lnTo>
                    <a:pt x="307386" y="155501"/>
                  </a:lnTo>
                  <a:lnTo>
                    <a:pt x="299551" y="204652"/>
                  </a:lnTo>
                  <a:lnTo>
                    <a:pt x="277733" y="247338"/>
                  </a:lnTo>
                  <a:lnTo>
                    <a:pt x="244462" y="281000"/>
                  </a:lnTo>
                  <a:lnTo>
                    <a:pt x="202272" y="303075"/>
                  </a:lnTo>
                  <a:lnTo>
                    <a:pt x="153693" y="311003"/>
                  </a:lnTo>
                  <a:lnTo>
                    <a:pt x="105114" y="303075"/>
                  </a:lnTo>
                  <a:lnTo>
                    <a:pt x="62924" y="281000"/>
                  </a:lnTo>
                  <a:lnTo>
                    <a:pt x="29653" y="247338"/>
                  </a:lnTo>
                  <a:lnTo>
                    <a:pt x="7835" y="204652"/>
                  </a:lnTo>
                  <a:lnTo>
                    <a:pt x="0" y="155501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333643" y="4045774"/>
            <a:ext cx="50787" cy="169874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000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334938" y="3369782"/>
            <a:ext cx="666576" cy="849409"/>
          </a:xfrm>
          <a:custGeom>
            <a:avLst/>
            <a:gdLst/>
            <a:ahLst/>
            <a:cxnLst/>
            <a:rect l="l" t="t" r="r" b="b"/>
            <a:pathLst>
              <a:path w="666750" h="849629">
                <a:moveTo>
                  <a:pt x="48717" y="551192"/>
                </a:moveTo>
                <a:lnTo>
                  <a:pt x="32435" y="551192"/>
                </a:lnTo>
                <a:lnTo>
                  <a:pt x="34950" y="0"/>
                </a:lnTo>
                <a:lnTo>
                  <a:pt x="18669" y="0"/>
                </a:lnTo>
                <a:lnTo>
                  <a:pt x="16167" y="551192"/>
                </a:lnTo>
                <a:lnTo>
                  <a:pt x="0" y="551192"/>
                </a:lnTo>
                <a:lnTo>
                  <a:pt x="24079" y="599897"/>
                </a:lnTo>
                <a:lnTo>
                  <a:pt x="44640" y="559244"/>
                </a:lnTo>
                <a:lnTo>
                  <a:pt x="48717" y="551192"/>
                </a:lnTo>
                <a:close/>
              </a:path>
              <a:path w="666750" h="849629">
                <a:moveTo>
                  <a:pt x="666496" y="833564"/>
                </a:moveTo>
                <a:lnTo>
                  <a:pt x="229069" y="752995"/>
                </a:lnTo>
                <a:lnTo>
                  <a:pt x="229222" y="752157"/>
                </a:lnTo>
                <a:lnTo>
                  <a:pt x="229349" y="751522"/>
                </a:lnTo>
                <a:lnTo>
                  <a:pt x="232016" y="736993"/>
                </a:lnTo>
                <a:lnTo>
                  <a:pt x="179590" y="752157"/>
                </a:lnTo>
                <a:lnTo>
                  <a:pt x="223177" y="785012"/>
                </a:lnTo>
                <a:lnTo>
                  <a:pt x="226123" y="769010"/>
                </a:lnTo>
                <a:lnTo>
                  <a:pt x="663549" y="849566"/>
                </a:lnTo>
                <a:lnTo>
                  <a:pt x="666496" y="83356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6" name="object 36"/>
          <p:cNvSpPr txBox="1"/>
          <p:nvPr/>
        </p:nvSpPr>
        <p:spPr>
          <a:xfrm>
            <a:off x="9242053" y="4205575"/>
            <a:ext cx="145377" cy="401850"/>
          </a:xfrm>
          <a:prstGeom prst="rect">
            <a:avLst/>
          </a:prstGeom>
        </p:spPr>
        <p:txBody>
          <a:bodyPr vert="horz" wrap="square" lIns="0" tIns="47613" rIns="0" bIns="0" rtlCol="0">
            <a:spAutoFit/>
          </a:bodyPr>
          <a:lstStyle/>
          <a:p>
            <a:pPr marL="13966">
              <a:spcBef>
                <a:spcPts val="37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>
              <a:spcBef>
                <a:spcPts val="280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381849" y="3842335"/>
            <a:ext cx="1006848" cy="601823"/>
            <a:chOff x="8384033" y="3842443"/>
            <a:chExt cx="1007110" cy="601980"/>
          </a:xfrm>
        </p:grpSpPr>
        <p:sp>
          <p:nvSpPr>
            <p:cNvPr id="38" name="object 38"/>
            <p:cNvSpPr/>
            <p:nvPr/>
          </p:nvSpPr>
          <p:spPr>
            <a:xfrm>
              <a:off x="9246160" y="4436757"/>
              <a:ext cx="144780" cy="7620"/>
            </a:xfrm>
            <a:custGeom>
              <a:avLst/>
              <a:gdLst/>
              <a:ahLst/>
              <a:cxnLst/>
              <a:rect l="l" t="t" r="r" b="b"/>
              <a:pathLst>
                <a:path w="144779" h="7620">
                  <a:moveTo>
                    <a:pt x="144652" y="0"/>
                  </a:moveTo>
                  <a:lnTo>
                    <a:pt x="0" y="0"/>
                  </a:lnTo>
                  <a:lnTo>
                    <a:pt x="0" y="7232"/>
                  </a:lnTo>
                  <a:lnTo>
                    <a:pt x="144652" y="7232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9" name="object 39"/>
            <p:cNvSpPr/>
            <p:nvPr/>
          </p:nvSpPr>
          <p:spPr>
            <a:xfrm>
              <a:off x="8392288" y="3850698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0" y="153693"/>
                  </a:moveTo>
                  <a:lnTo>
                    <a:pt x="7835" y="105114"/>
                  </a:lnTo>
                  <a:lnTo>
                    <a:pt x="29653" y="62924"/>
                  </a:lnTo>
                  <a:lnTo>
                    <a:pt x="62924" y="29653"/>
                  </a:lnTo>
                  <a:lnTo>
                    <a:pt x="105114" y="7835"/>
                  </a:lnTo>
                  <a:lnTo>
                    <a:pt x="153693" y="0"/>
                  </a:lnTo>
                  <a:lnTo>
                    <a:pt x="202272" y="7835"/>
                  </a:lnTo>
                  <a:lnTo>
                    <a:pt x="244462" y="29653"/>
                  </a:lnTo>
                  <a:lnTo>
                    <a:pt x="277733" y="62924"/>
                  </a:lnTo>
                  <a:lnTo>
                    <a:pt x="299551" y="105114"/>
                  </a:lnTo>
                  <a:lnTo>
                    <a:pt x="307386" y="153693"/>
                  </a:lnTo>
                  <a:lnTo>
                    <a:pt x="299551" y="202272"/>
                  </a:lnTo>
                  <a:lnTo>
                    <a:pt x="277733" y="244462"/>
                  </a:lnTo>
                  <a:lnTo>
                    <a:pt x="244462" y="277733"/>
                  </a:lnTo>
                  <a:lnTo>
                    <a:pt x="202272" y="299551"/>
                  </a:lnTo>
                  <a:lnTo>
                    <a:pt x="153693" y="307387"/>
                  </a:lnTo>
                  <a:lnTo>
                    <a:pt x="105114" y="299551"/>
                  </a:lnTo>
                  <a:lnTo>
                    <a:pt x="62924" y="277733"/>
                  </a:lnTo>
                  <a:lnTo>
                    <a:pt x="29653" y="244462"/>
                  </a:lnTo>
                  <a:lnTo>
                    <a:pt x="7835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479357" y="3879468"/>
            <a:ext cx="126967" cy="222438"/>
          </a:xfrm>
          <a:prstGeom prst="rect">
            <a:avLst/>
          </a:prstGeom>
        </p:spPr>
        <p:txBody>
          <a:bodyPr vert="horz" wrap="square" lIns="0" tIns="14600" rIns="0" bIns="0" rtlCol="0">
            <a:spAutoFit/>
          </a:bodyPr>
          <a:lstStyle/>
          <a:p>
            <a:pPr marL="12696">
              <a:spcBef>
                <a:spcPts val="114"/>
              </a:spcBef>
            </a:pPr>
            <a:r>
              <a:rPr sz="1350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356541" y="3993285"/>
            <a:ext cx="965583" cy="841791"/>
            <a:chOff x="8358718" y="3993432"/>
            <a:chExt cx="965835" cy="842010"/>
          </a:xfrm>
        </p:grpSpPr>
        <p:sp>
          <p:nvSpPr>
            <p:cNvPr id="42" name="object 42"/>
            <p:cNvSpPr/>
            <p:nvPr/>
          </p:nvSpPr>
          <p:spPr>
            <a:xfrm>
              <a:off x="8656269" y="3993438"/>
              <a:ext cx="668020" cy="842010"/>
            </a:xfrm>
            <a:custGeom>
              <a:avLst/>
              <a:gdLst/>
              <a:ahLst/>
              <a:cxnLst/>
              <a:rect l="l" t="t" r="r" b="b"/>
              <a:pathLst>
                <a:path w="668020" h="842010">
                  <a:moveTo>
                    <a:pt x="552754" y="122364"/>
                  </a:moveTo>
                  <a:lnTo>
                    <a:pt x="92798" y="15849"/>
                  </a:lnTo>
                  <a:lnTo>
                    <a:pt x="93218" y="14020"/>
                  </a:lnTo>
                  <a:lnTo>
                    <a:pt x="96469" y="0"/>
                  </a:lnTo>
                  <a:lnTo>
                    <a:pt x="43395" y="12763"/>
                  </a:lnTo>
                  <a:lnTo>
                    <a:pt x="85458" y="47561"/>
                  </a:lnTo>
                  <a:lnTo>
                    <a:pt x="89128" y="31711"/>
                  </a:lnTo>
                  <a:lnTo>
                    <a:pt x="549084" y="138226"/>
                  </a:lnTo>
                  <a:lnTo>
                    <a:pt x="552754" y="122364"/>
                  </a:lnTo>
                  <a:close/>
                </a:path>
                <a:path w="668020" h="842010">
                  <a:moveTo>
                    <a:pt x="667791" y="830440"/>
                  </a:moveTo>
                  <a:lnTo>
                    <a:pt x="39141" y="151549"/>
                  </a:lnTo>
                  <a:lnTo>
                    <a:pt x="45593" y="145580"/>
                  </a:lnTo>
                  <a:lnTo>
                    <a:pt x="51079" y="140487"/>
                  </a:lnTo>
                  <a:lnTo>
                    <a:pt x="0" y="121259"/>
                  </a:lnTo>
                  <a:lnTo>
                    <a:pt x="15265" y="173659"/>
                  </a:lnTo>
                  <a:lnTo>
                    <a:pt x="27203" y="162610"/>
                  </a:lnTo>
                  <a:lnTo>
                    <a:pt x="655853" y="841502"/>
                  </a:lnTo>
                  <a:lnTo>
                    <a:pt x="667791" y="83044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43" name="object 43"/>
            <p:cNvSpPr/>
            <p:nvPr/>
          </p:nvSpPr>
          <p:spPr>
            <a:xfrm>
              <a:off x="8366973" y="4472705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0" y="153693"/>
                  </a:moveTo>
                  <a:lnTo>
                    <a:pt x="7835" y="105114"/>
                  </a:lnTo>
                  <a:lnTo>
                    <a:pt x="29653" y="62924"/>
                  </a:lnTo>
                  <a:lnTo>
                    <a:pt x="62924" y="29653"/>
                  </a:lnTo>
                  <a:lnTo>
                    <a:pt x="105114" y="7835"/>
                  </a:lnTo>
                  <a:lnTo>
                    <a:pt x="153693" y="0"/>
                  </a:lnTo>
                  <a:lnTo>
                    <a:pt x="202272" y="7835"/>
                  </a:lnTo>
                  <a:lnTo>
                    <a:pt x="244462" y="29653"/>
                  </a:lnTo>
                  <a:lnTo>
                    <a:pt x="277733" y="62924"/>
                  </a:lnTo>
                  <a:lnTo>
                    <a:pt x="299551" y="105114"/>
                  </a:lnTo>
                  <a:lnTo>
                    <a:pt x="307386" y="153693"/>
                  </a:lnTo>
                  <a:lnTo>
                    <a:pt x="299551" y="202272"/>
                  </a:lnTo>
                  <a:lnTo>
                    <a:pt x="277733" y="244462"/>
                  </a:lnTo>
                  <a:lnTo>
                    <a:pt x="244462" y="277733"/>
                  </a:lnTo>
                  <a:lnTo>
                    <a:pt x="202272" y="299551"/>
                  </a:lnTo>
                  <a:lnTo>
                    <a:pt x="153693" y="307387"/>
                  </a:lnTo>
                  <a:lnTo>
                    <a:pt x="105114" y="299551"/>
                  </a:lnTo>
                  <a:lnTo>
                    <a:pt x="62924" y="277733"/>
                  </a:lnTo>
                  <a:lnTo>
                    <a:pt x="29653" y="244462"/>
                  </a:lnTo>
                  <a:lnTo>
                    <a:pt x="7835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078580" y="3778960"/>
            <a:ext cx="167596" cy="394232"/>
          </a:xfrm>
          <a:prstGeom prst="rect">
            <a:avLst/>
          </a:prstGeom>
        </p:spPr>
        <p:txBody>
          <a:bodyPr vert="horz" wrap="square" lIns="0" tIns="43804" rIns="0" bIns="0" rtlCol="0">
            <a:spAutoFit/>
          </a:bodyPr>
          <a:lstStyle/>
          <a:p>
            <a:pPr marL="26662">
              <a:spcBef>
                <a:spcPts val="34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 marL="12696">
              <a:spcBef>
                <a:spcPts val="254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093699" y="4005427"/>
            <a:ext cx="144742" cy="7618"/>
          </a:xfrm>
          <a:custGeom>
            <a:avLst/>
            <a:gdLst/>
            <a:ahLst/>
            <a:cxnLst/>
            <a:rect l="l" t="t" r="r" b="b"/>
            <a:pathLst>
              <a:path w="144779" h="7620">
                <a:moveTo>
                  <a:pt x="144652" y="0"/>
                </a:moveTo>
                <a:lnTo>
                  <a:pt x="0" y="0"/>
                </a:lnTo>
                <a:lnTo>
                  <a:pt x="0" y="7232"/>
                </a:lnTo>
                <a:lnTo>
                  <a:pt x="144652" y="7232"/>
                </a:lnTo>
                <a:lnTo>
                  <a:pt x="144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6" name="object 46"/>
          <p:cNvSpPr txBox="1"/>
          <p:nvPr/>
        </p:nvSpPr>
        <p:spPr>
          <a:xfrm>
            <a:off x="8086500" y="4379113"/>
            <a:ext cx="170771" cy="394232"/>
          </a:xfrm>
          <a:prstGeom prst="rect">
            <a:avLst/>
          </a:prstGeom>
        </p:spPr>
        <p:txBody>
          <a:bodyPr vert="horz" wrap="square" lIns="0" tIns="43804" rIns="0" bIns="0" rtlCol="0">
            <a:spAutoFit/>
          </a:bodyPr>
          <a:lstStyle/>
          <a:p>
            <a:pPr marL="27932">
              <a:spcBef>
                <a:spcPts val="34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 marL="12696">
              <a:spcBef>
                <a:spcPts val="254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101692" y="4605787"/>
            <a:ext cx="144742" cy="7618"/>
          </a:xfrm>
          <a:custGeom>
            <a:avLst/>
            <a:gdLst/>
            <a:ahLst/>
            <a:cxnLst/>
            <a:rect l="l" t="t" r="r" b="b"/>
            <a:pathLst>
              <a:path w="144779" h="7620">
                <a:moveTo>
                  <a:pt x="144652" y="0"/>
                </a:moveTo>
                <a:lnTo>
                  <a:pt x="0" y="0"/>
                </a:lnTo>
                <a:lnTo>
                  <a:pt x="0" y="7231"/>
                </a:lnTo>
                <a:lnTo>
                  <a:pt x="144652" y="7231"/>
                </a:lnTo>
                <a:lnTo>
                  <a:pt x="1446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8" name="object 48"/>
          <p:cNvSpPr txBox="1"/>
          <p:nvPr/>
        </p:nvSpPr>
        <p:spPr>
          <a:xfrm>
            <a:off x="8440767" y="4530235"/>
            <a:ext cx="142838" cy="169874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/>
          <a:p>
            <a:pPr marL="12696">
              <a:spcBef>
                <a:spcPts val="12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363772" y="4222819"/>
            <a:ext cx="891308" cy="1071601"/>
            <a:chOff x="8365951" y="4223026"/>
            <a:chExt cx="891540" cy="1071880"/>
          </a:xfrm>
        </p:grpSpPr>
        <p:sp>
          <p:nvSpPr>
            <p:cNvPr id="50" name="object 50"/>
            <p:cNvSpPr/>
            <p:nvPr/>
          </p:nvSpPr>
          <p:spPr>
            <a:xfrm>
              <a:off x="8630964" y="4223026"/>
              <a:ext cx="626745" cy="297815"/>
            </a:xfrm>
            <a:custGeom>
              <a:avLst/>
              <a:gdLst/>
              <a:ahLst/>
              <a:cxnLst/>
              <a:rect l="l" t="t" r="r" b="b"/>
              <a:pathLst>
                <a:path w="626745" h="297814">
                  <a:moveTo>
                    <a:pt x="34053" y="253057"/>
                  </a:moveTo>
                  <a:lnTo>
                    <a:pt x="0" y="295714"/>
                  </a:lnTo>
                  <a:lnTo>
                    <a:pt x="54557" y="297362"/>
                  </a:lnTo>
                  <a:lnTo>
                    <a:pt x="49304" y="286011"/>
                  </a:lnTo>
                  <a:lnTo>
                    <a:pt x="40339" y="286011"/>
                  </a:lnTo>
                  <a:lnTo>
                    <a:pt x="33503" y="271242"/>
                  </a:lnTo>
                  <a:lnTo>
                    <a:pt x="40888" y="267825"/>
                  </a:lnTo>
                  <a:lnTo>
                    <a:pt x="34053" y="253057"/>
                  </a:lnTo>
                  <a:close/>
                </a:path>
                <a:path w="626745" h="297814">
                  <a:moveTo>
                    <a:pt x="40888" y="267825"/>
                  </a:moveTo>
                  <a:lnTo>
                    <a:pt x="33503" y="271242"/>
                  </a:lnTo>
                  <a:lnTo>
                    <a:pt x="40339" y="286011"/>
                  </a:lnTo>
                  <a:lnTo>
                    <a:pt x="47723" y="282594"/>
                  </a:lnTo>
                  <a:lnTo>
                    <a:pt x="40888" y="267825"/>
                  </a:lnTo>
                  <a:close/>
                </a:path>
                <a:path w="626745" h="297814">
                  <a:moveTo>
                    <a:pt x="47723" y="282594"/>
                  </a:moveTo>
                  <a:lnTo>
                    <a:pt x="40339" y="286011"/>
                  </a:lnTo>
                  <a:lnTo>
                    <a:pt x="49304" y="286011"/>
                  </a:lnTo>
                  <a:lnTo>
                    <a:pt x="47723" y="282594"/>
                  </a:lnTo>
                  <a:close/>
                </a:path>
                <a:path w="626745" h="297814">
                  <a:moveTo>
                    <a:pt x="619611" y="0"/>
                  </a:moveTo>
                  <a:lnTo>
                    <a:pt x="40888" y="267825"/>
                  </a:lnTo>
                  <a:lnTo>
                    <a:pt x="47723" y="282594"/>
                  </a:lnTo>
                  <a:lnTo>
                    <a:pt x="626446" y="14768"/>
                  </a:lnTo>
                  <a:lnTo>
                    <a:pt x="61961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1" name="object 51"/>
            <p:cNvSpPr/>
            <p:nvPr/>
          </p:nvSpPr>
          <p:spPr>
            <a:xfrm>
              <a:off x="8374206" y="4978989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0" y="153693"/>
                  </a:moveTo>
                  <a:lnTo>
                    <a:pt x="7835" y="105114"/>
                  </a:lnTo>
                  <a:lnTo>
                    <a:pt x="29653" y="62924"/>
                  </a:lnTo>
                  <a:lnTo>
                    <a:pt x="62924" y="29653"/>
                  </a:lnTo>
                  <a:lnTo>
                    <a:pt x="105114" y="7835"/>
                  </a:lnTo>
                  <a:lnTo>
                    <a:pt x="153693" y="0"/>
                  </a:lnTo>
                  <a:lnTo>
                    <a:pt x="202272" y="7835"/>
                  </a:lnTo>
                  <a:lnTo>
                    <a:pt x="244462" y="29653"/>
                  </a:lnTo>
                  <a:lnTo>
                    <a:pt x="277733" y="62924"/>
                  </a:lnTo>
                  <a:lnTo>
                    <a:pt x="299551" y="105114"/>
                  </a:lnTo>
                  <a:lnTo>
                    <a:pt x="307386" y="153693"/>
                  </a:lnTo>
                  <a:lnTo>
                    <a:pt x="299551" y="202272"/>
                  </a:lnTo>
                  <a:lnTo>
                    <a:pt x="277733" y="244462"/>
                  </a:lnTo>
                  <a:lnTo>
                    <a:pt x="244462" y="277733"/>
                  </a:lnTo>
                  <a:lnTo>
                    <a:pt x="202272" y="299551"/>
                  </a:lnTo>
                  <a:lnTo>
                    <a:pt x="153693" y="307387"/>
                  </a:lnTo>
                  <a:lnTo>
                    <a:pt x="105114" y="299551"/>
                  </a:lnTo>
                  <a:lnTo>
                    <a:pt x="62924" y="277733"/>
                  </a:lnTo>
                  <a:lnTo>
                    <a:pt x="29653" y="244462"/>
                  </a:lnTo>
                  <a:lnTo>
                    <a:pt x="7835" y="202272"/>
                  </a:lnTo>
                  <a:lnTo>
                    <a:pt x="0" y="153693"/>
                  </a:lnTo>
                  <a:close/>
                </a:path>
              </a:pathLst>
            </a:custGeom>
            <a:ln w="1627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093111" y="4885264"/>
            <a:ext cx="160613" cy="394232"/>
          </a:xfrm>
          <a:prstGeom prst="rect">
            <a:avLst/>
          </a:prstGeom>
        </p:spPr>
        <p:txBody>
          <a:bodyPr vert="horz" wrap="square" lIns="0" tIns="43804" rIns="0" bIns="0" rtlCol="0">
            <a:spAutoFit/>
          </a:bodyPr>
          <a:lstStyle/>
          <a:p>
            <a:pPr marL="22853">
              <a:spcBef>
                <a:spcPts val="34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000">
              <a:latin typeface="Cambria Math"/>
              <a:cs typeface="Cambria Math"/>
            </a:endParaRPr>
          </a:p>
          <a:p>
            <a:pPr marL="12696">
              <a:spcBef>
                <a:spcPts val="254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𝜕𝑧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108303" y="5111494"/>
            <a:ext cx="137759" cy="7618"/>
          </a:xfrm>
          <a:custGeom>
            <a:avLst/>
            <a:gdLst/>
            <a:ahLst/>
            <a:cxnLst/>
            <a:rect l="l" t="t" r="r" b="b"/>
            <a:pathLst>
              <a:path w="137795" h="7620">
                <a:moveTo>
                  <a:pt x="137419" y="0"/>
                </a:moveTo>
                <a:lnTo>
                  <a:pt x="0" y="0"/>
                </a:lnTo>
                <a:lnTo>
                  <a:pt x="0" y="7232"/>
                </a:lnTo>
                <a:lnTo>
                  <a:pt x="137419" y="7232"/>
                </a:lnTo>
                <a:lnTo>
                  <a:pt x="1374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4" name="object 54"/>
          <p:cNvSpPr txBox="1"/>
          <p:nvPr/>
        </p:nvSpPr>
        <p:spPr>
          <a:xfrm>
            <a:off x="8447377" y="5036387"/>
            <a:ext cx="142838" cy="169874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/>
          <a:p>
            <a:pPr marL="12696">
              <a:spcBef>
                <a:spcPts val="125"/>
              </a:spcBef>
            </a:pPr>
            <a:r>
              <a:rPr sz="1000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679331" y="4927484"/>
            <a:ext cx="592936" cy="212670"/>
          </a:xfrm>
          <a:custGeom>
            <a:avLst/>
            <a:gdLst/>
            <a:ahLst/>
            <a:cxnLst/>
            <a:rect l="l" t="t" r="r" b="b"/>
            <a:pathLst>
              <a:path w="593090" h="212725">
                <a:moveTo>
                  <a:pt x="38586" y="166094"/>
                </a:moveTo>
                <a:lnTo>
                  <a:pt x="0" y="204699"/>
                </a:lnTo>
                <a:lnTo>
                  <a:pt x="54035" y="212404"/>
                </a:lnTo>
                <a:lnTo>
                  <a:pt x="49745" y="199543"/>
                </a:lnTo>
                <a:lnTo>
                  <a:pt x="41167" y="199543"/>
                </a:lnTo>
                <a:lnTo>
                  <a:pt x="36017" y="184105"/>
                </a:lnTo>
                <a:lnTo>
                  <a:pt x="43736" y="181530"/>
                </a:lnTo>
                <a:lnTo>
                  <a:pt x="38586" y="166094"/>
                </a:lnTo>
                <a:close/>
              </a:path>
              <a:path w="593090" h="212725">
                <a:moveTo>
                  <a:pt x="43736" y="181530"/>
                </a:moveTo>
                <a:lnTo>
                  <a:pt x="36017" y="184105"/>
                </a:lnTo>
                <a:lnTo>
                  <a:pt x="41167" y="199543"/>
                </a:lnTo>
                <a:lnTo>
                  <a:pt x="48886" y="196968"/>
                </a:lnTo>
                <a:lnTo>
                  <a:pt x="43736" y="181530"/>
                </a:lnTo>
                <a:close/>
              </a:path>
              <a:path w="593090" h="212725">
                <a:moveTo>
                  <a:pt x="48886" y="196968"/>
                </a:moveTo>
                <a:lnTo>
                  <a:pt x="41167" y="199543"/>
                </a:lnTo>
                <a:lnTo>
                  <a:pt x="49745" y="199543"/>
                </a:lnTo>
                <a:lnTo>
                  <a:pt x="48886" y="196968"/>
                </a:lnTo>
                <a:close/>
              </a:path>
              <a:path w="593090" h="212725">
                <a:moveTo>
                  <a:pt x="587876" y="0"/>
                </a:moveTo>
                <a:lnTo>
                  <a:pt x="43736" y="181530"/>
                </a:lnTo>
                <a:lnTo>
                  <a:pt x="48886" y="196968"/>
                </a:lnTo>
                <a:lnTo>
                  <a:pt x="593026" y="15436"/>
                </a:lnTo>
                <a:lnTo>
                  <a:pt x="5878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grpSp>
        <p:nvGrpSpPr>
          <p:cNvPr id="56" name="object 56"/>
          <p:cNvGrpSpPr/>
          <p:nvPr/>
        </p:nvGrpSpPr>
        <p:grpSpPr>
          <a:xfrm>
            <a:off x="1789478" y="2456019"/>
            <a:ext cx="1512811" cy="962409"/>
            <a:chOff x="1789944" y="2455765"/>
            <a:chExt cx="1513205" cy="962660"/>
          </a:xfrm>
        </p:grpSpPr>
        <p:sp>
          <p:nvSpPr>
            <p:cNvPr id="57" name="object 57"/>
            <p:cNvSpPr/>
            <p:nvPr/>
          </p:nvSpPr>
          <p:spPr>
            <a:xfrm>
              <a:off x="2748539" y="286329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9944" y="2455765"/>
              <a:ext cx="1038225" cy="490220"/>
            </a:xfrm>
            <a:custGeom>
              <a:avLst/>
              <a:gdLst/>
              <a:ahLst/>
              <a:cxnLst/>
              <a:rect l="l" t="t" r="r" b="b"/>
              <a:pathLst>
                <a:path w="1038225" h="490219">
                  <a:moveTo>
                    <a:pt x="953855" y="463873"/>
                  </a:moveTo>
                  <a:lnTo>
                    <a:pt x="941933" y="489842"/>
                  </a:lnTo>
                  <a:lnTo>
                    <a:pt x="1037723" y="486656"/>
                  </a:lnTo>
                  <a:lnTo>
                    <a:pt x="1024210" y="469835"/>
                  </a:lnTo>
                  <a:lnTo>
                    <a:pt x="966840" y="469835"/>
                  </a:lnTo>
                  <a:lnTo>
                    <a:pt x="953855" y="463873"/>
                  </a:lnTo>
                  <a:close/>
                </a:path>
                <a:path w="1038225" h="490219">
                  <a:moveTo>
                    <a:pt x="965777" y="437905"/>
                  </a:moveTo>
                  <a:lnTo>
                    <a:pt x="953855" y="463873"/>
                  </a:lnTo>
                  <a:lnTo>
                    <a:pt x="966840" y="469835"/>
                  </a:lnTo>
                  <a:lnTo>
                    <a:pt x="978762" y="443866"/>
                  </a:lnTo>
                  <a:lnTo>
                    <a:pt x="965777" y="437905"/>
                  </a:lnTo>
                  <a:close/>
                </a:path>
                <a:path w="1038225" h="490219">
                  <a:moveTo>
                    <a:pt x="977699" y="411935"/>
                  </a:moveTo>
                  <a:lnTo>
                    <a:pt x="965777" y="437905"/>
                  </a:lnTo>
                  <a:lnTo>
                    <a:pt x="978762" y="443866"/>
                  </a:lnTo>
                  <a:lnTo>
                    <a:pt x="966840" y="469835"/>
                  </a:lnTo>
                  <a:lnTo>
                    <a:pt x="1024210" y="469835"/>
                  </a:lnTo>
                  <a:lnTo>
                    <a:pt x="977699" y="411935"/>
                  </a:lnTo>
                  <a:close/>
                </a:path>
                <a:path w="1038225" h="490219">
                  <a:moveTo>
                    <a:pt x="11921" y="0"/>
                  </a:moveTo>
                  <a:lnTo>
                    <a:pt x="0" y="25968"/>
                  </a:lnTo>
                  <a:lnTo>
                    <a:pt x="953855" y="463873"/>
                  </a:lnTo>
                  <a:lnTo>
                    <a:pt x="965777" y="437905"/>
                  </a:lnTo>
                  <a:lnTo>
                    <a:pt x="119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535689" y="2258364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35689" y="3233471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y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793775" y="3291937"/>
            <a:ext cx="2821840" cy="610076"/>
            <a:chOff x="1794242" y="3291901"/>
            <a:chExt cx="2822575" cy="610235"/>
          </a:xfrm>
        </p:grpSpPr>
        <p:sp>
          <p:nvSpPr>
            <p:cNvPr id="62" name="object 62"/>
            <p:cNvSpPr/>
            <p:nvPr/>
          </p:nvSpPr>
          <p:spPr>
            <a:xfrm>
              <a:off x="1794242" y="3291901"/>
              <a:ext cx="1033780" cy="168275"/>
            </a:xfrm>
            <a:custGeom>
              <a:avLst/>
              <a:gdLst/>
              <a:ahLst/>
              <a:cxnLst/>
              <a:rect l="l" t="t" r="r" b="b"/>
              <a:pathLst>
                <a:path w="1033780" h="168275">
                  <a:moveTo>
                    <a:pt x="946620" y="28380"/>
                  </a:moveTo>
                  <a:lnTo>
                    <a:pt x="0" y="139349"/>
                  </a:lnTo>
                  <a:lnTo>
                    <a:pt x="3326" y="167730"/>
                  </a:lnTo>
                  <a:lnTo>
                    <a:pt x="949947" y="56761"/>
                  </a:lnTo>
                  <a:lnTo>
                    <a:pt x="946620" y="28380"/>
                  </a:lnTo>
                  <a:close/>
                </a:path>
                <a:path w="1033780" h="168275">
                  <a:moveTo>
                    <a:pt x="1017184" y="26716"/>
                  </a:moveTo>
                  <a:lnTo>
                    <a:pt x="960810" y="26716"/>
                  </a:lnTo>
                  <a:lnTo>
                    <a:pt x="964137" y="55097"/>
                  </a:lnTo>
                  <a:lnTo>
                    <a:pt x="949947" y="56761"/>
                  </a:lnTo>
                  <a:lnTo>
                    <a:pt x="953274" y="85142"/>
                  </a:lnTo>
                  <a:lnTo>
                    <a:pt x="1033425" y="32589"/>
                  </a:lnTo>
                  <a:lnTo>
                    <a:pt x="1017184" y="26716"/>
                  </a:lnTo>
                  <a:close/>
                </a:path>
                <a:path w="1033780" h="168275">
                  <a:moveTo>
                    <a:pt x="960810" y="26716"/>
                  </a:moveTo>
                  <a:lnTo>
                    <a:pt x="946620" y="28380"/>
                  </a:lnTo>
                  <a:lnTo>
                    <a:pt x="949947" y="56761"/>
                  </a:lnTo>
                  <a:lnTo>
                    <a:pt x="964137" y="55097"/>
                  </a:lnTo>
                  <a:lnTo>
                    <a:pt x="960810" y="26716"/>
                  </a:lnTo>
                  <a:close/>
                </a:path>
                <a:path w="1033780" h="168275">
                  <a:moveTo>
                    <a:pt x="943293" y="0"/>
                  </a:moveTo>
                  <a:lnTo>
                    <a:pt x="946620" y="28380"/>
                  </a:lnTo>
                  <a:lnTo>
                    <a:pt x="960810" y="26716"/>
                  </a:lnTo>
                  <a:lnTo>
                    <a:pt x="1017184" y="26716"/>
                  </a:lnTo>
                  <a:lnTo>
                    <a:pt x="9432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63" name="object 63"/>
            <p:cNvSpPr/>
            <p:nvPr/>
          </p:nvSpPr>
          <p:spPr>
            <a:xfrm>
              <a:off x="4062138" y="334702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258961" y="3446774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772666" y="4332536"/>
            <a:ext cx="1059539" cy="304721"/>
          </a:xfrm>
          <a:custGeom>
            <a:avLst/>
            <a:gdLst/>
            <a:ahLst/>
            <a:cxnLst/>
            <a:rect l="l" t="t" r="r" b="b"/>
            <a:pathLst>
              <a:path w="1059814" h="304800">
                <a:moveTo>
                  <a:pt x="972729" y="27683"/>
                </a:moveTo>
                <a:lnTo>
                  <a:pt x="0" y="276545"/>
                </a:lnTo>
                <a:lnTo>
                  <a:pt x="7081" y="304228"/>
                </a:lnTo>
                <a:lnTo>
                  <a:pt x="979811" y="55367"/>
                </a:lnTo>
                <a:lnTo>
                  <a:pt x="972729" y="27683"/>
                </a:lnTo>
                <a:close/>
              </a:path>
              <a:path w="1059814" h="304800">
                <a:moveTo>
                  <a:pt x="1054861" y="24142"/>
                </a:moveTo>
                <a:lnTo>
                  <a:pt x="986570" y="24142"/>
                </a:lnTo>
                <a:lnTo>
                  <a:pt x="993653" y="51826"/>
                </a:lnTo>
                <a:lnTo>
                  <a:pt x="979811" y="55367"/>
                </a:lnTo>
                <a:lnTo>
                  <a:pt x="986894" y="83050"/>
                </a:lnTo>
                <a:lnTo>
                  <a:pt x="1054861" y="24142"/>
                </a:lnTo>
                <a:close/>
              </a:path>
              <a:path w="1059814" h="304800">
                <a:moveTo>
                  <a:pt x="986570" y="24142"/>
                </a:moveTo>
                <a:lnTo>
                  <a:pt x="972729" y="27683"/>
                </a:lnTo>
                <a:lnTo>
                  <a:pt x="979811" y="55367"/>
                </a:lnTo>
                <a:lnTo>
                  <a:pt x="993653" y="51826"/>
                </a:lnTo>
                <a:lnTo>
                  <a:pt x="986570" y="24142"/>
                </a:lnTo>
                <a:close/>
              </a:path>
              <a:path w="1059814" h="304800">
                <a:moveTo>
                  <a:pt x="965647" y="0"/>
                </a:moveTo>
                <a:lnTo>
                  <a:pt x="972729" y="27683"/>
                </a:lnTo>
                <a:lnTo>
                  <a:pt x="986570" y="24142"/>
                </a:lnTo>
                <a:lnTo>
                  <a:pt x="1054861" y="24142"/>
                </a:lnTo>
                <a:lnTo>
                  <a:pt x="1059320" y="20278"/>
                </a:lnTo>
                <a:lnTo>
                  <a:pt x="965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6" name="object 66"/>
          <p:cNvSpPr txBox="1"/>
          <p:nvPr/>
        </p:nvSpPr>
        <p:spPr>
          <a:xfrm>
            <a:off x="1516458" y="4412739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283364" y="3120026"/>
            <a:ext cx="1986397" cy="540244"/>
          </a:xfrm>
          <a:custGeom>
            <a:avLst/>
            <a:gdLst/>
            <a:ahLst/>
            <a:cxnLst/>
            <a:rect l="l" t="t" r="r" b="b"/>
            <a:pathLst>
              <a:path w="1986914" h="540385">
                <a:moveTo>
                  <a:pt x="857046" y="306209"/>
                </a:moveTo>
                <a:lnTo>
                  <a:pt x="847521" y="296519"/>
                </a:lnTo>
                <a:lnTo>
                  <a:pt x="789889" y="237832"/>
                </a:lnTo>
                <a:lnTo>
                  <a:pt x="780605" y="264858"/>
                </a:lnTo>
                <a:lnTo>
                  <a:pt x="9283" y="0"/>
                </a:lnTo>
                <a:lnTo>
                  <a:pt x="0" y="27025"/>
                </a:lnTo>
                <a:lnTo>
                  <a:pt x="771321" y="291884"/>
                </a:lnTo>
                <a:lnTo>
                  <a:pt x="762038" y="318909"/>
                </a:lnTo>
                <a:lnTo>
                  <a:pt x="857046" y="306209"/>
                </a:lnTo>
                <a:close/>
              </a:path>
              <a:path w="1986914" h="540385">
                <a:moveTo>
                  <a:pt x="1986864" y="497243"/>
                </a:moveTo>
                <a:lnTo>
                  <a:pt x="1958289" y="482955"/>
                </a:lnTo>
                <a:lnTo>
                  <a:pt x="1901139" y="454380"/>
                </a:lnTo>
                <a:lnTo>
                  <a:pt x="1901139" y="482955"/>
                </a:lnTo>
                <a:lnTo>
                  <a:pt x="1318234" y="482955"/>
                </a:lnTo>
                <a:lnTo>
                  <a:pt x="1318234" y="511530"/>
                </a:lnTo>
                <a:lnTo>
                  <a:pt x="1901139" y="511530"/>
                </a:lnTo>
                <a:lnTo>
                  <a:pt x="1901139" y="540105"/>
                </a:lnTo>
                <a:lnTo>
                  <a:pt x="1958289" y="511530"/>
                </a:lnTo>
                <a:lnTo>
                  <a:pt x="1986864" y="497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8" name="object 68"/>
          <p:cNvSpPr txBox="1"/>
          <p:nvPr/>
        </p:nvSpPr>
        <p:spPr>
          <a:xfrm>
            <a:off x="3691659" y="3912997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626203" y="2460887"/>
            <a:ext cx="2514580" cy="2016235"/>
            <a:chOff x="1626627" y="2460635"/>
            <a:chExt cx="2515235" cy="2016760"/>
          </a:xfrm>
        </p:grpSpPr>
        <p:sp>
          <p:nvSpPr>
            <p:cNvPr id="70" name="object 70"/>
            <p:cNvSpPr/>
            <p:nvPr/>
          </p:nvSpPr>
          <p:spPr>
            <a:xfrm>
              <a:off x="2753319" y="389185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63"/>
                  </a:moveTo>
                  <a:lnTo>
                    <a:pt x="4352" y="221601"/>
                  </a:lnTo>
                  <a:lnTo>
                    <a:pt x="16902" y="175894"/>
                  </a:lnTo>
                  <a:lnTo>
                    <a:pt x="36885" y="133806"/>
                  </a:lnTo>
                  <a:lnTo>
                    <a:pt x="63539" y="96100"/>
                  </a:lnTo>
                  <a:lnTo>
                    <a:pt x="96100" y="63539"/>
                  </a:lnTo>
                  <a:lnTo>
                    <a:pt x="133806" y="36885"/>
                  </a:lnTo>
                  <a:lnTo>
                    <a:pt x="175894" y="16902"/>
                  </a:lnTo>
                  <a:lnTo>
                    <a:pt x="221601" y="4352"/>
                  </a:lnTo>
                  <a:lnTo>
                    <a:pt x="270163" y="0"/>
                  </a:lnTo>
                  <a:lnTo>
                    <a:pt x="318725" y="4352"/>
                  </a:lnTo>
                  <a:lnTo>
                    <a:pt x="364432" y="16902"/>
                  </a:lnTo>
                  <a:lnTo>
                    <a:pt x="406520" y="36885"/>
                  </a:lnTo>
                  <a:lnTo>
                    <a:pt x="444226" y="63539"/>
                  </a:lnTo>
                  <a:lnTo>
                    <a:pt x="476787" y="96100"/>
                  </a:lnTo>
                  <a:lnTo>
                    <a:pt x="503441" y="133806"/>
                  </a:lnTo>
                  <a:lnTo>
                    <a:pt x="523424" y="175894"/>
                  </a:lnTo>
                  <a:lnTo>
                    <a:pt x="535974" y="221601"/>
                  </a:lnTo>
                  <a:lnTo>
                    <a:pt x="540327" y="270163"/>
                  </a:lnTo>
                  <a:lnTo>
                    <a:pt x="535974" y="318725"/>
                  </a:lnTo>
                  <a:lnTo>
                    <a:pt x="523424" y="364432"/>
                  </a:lnTo>
                  <a:lnTo>
                    <a:pt x="503441" y="406520"/>
                  </a:lnTo>
                  <a:lnTo>
                    <a:pt x="476787" y="444226"/>
                  </a:lnTo>
                  <a:lnTo>
                    <a:pt x="444226" y="476787"/>
                  </a:lnTo>
                  <a:lnTo>
                    <a:pt x="406520" y="503441"/>
                  </a:lnTo>
                  <a:lnTo>
                    <a:pt x="364432" y="523424"/>
                  </a:lnTo>
                  <a:lnTo>
                    <a:pt x="318725" y="535974"/>
                  </a:lnTo>
                  <a:lnTo>
                    <a:pt x="270163" y="540327"/>
                  </a:lnTo>
                  <a:lnTo>
                    <a:pt x="221601" y="535974"/>
                  </a:lnTo>
                  <a:lnTo>
                    <a:pt x="175894" y="523424"/>
                  </a:lnTo>
                  <a:lnTo>
                    <a:pt x="133806" y="503441"/>
                  </a:lnTo>
                  <a:lnTo>
                    <a:pt x="96100" y="476787"/>
                  </a:lnTo>
                  <a:lnTo>
                    <a:pt x="63539" y="444226"/>
                  </a:lnTo>
                  <a:lnTo>
                    <a:pt x="36885" y="406520"/>
                  </a:lnTo>
                  <a:lnTo>
                    <a:pt x="16902" y="364432"/>
                  </a:lnTo>
                  <a:lnTo>
                    <a:pt x="4352" y="318725"/>
                  </a:lnTo>
                  <a:lnTo>
                    <a:pt x="0" y="270163"/>
                  </a:lnTo>
                  <a:close/>
                </a:path>
              </a:pathLst>
            </a:custGeom>
            <a:ln w="28575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1" name="object 71"/>
            <p:cNvSpPr/>
            <p:nvPr/>
          </p:nvSpPr>
          <p:spPr>
            <a:xfrm>
              <a:off x="1784134" y="2460637"/>
              <a:ext cx="2357755" cy="1715135"/>
            </a:xfrm>
            <a:custGeom>
              <a:avLst/>
              <a:gdLst/>
              <a:ahLst/>
              <a:cxnLst/>
              <a:rect l="l" t="t" r="r" b="b"/>
              <a:pathLst>
                <a:path w="2357754" h="1715135">
                  <a:moveTo>
                    <a:pt x="1048308" y="1510347"/>
                  </a:moveTo>
                  <a:lnTo>
                    <a:pt x="1041146" y="1459661"/>
                  </a:lnTo>
                  <a:lnTo>
                    <a:pt x="1034897" y="1415453"/>
                  </a:lnTo>
                  <a:lnTo>
                    <a:pt x="1011377" y="1431683"/>
                  </a:lnTo>
                  <a:lnTo>
                    <a:pt x="23520" y="0"/>
                  </a:lnTo>
                  <a:lnTo>
                    <a:pt x="0" y="16230"/>
                  </a:lnTo>
                  <a:lnTo>
                    <a:pt x="987869" y="1447901"/>
                  </a:lnTo>
                  <a:lnTo>
                    <a:pt x="964349" y="1464132"/>
                  </a:lnTo>
                  <a:lnTo>
                    <a:pt x="1048308" y="1510347"/>
                  </a:lnTo>
                  <a:close/>
                </a:path>
                <a:path w="2357754" h="1715135">
                  <a:moveTo>
                    <a:pt x="2357132" y="1347584"/>
                  </a:moveTo>
                  <a:lnTo>
                    <a:pt x="2261501" y="1341056"/>
                  </a:lnTo>
                  <a:lnTo>
                    <a:pt x="2272512" y="1367421"/>
                  </a:lnTo>
                  <a:lnTo>
                    <a:pt x="1503997" y="1688198"/>
                  </a:lnTo>
                  <a:lnTo>
                    <a:pt x="1515008" y="1714563"/>
                  </a:lnTo>
                  <a:lnTo>
                    <a:pt x="2283523" y="1393799"/>
                  </a:lnTo>
                  <a:lnTo>
                    <a:pt x="2294521" y="1420164"/>
                  </a:lnTo>
                  <a:lnTo>
                    <a:pt x="2344763" y="1361922"/>
                  </a:lnTo>
                  <a:lnTo>
                    <a:pt x="2357132" y="134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2" name="object 72"/>
            <p:cNvSpPr/>
            <p:nvPr/>
          </p:nvSpPr>
          <p:spPr>
            <a:xfrm>
              <a:off x="1626616" y="2553118"/>
              <a:ext cx="2441575" cy="1924050"/>
            </a:xfrm>
            <a:custGeom>
              <a:avLst/>
              <a:gdLst/>
              <a:ahLst/>
              <a:cxnLst/>
              <a:rect l="l" t="t" r="r" b="b"/>
              <a:pathLst>
                <a:path w="2441575" h="1924050">
                  <a:moveTo>
                    <a:pt x="1138021" y="1600187"/>
                  </a:moveTo>
                  <a:lnTo>
                    <a:pt x="403377" y="646645"/>
                  </a:lnTo>
                  <a:lnTo>
                    <a:pt x="1122946" y="594588"/>
                  </a:lnTo>
                  <a:lnTo>
                    <a:pt x="1121918" y="580351"/>
                  </a:lnTo>
                  <a:lnTo>
                    <a:pt x="1127074" y="567016"/>
                  </a:lnTo>
                  <a:lnTo>
                    <a:pt x="1057313" y="540042"/>
                  </a:lnTo>
                  <a:lnTo>
                    <a:pt x="1057313" y="570699"/>
                  </a:lnTo>
                  <a:lnTo>
                    <a:pt x="382473" y="619506"/>
                  </a:lnTo>
                  <a:lnTo>
                    <a:pt x="67221" y="210324"/>
                  </a:lnTo>
                  <a:lnTo>
                    <a:pt x="71310" y="199758"/>
                  </a:lnTo>
                  <a:lnTo>
                    <a:pt x="78333" y="194335"/>
                  </a:lnTo>
                  <a:lnTo>
                    <a:pt x="80276" y="192836"/>
                  </a:lnTo>
                  <a:lnTo>
                    <a:pt x="1057313" y="570699"/>
                  </a:lnTo>
                  <a:lnTo>
                    <a:pt x="1057313" y="540042"/>
                  </a:lnTo>
                  <a:lnTo>
                    <a:pt x="85115" y="164058"/>
                  </a:lnTo>
                  <a:lnTo>
                    <a:pt x="87109" y="158915"/>
                  </a:lnTo>
                  <a:lnTo>
                    <a:pt x="95415" y="137414"/>
                  </a:lnTo>
                  <a:lnTo>
                    <a:pt x="0" y="146469"/>
                  </a:lnTo>
                  <a:lnTo>
                    <a:pt x="18364" y="240538"/>
                  </a:lnTo>
                  <a:lnTo>
                    <a:pt x="41008" y="223100"/>
                  </a:lnTo>
                  <a:lnTo>
                    <a:pt x="348297" y="621982"/>
                  </a:lnTo>
                  <a:lnTo>
                    <a:pt x="84480" y="641057"/>
                  </a:lnTo>
                  <a:lnTo>
                    <a:pt x="82410" y="612559"/>
                  </a:lnTo>
                  <a:lnTo>
                    <a:pt x="0" y="661492"/>
                  </a:lnTo>
                  <a:lnTo>
                    <a:pt x="88595" y="698055"/>
                  </a:lnTo>
                  <a:lnTo>
                    <a:pt x="86614" y="670585"/>
                  </a:lnTo>
                  <a:lnTo>
                    <a:pt x="86537" y="669556"/>
                  </a:lnTo>
                  <a:lnTo>
                    <a:pt x="369201" y="649122"/>
                  </a:lnTo>
                  <a:lnTo>
                    <a:pt x="1102499" y="1600923"/>
                  </a:lnTo>
                  <a:lnTo>
                    <a:pt x="158877" y="1868932"/>
                  </a:lnTo>
                  <a:lnTo>
                    <a:pt x="151066" y="1841449"/>
                  </a:lnTo>
                  <a:lnTo>
                    <a:pt x="80314" y="1906104"/>
                  </a:lnTo>
                  <a:lnTo>
                    <a:pt x="174485" y="1923910"/>
                  </a:lnTo>
                  <a:lnTo>
                    <a:pt x="167792" y="1900326"/>
                  </a:lnTo>
                  <a:lnTo>
                    <a:pt x="166687" y="1896427"/>
                  </a:lnTo>
                  <a:lnTo>
                    <a:pt x="1130604" y="1622653"/>
                  </a:lnTo>
                  <a:lnTo>
                    <a:pt x="1126693" y="1608912"/>
                  </a:lnTo>
                  <a:lnTo>
                    <a:pt x="1138021" y="1600187"/>
                  </a:lnTo>
                  <a:close/>
                </a:path>
                <a:path w="2441575" h="1924050">
                  <a:moveTo>
                    <a:pt x="1519504" y="0"/>
                  </a:moveTo>
                  <a:lnTo>
                    <a:pt x="1265504" y="0"/>
                  </a:lnTo>
                  <a:lnTo>
                    <a:pt x="1265504" y="12700"/>
                  </a:lnTo>
                  <a:lnTo>
                    <a:pt x="1519504" y="12700"/>
                  </a:lnTo>
                  <a:lnTo>
                    <a:pt x="1519504" y="0"/>
                  </a:lnTo>
                  <a:close/>
                </a:path>
                <a:path w="2441575" h="1924050">
                  <a:moveTo>
                    <a:pt x="2441016" y="1077252"/>
                  </a:moveTo>
                  <a:lnTo>
                    <a:pt x="2435517" y="1064069"/>
                  </a:lnTo>
                  <a:lnTo>
                    <a:pt x="2440152" y="1050556"/>
                  </a:lnTo>
                  <a:lnTo>
                    <a:pt x="1668830" y="785710"/>
                  </a:lnTo>
                  <a:lnTo>
                    <a:pt x="1670431" y="781062"/>
                  </a:lnTo>
                  <a:lnTo>
                    <a:pt x="1678114" y="758672"/>
                  </a:lnTo>
                  <a:lnTo>
                    <a:pt x="1583118" y="771372"/>
                  </a:lnTo>
                  <a:lnTo>
                    <a:pt x="1650276" y="839762"/>
                  </a:lnTo>
                  <a:lnTo>
                    <a:pt x="1659547" y="812736"/>
                  </a:lnTo>
                  <a:lnTo>
                    <a:pt x="2395309" y="1065377"/>
                  </a:lnTo>
                  <a:lnTo>
                    <a:pt x="1661502" y="1371663"/>
                  </a:lnTo>
                  <a:lnTo>
                    <a:pt x="1650492" y="1345298"/>
                  </a:lnTo>
                  <a:lnTo>
                    <a:pt x="1587893" y="1417866"/>
                  </a:lnTo>
                  <a:lnTo>
                    <a:pt x="1683512" y="1424406"/>
                  </a:lnTo>
                  <a:lnTo>
                    <a:pt x="1674799" y="1403540"/>
                  </a:lnTo>
                  <a:lnTo>
                    <a:pt x="1672513" y="1398028"/>
                  </a:lnTo>
                  <a:lnTo>
                    <a:pt x="2441016" y="107725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644979" y="2794673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20961" y="1642830"/>
            <a:ext cx="2513945" cy="87289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10" dirty="0">
                <a:solidFill>
                  <a:srgbClr val="4472C4"/>
                </a:solidFill>
                <a:latin typeface="Arial"/>
                <a:cs typeface="Arial"/>
              </a:rPr>
              <a:t>Backpropagation</a:t>
            </a:r>
            <a:endParaRPr sz="2399">
              <a:latin typeface="Arial"/>
              <a:cs typeface="Arial"/>
            </a:endParaRPr>
          </a:p>
          <a:p>
            <a:pPr marR="119344" algn="ctr">
              <a:spcBef>
                <a:spcPts val="163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74425" y="2459480"/>
            <a:ext cx="274249" cy="857662"/>
          </a:xfrm>
          <a:prstGeom prst="rect">
            <a:avLst/>
          </a:prstGeom>
        </p:spPr>
        <p:txBody>
          <a:bodyPr vert="horz" wrap="square" lIns="0" tIns="94590" rIns="0" bIns="0" rtlCol="0">
            <a:spAutoFit/>
          </a:bodyPr>
          <a:lstStyle/>
          <a:p>
            <a:pPr marL="12696">
              <a:spcBef>
                <a:spcPts val="74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  <a:p>
            <a:pPr marL="54594">
              <a:spcBef>
                <a:spcPts val="865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21122" y="3794158"/>
            <a:ext cx="281232" cy="942729"/>
          </a:xfrm>
          <a:prstGeom prst="rect">
            <a:avLst/>
          </a:prstGeom>
        </p:spPr>
        <p:txBody>
          <a:bodyPr vert="horz" wrap="square" lIns="0" tIns="170771" rIns="0" bIns="0" rtlCol="0">
            <a:spAutoFit/>
          </a:bodyPr>
          <a:lstStyle/>
          <a:p>
            <a:pPr marL="12696">
              <a:spcBef>
                <a:spcPts val="1345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  <a:p>
            <a:pPr marL="17775">
              <a:spcBef>
                <a:spcPts val="93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38271" y="1645876"/>
            <a:ext cx="248855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10" dirty="0">
                <a:solidFill>
                  <a:srgbClr val="4472C4"/>
                </a:solidFill>
                <a:latin typeface="Arial"/>
                <a:cs typeface="Arial"/>
              </a:rPr>
              <a:t>Reverse</a:t>
            </a:r>
            <a:r>
              <a:rPr sz="2399" b="1" spc="-114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4472C4"/>
                </a:solidFill>
                <a:latin typeface="Arial"/>
                <a:cs typeface="Arial"/>
              </a:rPr>
              <a:t>AutoDiff</a:t>
            </a:r>
            <a:endParaRPr sz="2399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366728" y="5538174"/>
            <a:ext cx="6177576" cy="849242"/>
          </a:xfrm>
          <a:prstGeom prst="rect">
            <a:avLst/>
          </a:prstGeom>
        </p:spPr>
        <p:txBody>
          <a:bodyPr vert="horz" wrap="square" lIns="0" tIns="6348" rIns="0" bIns="0" rtlCol="0">
            <a:spAutoFit/>
          </a:bodyPr>
          <a:lstStyle/>
          <a:p>
            <a:pPr marL="12696" marR="5078">
              <a:lnSpc>
                <a:spcPct val="101400"/>
              </a:lnSpc>
              <a:spcBef>
                <a:spcPts val="50"/>
              </a:spcBef>
            </a:pP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What</a:t>
            </a:r>
            <a:r>
              <a:rPr sz="2799" spc="-6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is</a:t>
            </a:r>
            <a:r>
              <a:rPr sz="27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the</a:t>
            </a:r>
            <a:r>
              <a:rPr sz="27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difference</a:t>
            </a:r>
            <a:r>
              <a:rPr sz="27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spc="-10" dirty="0">
                <a:solidFill>
                  <a:srgbClr val="ED7D31"/>
                </a:solidFill>
                <a:latin typeface="Arial MT"/>
                <a:cs typeface="Arial MT"/>
              </a:rPr>
              <a:t>between </a:t>
            </a: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backpropagation</a:t>
            </a:r>
            <a:r>
              <a:rPr sz="2799" spc="-10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dirty="0">
                <a:solidFill>
                  <a:srgbClr val="ED7D31"/>
                </a:solidFill>
                <a:latin typeface="Arial MT"/>
                <a:cs typeface="Arial MT"/>
              </a:rPr>
              <a:t>and</a:t>
            </a:r>
            <a:r>
              <a:rPr sz="2799" spc="-8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spc="-10" dirty="0">
                <a:solidFill>
                  <a:srgbClr val="ED7D31"/>
                </a:solidFill>
                <a:latin typeface="Arial MT"/>
                <a:cs typeface="Arial MT"/>
              </a:rPr>
              <a:t>reverse</a:t>
            </a:r>
            <a:r>
              <a:rPr sz="2799" spc="-18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799" spc="-10" dirty="0">
                <a:solidFill>
                  <a:srgbClr val="ED7D31"/>
                </a:solidFill>
                <a:latin typeface="Arial MT"/>
                <a:cs typeface="Arial MT"/>
              </a:rPr>
              <a:t>AutoDiff?</a:t>
            </a:r>
            <a:endParaRPr sz="2799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944561" y="4774154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0" name="object 80"/>
          <p:cNvSpPr txBox="1"/>
          <p:nvPr/>
        </p:nvSpPr>
        <p:spPr>
          <a:xfrm>
            <a:off x="2927548" y="4763168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569159" y="4150818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699"/>
                </a:lnTo>
                <a:lnTo>
                  <a:pt x="254000" y="12699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2" name="object 82"/>
          <p:cNvSpPr txBox="1"/>
          <p:nvPr/>
        </p:nvSpPr>
        <p:spPr>
          <a:xfrm>
            <a:off x="4577412" y="3812440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552209" y="4138491"/>
            <a:ext cx="27424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541" y="72759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4000" dirty="0"/>
              <a:t>Discuss:</a:t>
            </a:r>
            <a:r>
              <a:rPr sz="4000" spc="-114" dirty="0"/>
              <a:t> </a:t>
            </a:r>
            <a:r>
              <a:rPr sz="4000" dirty="0"/>
              <a:t>Backpropagation</a:t>
            </a:r>
            <a:r>
              <a:rPr sz="4000" spc="-85" dirty="0"/>
              <a:t> </a:t>
            </a:r>
            <a:r>
              <a:rPr sz="4000" spc="-20" dirty="0"/>
              <a:t>v.s.</a:t>
            </a:r>
            <a:r>
              <a:rPr sz="4000" spc="-75" dirty="0"/>
              <a:t> </a:t>
            </a:r>
            <a:r>
              <a:rPr sz="4000" spc="-10" dirty="0"/>
              <a:t>Reverse</a:t>
            </a:r>
            <a:r>
              <a:rPr sz="4000" spc="-215" dirty="0"/>
              <a:t> </a:t>
            </a:r>
            <a:r>
              <a:rPr sz="4000" spc="-10" dirty="0"/>
              <a:t>AutoDiff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10341456" cy="3251710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160607" indent="-227261">
              <a:lnSpc>
                <a:spcPts val="2619"/>
              </a:lnSpc>
              <a:spcBef>
                <a:spcPts val="405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Complexity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backpropagation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requires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forward-</a:t>
            </a:r>
            <a:r>
              <a:rPr sz="2399" dirty="0">
                <a:latin typeface="Arial MT"/>
                <a:cs typeface="Arial MT"/>
              </a:rPr>
              <a:t>backward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pass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each 	</a:t>
            </a:r>
            <a:r>
              <a:rPr sz="2399" dirty="0">
                <a:latin typeface="Arial MT"/>
                <a:cs typeface="Arial MT"/>
              </a:rPr>
              <a:t>variable,</a:t>
            </a:r>
            <a:r>
              <a:rPr sz="2399" spc="-10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while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reverse</a:t>
            </a:r>
            <a:r>
              <a:rPr sz="2399" spc="-1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AutoDiff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only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requires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one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forward-</a:t>
            </a:r>
            <a:r>
              <a:rPr sz="2399" dirty="0">
                <a:latin typeface="Arial MT"/>
                <a:cs typeface="Arial MT"/>
              </a:rPr>
              <a:t>backward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pass</a:t>
            </a:r>
            <a:endParaRPr sz="2399" dirty="0">
              <a:latin typeface="Arial MT"/>
              <a:cs typeface="Arial MT"/>
            </a:endParaRPr>
          </a:p>
          <a:p>
            <a:pPr>
              <a:spcBef>
                <a:spcPts val="1834"/>
              </a:spcBef>
              <a:buClr>
                <a:srgbClr val="ED7D31"/>
              </a:buClr>
              <a:buFont typeface="Arial MT"/>
              <a:buChar char="•"/>
            </a:pPr>
            <a:endParaRPr sz="2399" dirty="0">
              <a:latin typeface="Arial MT"/>
              <a:cs typeface="Arial MT"/>
            </a:endParaRPr>
          </a:p>
          <a:p>
            <a:pPr marL="239957" marR="5078" indent="-227261">
              <a:lnSpc>
                <a:spcPts val="2589"/>
              </a:lnSpc>
              <a:spcBef>
                <a:spcPts val="5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Optimization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11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reverse</a:t>
            </a:r>
            <a:r>
              <a:rPr sz="2399" spc="-1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AutoDiff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represents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forward-</a:t>
            </a:r>
            <a:r>
              <a:rPr sz="2399" dirty="0">
                <a:latin typeface="Arial MT"/>
                <a:cs typeface="Arial MT"/>
              </a:rPr>
              <a:t>backward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50" dirty="0">
                <a:latin typeface="Arial MT"/>
                <a:cs typeface="Arial MT"/>
              </a:rPr>
              <a:t>a</a:t>
            </a:r>
            <a:r>
              <a:rPr sz="2399" spc="600" dirty="0">
                <a:latin typeface="Arial MT"/>
                <a:cs typeface="Arial MT"/>
              </a:rPr>
              <a:t> 	</a:t>
            </a:r>
            <a:r>
              <a:rPr sz="2399" dirty="0">
                <a:latin typeface="Arial MT"/>
                <a:cs typeface="Arial MT"/>
              </a:rPr>
              <a:t>single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computation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graph,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make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easier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apply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graph-</a:t>
            </a:r>
            <a:r>
              <a:rPr sz="2399" dirty="0">
                <a:latin typeface="Arial MT"/>
                <a:cs typeface="Arial MT"/>
              </a:rPr>
              <a:t>level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optimizations</a:t>
            </a:r>
            <a:endParaRPr sz="2399" dirty="0">
              <a:latin typeface="Arial MT"/>
              <a:cs typeface="Arial MT"/>
            </a:endParaRPr>
          </a:p>
          <a:p>
            <a:pPr>
              <a:spcBef>
                <a:spcPts val="1849"/>
              </a:spcBef>
              <a:buClr>
                <a:srgbClr val="ED7D31"/>
              </a:buClr>
              <a:buFont typeface="Arial MT"/>
              <a:buChar char="•"/>
            </a:pPr>
            <a:endParaRPr sz="2399" dirty="0">
              <a:latin typeface="Arial MT"/>
              <a:cs typeface="Arial MT"/>
            </a:endParaRPr>
          </a:p>
          <a:p>
            <a:pPr marL="239957" marR="435478" indent="-227261">
              <a:lnSpc>
                <a:spcPts val="2589"/>
              </a:lnSpc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Higher</a:t>
            </a:r>
            <a:r>
              <a:rPr sz="2399" b="1" spc="-6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order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derivatives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can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take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derivative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derivative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nodes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in 	</a:t>
            </a:r>
            <a:r>
              <a:rPr sz="2399" spc="-10" dirty="0">
                <a:latin typeface="Arial MT"/>
                <a:cs typeface="Arial MT"/>
              </a:rPr>
              <a:t>reserve</a:t>
            </a:r>
            <a:r>
              <a:rPr sz="2399" spc="-1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AutoDiff,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while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it’s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much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harder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backpropagation</a:t>
            </a:r>
            <a:endParaRPr sz="2399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40775" y="5022812"/>
            <a:ext cx="4876800" cy="1743891"/>
          </a:xfrm>
          <a:custGeom>
            <a:avLst/>
            <a:gdLst/>
            <a:ahLst/>
            <a:cxnLst/>
            <a:rect l="l" t="t" r="r" b="b"/>
            <a:pathLst>
              <a:path w="4878070" h="1744345">
                <a:moveTo>
                  <a:pt x="4877982" y="0"/>
                </a:moveTo>
                <a:lnTo>
                  <a:pt x="0" y="0"/>
                </a:lnTo>
                <a:lnTo>
                  <a:pt x="0" y="1744301"/>
                </a:lnTo>
                <a:lnTo>
                  <a:pt x="4877982" y="1744301"/>
                </a:lnTo>
                <a:lnTo>
                  <a:pt x="4877982" y="0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" name="object 3"/>
          <p:cNvSpPr/>
          <p:nvPr/>
        </p:nvSpPr>
        <p:spPr>
          <a:xfrm>
            <a:off x="5556656" y="256532"/>
            <a:ext cx="4876800" cy="2155264"/>
          </a:xfrm>
          <a:custGeom>
            <a:avLst/>
            <a:gdLst/>
            <a:ahLst/>
            <a:cxnLst/>
            <a:rect l="l" t="t" r="r" b="b"/>
            <a:pathLst>
              <a:path w="4878070" h="2155825">
                <a:moveTo>
                  <a:pt x="4877982" y="0"/>
                </a:moveTo>
                <a:lnTo>
                  <a:pt x="0" y="0"/>
                </a:lnTo>
                <a:lnTo>
                  <a:pt x="0" y="2155433"/>
                </a:lnTo>
                <a:lnTo>
                  <a:pt x="4877982" y="2155433"/>
                </a:lnTo>
                <a:lnTo>
                  <a:pt x="4877982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grpSp>
        <p:nvGrpSpPr>
          <p:cNvPr id="4" name="object 4"/>
          <p:cNvGrpSpPr/>
          <p:nvPr/>
        </p:nvGrpSpPr>
        <p:grpSpPr>
          <a:xfrm>
            <a:off x="5556656" y="663740"/>
            <a:ext cx="4876800" cy="6030294"/>
            <a:chOff x="5558104" y="663019"/>
            <a:chExt cx="4878070" cy="6031865"/>
          </a:xfrm>
        </p:grpSpPr>
        <p:sp>
          <p:nvSpPr>
            <p:cNvPr id="5" name="object 5"/>
            <p:cNvSpPr/>
            <p:nvPr/>
          </p:nvSpPr>
          <p:spPr>
            <a:xfrm>
              <a:off x="5558104" y="2471149"/>
              <a:ext cx="4878070" cy="2433955"/>
            </a:xfrm>
            <a:custGeom>
              <a:avLst/>
              <a:gdLst/>
              <a:ahLst/>
              <a:cxnLst/>
              <a:rect l="l" t="t" r="r" b="b"/>
              <a:pathLst>
                <a:path w="4878070" h="2433954">
                  <a:moveTo>
                    <a:pt x="4877982" y="0"/>
                  </a:moveTo>
                  <a:lnTo>
                    <a:pt x="0" y="0"/>
                  </a:lnTo>
                  <a:lnTo>
                    <a:pt x="0" y="2433342"/>
                  </a:lnTo>
                  <a:lnTo>
                    <a:pt x="4877982" y="2433342"/>
                  </a:lnTo>
                  <a:lnTo>
                    <a:pt x="4877982" y="0"/>
                  </a:lnTo>
                  <a:close/>
                </a:path>
              </a:pathLst>
            </a:custGeom>
            <a:solidFill>
              <a:srgbClr val="FBE5D6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5171" y="663019"/>
              <a:ext cx="4012899" cy="603160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3141" y="196929"/>
            <a:ext cx="5991634" cy="62837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4000" dirty="0">
                <a:solidFill>
                  <a:srgbClr val="DC4400"/>
                </a:solidFill>
                <a:latin typeface="Impact"/>
                <a:ea typeface="+mj-ea"/>
              </a:rPr>
              <a:t>Higher Order Derivatives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52016" y="740855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9149" y="329483"/>
            <a:ext cx="239966" cy="103886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74908" marR="5078" indent="-62211">
              <a:lnSpc>
                <a:spcPct val="148300"/>
              </a:lnSpc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x y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4633" y="1261929"/>
            <a:ext cx="14410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spc="-50" dirty="0">
                <a:solidFill>
                  <a:srgbClr val="4472C4"/>
                </a:solidFill>
                <a:latin typeface="Arial"/>
                <a:cs typeface="Arial"/>
              </a:rPr>
              <a:t>*</a:t>
            </a:r>
            <a:endParaRPr sz="239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1354" y="1758623"/>
            <a:ext cx="17775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z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14353" y="1575791"/>
            <a:ext cx="19299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Cambria Math"/>
                <a:cs typeface="Cambria Math"/>
              </a:rPr>
              <a:t>𝑓</a:t>
            </a:r>
            <a:endParaRPr sz="2399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56794" y="1719010"/>
            <a:ext cx="344715" cy="854487"/>
          </a:xfrm>
          <a:prstGeom prst="rect">
            <a:avLst/>
          </a:prstGeom>
        </p:spPr>
        <p:txBody>
          <a:bodyPr vert="horz" wrap="square" lIns="0" tIns="60944" rIns="0" bIns="0" rtlCol="0">
            <a:spAutoFit/>
          </a:bodyPr>
          <a:lstStyle/>
          <a:p>
            <a:pPr marL="12696">
              <a:spcBef>
                <a:spcPts val="480"/>
              </a:spcBef>
            </a:pPr>
            <a:r>
              <a:rPr sz="2399" spc="-50" dirty="0">
                <a:solidFill>
                  <a:srgbClr val="4472C4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  <a:p>
            <a:pPr marL="161876">
              <a:spcBef>
                <a:spcPts val="385"/>
              </a:spcBef>
            </a:pPr>
            <a:r>
              <a:rPr sz="2399" spc="-50" dirty="0">
                <a:latin typeface="Arial MT"/>
                <a:cs typeface="Arial MT"/>
              </a:rPr>
              <a:t>q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0740" y="231972"/>
            <a:ext cx="1948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latin typeface="Arial MT"/>
                <a:cs typeface="Arial MT"/>
              </a:rPr>
              <a:t>p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36792" y="3940426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 txBox="1"/>
          <p:nvPr/>
        </p:nvSpPr>
        <p:spPr>
          <a:xfrm>
            <a:off x="9646633" y="3602183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19969" y="3928234"/>
            <a:ext cx="27805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𝜕𝑓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42054" y="3227375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04461" y="4428597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699"/>
                </a:lnTo>
                <a:lnTo>
                  <a:pt x="254000" y="12699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0" name="object 20"/>
          <p:cNvSpPr txBox="1"/>
          <p:nvPr/>
        </p:nvSpPr>
        <p:spPr>
          <a:xfrm>
            <a:off x="8414303" y="4089735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88275" y="4415787"/>
            <a:ext cx="27551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𝜕𝑞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77446" y="4123254"/>
            <a:ext cx="11490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11350" y="2919609"/>
            <a:ext cx="8951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b="1" spc="-50" dirty="0">
                <a:solidFill>
                  <a:srgbClr val="C00000"/>
                </a:solidFill>
                <a:latin typeface="Arial"/>
                <a:cs typeface="Arial"/>
              </a:rPr>
              <a:t>*</a:t>
            </a:r>
            <a:endParaRPr sz="1799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50523" y="3202998"/>
            <a:ext cx="254569" cy="678003"/>
          </a:xfrm>
          <a:prstGeom prst="rect">
            <a:avLst/>
          </a:prstGeom>
        </p:spPr>
        <p:txBody>
          <a:bodyPr vert="horz" wrap="square" lIns="0" tIns="64118" rIns="0" bIns="0" rtlCol="0">
            <a:spAutoFit/>
          </a:bodyPr>
          <a:lstStyle/>
          <a:p>
            <a:pPr marL="25392">
              <a:spcBef>
                <a:spcPts val="50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  <a:p>
            <a:pPr>
              <a:spcBef>
                <a:spcPts val="409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𝜕𝑝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20880" y="2624030"/>
            <a:ext cx="203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0" dirty="0">
                <a:solidFill>
                  <a:srgbClr val="C00000"/>
                </a:solidFill>
                <a:latin typeface="Arial MT"/>
                <a:cs typeface="Arial MT"/>
              </a:rPr>
              <a:t>+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34094" y="2836763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7" name="object 27"/>
          <p:cNvSpPr txBox="1"/>
          <p:nvPr/>
        </p:nvSpPr>
        <p:spPr>
          <a:xfrm>
            <a:off x="5842347" y="2499094"/>
            <a:ext cx="22473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48127" y="3603384"/>
            <a:ext cx="253934" cy="12697"/>
          </a:xfrm>
          <a:custGeom>
            <a:avLst/>
            <a:gdLst/>
            <a:ahLst/>
            <a:cxnLst/>
            <a:rect l="l" t="t" r="r" b="b"/>
            <a:pathLst>
              <a:path w="254000" h="127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9" name="object 29"/>
          <p:cNvSpPr txBox="1"/>
          <p:nvPr/>
        </p:nvSpPr>
        <p:spPr>
          <a:xfrm>
            <a:off x="5817142" y="2825145"/>
            <a:ext cx="274249" cy="73894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𝜕𝑥</a:t>
            </a:r>
            <a:endParaRPr sz="1799">
              <a:latin typeface="Cambria Math"/>
              <a:cs typeface="Cambria Math"/>
            </a:endParaRPr>
          </a:p>
          <a:p>
            <a:pPr marL="53324">
              <a:spcBef>
                <a:spcPts val="129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31051" y="3589993"/>
            <a:ext cx="28059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𝜕𝑦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53118" y="3480294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59736" y="4433145"/>
            <a:ext cx="241237" cy="12697"/>
          </a:xfrm>
          <a:custGeom>
            <a:avLst/>
            <a:gdLst/>
            <a:ahLst/>
            <a:cxnLst/>
            <a:rect l="l" t="t" r="r" b="b"/>
            <a:pathLst>
              <a:path w="241300" h="12700">
                <a:moveTo>
                  <a:pt x="241300" y="0"/>
                </a:moveTo>
                <a:lnTo>
                  <a:pt x="0" y="0"/>
                </a:lnTo>
                <a:lnTo>
                  <a:pt x="0" y="12700"/>
                </a:lnTo>
                <a:lnTo>
                  <a:pt x="241300" y="12700"/>
                </a:lnTo>
                <a:lnTo>
                  <a:pt x="241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3" name="object 33"/>
          <p:cNvSpPr txBox="1"/>
          <p:nvPr/>
        </p:nvSpPr>
        <p:spPr>
          <a:xfrm>
            <a:off x="5842660" y="4044028"/>
            <a:ext cx="263456" cy="678003"/>
          </a:xfrm>
          <a:prstGeom prst="rect">
            <a:avLst/>
          </a:prstGeom>
        </p:spPr>
        <p:txBody>
          <a:bodyPr vert="horz" wrap="square" lIns="0" tIns="64118" rIns="0" bIns="0" rtlCol="0">
            <a:spAutoFit/>
          </a:bodyPr>
          <a:lstStyle/>
          <a:p>
            <a:pPr marL="30471">
              <a:spcBef>
                <a:spcPts val="505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𝜕𝑙</a:t>
            </a:r>
            <a:endParaRPr sz="1799">
              <a:latin typeface="Cambria Math"/>
              <a:cs typeface="Cambria Math"/>
            </a:endParaRPr>
          </a:p>
          <a:p>
            <a:pPr marL="12696">
              <a:spcBef>
                <a:spcPts val="409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𝜕𝑧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64725" y="4309135"/>
            <a:ext cx="23108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solidFill>
                  <a:srgbClr val="C00000"/>
                </a:solidFill>
                <a:latin typeface="Cambria Math"/>
                <a:cs typeface="Cambria Math"/>
              </a:rPr>
              <a:t>𝑖𝑑</a:t>
            </a:r>
            <a:endParaRPr sz="1799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60175" y="5550363"/>
            <a:ext cx="736408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799" b="1" spc="-25" dirty="0">
                <a:solidFill>
                  <a:srgbClr val="FFC000"/>
                </a:solidFill>
                <a:latin typeface="Arial"/>
                <a:cs typeface="Arial"/>
              </a:rPr>
              <a:t>……</a:t>
            </a:r>
            <a:endParaRPr sz="2799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536945" y="1140041"/>
            <a:ext cx="926859" cy="568177"/>
          </a:xfrm>
          <a:prstGeom prst="rect">
            <a:avLst/>
          </a:prstGeom>
        </p:spPr>
        <p:txBody>
          <a:bodyPr vert="horz" wrap="square" lIns="0" tIns="26663" rIns="0" bIns="0" rtlCol="0">
            <a:spAutoFit/>
          </a:bodyPr>
          <a:lstStyle/>
          <a:p>
            <a:pPr marL="12696" marR="5078">
              <a:lnSpc>
                <a:spcPts val="2109"/>
              </a:lnSpc>
              <a:spcBef>
                <a:spcPts val="210"/>
              </a:spcBef>
            </a:pPr>
            <a:r>
              <a:rPr sz="1799" b="1" spc="-10" dirty="0">
                <a:solidFill>
                  <a:srgbClr val="4472C4"/>
                </a:solidFill>
                <a:latin typeface="Arial"/>
                <a:cs typeface="Arial"/>
              </a:rPr>
              <a:t>Forward Graph</a:t>
            </a:r>
            <a:endParaRPr sz="1799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24378" y="3254801"/>
            <a:ext cx="1218883" cy="845599"/>
          </a:xfrm>
          <a:prstGeom prst="rect">
            <a:avLst/>
          </a:prstGeom>
        </p:spPr>
        <p:txBody>
          <a:bodyPr vert="horz" wrap="square" lIns="0" tIns="13966" rIns="0" bIns="0" rtlCol="0">
            <a:spAutoFit/>
          </a:bodyPr>
          <a:lstStyle/>
          <a:p>
            <a:pPr marL="12696" marR="5078">
              <a:lnSpc>
                <a:spcPct val="99400"/>
              </a:lnSpc>
              <a:spcBef>
                <a:spcPts val="110"/>
              </a:spcBef>
            </a:pPr>
            <a:r>
              <a:rPr sz="1799" b="1" spc="-10" dirty="0">
                <a:solidFill>
                  <a:srgbClr val="ED7D31"/>
                </a:solidFill>
                <a:latin typeface="Arial"/>
                <a:cs typeface="Arial"/>
              </a:rPr>
              <a:t>First-</a:t>
            </a:r>
            <a:r>
              <a:rPr sz="1799" b="1" spc="-20" dirty="0">
                <a:solidFill>
                  <a:srgbClr val="ED7D31"/>
                </a:solidFill>
                <a:latin typeface="Arial"/>
                <a:cs typeface="Arial"/>
              </a:rPr>
              <a:t>Order </a:t>
            </a:r>
            <a:r>
              <a:rPr sz="1799" b="1" spc="-10" dirty="0">
                <a:solidFill>
                  <a:srgbClr val="ED7D31"/>
                </a:solidFill>
                <a:latin typeface="Arial"/>
                <a:cs typeface="Arial"/>
              </a:rPr>
              <a:t>Derivative Graph</a:t>
            </a:r>
            <a:endParaRPr sz="1799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71942" y="5415271"/>
            <a:ext cx="1548997" cy="845599"/>
          </a:xfrm>
          <a:prstGeom prst="rect">
            <a:avLst/>
          </a:prstGeom>
        </p:spPr>
        <p:txBody>
          <a:bodyPr vert="horz" wrap="square" lIns="0" tIns="13966" rIns="0" bIns="0" rtlCol="0">
            <a:spAutoFit/>
          </a:bodyPr>
          <a:lstStyle/>
          <a:p>
            <a:pPr marL="12696" marR="5078">
              <a:lnSpc>
                <a:spcPct val="99400"/>
              </a:lnSpc>
              <a:spcBef>
                <a:spcPts val="110"/>
              </a:spcBef>
            </a:pPr>
            <a:r>
              <a:rPr sz="1799" b="1" spc="-10" dirty="0">
                <a:solidFill>
                  <a:srgbClr val="FFC000"/>
                </a:solidFill>
                <a:latin typeface="Arial"/>
                <a:cs typeface="Arial"/>
              </a:rPr>
              <a:t>Second-Order Derivative Graph</a:t>
            </a:r>
            <a:endParaRPr sz="1799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24863" y="5701708"/>
            <a:ext cx="443749" cy="678003"/>
          </a:xfrm>
          <a:prstGeom prst="rect">
            <a:avLst/>
          </a:prstGeom>
        </p:spPr>
        <p:txBody>
          <a:bodyPr vert="horz" wrap="square" lIns="0" tIns="64118" rIns="0" bIns="0" rtlCol="0">
            <a:spAutoFit/>
          </a:bodyPr>
          <a:lstStyle/>
          <a:p>
            <a:pPr marL="66020">
              <a:spcBef>
                <a:spcPts val="505"/>
              </a:spcBef>
            </a:pPr>
            <a:r>
              <a:rPr sz="1799" spc="35" dirty="0">
                <a:solidFill>
                  <a:srgbClr val="FFC000"/>
                </a:solidFill>
                <a:latin typeface="Cambria Math"/>
                <a:cs typeface="Cambria Math"/>
              </a:rPr>
              <a:t>𝜕</a:t>
            </a:r>
            <a:r>
              <a:rPr sz="1949" spc="52" baseline="27777" dirty="0">
                <a:solidFill>
                  <a:srgbClr val="FFC000"/>
                </a:solidFill>
                <a:latin typeface="Cambria Math"/>
                <a:cs typeface="Cambria Math"/>
              </a:rPr>
              <a:t>2</a:t>
            </a:r>
            <a:r>
              <a:rPr sz="1799" spc="35" dirty="0">
                <a:solidFill>
                  <a:srgbClr val="FFC000"/>
                </a:solidFill>
                <a:latin typeface="Cambria Math"/>
                <a:cs typeface="Cambria Math"/>
              </a:rPr>
              <a:t>𝑙</a:t>
            </a:r>
            <a:endParaRPr sz="1799">
              <a:latin typeface="Cambria Math"/>
              <a:cs typeface="Cambria Math"/>
            </a:endParaRPr>
          </a:p>
          <a:p>
            <a:pPr marL="38089">
              <a:spcBef>
                <a:spcPts val="409"/>
              </a:spcBef>
            </a:pPr>
            <a:r>
              <a:rPr sz="1799" spc="30" dirty="0">
                <a:solidFill>
                  <a:srgbClr val="FFC000"/>
                </a:solidFill>
                <a:latin typeface="Cambria Math"/>
                <a:cs typeface="Cambria Math"/>
              </a:rPr>
              <a:t>𝜕𝑓</a:t>
            </a:r>
            <a:r>
              <a:rPr sz="1949" spc="44" baseline="23504" dirty="0">
                <a:solidFill>
                  <a:srgbClr val="FFC000"/>
                </a:solidFill>
                <a:latin typeface="Cambria Math"/>
                <a:cs typeface="Cambria Math"/>
              </a:rPr>
              <a:t>2</a:t>
            </a:r>
            <a:endParaRPr sz="1949" baseline="23504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261035" y="1169731"/>
            <a:ext cx="604363" cy="5135812"/>
          </a:xfrm>
          <a:custGeom>
            <a:avLst/>
            <a:gdLst/>
            <a:ahLst/>
            <a:cxnLst/>
            <a:rect l="l" t="t" r="r" b="b"/>
            <a:pathLst>
              <a:path w="604520" h="5137150">
                <a:moveTo>
                  <a:pt x="36949" y="5043986"/>
                </a:moveTo>
                <a:lnTo>
                  <a:pt x="60488" y="5136894"/>
                </a:lnTo>
                <a:lnTo>
                  <a:pt x="114357" y="5070164"/>
                </a:lnTo>
                <a:lnTo>
                  <a:pt x="89721" y="5070164"/>
                </a:lnTo>
                <a:lnTo>
                  <a:pt x="61808" y="5064054"/>
                </a:lnTo>
                <a:lnTo>
                  <a:pt x="64863" y="5050097"/>
                </a:lnTo>
                <a:lnTo>
                  <a:pt x="36949" y="5043986"/>
                </a:lnTo>
                <a:close/>
              </a:path>
              <a:path w="604520" h="5137150">
                <a:moveTo>
                  <a:pt x="64863" y="5050097"/>
                </a:moveTo>
                <a:lnTo>
                  <a:pt x="61808" y="5064054"/>
                </a:lnTo>
                <a:lnTo>
                  <a:pt x="89721" y="5070164"/>
                </a:lnTo>
                <a:lnTo>
                  <a:pt x="92776" y="5056207"/>
                </a:lnTo>
                <a:lnTo>
                  <a:pt x="64863" y="5050097"/>
                </a:lnTo>
                <a:close/>
              </a:path>
              <a:path w="604520" h="5137150">
                <a:moveTo>
                  <a:pt x="92776" y="5056207"/>
                </a:moveTo>
                <a:lnTo>
                  <a:pt x="89721" y="5070164"/>
                </a:lnTo>
                <a:lnTo>
                  <a:pt x="114357" y="5070164"/>
                </a:lnTo>
                <a:lnTo>
                  <a:pt x="120691" y="5062318"/>
                </a:lnTo>
                <a:lnTo>
                  <a:pt x="92776" y="5056207"/>
                </a:lnTo>
                <a:close/>
              </a:path>
              <a:path w="604520" h="5137150">
                <a:moveTo>
                  <a:pt x="24725" y="0"/>
                </a:moveTo>
                <a:lnTo>
                  <a:pt x="0" y="14324"/>
                </a:lnTo>
                <a:lnTo>
                  <a:pt x="106135" y="197514"/>
                </a:lnTo>
                <a:lnTo>
                  <a:pt x="158123" y="290332"/>
                </a:lnTo>
                <a:lnTo>
                  <a:pt x="209012" y="384981"/>
                </a:lnTo>
                <a:lnTo>
                  <a:pt x="257961" y="481148"/>
                </a:lnTo>
                <a:lnTo>
                  <a:pt x="305014" y="580231"/>
                </a:lnTo>
                <a:lnTo>
                  <a:pt x="349628" y="682490"/>
                </a:lnTo>
                <a:lnTo>
                  <a:pt x="391454" y="788607"/>
                </a:lnTo>
                <a:lnTo>
                  <a:pt x="411190" y="843279"/>
                </a:lnTo>
                <a:lnTo>
                  <a:pt x="429995" y="898866"/>
                </a:lnTo>
                <a:lnTo>
                  <a:pt x="447928" y="955767"/>
                </a:lnTo>
                <a:lnTo>
                  <a:pt x="464903" y="1013940"/>
                </a:lnTo>
                <a:lnTo>
                  <a:pt x="480871" y="1073454"/>
                </a:lnTo>
                <a:lnTo>
                  <a:pt x="495781" y="1134377"/>
                </a:lnTo>
                <a:lnTo>
                  <a:pt x="509577" y="1196780"/>
                </a:lnTo>
                <a:lnTo>
                  <a:pt x="522225" y="1260730"/>
                </a:lnTo>
                <a:lnTo>
                  <a:pt x="533654" y="1326295"/>
                </a:lnTo>
                <a:lnTo>
                  <a:pt x="543833" y="1393545"/>
                </a:lnTo>
                <a:lnTo>
                  <a:pt x="552697" y="1462548"/>
                </a:lnTo>
                <a:lnTo>
                  <a:pt x="560210" y="1533490"/>
                </a:lnTo>
                <a:lnTo>
                  <a:pt x="566292" y="1606086"/>
                </a:lnTo>
                <a:lnTo>
                  <a:pt x="570838" y="1679448"/>
                </a:lnTo>
                <a:lnTo>
                  <a:pt x="574006" y="1756746"/>
                </a:lnTo>
                <a:lnTo>
                  <a:pt x="575590" y="1836253"/>
                </a:lnTo>
                <a:lnTo>
                  <a:pt x="575534" y="1917625"/>
                </a:lnTo>
                <a:lnTo>
                  <a:pt x="573924" y="2000351"/>
                </a:lnTo>
                <a:lnTo>
                  <a:pt x="570795" y="2085361"/>
                </a:lnTo>
                <a:lnTo>
                  <a:pt x="566198" y="2172432"/>
                </a:lnTo>
                <a:lnTo>
                  <a:pt x="560183" y="2261406"/>
                </a:lnTo>
                <a:lnTo>
                  <a:pt x="552802" y="2352212"/>
                </a:lnTo>
                <a:lnTo>
                  <a:pt x="544103" y="2444785"/>
                </a:lnTo>
                <a:lnTo>
                  <a:pt x="534138" y="2539053"/>
                </a:lnTo>
                <a:lnTo>
                  <a:pt x="522958" y="2634958"/>
                </a:lnTo>
                <a:lnTo>
                  <a:pt x="510612" y="2732407"/>
                </a:lnTo>
                <a:lnTo>
                  <a:pt x="497152" y="2831357"/>
                </a:lnTo>
                <a:lnTo>
                  <a:pt x="482626" y="2931730"/>
                </a:lnTo>
                <a:lnTo>
                  <a:pt x="467088" y="3033458"/>
                </a:lnTo>
                <a:lnTo>
                  <a:pt x="450585" y="3136475"/>
                </a:lnTo>
                <a:lnTo>
                  <a:pt x="433170" y="3240712"/>
                </a:lnTo>
                <a:lnTo>
                  <a:pt x="414898" y="3346063"/>
                </a:lnTo>
                <a:lnTo>
                  <a:pt x="375959" y="3560033"/>
                </a:lnTo>
                <a:lnTo>
                  <a:pt x="334178" y="3777797"/>
                </a:lnTo>
                <a:lnTo>
                  <a:pt x="289963" y="3998818"/>
                </a:lnTo>
                <a:lnTo>
                  <a:pt x="243716" y="4222551"/>
                </a:lnTo>
                <a:lnTo>
                  <a:pt x="195845" y="4448459"/>
                </a:lnTo>
                <a:lnTo>
                  <a:pt x="146747" y="4676035"/>
                </a:lnTo>
                <a:lnTo>
                  <a:pt x="64863" y="5050097"/>
                </a:lnTo>
                <a:lnTo>
                  <a:pt x="92776" y="5056207"/>
                </a:lnTo>
                <a:lnTo>
                  <a:pt x="174679" y="4682061"/>
                </a:lnTo>
                <a:lnTo>
                  <a:pt x="223782" y="4454460"/>
                </a:lnTo>
                <a:lnTo>
                  <a:pt x="271678" y="4228440"/>
                </a:lnTo>
                <a:lnTo>
                  <a:pt x="317955" y="4004557"/>
                </a:lnTo>
                <a:lnTo>
                  <a:pt x="362210" y="3783349"/>
                </a:lnTo>
                <a:lnTo>
                  <a:pt x="404035" y="3565351"/>
                </a:lnTo>
                <a:lnTo>
                  <a:pt x="443022" y="3351122"/>
                </a:lnTo>
                <a:lnTo>
                  <a:pt x="461332" y="3245551"/>
                </a:lnTo>
                <a:lnTo>
                  <a:pt x="478777" y="3141136"/>
                </a:lnTo>
                <a:lnTo>
                  <a:pt x="495311" y="3037927"/>
                </a:lnTo>
                <a:lnTo>
                  <a:pt x="510882" y="2935989"/>
                </a:lnTo>
                <a:lnTo>
                  <a:pt x="525442" y="2835389"/>
                </a:lnTo>
                <a:lnTo>
                  <a:pt x="538937" y="2736194"/>
                </a:lnTo>
                <a:lnTo>
                  <a:pt x="551317" y="2638471"/>
                </a:lnTo>
                <a:lnTo>
                  <a:pt x="562531" y="2542287"/>
                </a:lnTo>
                <a:lnTo>
                  <a:pt x="572529" y="2447706"/>
                </a:lnTo>
                <a:lnTo>
                  <a:pt x="581261" y="2354797"/>
                </a:lnTo>
                <a:lnTo>
                  <a:pt x="588674" y="2263623"/>
                </a:lnTo>
                <a:lnTo>
                  <a:pt x="594716" y="2174255"/>
                </a:lnTo>
                <a:lnTo>
                  <a:pt x="599339" y="2086754"/>
                </a:lnTo>
                <a:lnTo>
                  <a:pt x="602489" y="2001189"/>
                </a:lnTo>
                <a:lnTo>
                  <a:pt x="604114" y="1917625"/>
                </a:lnTo>
                <a:lnTo>
                  <a:pt x="604165" y="1836253"/>
                </a:lnTo>
                <a:lnTo>
                  <a:pt x="602625" y="1757756"/>
                </a:lnTo>
                <a:lnTo>
                  <a:pt x="602606" y="1756746"/>
                </a:lnTo>
                <a:lnTo>
                  <a:pt x="599533" y="1681063"/>
                </a:lnTo>
                <a:lnTo>
                  <a:pt x="599467" y="1679448"/>
                </a:lnTo>
                <a:lnTo>
                  <a:pt x="594942" y="1606396"/>
                </a:lnTo>
                <a:lnTo>
                  <a:pt x="594923" y="1606086"/>
                </a:lnTo>
                <a:lnTo>
                  <a:pt x="594804" y="1604164"/>
                </a:lnTo>
                <a:lnTo>
                  <a:pt x="588664" y="1530832"/>
                </a:lnTo>
                <a:lnTo>
                  <a:pt x="581097" y="1459381"/>
                </a:lnTo>
                <a:lnTo>
                  <a:pt x="572155" y="1389747"/>
                </a:lnTo>
                <a:lnTo>
                  <a:pt x="561888" y="1321862"/>
                </a:lnTo>
                <a:lnTo>
                  <a:pt x="550348" y="1255664"/>
                </a:lnTo>
                <a:lnTo>
                  <a:pt x="537583" y="1191082"/>
                </a:lnTo>
                <a:lnTo>
                  <a:pt x="523647" y="1128053"/>
                </a:lnTo>
                <a:lnTo>
                  <a:pt x="508590" y="1066509"/>
                </a:lnTo>
                <a:lnTo>
                  <a:pt x="492462" y="1006386"/>
                </a:lnTo>
                <a:lnTo>
                  <a:pt x="475317" y="947616"/>
                </a:lnTo>
                <a:lnTo>
                  <a:pt x="457203" y="890136"/>
                </a:lnTo>
                <a:lnTo>
                  <a:pt x="438176" y="833876"/>
                </a:lnTo>
                <a:lnTo>
                  <a:pt x="418261" y="778710"/>
                </a:lnTo>
                <a:lnTo>
                  <a:pt x="376119" y="671774"/>
                </a:lnTo>
                <a:lnTo>
                  <a:pt x="331114" y="568598"/>
                </a:lnTo>
                <a:lnTo>
                  <a:pt x="283690" y="468713"/>
                </a:lnTo>
                <a:lnTo>
                  <a:pt x="234259" y="371590"/>
                </a:lnTo>
                <a:lnTo>
                  <a:pt x="183234" y="276691"/>
                </a:lnTo>
                <a:lnTo>
                  <a:pt x="131017" y="183460"/>
                </a:lnTo>
                <a:lnTo>
                  <a:pt x="2472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475" y="254656"/>
            <a:ext cx="8401574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12696" algn="l">
              <a:spcBef>
                <a:spcPts val="100"/>
              </a:spcBef>
            </a:pPr>
            <a:r>
              <a:rPr sz="4000" dirty="0">
                <a:solidFill>
                  <a:srgbClr val="DC4400"/>
                </a:solidFill>
                <a:latin typeface="Impact"/>
                <a:cs typeface="+mn-cs"/>
              </a:rPr>
              <a:t>Reverse AutoDiff 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750" y="1773062"/>
            <a:ext cx="7591109" cy="414814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-901818" y="155196"/>
            <a:ext cx="9886417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4000" dirty="0">
                <a:solidFill>
                  <a:srgbClr val="DC4400"/>
                </a:solidFill>
                <a:latin typeface="Impact"/>
                <a:cs typeface="+mn-cs"/>
              </a:rPr>
              <a:t>Forward/Backward 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53" y="2084244"/>
            <a:ext cx="8651702" cy="36760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427" y="61044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Manual</a:t>
            </a:r>
            <a:r>
              <a:rPr spc="-55" dirty="0"/>
              <a:t> </a:t>
            </a:r>
            <a:r>
              <a:rPr dirty="0"/>
              <a:t>Gradient</a:t>
            </a:r>
            <a:r>
              <a:rPr spc="-60" dirty="0"/>
              <a:t> </a:t>
            </a:r>
            <a:r>
              <a:rPr dirty="0"/>
              <a:t>Checking:</a:t>
            </a:r>
            <a:r>
              <a:rPr spc="-55" dirty="0"/>
              <a:t> </a:t>
            </a:r>
            <a:r>
              <a:rPr dirty="0"/>
              <a:t>Numeric</a:t>
            </a:r>
            <a:r>
              <a:rPr spc="-60" dirty="0"/>
              <a:t> </a:t>
            </a:r>
            <a:r>
              <a:rPr spc="-10" dirty="0"/>
              <a:t>Gradient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588" y="1815503"/>
            <a:ext cx="7998916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39957" indent="-227261">
              <a:spcBef>
                <a:spcPts val="10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How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do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check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correctness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our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implementation?</a:t>
            </a:r>
            <a:endParaRPr sz="2399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33901" y="2805129"/>
            <a:ext cx="355507" cy="25393"/>
          </a:xfrm>
          <a:custGeom>
            <a:avLst/>
            <a:gdLst/>
            <a:ahLst/>
            <a:cxnLst/>
            <a:rect l="l" t="t" r="r" b="b"/>
            <a:pathLst>
              <a:path w="355600" h="25400">
                <a:moveTo>
                  <a:pt x="355600" y="0"/>
                </a:moveTo>
                <a:lnTo>
                  <a:pt x="0" y="0"/>
                </a:lnTo>
                <a:lnTo>
                  <a:pt x="0" y="25400"/>
                </a:lnTo>
                <a:lnTo>
                  <a:pt x="355600" y="25400"/>
                </a:lnTo>
                <a:lnTo>
                  <a:pt x="355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" name="object 5"/>
          <p:cNvSpPr txBox="1"/>
          <p:nvPr/>
        </p:nvSpPr>
        <p:spPr>
          <a:xfrm>
            <a:off x="891307" y="2590509"/>
            <a:ext cx="226699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65350" indent="-227261">
              <a:spcBef>
                <a:spcPts val="100"/>
              </a:spcBef>
              <a:buChar char="•"/>
              <a:tabLst>
                <a:tab pos="265350" algn="l"/>
                <a:tab pos="2012346" algn="l"/>
              </a:tabLst>
            </a:pP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small</a:t>
            </a:r>
            <a:r>
              <a:rPr sz="2399" spc="-40" dirty="0">
                <a:latin typeface="Arial MT"/>
                <a:cs typeface="Arial MT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𝛿</a:t>
            </a:r>
            <a:r>
              <a:rPr sz="2399" spc="-25" dirty="0">
                <a:latin typeface="Arial MT"/>
                <a:cs typeface="Arial MT"/>
              </a:rPr>
              <a:t>,</a:t>
            </a:r>
            <a:r>
              <a:rPr sz="2399" dirty="0">
                <a:latin typeface="Arial MT"/>
                <a:cs typeface="Arial MT"/>
              </a:rPr>
              <a:t>	</a:t>
            </a:r>
            <a:r>
              <a:rPr sz="2699" spc="-52" baseline="43209" dirty="0">
                <a:latin typeface="Cambria Math"/>
                <a:cs typeface="Cambria Math"/>
              </a:rPr>
              <a:t>𝛛𝑙</a:t>
            </a:r>
            <a:endParaRPr sz="2699" baseline="43209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3006" y="2543227"/>
            <a:ext cx="2006077" cy="287580"/>
          </a:xfrm>
          <a:custGeom>
            <a:avLst/>
            <a:gdLst/>
            <a:ahLst/>
            <a:cxnLst/>
            <a:rect l="l" t="t" r="r" b="b"/>
            <a:pathLst>
              <a:path w="2006600" h="287655">
                <a:moveTo>
                  <a:pt x="178447" y="22656"/>
                </a:moveTo>
                <a:lnTo>
                  <a:pt x="175437" y="14071"/>
                </a:lnTo>
                <a:lnTo>
                  <a:pt x="160083" y="19608"/>
                </a:lnTo>
                <a:lnTo>
                  <a:pt x="146621" y="27647"/>
                </a:lnTo>
                <a:lnTo>
                  <a:pt x="117729" y="66179"/>
                </a:lnTo>
                <a:lnTo>
                  <a:pt x="107962" y="118884"/>
                </a:lnTo>
                <a:lnTo>
                  <a:pt x="107911" y="120002"/>
                </a:lnTo>
                <a:lnTo>
                  <a:pt x="108889" y="137553"/>
                </a:lnTo>
                <a:lnTo>
                  <a:pt x="108991" y="139446"/>
                </a:lnTo>
                <a:lnTo>
                  <a:pt x="125323" y="188810"/>
                </a:lnTo>
                <a:lnTo>
                  <a:pt x="160045" y="220281"/>
                </a:lnTo>
                <a:lnTo>
                  <a:pt x="175437" y="225818"/>
                </a:lnTo>
                <a:lnTo>
                  <a:pt x="178117" y="217220"/>
                </a:lnTo>
                <a:lnTo>
                  <a:pt x="166052" y="211874"/>
                </a:lnTo>
                <a:lnTo>
                  <a:pt x="155638" y="204444"/>
                </a:lnTo>
                <a:lnTo>
                  <a:pt x="134277" y="169760"/>
                </a:lnTo>
                <a:lnTo>
                  <a:pt x="127266" y="120002"/>
                </a:lnTo>
                <a:lnTo>
                  <a:pt x="127215" y="118884"/>
                </a:lnTo>
                <a:lnTo>
                  <a:pt x="134277" y="69481"/>
                </a:lnTo>
                <a:lnTo>
                  <a:pt x="155727" y="35344"/>
                </a:lnTo>
                <a:lnTo>
                  <a:pt x="166243" y="27978"/>
                </a:lnTo>
                <a:lnTo>
                  <a:pt x="178447" y="22656"/>
                </a:lnTo>
                <a:close/>
              </a:path>
              <a:path w="2006600" h="287655">
                <a:moveTo>
                  <a:pt x="833259" y="24218"/>
                </a:moveTo>
                <a:lnTo>
                  <a:pt x="805243" y="0"/>
                </a:lnTo>
                <a:lnTo>
                  <a:pt x="799338" y="6692"/>
                </a:lnTo>
                <a:lnTo>
                  <a:pt x="817194" y="22212"/>
                </a:lnTo>
                <a:lnTo>
                  <a:pt x="621855" y="22212"/>
                </a:lnTo>
                <a:lnTo>
                  <a:pt x="621855" y="32702"/>
                </a:lnTo>
                <a:lnTo>
                  <a:pt x="817194" y="32702"/>
                </a:lnTo>
                <a:lnTo>
                  <a:pt x="799338" y="48221"/>
                </a:lnTo>
                <a:lnTo>
                  <a:pt x="805243" y="54914"/>
                </a:lnTo>
                <a:lnTo>
                  <a:pt x="833259" y="30695"/>
                </a:lnTo>
                <a:lnTo>
                  <a:pt x="833259" y="24218"/>
                </a:lnTo>
                <a:close/>
              </a:path>
              <a:path w="2006600" h="287655">
                <a:moveTo>
                  <a:pt x="905865" y="120002"/>
                </a:moveTo>
                <a:lnTo>
                  <a:pt x="904786" y="100812"/>
                </a:lnTo>
                <a:lnTo>
                  <a:pt x="904773" y="100584"/>
                </a:lnTo>
                <a:lnTo>
                  <a:pt x="901496" y="82651"/>
                </a:lnTo>
                <a:lnTo>
                  <a:pt x="878725" y="38163"/>
                </a:lnTo>
                <a:lnTo>
                  <a:pt x="838339" y="14071"/>
                </a:lnTo>
                <a:lnTo>
                  <a:pt x="835329" y="22656"/>
                </a:lnTo>
                <a:lnTo>
                  <a:pt x="847585" y="27978"/>
                </a:lnTo>
                <a:lnTo>
                  <a:pt x="858126" y="35344"/>
                </a:lnTo>
                <a:lnTo>
                  <a:pt x="879525" y="69481"/>
                </a:lnTo>
                <a:lnTo>
                  <a:pt x="886561" y="118884"/>
                </a:lnTo>
                <a:lnTo>
                  <a:pt x="885774" y="137553"/>
                </a:lnTo>
                <a:lnTo>
                  <a:pt x="874001" y="183286"/>
                </a:lnTo>
                <a:lnTo>
                  <a:pt x="847725" y="211874"/>
                </a:lnTo>
                <a:lnTo>
                  <a:pt x="835660" y="217220"/>
                </a:lnTo>
                <a:lnTo>
                  <a:pt x="838339" y="225818"/>
                </a:lnTo>
                <a:lnTo>
                  <a:pt x="878789" y="201777"/>
                </a:lnTo>
                <a:lnTo>
                  <a:pt x="901509" y="157403"/>
                </a:lnTo>
                <a:lnTo>
                  <a:pt x="904773" y="139446"/>
                </a:lnTo>
                <a:lnTo>
                  <a:pt x="905865" y="120002"/>
                </a:lnTo>
                <a:close/>
              </a:path>
              <a:path w="2006600" h="287655">
                <a:moveTo>
                  <a:pt x="1915934" y="24218"/>
                </a:moveTo>
                <a:lnTo>
                  <a:pt x="1887918" y="0"/>
                </a:lnTo>
                <a:lnTo>
                  <a:pt x="1882013" y="6692"/>
                </a:lnTo>
                <a:lnTo>
                  <a:pt x="1899869" y="22212"/>
                </a:lnTo>
                <a:lnTo>
                  <a:pt x="1704530" y="22212"/>
                </a:lnTo>
                <a:lnTo>
                  <a:pt x="1704530" y="32702"/>
                </a:lnTo>
                <a:lnTo>
                  <a:pt x="1899869" y="32702"/>
                </a:lnTo>
                <a:lnTo>
                  <a:pt x="1882013" y="48221"/>
                </a:lnTo>
                <a:lnTo>
                  <a:pt x="1887918" y="54914"/>
                </a:lnTo>
                <a:lnTo>
                  <a:pt x="1915934" y="30695"/>
                </a:lnTo>
                <a:lnTo>
                  <a:pt x="1915934" y="24218"/>
                </a:lnTo>
                <a:close/>
              </a:path>
              <a:path w="2006600" h="287655">
                <a:moveTo>
                  <a:pt x="2006600" y="261975"/>
                </a:moveTo>
                <a:lnTo>
                  <a:pt x="0" y="261975"/>
                </a:lnTo>
                <a:lnTo>
                  <a:pt x="0" y="287375"/>
                </a:lnTo>
                <a:lnTo>
                  <a:pt x="2006600" y="287375"/>
                </a:lnTo>
                <a:lnTo>
                  <a:pt x="2006600" y="261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3238926" y="2410724"/>
            <a:ext cx="2390787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3599" baseline="-32407" dirty="0">
                <a:latin typeface="Cambria Math"/>
                <a:cs typeface="Cambria Math"/>
              </a:rPr>
              <a:t>≈</a:t>
            </a:r>
            <a:r>
              <a:rPr sz="3599" spc="195" baseline="-32407" dirty="0">
                <a:latin typeface="Cambria Math"/>
                <a:cs typeface="Cambria Math"/>
              </a:rPr>
              <a:t> </a:t>
            </a:r>
            <a:r>
              <a:rPr sz="1799" spc="65" dirty="0">
                <a:latin typeface="Cambria Math"/>
                <a:cs typeface="Cambria Math"/>
              </a:rPr>
              <a:t>𝑙</a:t>
            </a:r>
            <a:r>
              <a:rPr sz="1799" spc="375" dirty="0">
                <a:latin typeface="Cambria Math"/>
                <a:cs typeface="Cambria Math"/>
              </a:rPr>
              <a:t> </a:t>
            </a:r>
            <a:r>
              <a:rPr sz="1799" spc="70" dirty="0">
                <a:latin typeface="Cambria Math"/>
                <a:cs typeface="Cambria Math"/>
              </a:rPr>
              <a:t>𝑥+ẟ𝑥</a:t>
            </a:r>
            <a:r>
              <a:rPr sz="2099" spc="104" baseline="-15873" dirty="0">
                <a:latin typeface="Cambria Math"/>
                <a:cs typeface="Cambria Math"/>
              </a:rPr>
              <a:t>𝑖</a:t>
            </a:r>
            <a:r>
              <a:rPr sz="2099" spc="150" baseline="-15873" dirty="0">
                <a:latin typeface="Cambria Math"/>
                <a:cs typeface="Cambria Math"/>
              </a:rPr>
              <a:t>  </a:t>
            </a:r>
            <a:r>
              <a:rPr sz="1799" spc="135" dirty="0">
                <a:latin typeface="Cambria Math"/>
                <a:cs typeface="Cambria Math"/>
              </a:rPr>
              <a:t>–𝑙(𝑥–ẟ𝑥</a:t>
            </a:r>
            <a:r>
              <a:rPr sz="2099" spc="202" baseline="-15873" dirty="0">
                <a:latin typeface="Cambria Math"/>
                <a:cs typeface="Cambria Math"/>
              </a:rPr>
              <a:t>𝑖</a:t>
            </a:r>
            <a:r>
              <a:rPr sz="1799" spc="135" dirty="0">
                <a:latin typeface="Cambria Math"/>
                <a:cs typeface="Cambria Math"/>
              </a:rPr>
              <a:t>)</a:t>
            </a:r>
            <a:endParaRPr sz="1799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8701" y="2819050"/>
            <a:ext cx="196608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0785">
              <a:spcBef>
                <a:spcPts val="100"/>
              </a:spcBef>
              <a:tabLst>
                <a:tab pos="1662565" algn="l"/>
              </a:tabLst>
            </a:pPr>
            <a:r>
              <a:rPr sz="1799" spc="45" dirty="0">
                <a:latin typeface="Cambria Math"/>
                <a:cs typeface="Cambria Math"/>
              </a:rPr>
              <a:t>𝛛𝑥</a:t>
            </a:r>
            <a:r>
              <a:rPr sz="2099" spc="67" baseline="-15873" dirty="0">
                <a:latin typeface="Cambria Math"/>
                <a:cs typeface="Cambria Math"/>
              </a:rPr>
              <a:t>𝑖</a:t>
            </a:r>
            <a:r>
              <a:rPr sz="2099" baseline="-15873" dirty="0">
                <a:latin typeface="Cambria Math"/>
                <a:cs typeface="Cambria Math"/>
              </a:rPr>
              <a:t>	</a:t>
            </a:r>
            <a:r>
              <a:rPr sz="1799" spc="40" dirty="0">
                <a:latin typeface="Cambria Math"/>
                <a:cs typeface="Cambria Math"/>
              </a:rPr>
              <a:t>2ẟ</a:t>
            </a:r>
            <a:endParaRPr sz="1799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48257" y="3898434"/>
            <a:ext cx="1165556" cy="294563"/>
          </a:xfrm>
          <a:custGeom>
            <a:avLst/>
            <a:gdLst/>
            <a:ahLst/>
            <a:cxnLst/>
            <a:rect l="l" t="t" r="r" b="b"/>
            <a:pathLst>
              <a:path w="1165860" h="294639">
                <a:moveTo>
                  <a:pt x="94056" y="23177"/>
                </a:moveTo>
                <a:lnTo>
                  <a:pt x="90043" y="11709"/>
                </a:lnTo>
                <a:lnTo>
                  <a:pt x="69570" y="19100"/>
                </a:lnTo>
                <a:lnTo>
                  <a:pt x="51625" y="29819"/>
                </a:lnTo>
                <a:lnTo>
                  <a:pt x="23291" y="61201"/>
                </a:lnTo>
                <a:lnTo>
                  <a:pt x="5816" y="103149"/>
                </a:lnTo>
                <a:lnTo>
                  <a:pt x="76" y="151460"/>
                </a:lnTo>
                <a:lnTo>
                  <a:pt x="0" y="152946"/>
                </a:lnTo>
                <a:lnTo>
                  <a:pt x="1447" y="178892"/>
                </a:lnTo>
                <a:lnTo>
                  <a:pt x="13055" y="224764"/>
                </a:lnTo>
                <a:lnTo>
                  <a:pt x="36093" y="261988"/>
                </a:lnTo>
                <a:lnTo>
                  <a:pt x="69507" y="286664"/>
                </a:lnTo>
                <a:lnTo>
                  <a:pt x="90043" y="294043"/>
                </a:lnTo>
                <a:lnTo>
                  <a:pt x="93611" y="282575"/>
                </a:lnTo>
                <a:lnTo>
                  <a:pt x="77520" y="275450"/>
                </a:lnTo>
                <a:lnTo>
                  <a:pt x="63639" y="265544"/>
                </a:lnTo>
                <a:lnTo>
                  <a:pt x="35166" y="219303"/>
                </a:lnTo>
                <a:lnTo>
                  <a:pt x="26797" y="176364"/>
                </a:lnTo>
                <a:lnTo>
                  <a:pt x="25806" y="152946"/>
                </a:lnTo>
                <a:lnTo>
                  <a:pt x="25742" y="151460"/>
                </a:lnTo>
                <a:lnTo>
                  <a:pt x="29933" y="105422"/>
                </a:lnTo>
                <a:lnTo>
                  <a:pt x="42494" y="67894"/>
                </a:lnTo>
                <a:lnTo>
                  <a:pt x="77774" y="30264"/>
                </a:lnTo>
                <a:lnTo>
                  <a:pt x="94056" y="23177"/>
                </a:lnTo>
                <a:close/>
              </a:path>
              <a:path w="1165860" h="294639">
                <a:moveTo>
                  <a:pt x="1065669" y="32296"/>
                </a:moveTo>
                <a:lnTo>
                  <a:pt x="1028319" y="0"/>
                </a:lnTo>
                <a:lnTo>
                  <a:pt x="1020432" y="8928"/>
                </a:lnTo>
                <a:lnTo>
                  <a:pt x="1044244" y="29616"/>
                </a:lnTo>
                <a:lnTo>
                  <a:pt x="808939" y="29616"/>
                </a:lnTo>
                <a:lnTo>
                  <a:pt x="808939" y="43611"/>
                </a:lnTo>
                <a:lnTo>
                  <a:pt x="1044244" y="43611"/>
                </a:lnTo>
                <a:lnTo>
                  <a:pt x="1020432" y="64300"/>
                </a:lnTo>
                <a:lnTo>
                  <a:pt x="1028319" y="73228"/>
                </a:lnTo>
                <a:lnTo>
                  <a:pt x="1065669" y="40932"/>
                </a:lnTo>
                <a:lnTo>
                  <a:pt x="1065669" y="32296"/>
                </a:lnTo>
                <a:close/>
              </a:path>
              <a:path w="1165860" h="294639">
                <a:moveTo>
                  <a:pt x="1165504" y="152946"/>
                </a:moveTo>
                <a:lnTo>
                  <a:pt x="1159687" y="103149"/>
                </a:lnTo>
                <a:lnTo>
                  <a:pt x="1142212" y="61201"/>
                </a:lnTo>
                <a:lnTo>
                  <a:pt x="1113878" y="29819"/>
                </a:lnTo>
                <a:lnTo>
                  <a:pt x="1075461" y="11709"/>
                </a:lnTo>
                <a:lnTo>
                  <a:pt x="1071448" y="23177"/>
                </a:lnTo>
                <a:lnTo>
                  <a:pt x="1087793" y="30264"/>
                </a:lnTo>
                <a:lnTo>
                  <a:pt x="1101839" y="40081"/>
                </a:lnTo>
                <a:lnTo>
                  <a:pt x="1130376" y="85598"/>
                </a:lnTo>
                <a:lnTo>
                  <a:pt x="1138669" y="127076"/>
                </a:lnTo>
                <a:lnTo>
                  <a:pt x="1138720" y="127381"/>
                </a:lnTo>
                <a:lnTo>
                  <a:pt x="1138707" y="176364"/>
                </a:lnTo>
                <a:lnTo>
                  <a:pt x="1130338" y="219303"/>
                </a:lnTo>
                <a:lnTo>
                  <a:pt x="1101864" y="265544"/>
                </a:lnTo>
                <a:lnTo>
                  <a:pt x="1071892" y="282575"/>
                </a:lnTo>
                <a:lnTo>
                  <a:pt x="1075461" y="294043"/>
                </a:lnTo>
                <a:lnTo>
                  <a:pt x="1113967" y="275971"/>
                </a:lnTo>
                <a:lnTo>
                  <a:pt x="1142288" y="244703"/>
                </a:lnTo>
                <a:lnTo>
                  <a:pt x="1159700" y="202831"/>
                </a:lnTo>
                <a:lnTo>
                  <a:pt x="1164056" y="178892"/>
                </a:lnTo>
                <a:lnTo>
                  <a:pt x="1165504" y="152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0" name="object 10"/>
          <p:cNvSpPr txBox="1"/>
          <p:nvPr/>
        </p:nvSpPr>
        <p:spPr>
          <a:xfrm>
            <a:off x="1348388" y="3068921"/>
            <a:ext cx="9928179" cy="1866414"/>
          </a:xfrm>
          <a:prstGeom prst="rect">
            <a:avLst/>
          </a:prstGeom>
        </p:spPr>
        <p:txBody>
          <a:bodyPr vert="horz" wrap="square" lIns="0" tIns="39995" rIns="0" bIns="0" rtlCol="0">
            <a:spAutoFit/>
          </a:bodyPr>
          <a:lstStyle/>
          <a:p>
            <a:pPr marL="265350" indent="-227261">
              <a:spcBef>
                <a:spcPts val="315"/>
              </a:spcBef>
              <a:buFont typeface="Arial MT"/>
              <a:buChar char="•"/>
              <a:tabLst>
                <a:tab pos="265350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Pros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easy</a:t>
            </a:r>
            <a:r>
              <a:rPr sz="2399" spc="-3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3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implement</a:t>
            </a:r>
            <a:endParaRPr sz="2399" dirty="0">
              <a:latin typeface="Arial MT"/>
              <a:cs typeface="Arial MT"/>
            </a:endParaRPr>
          </a:p>
          <a:p>
            <a:pPr marL="265350" indent="-227261">
              <a:lnSpc>
                <a:spcPts val="2749"/>
              </a:lnSpc>
              <a:spcBef>
                <a:spcPts val="215"/>
              </a:spcBef>
              <a:buClr>
                <a:srgbClr val="000000"/>
              </a:buClr>
              <a:buFont typeface="Arial MT"/>
              <a:buChar char="•"/>
              <a:tabLst>
                <a:tab pos="265350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Cons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approximate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very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expensive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compute;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need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recompute</a:t>
            </a:r>
            <a:endParaRPr sz="2399" dirty="0">
              <a:latin typeface="Arial MT"/>
              <a:cs typeface="Arial MT"/>
            </a:endParaRPr>
          </a:p>
          <a:p>
            <a:pPr marL="266620">
              <a:lnSpc>
                <a:spcPts val="2749"/>
              </a:lnSpc>
              <a:tabLst>
                <a:tab pos="498959" algn="l"/>
                <a:tab pos="1675261" algn="l"/>
              </a:tabLst>
            </a:pPr>
            <a:r>
              <a:rPr sz="2399" spc="-50" dirty="0">
                <a:latin typeface="Cambria Math"/>
                <a:cs typeface="Cambria Math"/>
              </a:rPr>
              <a:t>𝑙</a:t>
            </a:r>
            <a:r>
              <a:rPr sz="2399" dirty="0">
                <a:latin typeface="Cambria Math"/>
                <a:cs typeface="Cambria Math"/>
              </a:rPr>
              <a:t>	𝑥</a:t>
            </a:r>
            <a:r>
              <a:rPr sz="2399" spc="75" dirty="0">
                <a:latin typeface="Cambria Math"/>
                <a:cs typeface="Cambria Math"/>
              </a:rPr>
              <a:t> </a:t>
            </a:r>
            <a:r>
              <a:rPr sz="2399" dirty="0">
                <a:latin typeface="Cambria Math"/>
                <a:cs typeface="Cambria Math"/>
              </a:rPr>
              <a:t>+</a:t>
            </a:r>
            <a:r>
              <a:rPr sz="2399" spc="-5" dirty="0">
                <a:latin typeface="Cambria Math"/>
                <a:cs typeface="Cambria Math"/>
              </a:rPr>
              <a:t> </a:t>
            </a:r>
            <a:r>
              <a:rPr sz="2399" spc="-25" dirty="0">
                <a:latin typeface="Cambria Math"/>
                <a:cs typeface="Cambria Math"/>
              </a:rPr>
              <a:t>𝛿𝑥</a:t>
            </a:r>
            <a:r>
              <a:rPr sz="2699" spc="-37" baseline="-15432" dirty="0">
                <a:latin typeface="Cambria Math"/>
                <a:cs typeface="Cambria Math"/>
              </a:rPr>
              <a:t>𝑖</a:t>
            </a:r>
            <a:r>
              <a:rPr sz="2699" baseline="-15432" dirty="0">
                <a:latin typeface="Cambria Math"/>
                <a:cs typeface="Cambria Math"/>
              </a:rPr>
              <a:t>	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b="1" dirty="0">
                <a:latin typeface="Arial"/>
                <a:cs typeface="Arial"/>
              </a:rPr>
              <a:t>every</a:t>
            </a:r>
            <a:r>
              <a:rPr sz="2399" b="1" spc="-45" dirty="0">
                <a:latin typeface="Arial"/>
                <a:cs typeface="Arial"/>
              </a:rPr>
              <a:t> </a:t>
            </a:r>
            <a:r>
              <a:rPr sz="2399" b="1" spc="-10" dirty="0">
                <a:latin typeface="Arial"/>
                <a:cs typeface="Arial"/>
              </a:rPr>
              <a:t>parameter</a:t>
            </a:r>
            <a:endParaRPr sz="2399" dirty="0">
              <a:latin typeface="Arial"/>
              <a:cs typeface="Arial"/>
            </a:endParaRPr>
          </a:p>
          <a:p>
            <a:pPr marL="265350" marR="554824" indent="-227261">
              <a:lnSpc>
                <a:spcPts val="2589"/>
              </a:lnSpc>
              <a:spcBef>
                <a:spcPts val="545"/>
              </a:spcBef>
              <a:buChar char="•"/>
              <a:tabLst>
                <a:tab pos="266620" algn="l"/>
              </a:tabLst>
            </a:pPr>
            <a:r>
              <a:rPr sz="2399" dirty="0">
                <a:latin typeface="Arial MT"/>
                <a:cs typeface="Arial MT"/>
              </a:rPr>
              <a:t>Useful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checking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correctness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our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implementation;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serve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as 	</a:t>
            </a:r>
            <a:r>
              <a:rPr sz="2399" dirty="0">
                <a:latin typeface="Arial MT"/>
                <a:cs typeface="Arial MT"/>
              </a:rPr>
              <a:t>unit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test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today’s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DNN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systems</a:t>
            </a:r>
            <a:endParaRPr sz="2399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3989" y="107958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0039" y="1628189"/>
            <a:ext cx="304721" cy="3047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8645" y="1546629"/>
            <a:ext cx="10338282" cy="2927859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We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have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learnt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a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core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technique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of</a:t>
            </a:r>
            <a:r>
              <a:rPr sz="2399" spc="-6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ML</a:t>
            </a:r>
            <a:r>
              <a:rPr lang="en-US" sz="2399" spc="-10" dirty="0">
                <a:solidFill>
                  <a:srgbClr val="ED7D31"/>
                </a:solidFill>
                <a:latin typeface="Arial MT"/>
                <a:cs typeface="Arial MT"/>
              </a:rPr>
              <a:t> models</a:t>
            </a:r>
            <a:endParaRPr sz="2399" dirty="0">
              <a:latin typeface="Arial MT"/>
              <a:cs typeface="Arial MT"/>
            </a:endParaRPr>
          </a:p>
          <a:p>
            <a:pPr>
              <a:spcBef>
                <a:spcPts val="1959"/>
              </a:spcBef>
            </a:pPr>
            <a:endParaRPr sz="2399" dirty="0">
              <a:latin typeface="Arial MT"/>
              <a:cs typeface="Arial MT"/>
            </a:endParaRPr>
          </a:p>
          <a:p>
            <a:pPr marL="239957" marR="1449270" indent="-227261">
              <a:lnSpc>
                <a:spcPts val="2619"/>
              </a:lnSpc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Forward</a:t>
            </a:r>
            <a:r>
              <a:rPr sz="23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pass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apply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</a:t>
            </a:r>
            <a:r>
              <a:rPr sz="2399" spc="-4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batch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input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samples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run 	</a:t>
            </a:r>
            <a:r>
              <a:rPr sz="2399" dirty="0">
                <a:latin typeface="Arial MT"/>
                <a:cs typeface="Arial MT"/>
              </a:rPr>
              <a:t>calculation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through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operators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save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intermediate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results</a:t>
            </a:r>
            <a:endParaRPr sz="2399" dirty="0">
              <a:latin typeface="Arial MT"/>
              <a:cs typeface="Arial MT"/>
            </a:endParaRPr>
          </a:p>
          <a:p>
            <a:pPr marL="239957" marR="5078" indent="-227261">
              <a:lnSpc>
                <a:spcPts val="2589"/>
              </a:lnSpc>
              <a:spcBef>
                <a:spcPts val="1000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Backward</a:t>
            </a:r>
            <a:r>
              <a:rPr sz="2399" b="1" spc="-6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pass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run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reverse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apply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chain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rule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compute 	gradients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685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Weight</a:t>
            </a:r>
            <a:r>
              <a:rPr sz="2399" b="1" spc="-6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update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use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gradients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update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weights</a:t>
            </a:r>
            <a:endParaRPr sz="2399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619" y="5444727"/>
            <a:ext cx="1008117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905872" algn="l"/>
              </a:tabLst>
            </a:pPr>
            <a:r>
              <a:rPr sz="1999" spc="5" dirty="0">
                <a:latin typeface="Cambria Math"/>
                <a:cs typeface="Cambria Math"/>
              </a:rPr>
              <a:t>𝑖</a:t>
            </a:r>
            <a:r>
              <a:rPr sz="1999" dirty="0">
                <a:latin typeface="Cambria Math"/>
                <a:cs typeface="Cambria Math"/>
              </a:rPr>
              <a:t>	</a:t>
            </a:r>
            <a:r>
              <a:rPr sz="1999" spc="5" dirty="0">
                <a:latin typeface="Cambria Math"/>
                <a:cs typeface="Cambria Math"/>
              </a:rPr>
              <a:t>𝑖</a:t>
            </a:r>
            <a:endParaRPr sz="1999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03372" y="5525996"/>
            <a:ext cx="964949" cy="25393"/>
          </a:xfrm>
          <a:custGeom>
            <a:avLst/>
            <a:gdLst/>
            <a:ahLst/>
            <a:cxnLst/>
            <a:rect l="l" t="t" r="r" b="b"/>
            <a:pathLst>
              <a:path w="965200" h="25400">
                <a:moveTo>
                  <a:pt x="965200" y="0"/>
                </a:moveTo>
                <a:lnTo>
                  <a:pt x="0" y="0"/>
                </a:lnTo>
                <a:lnTo>
                  <a:pt x="0" y="25400"/>
                </a:lnTo>
                <a:lnTo>
                  <a:pt x="965200" y="25400"/>
                </a:lnTo>
                <a:lnTo>
                  <a:pt x="96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 txBox="1"/>
          <p:nvPr/>
        </p:nvSpPr>
        <p:spPr>
          <a:xfrm>
            <a:off x="3456875" y="5510749"/>
            <a:ext cx="622773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2799" spc="-25" dirty="0">
                <a:latin typeface="Cambria Math"/>
                <a:cs typeface="Cambria Math"/>
              </a:rPr>
              <a:t>𝜕𝑤</a:t>
            </a:r>
            <a:r>
              <a:rPr sz="2999" spc="-37" baseline="-16666" dirty="0">
                <a:latin typeface="Cambria Math"/>
                <a:cs typeface="Cambria Math"/>
              </a:rPr>
              <a:t>𝑖</a:t>
            </a:r>
            <a:endParaRPr sz="2999" baseline="-16666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12596" y="5525996"/>
            <a:ext cx="266631" cy="25393"/>
          </a:xfrm>
          <a:custGeom>
            <a:avLst/>
            <a:gdLst/>
            <a:ahLst/>
            <a:cxnLst/>
            <a:rect l="l" t="t" r="r" b="b"/>
            <a:pathLst>
              <a:path w="266700" h="25400">
                <a:moveTo>
                  <a:pt x="266700" y="0"/>
                </a:moveTo>
                <a:lnTo>
                  <a:pt x="0" y="0"/>
                </a:lnTo>
                <a:lnTo>
                  <a:pt x="0" y="25400"/>
                </a:lnTo>
                <a:lnTo>
                  <a:pt x="266700" y="25400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/>
          <p:cNvSpPr txBox="1"/>
          <p:nvPr/>
        </p:nvSpPr>
        <p:spPr>
          <a:xfrm>
            <a:off x="1312468" y="5001865"/>
            <a:ext cx="4460348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0785">
              <a:spcBef>
                <a:spcPts val="100"/>
              </a:spcBef>
              <a:tabLst>
                <a:tab pos="513561" algn="l"/>
                <a:tab pos="1387059" algn="l"/>
                <a:tab pos="4234179" algn="l"/>
              </a:tabLst>
            </a:pPr>
            <a:r>
              <a:rPr sz="4199" spc="-75" baseline="-42658" dirty="0">
                <a:latin typeface="Cambria Math"/>
                <a:cs typeface="Cambria Math"/>
              </a:rPr>
              <a:t>𝑤</a:t>
            </a:r>
            <a:r>
              <a:rPr sz="4199" baseline="-42658" dirty="0">
                <a:latin typeface="Cambria Math"/>
                <a:cs typeface="Cambria Math"/>
              </a:rPr>
              <a:t>	≔</a:t>
            </a:r>
            <a:r>
              <a:rPr sz="4199" spc="232" baseline="-42658" dirty="0">
                <a:latin typeface="Cambria Math"/>
                <a:cs typeface="Cambria Math"/>
              </a:rPr>
              <a:t> </a:t>
            </a:r>
            <a:r>
              <a:rPr sz="4199" spc="-75" baseline="-42658" dirty="0">
                <a:latin typeface="Cambria Math"/>
                <a:cs typeface="Cambria Math"/>
              </a:rPr>
              <a:t>𝑤</a:t>
            </a:r>
            <a:r>
              <a:rPr sz="4199" baseline="-42658" dirty="0">
                <a:latin typeface="Cambria Math"/>
                <a:cs typeface="Cambria Math"/>
              </a:rPr>
              <a:t>	−</a:t>
            </a:r>
            <a:r>
              <a:rPr sz="4199" spc="-15" baseline="-42658" dirty="0">
                <a:latin typeface="Cambria Math"/>
                <a:cs typeface="Cambria Math"/>
              </a:rPr>
              <a:t> </a:t>
            </a:r>
            <a:r>
              <a:rPr sz="4199" baseline="-42658" dirty="0">
                <a:latin typeface="Cambria Math"/>
                <a:cs typeface="Cambria Math"/>
              </a:rPr>
              <a:t>𝛾</a:t>
            </a:r>
            <a:r>
              <a:rPr sz="4199" spc="-120" baseline="-42658" dirty="0">
                <a:latin typeface="Cambria Math"/>
                <a:cs typeface="Cambria Math"/>
              </a:rPr>
              <a:t> </a:t>
            </a:r>
            <a:r>
              <a:rPr sz="2799" spc="-20" dirty="0">
                <a:latin typeface="Cambria Math"/>
                <a:cs typeface="Cambria Math"/>
              </a:rPr>
              <a:t>𝜕𝐿(𝑤)</a:t>
            </a:r>
            <a:r>
              <a:rPr sz="2799" dirty="0">
                <a:latin typeface="Cambria Math"/>
                <a:cs typeface="Cambria Math"/>
              </a:rPr>
              <a:t>	</a:t>
            </a:r>
            <a:r>
              <a:rPr sz="2799" spc="-50" dirty="0">
                <a:latin typeface="Cambria Math"/>
                <a:cs typeface="Cambria Math"/>
              </a:rPr>
              <a:t>𝛾</a:t>
            </a:r>
            <a:endParaRPr sz="2799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2410" y="5273067"/>
            <a:ext cx="2027027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2799" dirty="0">
                <a:latin typeface="Cambria Math"/>
                <a:cs typeface="Cambria Math"/>
              </a:rPr>
              <a:t>=</a:t>
            </a:r>
            <a:r>
              <a:rPr sz="2799" spc="140" dirty="0">
                <a:latin typeface="Cambria Math"/>
                <a:cs typeface="Cambria Math"/>
              </a:rPr>
              <a:t> </a:t>
            </a:r>
            <a:r>
              <a:rPr sz="2799" dirty="0">
                <a:latin typeface="Cambria Math"/>
                <a:cs typeface="Cambria Math"/>
              </a:rPr>
              <a:t>𝑤</a:t>
            </a:r>
            <a:r>
              <a:rPr sz="2999" baseline="-15277" dirty="0">
                <a:latin typeface="Cambria Math"/>
                <a:cs typeface="Cambria Math"/>
              </a:rPr>
              <a:t>𝑖</a:t>
            </a:r>
            <a:r>
              <a:rPr sz="2999" spc="540" baseline="-15277" dirty="0">
                <a:latin typeface="Cambria Math"/>
                <a:cs typeface="Cambria Math"/>
              </a:rPr>
              <a:t> </a:t>
            </a:r>
            <a:r>
              <a:rPr sz="2799" dirty="0">
                <a:latin typeface="Cambria Math"/>
                <a:cs typeface="Cambria Math"/>
              </a:rPr>
              <a:t>−</a:t>
            </a:r>
            <a:r>
              <a:rPr sz="2799" spc="-10" dirty="0">
                <a:latin typeface="Cambria Math"/>
                <a:cs typeface="Cambria Math"/>
              </a:rPr>
              <a:t> </a:t>
            </a:r>
            <a:r>
              <a:rPr sz="4199" baseline="-36706" dirty="0">
                <a:latin typeface="Cambria Math"/>
                <a:cs typeface="Cambria Math"/>
              </a:rPr>
              <a:t>𝑁</a:t>
            </a:r>
            <a:r>
              <a:rPr sz="4199" spc="-142" baseline="-36706" dirty="0">
                <a:latin typeface="Cambria Math"/>
                <a:cs typeface="Cambria Math"/>
              </a:rPr>
              <a:t> </a:t>
            </a:r>
            <a:r>
              <a:rPr sz="2799" spc="1555" dirty="0">
                <a:latin typeface="Cambria Math"/>
                <a:cs typeface="Cambria Math"/>
              </a:rPr>
              <a:t>+</a:t>
            </a:r>
            <a:endParaRPr sz="2799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7221" y="5825628"/>
            <a:ext cx="492631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145" dirty="0">
                <a:latin typeface="Cambria Math"/>
                <a:cs typeface="Cambria Math"/>
              </a:rPr>
              <a:t>j=1</a:t>
            </a:r>
            <a:endParaRPr sz="1999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75972" y="5525996"/>
            <a:ext cx="1003039" cy="25393"/>
          </a:xfrm>
          <a:custGeom>
            <a:avLst/>
            <a:gdLst/>
            <a:ahLst/>
            <a:cxnLst/>
            <a:rect l="l" t="t" r="r" b="b"/>
            <a:pathLst>
              <a:path w="1003300" h="25400">
                <a:moveTo>
                  <a:pt x="1003299" y="0"/>
                </a:moveTo>
                <a:lnTo>
                  <a:pt x="0" y="0"/>
                </a:lnTo>
                <a:lnTo>
                  <a:pt x="0" y="25400"/>
                </a:lnTo>
                <a:lnTo>
                  <a:pt x="1003299" y="25400"/>
                </a:lnTo>
                <a:lnTo>
                  <a:pt x="10032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3" name="object 13"/>
          <p:cNvSpPr/>
          <p:nvPr/>
        </p:nvSpPr>
        <p:spPr>
          <a:xfrm>
            <a:off x="8623286" y="5525996"/>
            <a:ext cx="203147" cy="25393"/>
          </a:xfrm>
          <a:custGeom>
            <a:avLst/>
            <a:gdLst/>
            <a:ahLst/>
            <a:cxnLst/>
            <a:rect l="l" t="t" r="r" b="b"/>
            <a:pathLst>
              <a:path w="203200" h="25400">
                <a:moveTo>
                  <a:pt x="203200" y="0"/>
                </a:moveTo>
                <a:lnTo>
                  <a:pt x="0" y="0"/>
                </a:lnTo>
                <a:lnTo>
                  <a:pt x="0" y="25400"/>
                </a:lnTo>
                <a:lnTo>
                  <a:pt x="203200" y="25400"/>
                </a:lnTo>
                <a:lnTo>
                  <a:pt x="20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4" name="object 14"/>
          <p:cNvSpPr txBox="1"/>
          <p:nvPr/>
        </p:nvSpPr>
        <p:spPr>
          <a:xfrm>
            <a:off x="7432400" y="5273067"/>
            <a:ext cx="1954655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2799" dirty="0">
                <a:latin typeface="Cambria Math"/>
                <a:cs typeface="Cambria Math"/>
              </a:rPr>
              <a:t>≈</a:t>
            </a:r>
            <a:r>
              <a:rPr sz="2799" spc="135" dirty="0">
                <a:latin typeface="Cambria Math"/>
                <a:cs typeface="Cambria Math"/>
              </a:rPr>
              <a:t> </a:t>
            </a:r>
            <a:r>
              <a:rPr sz="2799" dirty="0">
                <a:latin typeface="Cambria Math"/>
                <a:cs typeface="Cambria Math"/>
              </a:rPr>
              <a:t>𝑤</a:t>
            </a:r>
            <a:r>
              <a:rPr sz="2999" baseline="-15277" dirty="0">
                <a:latin typeface="Cambria Math"/>
                <a:cs typeface="Cambria Math"/>
              </a:rPr>
              <a:t>𝑖</a:t>
            </a:r>
            <a:r>
              <a:rPr sz="2999" spc="517" baseline="-15277" dirty="0">
                <a:latin typeface="Cambria Math"/>
                <a:cs typeface="Cambria Math"/>
              </a:rPr>
              <a:t> </a:t>
            </a:r>
            <a:r>
              <a:rPr sz="2799" dirty="0">
                <a:latin typeface="Cambria Math"/>
                <a:cs typeface="Cambria Math"/>
              </a:rPr>
              <a:t>−</a:t>
            </a:r>
            <a:r>
              <a:rPr sz="2799" spc="-15" dirty="0">
                <a:latin typeface="Cambria Math"/>
                <a:cs typeface="Cambria Math"/>
              </a:rPr>
              <a:t> </a:t>
            </a:r>
            <a:r>
              <a:rPr sz="4199" baseline="-36706" dirty="0">
                <a:latin typeface="Cambria Math"/>
                <a:cs typeface="Cambria Math"/>
              </a:rPr>
              <a:t>𝑏</a:t>
            </a:r>
            <a:r>
              <a:rPr sz="4199" spc="-157" baseline="-36706" dirty="0">
                <a:latin typeface="Cambria Math"/>
                <a:cs typeface="Cambria Math"/>
              </a:rPr>
              <a:t> </a:t>
            </a:r>
            <a:r>
              <a:rPr sz="2799" spc="1555" dirty="0">
                <a:latin typeface="Cambria Math"/>
                <a:cs typeface="Cambria Math"/>
              </a:rPr>
              <a:t>+</a:t>
            </a:r>
            <a:endParaRPr sz="2799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64905" y="5825628"/>
            <a:ext cx="492631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145" dirty="0">
                <a:latin typeface="Cambria Math"/>
                <a:cs typeface="Cambria Math"/>
              </a:rPr>
              <a:t>j=1</a:t>
            </a:r>
            <a:endParaRPr sz="1999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1108" y="4844427"/>
            <a:ext cx="3235752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3069939" algn="l"/>
              </a:tabLst>
            </a:pPr>
            <a:r>
              <a:rPr sz="1999" spc="-50" dirty="0">
                <a:latin typeface="Cambria Math"/>
                <a:cs typeface="Cambria Math"/>
              </a:rPr>
              <a:t>𝑁</a:t>
            </a:r>
            <a:r>
              <a:rPr sz="1999" dirty="0">
                <a:latin typeface="Cambria Math"/>
                <a:cs typeface="Cambria Math"/>
              </a:rPr>
              <a:t>	</a:t>
            </a:r>
            <a:r>
              <a:rPr sz="1999" spc="65" dirty="0">
                <a:latin typeface="Cambria Math"/>
                <a:cs typeface="Cambria Math"/>
              </a:rPr>
              <a:t>𝑏</a:t>
            </a:r>
            <a:endParaRPr sz="1999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10481" y="5525996"/>
            <a:ext cx="1003039" cy="25393"/>
          </a:xfrm>
          <a:custGeom>
            <a:avLst/>
            <a:gdLst/>
            <a:ahLst/>
            <a:cxnLst/>
            <a:rect l="l" t="t" r="r" b="b"/>
            <a:pathLst>
              <a:path w="1003300" h="25400">
                <a:moveTo>
                  <a:pt x="1003300" y="0"/>
                </a:moveTo>
                <a:lnTo>
                  <a:pt x="0" y="0"/>
                </a:lnTo>
                <a:lnTo>
                  <a:pt x="0" y="25400"/>
                </a:lnTo>
                <a:lnTo>
                  <a:pt x="1003300" y="25400"/>
                </a:lnTo>
                <a:lnTo>
                  <a:pt x="1003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8" name="object 18"/>
          <p:cNvSpPr txBox="1"/>
          <p:nvPr/>
        </p:nvSpPr>
        <p:spPr>
          <a:xfrm>
            <a:off x="6306649" y="5001865"/>
            <a:ext cx="4153722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63481">
              <a:spcBef>
                <a:spcPts val="100"/>
              </a:spcBef>
              <a:tabLst>
                <a:tab pos="2312611" algn="l"/>
                <a:tab pos="3100410" algn="l"/>
              </a:tabLst>
            </a:pPr>
            <a:r>
              <a:rPr sz="2799" spc="45" dirty="0">
                <a:latin typeface="Cambria Math"/>
                <a:cs typeface="Cambria Math"/>
              </a:rPr>
              <a:t>𝜕𝑙</a:t>
            </a:r>
            <a:r>
              <a:rPr sz="2999" spc="67" baseline="-16666" dirty="0">
                <a:latin typeface="Cambria Math"/>
                <a:cs typeface="Cambria Math"/>
              </a:rPr>
              <a:t>𝑖</a:t>
            </a:r>
            <a:r>
              <a:rPr sz="2799" spc="45" dirty="0">
                <a:latin typeface="Cambria Math"/>
                <a:cs typeface="Cambria Math"/>
              </a:rPr>
              <a:t>(𝑤)</a:t>
            </a:r>
            <a:r>
              <a:rPr sz="2799" dirty="0">
                <a:latin typeface="Cambria Math"/>
                <a:cs typeface="Cambria Math"/>
              </a:rPr>
              <a:t>	</a:t>
            </a:r>
            <a:r>
              <a:rPr sz="2799" spc="-50" dirty="0">
                <a:latin typeface="Cambria Math"/>
                <a:cs typeface="Cambria Math"/>
              </a:rPr>
              <a:t>𝛾</a:t>
            </a:r>
            <a:r>
              <a:rPr sz="2799" dirty="0">
                <a:latin typeface="Cambria Math"/>
                <a:cs typeface="Cambria Math"/>
              </a:rPr>
              <a:t>	</a:t>
            </a:r>
            <a:r>
              <a:rPr sz="2799" spc="45" dirty="0">
                <a:latin typeface="Cambria Math"/>
                <a:cs typeface="Cambria Math"/>
              </a:rPr>
              <a:t>𝜕𝑙</a:t>
            </a:r>
            <a:r>
              <a:rPr sz="2999" spc="67" baseline="-16666" dirty="0">
                <a:latin typeface="Cambria Math"/>
                <a:cs typeface="Cambria Math"/>
              </a:rPr>
              <a:t>𝑖</a:t>
            </a:r>
            <a:r>
              <a:rPr sz="2799" spc="45" dirty="0">
                <a:latin typeface="Cambria Math"/>
                <a:cs typeface="Cambria Math"/>
              </a:rPr>
              <a:t>(𝑤)</a:t>
            </a:r>
            <a:endParaRPr sz="2799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4363" y="5510749"/>
            <a:ext cx="3685850" cy="45200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0785">
              <a:spcBef>
                <a:spcPts val="100"/>
              </a:spcBef>
              <a:tabLst>
                <a:tab pos="3087713" algn="l"/>
              </a:tabLst>
            </a:pPr>
            <a:r>
              <a:rPr sz="2799" spc="-25" dirty="0">
                <a:latin typeface="Cambria Math"/>
                <a:cs typeface="Cambria Math"/>
              </a:rPr>
              <a:t>𝜕𝑤</a:t>
            </a:r>
            <a:r>
              <a:rPr sz="2999" spc="-37" baseline="-16666" dirty="0">
                <a:latin typeface="Cambria Math"/>
                <a:cs typeface="Cambria Math"/>
              </a:rPr>
              <a:t>𝑖</a:t>
            </a:r>
            <a:r>
              <a:rPr sz="2999" baseline="-16666" dirty="0">
                <a:latin typeface="Cambria Math"/>
                <a:cs typeface="Cambria Math"/>
              </a:rPr>
              <a:t>	</a:t>
            </a:r>
            <a:r>
              <a:rPr sz="2799" spc="-25" dirty="0">
                <a:latin typeface="Cambria Math"/>
                <a:cs typeface="Cambria Math"/>
              </a:rPr>
              <a:t>𝜕𝑤</a:t>
            </a:r>
            <a:r>
              <a:rPr sz="2999" spc="-37" baseline="-16666" dirty="0">
                <a:latin typeface="Cambria Math"/>
                <a:cs typeface="Cambria Math"/>
              </a:rPr>
              <a:t>𝑖</a:t>
            </a:r>
            <a:endParaRPr sz="2999" baseline="-16666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26" y="576037"/>
            <a:ext cx="9527594" cy="4873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3659"/>
              </a:lnSpc>
              <a:spcBef>
                <a:spcPts val="100"/>
              </a:spcBef>
            </a:pPr>
            <a:r>
              <a:rPr dirty="0"/>
              <a:t>Understand</a:t>
            </a:r>
            <a:r>
              <a:rPr spc="-50" dirty="0"/>
              <a:t> </a:t>
            </a:r>
            <a:r>
              <a:rPr lang="en-US" dirty="0"/>
              <a:t>ML</a:t>
            </a:r>
            <a:r>
              <a:rPr spc="-215" dirty="0"/>
              <a:t> </a:t>
            </a:r>
            <a:r>
              <a:rPr spc="-10" dirty="0"/>
              <a:t>Applications: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137" y="3679379"/>
            <a:ext cx="5763029" cy="2164786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Convolutional</a:t>
            </a:r>
            <a:r>
              <a:rPr sz="2799" b="1" spc="-12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799" b="1" spc="-114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799" dirty="0">
              <a:latin typeface="Arial"/>
              <a:cs typeface="Arial"/>
            </a:endParaRP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Recurrent</a:t>
            </a:r>
            <a:r>
              <a:rPr sz="2799" b="1" spc="-8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799" b="1" spc="-9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799" dirty="0">
              <a:latin typeface="Arial"/>
              <a:cs typeface="Arial"/>
            </a:endParaRPr>
          </a:p>
          <a:p>
            <a:pPr marL="469124" indent="-456428">
              <a:lnSpc>
                <a:spcPts val="3324"/>
              </a:lnSpc>
              <a:buFont typeface="Arial MT"/>
              <a:buChar char="•"/>
              <a:tabLst>
                <a:tab pos="469124" algn="l"/>
              </a:tabLst>
            </a:pPr>
            <a:r>
              <a:rPr sz="2799" b="1" spc="-10" dirty="0">
                <a:solidFill>
                  <a:srgbClr val="ED7D31"/>
                </a:solidFill>
                <a:latin typeface="Arial"/>
                <a:cs typeface="Arial"/>
              </a:rPr>
              <a:t>Transformers</a:t>
            </a:r>
            <a:endParaRPr sz="2799" dirty="0">
              <a:latin typeface="Arial"/>
              <a:cs typeface="Arial"/>
            </a:endParaRPr>
          </a:p>
          <a:p>
            <a:pPr marL="469124" indent="-456428">
              <a:spcBef>
                <a:spcPts val="5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Graph</a:t>
            </a:r>
            <a:r>
              <a:rPr sz="2799" b="1" spc="-7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799" b="1" spc="-7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7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799" dirty="0">
              <a:latin typeface="Arial"/>
              <a:cs typeface="Arial"/>
            </a:endParaRPr>
          </a:p>
          <a:p>
            <a:pPr marL="469124" indent="-456428">
              <a:spcBef>
                <a:spcPts val="2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spc="-20" dirty="0">
                <a:solidFill>
                  <a:srgbClr val="ED7D31"/>
                </a:solidFill>
                <a:latin typeface="Arial"/>
                <a:cs typeface="Arial"/>
              </a:rPr>
              <a:t>Mixture-</a:t>
            </a:r>
            <a:r>
              <a:rPr sz="2799" b="1" spc="-10" dirty="0">
                <a:solidFill>
                  <a:srgbClr val="ED7D31"/>
                </a:solidFill>
                <a:latin typeface="Arial"/>
                <a:cs typeface="Arial"/>
              </a:rPr>
              <a:t>of-Experts</a:t>
            </a:r>
            <a:endParaRPr sz="2799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4B988-F443-76D9-F325-8CA65141BACE}"/>
              </a:ext>
            </a:extLst>
          </p:cNvPr>
          <p:cNvSpPr txBox="1"/>
          <p:nvPr/>
        </p:nvSpPr>
        <p:spPr>
          <a:xfrm>
            <a:off x="1830789" y="2752556"/>
            <a:ext cx="8189859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>
              <a:spcBef>
                <a:spcPts val="100"/>
              </a:spcBef>
              <a:tabLst>
                <a:tab pos="469124" algn="l"/>
              </a:tabLst>
            </a:pPr>
            <a:r>
              <a:rPr lang="en-US" sz="2799" b="1" dirty="0">
                <a:latin typeface="Arial"/>
                <a:cs typeface="Arial"/>
              </a:rPr>
              <a:t>An Overview of Deep Learning Models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624" y="8396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CNNs</a:t>
            </a:r>
            <a:r>
              <a:rPr spc="-45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widely</a:t>
            </a:r>
            <a:r>
              <a:rPr spc="-4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vision</a:t>
            </a:r>
            <a:r>
              <a:rPr spc="-45" dirty="0"/>
              <a:t> </a:t>
            </a:r>
            <a:r>
              <a:rPr spc="-10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51" y="1124578"/>
            <a:ext cx="2752067" cy="22928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1546" y="1124577"/>
            <a:ext cx="3065407" cy="22928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62564" y="3448806"/>
            <a:ext cx="1523603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Classification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0035" y="3448806"/>
            <a:ext cx="1027797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Retrieval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2954" y="3448806"/>
            <a:ext cx="1098264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Detection</a:t>
            </a:r>
            <a:endParaRPr sz="1999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69383" y="1193429"/>
            <a:ext cx="2973265" cy="22355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597" y="3934520"/>
            <a:ext cx="3175903" cy="21061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74754" y="6169962"/>
            <a:ext cx="1590896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Segmentation</a:t>
            </a:r>
            <a:endParaRPr sz="1999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51546" y="3829005"/>
            <a:ext cx="3074901" cy="23213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114498" y="6169962"/>
            <a:ext cx="1339501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Self-Driving</a:t>
            </a:r>
            <a:endParaRPr sz="1999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17777" y="3843712"/>
            <a:ext cx="3090192" cy="234268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992646" y="6157773"/>
            <a:ext cx="1126831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ED7D31"/>
                </a:solidFill>
                <a:latin typeface="Arial MT"/>
                <a:cs typeface="Arial MT"/>
              </a:rPr>
              <a:t>Synthesis</a:t>
            </a:r>
            <a:endParaRPr sz="19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42" y="269901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Recap:</a:t>
            </a:r>
            <a:r>
              <a:rPr spc="-5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9423485" cy="723711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Convolve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filter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with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image: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slide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over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image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spatially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and 	</a:t>
            </a:r>
            <a:r>
              <a:rPr sz="2399" dirty="0">
                <a:latin typeface="Arial MT"/>
                <a:cs typeface="Arial MT"/>
              </a:rPr>
              <a:t>compute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dot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products</a:t>
            </a:r>
            <a:endParaRPr sz="2399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009" y="2480483"/>
            <a:ext cx="6110737" cy="416395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623" y="121101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pc="-20" dirty="0"/>
              <a:t>CNNs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392" y="1210887"/>
            <a:ext cx="10342726" cy="723711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A</a:t>
            </a:r>
            <a:r>
              <a:rPr sz="2399" spc="-1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sequence</a:t>
            </a:r>
            <a:r>
              <a:rPr sz="2399" spc="-11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convolutional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layers,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interspersed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by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pooling,</a:t>
            </a:r>
            <a:r>
              <a:rPr sz="2399" spc="-8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normalization, 	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activation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functions</a:t>
            </a:r>
            <a:endParaRPr sz="2399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3594" y="2203951"/>
            <a:ext cx="8484512" cy="39265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186" y="6598172"/>
            <a:ext cx="1954021" cy="20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6">
              <a:lnSpc>
                <a:spcPts val="1645"/>
              </a:lnSpc>
            </a:pPr>
            <a:r>
              <a:rPr sz="1400" dirty="0">
                <a:latin typeface="Arial MT"/>
                <a:cs typeface="Arial MT"/>
              </a:rPr>
              <a:t>[Zeiler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Fergus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2013]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040" y="449779"/>
            <a:ext cx="10360168" cy="96155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lnSpc>
                <a:spcPts val="3669"/>
              </a:lnSpc>
              <a:spcBef>
                <a:spcPts val="100"/>
              </a:spcBef>
            </a:pPr>
            <a:r>
              <a:rPr lang="en-US" dirty="0"/>
              <a:t>Computation</a:t>
            </a:r>
            <a:r>
              <a:rPr spc="-45" dirty="0"/>
              <a:t> </a:t>
            </a:r>
            <a:r>
              <a:rPr dirty="0"/>
              <a:t>Challenges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10" dirty="0"/>
              <a:t>CNNs:</a:t>
            </a:r>
          </a:p>
          <a:p>
            <a:pPr marL="38089">
              <a:lnSpc>
                <a:spcPts val="3669"/>
              </a:lnSpc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- </a:t>
            </a:r>
            <a:r>
              <a:rPr sz="2400" dirty="0">
                <a:solidFill>
                  <a:schemeClr val="tx1"/>
                </a:solidFill>
              </a:rPr>
              <a:t>Increasing</a:t>
            </a:r>
            <a:r>
              <a:rPr sz="2400" spc="-8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Computational</a:t>
            </a:r>
            <a:r>
              <a:rPr sz="2400" spc="-75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Requirements</a:t>
            </a:r>
            <a:endParaRPr spc="-10" dirty="0">
              <a:solidFill>
                <a:schemeClr val="tx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06618" y="1681917"/>
            <a:ext cx="3082122" cy="3260511"/>
            <a:chOff x="2007141" y="1681462"/>
            <a:chExt cx="3082925" cy="3261360"/>
          </a:xfrm>
        </p:grpSpPr>
        <p:sp>
          <p:nvSpPr>
            <p:cNvPr id="4" name="object 4"/>
            <p:cNvSpPr/>
            <p:nvPr/>
          </p:nvSpPr>
          <p:spPr>
            <a:xfrm>
              <a:off x="2076102" y="2215896"/>
              <a:ext cx="3011170" cy="2127885"/>
            </a:xfrm>
            <a:custGeom>
              <a:avLst/>
              <a:gdLst/>
              <a:ahLst/>
              <a:cxnLst/>
              <a:rect l="l" t="t" r="r" b="b"/>
              <a:pathLst>
                <a:path w="3011170" h="2127885">
                  <a:moveTo>
                    <a:pt x="0" y="2127504"/>
                  </a:moveTo>
                  <a:lnTo>
                    <a:pt x="1383377" y="2127504"/>
                  </a:lnTo>
                </a:path>
                <a:path w="3011170" h="2127885">
                  <a:moveTo>
                    <a:pt x="1627217" y="2127504"/>
                  </a:moveTo>
                  <a:lnTo>
                    <a:pt x="1986881" y="2127504"/>
                  </a:lnTo>
                </a:path>
                <a:path w="3011170" h="2127885">
                  <a:moveTo>
                    <a:pt x="2227673" y="2127504"/>
                  </a:moveTo>
                  <a:lnTo>
                    <a:pt x="2590385" y="2127504"/>
                  </a:lnTo>
                </a:path>
                <a:path w="3011170" h="2127885">
                  <a:moveTo>
                    <a:pt x="2831177" y="2127504"/>
                  </a:moveTo>
                  <a:lnTo>
                    <a:pt x="3010606" y="2127504"/>
                  </a:lnTo>
                </a:path>
                <a:path w="3011170" h="2127885">
                  <a:moveTo>
                    <a:pt x="0" y="1594104"/>
                  </a:moveTo>
                  <a:lnTo>
                    <a:pt x="1383377" y="1594104"/>
                  </a:lnTo>
                </a:path>
                <a:path w="3011170" h="2127885">
                  <a:moveTo>
                    <a:pt x="1627217" y="1594104"/>
                  </a:moveTo>
                  <a:lnTo>
                    <a:pt x="1986881" y="1594104"/>
                  </a:lnTo>
                </a:path>
                <a:path w="3011170" h="2127885">
                  <a:moveTo>
                    <a:pt x="2227673" y="1594104"/>
                  </a:moveTo>
                  <a:lnTo>
                    <a:pt x="2590385" y="1594104"/>
                  </a:lnTo>
                </a:path>
                <a:path w="3011170" h="2127885">
                  <a:moveTo>
                    <a:pt x="2831177" y="1594104"/>
                  </a:moveTo>
                  <a:lnTo>
                    <a:pt x="3010606" y="1594104"/>
                  </a:lnTo>
                </a:path>
                <a:path w="3011170" h="2127885">
                  <a:moveTo>
                    <a:pt x="2831177" y="1063752"/>
                  </a:moveTo>
                  <a:lnTo>
                    <a:pt x="3010606" y="1063752"/>
                  </a:lnTo>
                </a:path>
                <a:path w="3011170" h="2127885">
                  <a:moveTo>
                    <a:pt x="2227673" y="1063752"/>
                  </a:moveTo>
                  <a:lnTo>
                    <a:pt x="2590385" y="1063752"/>
                  </a:lnTo>
                </a:path>
                <a:path w="3011170" h="2127885">
                  <a:moveTo>
                    <a:pt x="0" y="1063752"/>
                  </a:moveTo>
                  <a:lnTo>
                    <a:pt x="1986881" y="1063752"/>
                  </a:lnTo>
                </a:path>
                <a:path w="3011170" h="2127885">
                  <a:moveTo>
                    <a:pt x="0" y="530352"/>
                  </a:moveTo>
                  <a:lnTo>
                    <a:pt x="2590385" y="530352"/>
                  </a:lnTo>
                </a:path>
                <a:path w="3011170" h="2127885">
                  <a:moveTo>
                    <a:pt x="2831177" y="530352"/>
                  </a:moveTo>
                  <a:lnTo>
                    <a:pt x="3010606" y="530352"/>
                  </a:lnTo>
                </a:path>
                <a:path w="3011170" h="2127885">
                  <a:moveTo>
                    <a:pt x="0" y="0"/>
                  </a:moveTo>
                  <a:lnTo>
                    <a:pt x="2590385" y="0"/>
                  </a:lnTo>
                </a:path>
                <a:path w="3011170" h="2127885">
                  <a:moveTo>
                    <a:pt x="2831177" y="0"/>
                  </a:moveTo>
                  <a:lnTo>
                    <a:pt x="3010606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" name="object 5"/>
            <p:cNvSpPr/>
            <p:nvPr/>
          </p:nvSpPr>
          <p:spPr>
            <a:xfrm>
              <a:off x="2076102" y="1684637"/>
              <a:ext cx="3011170" cy="0"/>
            </a:xfrm>
            <a:custGeom>
              <a:avLst/>
              <a:gdLst/>
              <a:ahLst/>
              <a:cxnLst/>
              <a:rect l="l" t="t" r="r" b="b"/>
              <a:pathLst>
                <a:path w="3011170">
                  <a:moveTo>
                    <a:pt x="0" y="0"/>
                  </a:moveTo>
                  <a:lnTo>
                    <a:pt x="3010606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6" name="object 6"/>
            <p:cNvSpPr/>
            <p:nvPr/>
          </p:nvSpPr>
          <p:spPr>
            <a:xfrm>
              <a:off x="2255520" y="2066543"/>
              <a:ext cx="2651760" cy="2807335"/>
            </a:xfrm>
            <a:custGeom>
              <a:avLst/>
              <a:gdLst/>
              <a:ahLst/>
              <a:cxnLst/>
              <a:rect l="l" t="t" r="r" b="b"/>
              <a:pathLst>
                <a:path w="2651760" h="2807335">
                  <a:moveTo>
                    <a:pt x="240792" y="2679192"/>
                  </a:moveTo>
                  <a:lnTo>
                    <a:pt x="0" y="2679192"/>
                  </a:lnTo>
                  <a:lnTo>
                    <a:pt x="0" y="2806801"/>
                  </a:lnTo>
                  <a:lnTo>
                    <a:pt x="240792" y="2806801"/>
                  </a:lnTo>
                  <a:lnTo>
                    <a:pt x="240792" y="2679192"/>
                  </a:lnTo>
                  <a:close/>
                </a:path>
                <a:path w="2651760" h="2807335">
                  <a:moveTo>
                    <a:pt x="844296" y="2606040"/>
                  </a:moveTo>
                  <a:lnTo>
                    <a:pt x="603504" y="2606040"/>
                  </a:lnTo>
                  <a:lnTo>
                    <a:pt x="603504" y="2806801"/>
                  </a:lnTo>
                  <a:lnTo>
                    <a:pt x="844296" y="2806801"/>
                  </a:lnTo>
                  <a:lnTo>
                    <a:pt x="844296" y="2606040"/>
                  </a:lnTo>
                  <a:close/>
                </a:path>
                <a:path w="2651760" h="2807335">
                  <a:moveTo>
                    <a:pt x="1447800" y="1722120"/>
                  </a:moveTo>
                  <a:lnTo>
                    <a:pt x="1203960" y="1722120"/>
                  </a:lnTo>
                  <a:lnTo>
                    <a:pt x="1203960" y="2806801"/>
                  </a:lnTo>
                  <a:lnTo>
                    <a:pt x="1447800" y="2806801"/>
                  </a:lnTo>
                  <a:lnTo>
                    <a:pt x="1447800" y="1722120"/>
                  </a:lnTo>
                  <a:close/>
                </a:path>
                <a:path w="2651760" h="2807335">
                  <a:moveTo>
                    <a:pt x="2048256" y="1191768"/>
                  </a:moveTo>
                  <a:lnTo>
                    <a:pt x="1807464" y="1191768"/>
                  </a:lnTo>
                  <a:lnTo>
                    <a:pt x="1807464" y="2806801"/>
                  </a:lnTo>
                  <a:lnTo>
                    <a:pt x="2048256" y="2806801"/>
                  </a:lnTo>
                  <a:lnTo>
                    <a:pt x="2048256" y="1191768"/>
                  </a:lnTo>
                  <a:close/>
                </a:path>
                <a:path w="2651760" h="2807335">
                  <a:moveTo>
                    <a:pt x="2651760" y="0"/>
                  </a:moveTo>
                  <a:lnTo>
                    <a:pt x="2410968" y="0"/>
                  </a:lnTo>
                  <a:lnTo>
                    <a:pt x="2410968" y="2806801"/>
                  </a:lnTo>
                  <a:lnTo>
                    <a:pt x="2651760" y="2806801"/>
                  </a:lnTo>
                  <a:lnTo>
                    <a:pt x="2651760" y="0"/>
                  </a:lnTo>
                  <a:close/>
                </a:path>
              </a:pathLst>
            </a:custGeom>
            <a:solidFill>
              <a:srgbClr val="EF8A46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" name="object 7"/>
            <p:cNvSpPr/>
            <p:nvPr/>
          </p:nvSpPr>
          <p:spPr>
            <a:xfrm>
              <a:off x="2076102" y="1684637"/>
              <a:ext cx="0" cy="3188970"/>
            </a:xfrm>
            <a:custGeom>
              <a:avLst/>
              <a:gdLst/>
              <a:ahLst/>
              <a:cxnLst/>
              <a:rect l="l" t="t" r="r" b="b"/>
              <a:pathLst>
                <a:path h="3188970">
                  <a:moveTo>
                    <a:pt x="0" y="3188703"/>
                  </a:moveTo>
                  <a:lnTo>
                    <a:pt x="1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" name="object 8"/>
            <p:cNvSpPr/>
            <p:nvPr/>
          </p:nvSpPr>
          <p:spPr>
            <a:xfrm>
              <a:off x="2007141" y="1684637"/>
              <a:ext cx="69215" cy="3188970"/>
            </a:xfrm>
            <a:custGeom>
              <a:avLst/>
              <a:gdLst/>
              <a:ahLst/>
              <a:cxnLst/>
              <a:rect l="l" t="t" r="r" b="b"/>
              <a:pathLst>
                <a:path w="69214" h="3188970">
                  <a:moveTo>
                    <a:pt x="0" y="3188703"/>
                  </a:moveTo>
                  <a:lnTo>
                    <a:pt x="68961" y="3188703"/>
                  </a:lnTo>
                </a:path>
                <a:path w="69214" h="3188970">
                  <a:moveTo>
                    <a:pt x="0" y="2658763"/>
                  </a:moveTo>
                  <a:lnTo>
                    <a:pt x="68961" y="2658763"/>
                  </a:lnTo>
                </a:path>
                <a:path w="69214" h="3188970">
                  <a:moveTo>
                    <a:pt x="0" y="2125363"/>
                  </a:moveTo>
                  <a:lnTo>
                    <a:pt x="68961" y="2125363"/>
                  </a:lnTo>
                </a:path>
                <a:path w="69214" h="3188970">
                  <a:moveTo>
                    <a:pt x="0" y="1595011"/>
                  </a:moveTo>
                  <a:lnTo>
                    <a:pt x="68961" y="1595011"/>
                  </a:lnTo>
                </a:path>
                <a:path w="69214" h="3188970">
                  <a:moveTo>
                    <a:pt x="0" y="1061611"/>
                  </a:moveTo>
                  <a:lnTo>
                    <a:pt x="68961" y="1061611"/>
                  </a:lnTo>
                </a:path>
                <a:path w="69214" h="3188970">
                  <a:moveTo>
                    <a:pt x="0" y="531259"/>
                  </a:moveTo>
                  <a:lnTo>
                    <a:pt x="68961" y="531259"/>
                  </a:lnTo>
                </a:path>
                <a:path w="69214" h="3188970">
                  <a:moveTo>
                    <a:pt x="0" y="0"/>
                  </a:moveTo>
                  <a:lnTo>
                    <a:pt x="68961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" name="object 9"/>
            <p:cNvSpPr/>
            <p:nvPr/>
          </p:nvSpPr>
          <p:spPr>
            <a:xfrm>
              <a:off x="2076102" y="4873340"/>
              <a:ext cx="3011170" cy="69215"/>
            </a:xfrm>
            <a:custGeom>
              <a:avLst/>
              <a:gdLst/>
              <a:ahLst/>
              <a:cxnLst/>
              <a:rect l="l" t="t" r="r" b="b"/>
              <a:pathLst>
                <a:path w="3011170" h="69214">
                  <a:moveTo>
                    <a:pt x="0" y="0"/>
                  </a:moveTo>
                  <a:lnTo>
                    <a:pt x="3010606" y="1"/>
                  </a:lnTo>
                </a:path>
                <a:path w="3011170" h="69214">
                  <a:moveTo>
                    <a:pt x="0" y="0"/>
                  </a:moveTo>
                  <a:lnTo>
                    <a:pt x="0" y="68961"/>
                  </a:lnTo>
                </a:path>
                <a:path w="3011170" h="69214">
                  <a:moveTo>
                    <a:pt x="603090" y="0"/>
                  </a:moveTo>
                  <a:lnTo>
                    <a:pt x="603090" y="68961"/>
                  </a:lnTo>
                </a:path>
                <a:path w="3011170" h="69214">
                  <a:moveTo>
                    <a:pt x="1203546" y="0"/>
                  </a:moveTo>
                  <a:lnTo>
                    <a:pt x="1203546" y="68961"/>
                  </a:lnTo>
                </a:path>
                <a:path w="3011170" h="69214">
                  <a:moveTo>
                    <a:pt x="1807050" y="0"/>
                  </a:moveTo>
                  <a:lnTo>
                    <a:pt x="1807050" y="68961"/>
                  </a:lnTo>
                </a:path>
                <a:path w="3011170" h="69214">
                  <a:moveTo>
                    <a:pt x="2407506" y="0"/>
                  </a:moveTo>
                  <a:lnTo>
                    <a:pt x="2407506" y="68961"/>
                  </a:lnTo>
                </a:path>
                <a:path w="3011170" h="69214">
                  <a:moveTo>
                    <a:pt x="3010606" y="0"/>
                  </a:moveTo>
                  <a:lnTo>
                    <a:pt x="3010606" y="68961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36751" y="4400551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12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8716" y="4327418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19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7134" y="3443728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102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9098" y="2913513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152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1063" y="1722056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264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9226" y="4696129"/>
            <a:ext cx="152995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50" dirty="0">
                <a:latin typeface="Arial MT"/>
                <a:cs typeface="Arial MT"/>
              </a:rPr>
              <a:t>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2132" y="4165915"/>
            <a:ext cx="2799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50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5038" y="3632654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100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85038" y="3102440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150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5038" y="2572226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200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5038" y="2038965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250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5038" y="1508752"/>
            <a:ext cx="40692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300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1069187" y="5527066"/>
            <a:ext cx="154064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dirty="0">
                <a:latin typeface="Arial MT"/>
                <a:cs typeface="Arial MT"/>
              </a:rPr>
              <a:t>AlexNet</a:t>
            </a:r>
            <a:r>
              <a:rPr sz="1799" spc="-5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(2012)</a:t>
            </a:r>
            <a:endParaRPr sz="1799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1918569" y="5423016"/>
            <a:ext cx="125322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dirty="0">
                <a:latin typeface="Arial MT"/>
                <a:cs typeface="Arial MT"/>
              </a:rPr>
              <a:t>VGG</a:t>
            </a:r>
            <a:r>
              <a:rPr sz="1799" spc="-1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(2014)</a:t>
            </a:r>
            <a:endParaRPr sz="1799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2165164" y="5573580"/>
            <a:ext cx="166631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dirty="0">
                <a:latin typeface="Arial MT"/>
                <a:cs typeface="Arial MT"/>
              </a:rPr>
              <a:t>Inception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(2015)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2907423" y="5513111"/>
            <a:ext cx="150298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dirty="0">
                <a:latin typeface="Arial MT"/>
                <a:cs typeface="Arial MT"/>
              </a:rPr>
              <a:t>ResNet</a:t>
            </a:r>
            <a:r>
              <a:rPr sz="1799" spc="-5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(2015)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3293722" y="5603109"/>
            <a:ext cx="175439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dirty="0">
                <a:latin typeface="Arial MT"/>
                <a:cs typeface="Arial MT"/>
              </a:rPr>
              <a:t>DenseNet</a:t>
            </a:r>
            <a:r>
              <a:rPr sz="1799" spc="-60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(2016)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93269" y="2295520"/>
            <a:ext cx="269304" cy="196925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696">
              <a:lnSpc>
                <a:spcPts val="2089"/>
              </a:lnSpc>
            </a:pPr>
            <a:r>
              <a:rPr sz="1799" b="1" dirty="0">
                <a:latin typeface="Arial"/>
                <a:cs typeface="Arial"/>
              </a:rPr>
              <a:t>Number</a:t>
            </a:r>
            <a:r>
              <a:rPr sz="1799" b="1" spc="-10" dirty="0">
                <a:latin typeface="Arial"/>
                <a:cs typeface="Arial"/>
              </a:rPr>
              <a:t> </a:t>
            </a:r>
            <a:r>
              <a:rPr sz="1799" b="1" dirty="0">
                <a:latin typeface="Arial"/>
                <a:cs typeface="Arial"/>
              </a:rPr>
              <a:t>of</a:t>
            </a:r>
            <a:r>
              <a:rPr sz="1799" b="1" spc="-10" dirty="0">
                <a:latin typeface="Arial"/>
                <a:cs typeface="Arial"/>
              </a:rPr>
              <a:t> Layers</a:t>
            </a:r>
            <a:endParaRPr sz="1799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90348" y="1669220"/>
            <a:ext cx="3275112" cy="3449056"/>
            <a:chOff x="7392273" y="1668762"/>
            <a:chExt cx="3275965" cy="3449954"/>
          </a:xfrm>
        </p:grpSpPr>
        <p:sp>
          <p:nvSpPr>
            <p:cNvPr id="29" name="object 29"/>
            <p:cNvSpPr/>
            <p:nvPr/>
          </p:nvSpPr>
          <p:spPr>
            <a:xfrm>
              <a:off x="7461235" y="2093976"/>
              <a:ext cx="3207385" cy="2533015"/>
            </a:xfrm>
            <a:custGeom>
              <a:avLst/>
              <a:gdLst/>
              <a:ahLst/>
              <a:cxnLst/>
              <a:rect l="l" t="t" r="r" b="b"/>
              <a:pathLst>
                <a:path w="3207384" h="2533015">
                  <a:moveTo>
                    <a:pt x="0" y="2532888"/>
                  </a:moveTo>
                  <a:lnTo>
                    <a:pt x="2466100" y="2532888"/>
                  </a:lnTo>
                </a:path>
                <a:path w="3207384" h="2533015">
                  <a:moveTo>
                    <a:pt x="2895868" y="2532888"/>
                  </a:moveTo>
                  <a:lnTo>
                    <a:pt x="3206765" y="2532888"/>
                  </a:lnTo>
                </a:path>
                <a:path w="3207384" h="2533015">
                  <a:moveTo>
                    <a:pt x="0" y="2112264"/>
                  </a:moveTo>
                  <a:lnTo>
                    <a:pt x="2466100" y="2112264"/>
                  </a:lnTo>
                </a:path>
                <a:path w="3207384" h="2533015">
                  <a:moveTo>
                    <a:pt x="2895868" y="2112264"/>
                  </a:moveTo>
                  <a:lnTo>
                    <a:pt x="3206765" y="2112264"/>
                  </a:lnTo>
                </a:path>
                <a:path w="3207384" h="2533015">
                  <a:moveTo>
                    <a:pt x="0" y="1688592"/>
                  </a:moveTo>
                  <a:lnTo>
                    <a:pt x="2466100" y="1688592"/>
                  </a:lnTo>
                </a:path>
                <a:path w="3207384" h="2533015">
                  <a:moveTo>
                    <a:pt x="2895868" y="1688592"/>
                  </a:moveTo>
                  <a:lnTo>
                    <a:pt x="3206765" y="1688592"/>
                  </a:lnTo>
                </a:path>
                <a:path w="3207384" h="2533015">
                  <a:moveTo>
                    <a:pt x="0" y="1267968"/>
                  </a:moveTo>
                  <a:lnTo>
                    <a:pt x="2466100" y="1267968"/>
                  </a:lnTo>
                </a:path>
                <a:path w="3207384" h="2533015">
                  <a:moveTo>
                    <a:pt x="2895868" y="1267968"/>
                  </a:moveTo>
                  <a:lnTo>
                    <a:pt x="3206765" y="1267968"/>
                  </a:lnTo>
                </a:path>
                <a:path w="3207384" h="2533015">
                  <a:moveTo>
                    <a:pt x="0" y="844296"/>
                  </a:moveTo>
                  <a:lnTo>
                    <a:pt x="2466100" y="844296"/>
                  </a:lnTo>
                </a:path>
                <a:path w="3207384" h="2533015">
                  <a:moveTo>
                    <a:pt x="2895868" y="844296"/>
                  </a:moveTo>
                  <a:lnTo>
                    <a:pt x="3206765" y="844296"/>
                  </a:lnTo>
                </a:path>
                <a:path w="3207384" h="2533015">
                  <a:moveTo>
                    <a:pt x="0" y="423672"/>
                  </a:moveTo>
                  <a:lnTo>
                    <a:pt x="2466100" y="423672"/>
                  </a:lnTo>
                </a:path>
                <a:path w="3207384" h="2533015">
                  <a:moveTo>
                    <a:pt x="2895868" y="423672"/>
                  </a:moveTo>
                  <a:lnTo>
                    <a:pt x="3206765" y="423672"/>
                  </a:lnTo>
                </a:path>
                <a:path w="3207384" h="2533015">
                  <a:moveTo>
                    <a:pt x="2895868" y="0"/>
                  </a:moveTo>
                  <a:lnTo>
                    <a:pt x="3206765" y="0"/>
                  </a:lnTo>
                </a:path>
                <a:path w="3207384" h="2533015">
                  <a:moveTo>
                    <a:pt x="0" y="0"/>
                  </a:moveTo>
                  <a:lnTo>
                    <a:pt x="2466100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0" name="object 30"/>
            <p:cNvSpPr/>
            <p:nvPr/>
          </p:nvSpPr>
          <p:spPr>
            <a:xfrm>
              <a:off x="7461235" y="1671937"/>
              <a:ext cx="3207385" cy="0"/>
            </a:xfrm>
            <a:custGeom>
              <a:avLst/>
              <a:gdLst/>
              <a:ahLst/>
              <a:cxnLst/>
              <a:rect l="l" t="t" r="r" b="b"/>
              <a:pathLst>
                <a:path w="3207384">
                  <a:moveTo>
                    <a:pt x="0" y="0"/>
                  </a:moveTo>
                  <a:lnTo>
                    <a:pt x="3206765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1" name="object 31"/>
            <p:cNvSpPr/>
            <p:nvPr/>
          </p:nvSpPr>
          <p:spPr>
            <a:xfrm>
              <a:off x="7781544" y="2072639"/>
              <a:ext cx="2575560" cy="2976880"/>
            </a:xfrm>
            <a:custGeom>
              <a:avLst/>
              <a:gdLst/>
              <a:ahLst/>
              <a:cxnLst/>
              <a:rect l="l" t="t" r="r" b="b"/>
              <a:pathLst>
                <a:path w="2575559" h="2976879">
                  <a:moveTo>
                    <a:pt x="429768" y="2962656"/>
                  </a:moveTo>
                  <a:lnTo>
                    <a:pt x="0" y="2962656"/>
                  </a:lnTo>
                  <a:lnTo>
                    <a:pt x="0" y="2976727"/>
                  </a:lnTo>
                  <a:lnTo>
                    <a:pt x="429768" y="2976727"/>
                  </a:lnTo>
                  <a:lnTo>
                    <a:pt x="429768" y="2962656"/>
                  </a:lnTo>
                  <a:close/>
                </a:path>
                <a:path w="2575559" h="2976879">
                  <a:moveTo>
                    <a:pt x="1502664" y="2682240"/>
                  </a:moveTo>
                  <a:lnTo>
                    <a:pt x="1072896" y="2682240"/>
                  </a:lnTo>
                  <a:lnTo>
                    <a:pt x="1072896" y="2976727"/>
                  </a:lnTo>
                  <a:lnTo>
                    <a:pt x="1502664" y="2976727"/>
                  </a:lnTo>
                  <a:lnTo>
                    <a:pt x="1502664" y="2682240"/>
                  </a:lnTo>
                  <a:close/>
                </a:path>
                <a:path w="2575559" h="2976879">
                  <a:moveTo>
                    <a:pt x="2575560" y="0"/>
                  </a:moveTo>
                  <a:lnTo>
                    <a:pt x="2145792" y="0"/>
                  </a:lnTo>
                  <a:lnTo>
                    <a:pt x="2145792" y="2976727"/>
                  </a:lnTo>
                  <a:lnTo>
                    <a:pt x="2575560" y="2976727"/>
                  </a:lnTo>
                  <a:lnTo>
                    <a:pt x="2575560" y="0"/>
                  </a:lnTo>
                  <a:close/>
                </a:path>
              </a:pathLst>
            </a:custGeom>
            <a:solidFill>
              <a:srgbClr val="007486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2" name="object 32"/>
            <p:cNvSpPr/>
            <p:nvPr/>
          </p:nvSpPr>
          <p:spPr>
            <a:xfrm>
              <a:off x="7461234" y="1671936"/>
              <a:ext cx="0" cy="3377565"/>
            </a:xfrm>
            <a:custGeom>
              <a:avLst/>
              <a:gdLst/>
              <a:ahLst/>
              <a:cxnLst/>
              <a:rect l="l" t="t" r="r" b="b"/>
              <a:pathLst>
                <a:path h="3377565">
                  <a:moveTo>
                    <a:pt x="0" y="3377423"/>
                  </a:moveTo>
                  <a:lnTo>
                    <a:pt x="1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3" name="object 33"/>
            <p:cNvSpPr/>
            <p:nvPr/>
          </p:nvSpPr>
          <p:spPr>
            <a:xfrm>
              <a:off x="7392273" y="1671937"/>
              <a:ext cx="69215" cy="3377565"/>
            </a:xfrm>
            <a:custGeom>
              <a:avLst/>
              <a:gdLst/>
              <a:ahLst/>
              <a:cxnLst/>
              <a:rect l="l" t="t" r="r" b="b"/>
              <a:pathLst>
                <a:path w="69215" h="3377565">
                  <a:moveTo>
                    <a:pt x="0" y="3377423"/>
                  </a:moveTo>
                  <a:lnTo>
                    <a:pt x="68961" y="3377423"/>
                  </a:lnTo>
                </a:path>
                <a:path w="69215" h="3377565">
                  <a:moveTo>
                    <a:pt x="0" y="2954927"/>
                  </a:moveTo>
                  <a:lnTo>
                    <a:pt x="68961" y="2954927"/>
                  </a:lnTo>
                </a:path>
                <a:path w="69215" h="3377565">
                  <a:moveTo>
                    <a:pt x="0" y="2534303"/>
                  </a:moveTo>
                  <a:lnTo>
                    <a:pt x="68961" y="2534303"/>
                  </a:lnTo>
                </a:path>
                <a:path w="69215" h="3377565">
                  <a:moveTo>
                    <a:pt x="0" y="2110631"/>
                  </a:moveTo>
                  <a:lnTo>
                    <a:pt x="68961" y="2110631"/>
                  </a:lnTo>
                </a:path>
                <a:path w="69215" h="3377565">
                  <a:moveTo>
                    <a:pt x="0" y="1690007"/>
                  </a:moveTo>
                  <a:lnTo>
                    <a:pt x="68961" y="1690007"/>
                  </a:lnTo>
                </a:path>
                <a:path w="69215" h="3377565">
                  <a:moveTo>
                    <a:pt x="0" y="1266335"/>
                  </a:moveTo>
                  <a:lnTo>
                    <a:pt x="68961" y="1266335"/>
                  </a:lnTo>
                </a:path>
                <a:path w="69215" h="3377565">
                  <a:moveTo>
                    <a:pt x="0" y="845711"/>
                  </a:moveTo>
                  <a:lnTo>
                    <a:pt x="68961" y="845711"/>
                  </a:lnTo>
                </a:path>
                <a:path w="69215" h="3377565">
                  <a:moveTo>
                    <a:pt x="0" y="422039"/>
                  </a:moveTo>
                  <a:lnTo>
                    <a:pt x="68961" y="422039"/>
                  </a:lnTo>
                </a:path>
                <a:path w="69215" h="3377565">
                  <a:moveTo>
                    <a:pt x="0" y="0"/>
                  </a:moveTo>
                  <a:lnTo>
                    <a:pt x="68961" y="0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4" name="object 34"/>
            <p:cNvSpPr/>
            <p:nvPr/>
          </p:nvSpPr>
          <p:spPr>
            <a:xfrm>
              <a:off x="7461235" y="5049359"/>
              <a:ext cx="3207385" cy="69215"/>
            </a:xfrm>
            <a:custGeom>
              <a:avLst/>
              <a:gdLst/>
              <a:ahLst/>
              <a:cxnLst/>
              <a:rect l="l" t="t" r="r" b="b"/>
              <a:pathLst>
                <a:path w="3207384" h="69214">
                  <a:moveTo>
                    <a:pt x="0" y="0"/>
                  </a:moveTo>
                  <a:lnTo>
                    <a:pt x="3206765" y="0"/>
                  </a:lnTo>
                </a:path>
                <a:path w="3207384" h="69214">
                  <a:moveTo>
                    <a:pt x="0" y="0"/>
                  </a:moveTo>
                  <a:lnTo>
                    <a:pt x="0" y="68961"/>
                  </a:lnTo>
                </a:path>
                <a:path w="3207384" h="69214">
                  <a:moveTo>
                    <a:pt x="1073165" y="0"/>
                  </a:moveTo>
                  <a:lnTo>
                    <a:pt x="1073165" y="68961"/>
                  </a:lnTo>
                </a:path>
                <a:path w="3207384" h="69214">
                  <a:moveTo>
                    <a:pt x="2146061" y="0"/>
                  </a:moveTo>
                  <a:lnTo>
                    <a:pt x="2146061" y="68961"/>
                  </a:lnTo>
                </a:path>
              </a:pathLst>
            </a:custGeom>
            <a:ln w="6350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60347" y="4690035"/>
            <a:ext cx="47041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latin typeface="Arial MT"/>
                <a:cs typeface="Arial MT"/>
              </a:rPr>
              <a:t>0.06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96164" y="4409692"/>
            <a:ext cx="343446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5" dirty="0">
                <a:latin typeface="Arial MT"/>
                <a:cs typeface="Arial MT"/>
              </a:rPr>
              <a:t>1.4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04886" y="1728151"/>
            <a:ext cx="470411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20" dirty="0">
                <a:latin typeface="Arial MT"/>
                <a:cs typeface="Arial MT"/>
              </a:rPr>
              <a:t>14.1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5862" y="1350297"/>
            <a:ext cx="279962" cy="3882232"/>
          </a:xfrm>
          <a:prstGeom prst="rect">
            <a:avLst/>
          </a:prstGeom>
        </p:spPr>
        <p:txBody>
          <a:bodyPr vert="horz" wrap="square" lIns="0" tIns="158709" rIns="0" bIns="0" rtlCol="0">
            <a:spAutoFit/>
          </a:bodyPr>
          <a:lstStyle/>
          <a:p>
            <a:pPr marL="12696">
              <a:spcBef>
                <a:spcPts val="1250"/>
              </a:spcBef>
            </a:pPr>
            <a:r>
              <a:rPr sz="1799" spc="-25" dirty="0">
                <a:latin typeface="Arial MT"/>
                <a:cs typeface="Arial MT"/>
              </a:rPr>
              <a:t>16</a:t>
            </a:r>
            <a:endParaRPr sz="1799">
              <a:latin typeface="Arial MT"/>
              <a:cs typeface="Arial MT"/>
            </a:endParaRPr>
          </a:p>
          <a:p>
            <a:pPr marL="12696">
              <a:spcBef>
                <a:spcPts val="1155"/>
              </a:spcBef>
            </a:pPr>
            <a:r>
              <a:rPr sz="1799" spc="-25" dirty="0">
                <a:latin typeface="Arial MT"/>
                <a:cs typeface="Arial MT"/>
              </a:rPr>
              <a:t>14</a:t>
            </a:r>
            <a:endParaRPr sz="1799">
              <a:latin typeface="Arial MT"/>
              <a:cs typeface="Arial MT"/>
            </a:endParaRPr>
          </a:p>
          <a:p>
            <a:pPr marL="12696">
              <a:spcBef>
                <a:spcPts val="1175"/>
              </a:spcBef>
            </a:pPr>
            <a:r>
              <a:rPr sz="1799" spc="-25" dirty="0">
                <a:latin typeface="Arial MT"/>
                <a:cs typeface="Arial MT"/>
              </a:rPr>
              <a:t>12</a:t>
            </a:r>
            <a:endParaRPr sz="1799">
              <a:latin typeface="Arial MT"/>
              <a:cs typeface="Arial MT"/>
            </a:endParaRPr>
          </a:p>
          <a:p>
            <a:pPr marL="12696">
              <a:spcBef>
                <a:spcPts val="1150"/>
              </a:spcBef>
            </a:pPr>
            <a:r>
              <a:rPr sz="1799" spc="-25" dirty="0">
                <a:latin typeface="Arial MT"/>
                <a:cs typeface="Arial MT"/>
              </a:rPr>
              <a:t>10</a:t>
            </a:r>
            <a:endParaRPr sz="1799">
              <a:latin typeface="Arial MT"/>
              <a:cs typeface="Arial MT"/>
            </a:endParaRPr>
          </a:p>
          <a:p>
            <a:pPr marL="139658">
              <a:spcBef>
                <a:spcPts val="1175"/>
              </a:spcBef>
            </a:pPr>
            <a:r>
              <a:rPr sz="1799" spc="-50" dirty="0">
                <a:latin typeface="Arial MT"/>
                <a:cs typeface="Arial MT"/>
              </a:rPr>
              <a:t>8</a:t>
            </a:r>
            <a:endParaRPr sz="1799">
              <a:latin typeface="Arial MT"/>
              <a:cs typeface="Arial MT"/>
            </a:endParaRPr>
          </a:p>
          <a:p>
            <a:pPr marL="139658">
              <a:spcBef>
                <a:spcPts val="1155"/>
              </a:spcBef>
            </a:pPr>
            <a:r>
              <a:rPr sz="1799" spc="-50" dirty="0">
                <a:latin typeface="Arial MT"/>
                <a:cs typeface="Arial MT"/>
              </a:rPr>
              <a:t>6</a:t>
            </a:r>
            <a:endParaRPr sz="1799">
              <a:latin typeface="Arial MT"/>
              <a:cs typeface="Arial MT"/>
            </a:endParaRPr>
          </a:p>
          <a:p>
            <a:pPr marL="139658">
              <a:spcBef>
                <a:spcPts val="1175"/>
              </a:spcBef>
            </a:pPr>
            <a:r>
              <a:rPr sz="1799" spc="-50" dirty="0">
                <a:latin typeface="Arial MT"/>
                <a:cs typeface="Arial MT"/>
              </a:rPr>
              <a:t>4</a:t>
            </a:r>
            <a:endParaRPr sz="1799">
              <a:latin typeface="Arial MT"/>
              <a:cs typeface="Arial MT"/>
            </a:endParaRPr>
          </a:p>
          <a:p>
            <a:pPr marL="139658">
              <a:spcBef>
                <a:spcPts val="1150"/>
              </a:spcBef>
            </a:pPr>
            <a:r>
              <a:rPr sz="1799" spc="-50" dirty="0">
                <a:latin typeface="Arial MT"/>
                <a:cs typeface="Arial MT"/>
              </a:rPr>
              <a:t>2</a:t>
            </a:r>
            <a:endParaRPr sz="1799">
              <a:latin typeface="Arial MT"/>
              <a:cs typeface="Arial MT"/>
            </a:endParaRPr>
          </a:p>
          <a:p>
            <a:pPr marL="139658">
              <a:spcBef>
                <a:spcPts val="1180"/>
              </a:spcBef>
            </a:pPr>
            <a:r>
              <a:rPr sz="1799" spc="-50" dirty="0">
                <a:latin typeface="Arial MT"/>
                <a:cs typeface="Arial MT"/>
              </a:rPr>
              <a:t>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 rot="18900000">
            <a:off x="7181724" y="5495849"/>
            <a:ext cx="96756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spc="-10" dirty="0">
                <a:latin typeface="Arial MT"/>
                <a:cs typeface="Arial MT"/>
              </a:rPr>
              <a:t>CIFAR10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 rot="18900000">
            <a:off x="7910961" y="5638450"/>
            <a:ext cx="136574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spc="-10" dirty="0">
                <a:latin typeface="Arial MT"/>
                <a:cs typeface="Arial MT"/>
              </a:rPr>
              <a:t>ImageNet-</a:t>
            </a:r>
            <a:r>
              <a:rPr sz="1799" spc="-25" dirty="0">
                <a:latin typeface="Arial MT"/>
                <a:cs typeface="Arial MT"/>
              </a:rPr>
              <a:t>1K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 rot="18900000">
            <a:off x="8875571" y="5684944"/>
            <a:ext cx="149169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9"/>
              </a:lnSpc>
            </a:pPr>
            <a:r>
              <a:rPr sz="1799" spc="-10" dirty="0">
                <a:latin typeface="Arial MT"/>
                <a:cs typeface="Arial MT"/>
              </a:rPr>
              <a:t>ImageNet-</a:t>
            </a:r>
            <a:r>
              <a:rPr sz="1799" spc="-25" dirty="0">
                <a:latin typeface="Arial MT"/>
                <a:cs typeface="Arial MT"/>
              </a:rPr>
              <a:t>22K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04095" y="1697174"/>
            <a:ext cx="269304" cy="350619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696">
              <a:lnSpc>
                <a:spcPts val="2089"/>
              </a:lnSpc>
            </a:pPr>
            <a:r>
              <a:rPr sz="1799" b="1" dirty="0">
                <a:latin typeface="Arial"/>
                <a:cs typeface="Arial"/>
              </a:rPr>
              <a:t>Number</a:t>
            </a:r>
            <a:r>
              <a:rPr sz="1799" b="1" spc="-10" dirty="0">
                <a:latin typeface="Arial"/>
                <a:cs typeface="Arial"/>
              </a:rPr>
              <a:t> </a:t>
            </a:r>
            <a:r>
              <a:rPr sz="1799" b="1" dirty="0">
                <a:latin typeface="Arial"/>
                <a:cs typeface="Arial"/>
              </a:rPr>
              <a:t>of</a:t>
            </a:r>
            <a:r>
              <a:rPr sz="1799" b="1" spc="-10" dirty="0">
                <a:latin typeface="Arial"/>
                <a:cs typeface="Arial"/>
              </a:rPr>
              <a:t> </a:t>
            </a:r>
            <a:r>
              <a:rPr sz="1799" b="1" dirty="0">
                <a:latin typeface="Arial"/>
                <a:cs typeface="Arial"/>
              </a:rPr>
              <a:t>Samples</a:t>
            </a:r>
            <a:r>
              <a:rPr sz="1799" b="1" spc="-10" dirty="0">
                <a:latin typeface="Arial"/>
                <a:cs typeface="Arial"/>
              </a:rPr>
              <a:t> </a:t>
            </a:r>
            <a:r>
              <a:rPr sz="1799" b="1" dirty="0">
                <a:latin typeface="Arial"/>
                <a:cs typeface="Arial"/>
              </a:rPr>
              <a:t>(in</a:t>
            </a:r>
            <a:r>
              <a:rPr sz="1799" b="1" spc="-10" dirty="0">
                <a:latin typeface="Arial"/>
                <a:cs typeface="Arial"/>
              </a:rPr>
              <a:t> Millions)</a:t>
            </a:r>
            <a:endParaRPr sz="179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E693-70CE-6C82-1486-EE89FAA8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8EC7D8-A44A-F68E-F66F-3D732F2B1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026" y="576037"/>
            <a:ext cx="9527594" cy="4873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3659"/>
              </a:lnSpc>
              <a:spcBef>
                <a:spcPts val="100"/>
              </a:spcBef>
            </a:pPr>
            <a:r>
              <a:rPr dirty="0"/>
              <a:t>Understand</a:t>
            </a:r>
            <a:r>
              <a:rPr spc="-50" dirty="0"/>
              <a:t> </a:t>
            </a:r>
            <a:r>
              <a:rPr lang="en-US" dirty="0"/>
              <a:t>ML</a:t>
            </a:r>
            <a:r>
              <a:rPr spc="-215" dirty="0"/>
              <a:t> </a:t>
            </a:r>
            <a:r>
              <a:rPr spc="-10" dirty="0"/>
              <a:t>Applications: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AD859BC-778F-3101-18C9-800DCB9F555D}"/>
              </a:ext>
            </a:extLst>
          </p:cNvPr>
          <p:cNvSpPr txBox="1"/>
          <p:nvPr/>
        </p:nvSpPr>
        <p:spPr>
          <a:xfrm>
            <a:off x="2938137" y="3679379"/>
            <a:ext cx="5763029" cy="21899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Convolutional Neural Networks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Recurrent</a:t>
            </a:r>
            <a:r>
              <a:rPr sz="2799" b="1" spc="-8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799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Neural</a:t>
            </a:r>
            <a:r>
              <a:rPr sz="2799" b="1" spc="-9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799" b="1" spc="-1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Networks</a:t>
            </a:r>
            <a:endParaRPr sz="2799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469124" indent="-456428">
              <a:lnSpc>
                <a:spcPts val="3324"/>
              </a:lnSpc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Transformers</a:t>
            </a:r>
          </a:p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Graph Neural Networks</a:t>
            </a:r>
          </a:p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Mixture-of-Experts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8E0EE-8AAE-D975-7DEB-F557513BBBAD}"/>
              </a:ext>
            </a:extLst>
          </p:cNvPr>
          <p:cNvSpPr txBox="1"/>
          <p:nvPr/>
        </p:nvSpPr>
        <p:spPr>
          <a:xfrm>
            <a:off x="1830789" y="2752556"/>
            <a:ext cx="8189859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>
              <a:spcBef>
                <a:spcPts val="100"/>
              </a:spcBef>
              <a:tabLst>
                <a:tab pos="469124" algn="l"/>
              </a:tabLst>
            </a:pPr>
            <a:r>
              <a:rPr lang="en-US" sz="2799" b="1" dirty="0">
                <a:latin typeface="Arial"/>
                <a:cs typeface="Arial"/>
              </a:rPr>
              <a:t>An Overview of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2605319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B090-29DD-828C-ED27-74E2D1B9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8BBAE60-4940-B717-B91D-FD6C698C1CCA}"/>
              </a:ext>
            </a:extLst>
          </p:cNvPr>
          <p:cNvSpPr txBox="1">
            <a:spLocks/>
          </p:cNvSpPr>
          <p:nvPr/>
        </p:nvSpPr>
        <p:spPr>
          <a:xfrm>
            <a:off x="572987" y="85343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199" b="0" i="0" kern="1200">
                <a:solidFill>
                  <a:srgbClr val="8B1514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sz="4000" dirty="0">
                <a:solidFill>
                  <a:srgbClr val="DC4400"/>
                </a:solidFill>
                <a:latin typeface="Impact"/>
              </a:rPr>
              <a:t>Recurrent Neural Networks: Process Sequences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9CD01BD-7663-320A-D9F1-1BE9FA4EDC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413" y="1607024"/>
            <a:ext cx="1483215" cy="3624906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D32F8343-10E0-E7A3-F1AF-2AB5C35E5346}"/>
              </a:ext>
            </a:extLst>
          </p:cNvPr>
          <p:cNvSpPr/>
          <p:nvPr/>
        </p:nvSpPr>
        <p:spPr>
          <a:xfrm>
            <a:off x="1004852" y="5308110"/>
            <a:ext cx="335193" cy="450733"/>
          </a:xfrm>
          <a:custGeom>
            <a:avLst/>
            <a:gdLst/>
            <a:ahLst/>
            <a:cxnLst/>
            <a:rect l="l" t="t" r="r" b="b"/>
            <a:pathLst>
              <a:path w="335280" h="450850">
                <a:moveTo>
                  <a:pt x="82634" y="81234"/>
                </a:moveTo>
                <a:lnTo>
                  <a:pt x="51821" y="103643"/>
                </a:lnTo>
                <a:lnTo>
                  <a:pt x="303907" y="450261"/>
                </a:lnTo>
                <a:lnTo>
                  <a:pt x="334719" y="427852"/>
                </a:lnTo>
                <a:lnTo>
                  <a:pt x="82634" y="81234"/>
                </a:lnTo>
                <a:close/>
              </a:path>
              <a:path w="335280" h="450850">
                <a:moveTo>
                  <a:pt x="0" y="0"/>
                </a:moveTo>
                <a:lnTo>
                  <a:pt x="21008" y="126052"/>
                </a:lnTo>
                <a:lnTo>
                  <a:pt x="51821" y="103643"/>
                </a:lnTo>
                <a:lnTo>
                  <a:pt x="40616" y="88237"/>
                </a:lnTo>
                <a:lnTo>
                  <a:pt x="71429" y="65827"/>
                </a:lnTo>
                <a:lnTo>
                  <a:pt x="103818" y="65827"/>
                </a:lnTo>
                <a:lnTo>
                  <a:pt x="113447" y="58825"/>
                </a:lnTo>
                <a:lnTo>
                  <a:pt x="0" y="0"/>
                </a:lnTo>
                <a:close/>
              </a:path>
              <a:path w="335280" h="450850">
                <a:moveTo>
                  <a:pt x="71429" y="65827"/>
                </a:moveTo>
                <a:lnTo>
                  <a:pt x="40616" y="88237"/>
                </a:lnTo>
                <a:lnTo>
                  <a:pt x="51821" y="103643"/>
                </a:lnTo>
                <a:lnTo>
                  <a:pt x="82634" y="81234"/>
                </a:lnTo>
                <a:lnTo>
                  <a:pt x="71429" y="65827"/>
                </a:lnTo>
                <a:close/>
              </a:path>
              <a:path w="335280" h="450850">
                <a:moveTo>
                  <a:pt x="103818" y="65827"/>
                </a:moveTo>
                <a:lnTo>
                  <a:pt x="71429" y="65827"/>
                </a:lnTo>
                <a:lnTo>
                  <a:pt x="82634" y="81234"/>
                </a:lnTo>
                <a:lnTo>
                  <a:pt x="103818" y="65827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BAB209F-9E18-4229-C3E3-7028D399D63E}"/>
              </a:ext>
            </a:extLst>
          </p:cNvPr>
          <p:cNvSpPr txBox="1"/>
          <p:nvPr/>
        </p:nvSpPr>
        <p:spPr>
          <a:xfrm>
            <a:off x="742575" y="5767731"/>
            <a:ext cx="2903099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Vanilla</a:t>
            </a:r>
            <a:r>
              <a:rPr sz="1999" b="1" spc="-7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1999" b="1" spc="-7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19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843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1AF1-625D-009E-4DDB-65E4D948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8ED5-5329-215F-FDC8-351464D9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10E25A9-FFC3-5269-320D-1FC3C67E5CE0}"/>
              </a:ext>
            </a:extLst>
          </p:cNvPr>
          <p:cNvSpPr txBox="1">
            <a:spLocks/>
          </p:cNvSpPr>
          <p:nvPr/>
        </p:nvSpPr>
        <p:spPr>
          <a:xfrm>
            <a:off x="572987" y="85343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199" b="0" i="0" kern="1200">
                <a:solidFill>
                  <a:srgbClr val="8B1514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sz="4000" dirty="0">
                <a:solidFill>
                  <a:srgbClr val="DC4400"/>
                </a:solidFill>
                <a:latin typeface="Impact"/>
              </a:rPr>
              <a:t>Recurrent Neural Networks: Process Sequences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9CD602D3-6D0D-56F9-C223-331F600FBDC3}"/>
              </a:ext>
            </a:extLst>
          </p:cNvPr>
          <p:cNvGrpSpPr/>
          <p:nvPr/>
        </p:nvGrpSpPr>
        <p:grpSpPr>
          <a:xfrm>
            <a:off x="266573" y="1600676"/>
            <a:ext cx="3661725" cy="4155628"/>
            <a:chOff x="266642" y="1600200"/>
            <a:chExt cx="3662679" cy="415671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CBEB1AAF-3408-9B04-9E29-4953B1CB2F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642" y="1600200"/>
              <a:ext cx="3662433" cy="3657600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F7417A4B-249D-B0C8-3CC4-486A0FE53C96}"/>
                </a:ext>
              </a:extLst>
            </p:cNvPr>
            <p:cNvSpPr/>
            <p:nvPr/>
          </p:nvSpPr>
          <p:spPr>
            <a:xfrm>
              <a:off x="2928256" y="5225143"/>
              <a:ext cx="283210" cy="531495"/>
            </a:xfrm>
            <a:custGeom>
              <a:avLst/>
              <a:gdLst/>
              <a:ahLst/>
              <a:cxnLst/>
              <a:rect l="l" t="t" r="r" b="b"/>
              <a:pathLst>
                <a:path w="283210" h="531495">
                  <a:moveTo>
                    <a:pt x="68800" y="93240"/>
                  </a:moveTo>
                  <a:lnTo>
                    <a:pt x="34841" y="110513"/>
                  </a:lnTo>
                  <a:lnTo>
                    <a:pt x="248803" y="531150"/>
                  </a:lnTo>
                  <a:lnTo>
                    <a:pt x="282762" y="513876"/>
                  </a:lnTo>
                  <a:lnTo>
                    <a:pt x="68800" y="93240"/>
                  </a:lnTo>
                  <a:close/>
                </a:path>
                <a:path w="283210" h="531495">
                  <a:moveTo>
                    <a:pt x="0" y="0"/>
                  </a:moveTo>
                  <a:lnTo>
                    <a:pt x="524" y="75966"/>
                  </a:lnTo>
                  <a:lnTo>
                    <a:pt x="644" y="93240"/>
                  </a:lnTo>
                  <a:lnTo>
                    <a:pt x="763" y="110513"/>
                  </a:lnTo>
                  <a:lnTo>
                    <a:pt x="882" y="127787"/>
                  </a:lnTo>
                  <a:lnTo>
                    <a:pt x="34841" y="110513"/>
                  </a:lnTo>
                  <a:lnTo>
                    <a:pt x="26205" y="93534"/>
                  </a:lnTo>
                  <a:lnTo>
                    <a:pt x="60163" y="76260"/>
                  </a:lnTo>
                  <a:lnTo>
                    <a:pt x="102180" y="76260"/>
                  </a:lnTo>
                  <a:lnTo>
                    <a:pt x="102759" y="75966"/>
                  </a:lnTo>
                  <a:lnTo>
                    <a:pt x="0" y="0"/>
                  </a:lnTo>
                  <a:close/>
                </a:path>
                <a:path w="283210" h="531495">
                  <a:moveTo>
                    <a:pt x="60163" y="76260"/>
                  </a:moveTo>
                  <a:lnTo>
                    <a:pt x="26205" y="93534"/>
                  </a:lnTo>
                  <a:lnTo>
                    <a:pt x="34841" y="110513"/>
                  </a:lnTo>
                  <a:lnTo>
                    <a:pt x="68800" y="93240"/>
                  </a:lnTo>
                  <a:lnTo>
                    <a:pt x="60163" y="76260"/>
                  </a:lnTo>
                  <a:close/>
                </a:path>
                <a:path w="283210" h="531495">
                  <a:moveTo>
                    <a:pt x="102180" y="76260"/>
                  </a:moveTo>
                  <a:lnTo>
                    <a:pt x="60163" y="76260"/>
                  </a:lnTo>
                  <a:lnTo>
                    <a:pt x="68800" y="93240"/>
                  </a:lnTo>
                  <a:lnTo>
                    <a:pt x="102180" y="7626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01AD795E-45D9-EE7C-5BE9-3F025047B57D}"/>
              </a:ext>
            </a:extLst>
          </p:cNvPr>
          <p:cNvSpPr txBox="1"/>
          <p:nvPr/>
        </p:nvSpPr>
        <p:spPr>
          <a:xfrm>
            <a:off x="1460845" y="5767731"/>
            <a:ext cx="3430011" cy="63483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>
              <a:spcBef>
                <a:spcPts val="100"/>
              </a:spcBef>
            </a:pP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e.g.,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image</a:t>
            </a:r>
            <a:r>
              <a:rPr sz="1999" b="1" spc="-4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captioning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Image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-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&gt;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sequence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of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words</a:t>
            </a:r>
            <a:endParaRPr sz="19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2377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8DC7D0-2464-FC19-80DB-0E74F89570D8}"/>
              </a:ext>
            </a:extLst>
          </p:cNvPr>
          <p:cNvSpPr txBox="1">
            <a:spLocks/>
          </p:cNvSpPr>
          <p:nvPr/>
        </p:nvSpPr>
        <p:spPr>
          <a:xfrm>
            <a:off x="572987" y="85343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199" b="0" i="0" kern="1200">
                <a:solidFill>
                  <a:srgbClr val="8B1514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sz="4000" dirty="0">
                <a:solidFill>
                  <a:srgbClr val="DC4400"/>
                </a:solidFill>
                <a:latin typeface="Impact"/>
              </a:rPr>
              <a:t>Recurrent Neural Networks: Process Sequences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4766464-9F3E-9AF4-BBE8-A2477C06FDEC}"/>
              </a:ext>
            </a:extLst>
          </p:cNvPr>
          <p:cNvGrpSpPr/>
          <p:nvPr/>
        </p:nvGrpSpPr>
        <p:grpSpPr>
          <a:xfrm>
            <a:off x="266610" y="1600676"/>
            <a:ext cx="5903327" cy="4155628"/>
            <a:chOff x="266679" y="1600200"/>
            <a:chExt cx="5904865" cy="41567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A5CB8F8-F6CD-E5BF-2D86-306F6D2C7D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679" y="1600200"/>
              <a:ext cx="5904631" cy="36576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714EF2-875B-82CE-3321-BDF972CB3DE2}"/>
                </a:ext>
              </a:extLst>
            </p:cNvPr>
            <p:cNvSpPr/>
            <p:nvPr/>
          </p:nvSpPr>
          <p:spPr>
            <a:xfrm>
              <a:off x="5181600" y="5225143"/>
              <a:ext cx="283210" cy="531495"/>
            </a:xfrm>
            <a:custGeom>
              <a:avLst/>
              <a:gdLst/>
              <a:ahLst/>
              <a:cxnLst/>
              <a:rect l="l" t="t" r="r" b="b"/>
              <a:pathLst>
                <a:path w="283210" h="531495">
                  <a:moveTo>
                    <a:pt x="68800" y="93240"/>
                  </a:moveTo>
                  <a:lnTo>
                    <a:pt x="34840" y="110514"/>
                  </a:lnTo>
                  <a:lnTo>
                    <a:pt x="248803" y="531150"/>
                  </a:lnTo>
                  <a:lnTo>
                    <a:pt x="282761" y="513876"/>
                  </a:lnTo>
                  <a:lnTo>
                    <a:pt x="68800" y="93240"/>
                  </a:lnTo>
                  <a:close/>
                </a:path>
                <a:path w="283210" h="531495">
                  <a:moveTo>
                    <a:pt x="0" y="0"/>
                  </a:moveTo>
                  <a:lnTo>
                    <a:pt x="524" y="75966"/>
                  </a:lnTo>
                  <a:lnTo>
                    <a:pt x="644" y="93240"/>
                  </a:lnTo>
                  <a:lnTo>
                    <a:pt x="763" y="110514"/>
                  </a:lnTo>
                  <a:lnTo>
                    <a:pt x="882" y="127787"/>
                  </a:lnTo>
                  <a:lnTo>
                    <a:pt x="34840" y="110514"/>
                  </a:lnTo>
                  <a:lnTo>
                    <a:pt x="26203" y="93534"/>
                  </a:lnTo>
                  <a:lnTo>
                    <a:pt x="60163" y="76260"/>
                  </a:lnTo>
                  <a:lnTo>
                    <a:pt x="102180" y="76260"/>
                  </a:lnTo>
                  <a:lnTo>
                    <a:pt x="102759" y="75966"/>
                  </a:lnTo>
                  <a:lnTo>
                    <a:pt x="0" y="0"/>
                  </a:lnTo>
                  <a:close/>
                </a:path>
                <a:path w="283210" h="531495">
                  <a:moveTo>
                    <a:pt x="60163" y="76260"/>
                  </a:moveTo>
                  <a:lnTo>
                    <a:pt x="26203" y="93534"/>
                  </a:lnTo>
                  <a:lnTo>
                    <a:pt x="34840" y="110514"/>
                  </a:lnTo>
                  <a:lnTo>
                    <a:pt x="68800" y="93240"/>
                  </a:lnTo>
                  <a:lnTo>
                    <a:pt x="60163" y="76260"/>
                  </a:lnTo>
                  <a:close/>
                </a:path>
                <a:path w="283210" h="531495">
                  <a:moveTo>
                    <a:pt x="102180" y="76260"/>
                  </a:moveTo>
                  <a:lnTo>
                    <a:pt x="60163" y="76260"/>
                  </a:lnTo>
                  <a:lnTo>
                    <a:pt x="68800" y="93240"/>
                  </a:lnTo>
                  <a:lnTo>
                    <a:pt x="102180" y="7626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C2358C2-C098-834C-F57C-A6940A3F4137}"/>
              </a:ext>
            </a:extLst>
          </p:cNvPr>
          <p:cNvSpPr txBox="1"/>
          <p:nvPr/>
        </p:nvSpPr>
        <p:spPr>
          <a:xfrm>
            <a:off x="4725709" y="5767731"/>
            <a:ext cx="4261645" cy="63483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e.g.,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action</a:t>
            </a:r>
            <a:r>
              <a:rPr sz="1999" b="1" spc="-3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prediction</a:t>
            </a:r>
            <a:endParaRPr sz="1999">
              <a:latin typeface="Arial"/>
              <a:cs typeface="Arial"/>
            </a:endParaRPr>
          </a:p>
          <a:p>
            <a:pPr marL="12696"/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sequence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of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video</a:t>
            </a:r>
            <a:r>
              <a:rPr sz="1999" b="1" spc="-4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frames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-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&gt;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action</a:t>
            </a:r>
            <a:endParaRPr sz="199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1486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DD9207-78DE-EAA1-BD07-8CA0C020F4D3}"/>
              </a:ext>
            </a:extLst>
          </p:cNvPr>
          <p:cNvSpPr txBox="1">
            <a:spLocks/>
          </p:cNvSpPr>
          <p:nvPr/>
        </p:nvSpPr>
        <p:spPr>
          <a:xfrm>
            <a:off x="912741" y="1251413"/>
            <a:ext cx="10360168" cy="158822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/>
              <a:t>Recurrent</a:t>
            </a:r>
            <a:r>
              <a:rPr lang="en-US" spc="-60"/>
              <a:t> </a:t>
            </a:r>
            <a:r>
              <a:rPr lang="en-US"/>
              <a:t>Neural</a:t>
            </a:r>
            <a:r>
              <a:rPr lang="en-US" spc="-55"/>
              <a:t> </a:t>
            </a:r>
            <a:r>
              <a:rPr lang="en-US"/>
              <a:t>Networks:</a:t>
            </a:r>
            <a:r>
              <a:rPr lang="en-US" spc="-60"/>
              <a:t> </a:t>
            </a:r>
            <a:r>
              <a:rPr lang="en-US"/>
              <a:t>Process</a:t>
            </a:r>
            <a:r>
              <a:rPr lang="en-US" spc="-60"/>
              <a:t> </a:t>
            </a:r>
            <a:r>
              <a:rPr lang="en-US" spc="-10"/>
              <a:t>Sequences</a:t>
            </a:r>
            <a:endParaRPr lang="en-US"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C53FCD6-2E6E-B7DB-9411-72505DC408E8}"/>
              </a:ext>
            </a:extLst>
          </p:cNvPr>
          <p:cNvGrpSpPr/>
          <p:nvPr/>
        </p:nvGrpSpPr>
        <p:grpSpPr>
          <a:xfrm>
            <a:off x="266635" y="1600677"/>
            <a:ext cx="11592715" cy="3894710"/>
            <a:chOff x="266704" y="1600200"/>
            <a:chExt cx="11595735" cy="38957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6224C02-769C-12F0-7BD6-059DAA6AFF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4" y="1600200"/>
              <a:ext cx="11595444" cy="36576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8078448-32D6-A0F6-0247-EA64D4E07BE3}"/>
                </a:ext>
              </a:extLst>
            </p:cNvPr>
            <p:cNvSpPr/>
            <p:nvPr/>
          </p:nvSpPr>
          <p:spPr>
            <a:xfrm>
              <a:off x="6003799" y="5154085"/>
              <a:ext cx="636905" cy="341630"/>
            </a:xfrm>
            <a:custGeom>
              <a:avLst/>
              <a:gdLst/>
              <a:ahLst/>
              <a:cxnLst/>
              <a:rect l="l" t="t" r="r" b="b"/>
              <a:pathLst>
                <a:path w="636904" h="341629">
                  <a:moveTo>
                    <a:pt x="526196" y="35548"/>
                  </a:moveTo>
                  <a:lnTo>
                    <a:pt x="0" y="307454"/>
                  </a:lnTo>
                  <a:lnTo>
                    <a:pt x="17490" y="341302"/>
                  </a:lnTo>
                  <a:lnTo>
                    <a:pt x="543687" y="69396"/>
                  </a:lnTo>
                  <a:lnTo>
                    <a:pt x="526196" y="35548"/>
                  </a:lnTo>
                  <a:close/>
                </a:path>
                <a:path w="636904" h="341629">
                  <a:moveTo>
                    <a:pt x="616936" y="26803"/>
                  </a:moveTo>
                  <a:lnTo>
                    <a:pt x="543120" y="26803"/>
                  </a:lnTo>
                  <a:lnTo>
                    <a:pt x="560612" y="60651"/>
                  </a:lnTo>
                  <a:lnTo>
                    <a:pt x="543687" y="69396"/>
                  </a:lnTo>
                  <a:lnTo>
                    <a:pt x="561178" y="103244"/>
                  </a:lnTo>
                  <a:lnTo>
                    <a:pt x="616936" y="26803"/>
                  </a:lnTo>
                  <a:close/>
                </a:path>
                <a:path w="636904" h="341629">
                  <a:moveTo>
                    <a:pt x="543120" y="26803"/>
                  </a:moveTo>
                  <a:lnTo>
                    <a:pt x="526196" y="35548"/>
                  </a:lnTo>
                  <a:lnTo>
                    <a:pt x="543687" y="69396"/>
                  </a:lnTo>
                  <a:lnTo>
                    <a:pt x="560612" y="60651"/>
                  </a:lnTo>
                  <a:lnTo>
                    <a:pt x="543120" y="26803"/>
                  </a:lnTo>
                  <a:close/>
                </a:path>
                <a:path w="636904" h="341629">
                  <a:moveTo>
                    <a:pt x="636487" y="0"/>
                  </a:moveTo>
                  <a:lnTo>
                    <a:pt x="508706" y="1700"/>
                  </a:lnTo>
                  <a:lnTo>
                    <a:pt x="526196" y="35548"/>
                  </a:lnTo>
                  <a:lnTo>
                    <a:pt x="543120" y="26803"/>
                  </a:lnTo>
                  <a:lnTo>
                    <a:pt x="616936" y="26803"/>
                  </a:lnTo>
                  <a:lnTo>
                    <a:pt x="636487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9614439-08BD-60AD-02D3-7460A34825B2}"/>
              </a:ext>
            </a:extLst>
          </p:cNvPr>
          <p:cNvSpPr txBox="1"/>
          <p:nvPr/>
        </p:nvSpPr>
        <p:spPr>
          <a:xfrm>
            <a:off x="3860520" y="5499577"/>
            <a:ext cx="4261645" cy="9395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>
              <a:spcBef>
                <a:spcPts val="100"/>
              </a:spcBef>
            </a:pP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Video</a:t>
            </a:r>
            <a:r>
              <a:rPr sz="1999" b="1" spc="-10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captioning:</a:t>
            </a:r>
            <a:r>
              <a:rPr sz="1999" b="1" spc="-10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sequence</a:t>
            </a:r>
            <a:r>
              <a:rPr sz="1999" b="1" spc="-10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25" dirty="0">
                <a:solidFill>
                  <a:srgbClr val="ED7D31"/>
                </a:solidFill>
                <a:latin typeface="Arial"/>
                <a:cs typeface="Arial"/>
              </a:rPr>
              <a:t>of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video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frames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-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&gt;</a:t>
            </a:r>
            <a:r>
              <a:rPr sz="19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sequence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of</a:t>
            </a:r>
            <a:r>
              <a:rPr sz="19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words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Machine</a:t>
            </a:r>
            <a:r>
              <a:rPr sz="1999" b="1" spc="-7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translation</a:t>
            </a:r>
            <a:endParaRPr sz="1999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94E733-5247-A353-D40D-DC66D3449470}"/>
              </a:ext>
            </a:extLst>
          </p:cNvPr>
          <p:cNvSpPr/>
          <p:nvPr/>
        </p:nvSpPr>
        <p:spPr>
          <a:xfrm>
            <a:off x="10132252" y="5216316"/>
            <a:ext cx="761802" cy="583413"/>
          </a:xfrm>
          <a:custGeom>
            <a:avLst/>
            <a:gdLst/>
            <a:ahLst/>
            <a:cxnLst/>
            <a:rect l="l" t="t" r="r" b="b"/>
            <a:pathLst>
              <a:path w="762000" h="583564">
                <a:moveTo>
                  <a:pt x="659090" y="53825"/>
                </a:moveTo>
                <a:lnTo>
                  <a:pt x="0" y="553021"/>
                </a:lnTo>
                <a:lnTo>
                  <a:pt x="23003" y="583393"/>
                </a:lnTo>
                <a:lnTo>
                  <a:pt x="682093" y="84196"/>
                </a:lnTo>
                <a:lnTo>
                  <a:pt x="659090" y="53825"/>
                </a:lnTo>
                <a:close/>
              </a:path>
              <a:path w="762000" h="583564">
                <a:moveTo>
                  <a:pt x="740795" y="42324"/>
                </a:moveTo>
                <a:lnTo>
                  <a:pt x="674276" y="42324"/>
                </a:lnTo>
                <a:lnTo>
                  <a:pt x="697279" y="72694"/>
                </a:lnTo>
                <a:lnTo>
                  <a:pt x="682093" y="84196"/>
                </a:lnTo>
                <a:lnTo>
                  <a:pt x="705097" y="114569"/>
                </a:lnTo>
                <a:lnTo>
                  <a:pt x="740795" y="42324"/>
                </a:lnTo>
                <a:close/>
              </a:path>
              <a:path w="762000" h="583564">
                <a:moveTo>
                  <a:pt x="674276" y="42324"/>
                </a:moveTo>
                <a:lnTo>
                  <a:pt x="659090" y="53825"/>
                </a:lnTo>
                <a:lnTo>
                  <a:pt x="682093" y="84196"/>
                </a:lnTo>
                <a:lnTo>
                  <a:pt x="697279" y="72694"/>
                </a:lnTo>
                <a:lnTo>
                  <a:pt x="674276" y="42324"/>
                </a:lnTo>
                <a:close/>
              </a:path>
              <a:path w="762000" h="583564">
                <a:moveTo>
                  <a:pt x="761707" y="0"/>
                </a:moveTo>
                <a:lnTo>
                  <a:pt x="636087" y="23453"/>
                </a:lnTo>
                <a:lnTo>
                  <a:pt x="659090" y="53825"/>
                </a:lnTo>
                <a:lnTo>
                  <a:pt x="674276" y="42324"/>
                </a:lnTo>
                <a:lnTo>
                  <a:pt x="740795" y="42324"/>
                </a:lnTo>
                <a:lnTo>
                  <a:pt x="76170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CBCB6FD-4DDB-F206-6AB7-35AE9A3735DD}"/>
              </a:ext>
            </a:extLst>
          </p:cNvPr>
          <p:cNvSpPr txBox="1"/>
          <p:nvPr/>
        </p:nvSpPr>
        <p:spPr>
          <a:xfrm>
            <a:off x="8895667" y="5804297"/>
            <a:ext cx="2389518" cy="63483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 marR="5078">
              <a:spcBef>
                <a:spcPts val="100"/>
              </a:spcBef>
            </a:pP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Video</a:t>
            </a:r>
            <a:r>
              <a:rPr sz="1999" b="1" spc="-9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classification </a:t>
            </a:r>
            <a:r>
              <a:rPr sz="1999" b="1" dirty="0">
                <a:solidFill>
                  <a:srgbClr val="ED7D31"/>
                </a:solidFill>
                <a:latin typeface="Arial"/>
                <a:cs typeface="Arial"/>
              </a:rPr>
              <a:t>on</a:t>
            </a:r>
            <a:r>
              <a:rPr sz="1999" b="1" spc="-3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frames</a:t>
            </a:r>
            <a:endParaRPr sz="1999">
              <a:latin typeface="Arial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5448794-A971-D824-9B50-C6583C29CE7C}"/>
              </a:ext>
            </a:extLst>
          </p:cNvPr>
          <p:cNvSpPr txBox="1">
            <a:spLocks/>
          </p:cNvSpPr>
          <p:nvPr/>
        </p:nvSpPr>
        <p:spPr>
          <a:xfrm>
            <a:off x="572987" y="85343"/>
            <a:ext cx="10360168" cy="849915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199" b="0" i="0" kern="1200">
                <a:solidFill>
                  <a:srgbClr val="8B1514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sz="4000" dirty="0">
                <a:solidFill>
                  <a:srgbClr val="DC4400"/>
                </a:solidFill>
                <a:latin typeface="Impact"/>
              </a:rPr>
              <a:t>Recurrent Neural Networks: Process Sequences</a:t>
            </a:r>
          </a:p>
        </p:txBody>
      </p:sp>
    </p:spTree>
    <p:extLst>
      <p:ext uri="{BB962C8B-B14F-4D97-AF65-F5344CB8AC3E}">
        <p14:creationId xmlns:p14="http://schemas.microsoft.com/office/powerpoint/2010/main" val="8593884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015" y="158420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Recurrent</a:t>
            </a:r>
            <a:r>
              <a:rPr spc="-60" dirty="0"/>
              <a:t> </a:t>
            </a:r>
            <a:r>
              <a:rPr dirty="0"/>
              <a:t>Neural</a:t>
            </a:r>
            <a:r>
              <a:rPr spc="-5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703" y="1720386"/>
            <a:ext cx="1349658" cy="512698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233618" rIns="0" bIns="0" rtlCol="0">
            <a:spAutoFit/>
          </a:bodyPr>
          <a:lstStyle/>
          <a:p>
            <a:pPr marL="210757">
              <a:spcBef>
                <a:spcPts val="1838"/>
              </a:spcBef>
            </a:pPr>
            <a:r>
              <a:rPr sz="1799" spc="-10" dirty="0">
                <a:latin typeface="Arial MT"/>
                <a:cs typeface="Arial MT"/>
              </a:rPr>
              <a:t>outputs[i]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69" y="3178693"/>
            <a:ext cx="2173674" cy="1106682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82198" rIns="0" bIns="0" rtlCol="0">
            <a:spAutoFit/>
          </a:bodyPr>
          <a:lstStyle/>
          <a:p>
            <a:pPr marL="486263" marR="479281" algn="ctr">
              <a:spcBef>
                <a:spcPts val="1435"/>
              </a:spcBef>
            </a:pPr>
            <a:r>
              <a:rPr sz="1999" b="1" spc="-10" dirty="0">
                <a:solidFill>
                  <a:srgbClr val="FFFFFF"/>
                </a:solidFill>
                <a:latin typeface="Arial"/>
                <a:cs typeface="Arial"/>
              </a:rPr>
              <a:t>Recurrent Neural Networks</a:t>
            </a:r>
            <a:endParaRPr sz="199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703" y="5202910"/>
            <a:ext cx="1349658" cy="51334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234254" rIns="0" bIns="0" rtlCol="0">
            <a:spAutoFit/>
          </a:bodyPr>
          <a:lstStyle/>
          <a:p>
            <a:pPr marL="280586">
              <a:spcBef>
                <a:spcPts val="1844"/>
              </a:spcBef>
            </a:pPr>
            <a:r>
              <a:rPr sz="1799" spc="-10" dirty="0">
                <a:latin typeface="Arial MT"/>
                <a:cs typeface="Arial MT"/>
              </a:rPr>
              <a:t>inputs[i]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71023" y="4484640"/>
            <a:ext cx="142838" cy="718633"/>
          </a:xfrm>
          <a:custGeom>
            <a:avLst/>
            <a:gdLst/>
            <a:ahLst/>
            <a:cxnLst/>
            <a:rect l="l" t="t" r="r" b="b"/>
            <a:pathLst>
              <a:path w="142875" h="718820">
                <a:moveTo>
                  <a:pt x="85725" y="128587"/>
                </a:moveTo>
                <a:lnTo>
                  <a:pt x="57150" y="128587"/>
                </a:lnTo>
                <a:lnTo>
                  <a:pt x="57148" y="718458"/>
                </a:lnTo>
                <a:lnTo>
                  <a:pt x="85723" y="718458"/>
                </a:lnTo>
                <a:lnTo>
                  <a:pt x="85725" y="128587"/>
                </a:lnTo>
                <a:close/>
              </a:path>
              <a:path w="142875" h="718820">
                <a:moveTo>
                  <a:pt x="71437" y="0"/>
                </a:moveTo>
                <a:lnTo>
                  <a:pt x="0" y="142875"/>
                </a:lnTo>
                <a:lnTo>
                  <a:pt x="57149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718820">
                <a:moveTo>
                  <a:pt x="135731" y="128587"/>
                </a:moveTo>
                <a:lnTo>
                  <a:pt x="85725" y="128587"/>
                </a:lnTo>
                <a:lnTo>
                  <a:pt x="85724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7" name="object 7"/>
          <p:cNvSpPr/>
          <p:nvPr/>
        </p:nvSpPr>
        <p:spPr>
          <a:xfrm>
            <a:off x="4871022" y="2460423"/>
            <a:ext cx="142838" cy="718633"/>
          </a:xfrm>
          <a:custGeom>
            <a:avLst/>
            <a:gdLst/>
            <a:ahLst/>
            <a:cxnLst/>
            <a:rect l="l" t="t" r="r" b="b"/>
            <a:pathLst>
              <a:path w="142875" h="718819">
                <a:moveTo>
                  <a:pt x="85725" y="128586"/>
                </a:moveTo>
                <a:lnTo>
                  <a:pt x="57150" y="128586"/>
                </a:lnTo>
                <a:lnTo>
                  <a:pt x="57151" y="718456"/>
                </a:lnTo>
                <a:lnTo>
                  <a:pt x="85726" y="718456"/>
                </a:lnTo>
                <a:lnTo>
                  <a:pt x="85725" y="128586"/>
                </a:lnTo>
                <a:close/>
              </a:path>
              <a:path w="142875" h="718819">
                <a:moveTo>
                  <a:pt x="71437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6"/>
                </a:lnTo>
                <a:lnTo>
                  <a:pt x="135731" y="128586"/>
                </a:lnTo>
                <a:lnTo>
                  <a:pt x="71437" y="0"/>
                </a:lnTo>
                <a:close/>
              </a:path>
              <a:path w="142875" h="718819">
                <a:moveTo>
                  <a:pt x="135731" y="128586"/>
                </a:moveTo>
                <a:lnTo>
                  <a:pt x="85725" y="128586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/>
          <p:nvPr/>
        </p:nvSpPr>
        <p:spPr>
          <a:xfrm>
            <a:off x="6091045" y="3529389"/>
            <a:ext cx="616424" cy="601823"/>
          </a:xfrm>
          <a:custGeom>
            <a:avLst/>
            <a:gdLst/>
            <a:ahLst/>
            <a:cxnLst/>
            <a:rect l="l" t="t" r="r" b="b"/>
            <a:pathLst>
              <a:path w="616584" h="601979">
                <a:moveTo>
                  <a:pt x="129348" y="469761"/>
                </a:moveTo>
                <a:lnTo>
                  <a:pt x="25138" y="590828"/>
                </a:lnTo>
                <a:lnTo>
                  <a:pt x="184517" y="601555"/>
                </a:lnTo>
                <a:lnTo>
                  <a:pt x="164751" y="554337"/>
                </a:lnTo>
                <a:lnTo>
                  <a:pt x="149313" y="554337"/>
                </a:lnTo>
                <a:lnTo>
                  <a:pt x="138193" y="528015"/>
                </a:lnTo>
                <a:lnTo>
                  <a:pt x="151398" y="522436"/>
                </a:lnTo>
                <a:lnTo>
                  <a:pt x="129348" y="469761"/>
                </a:lnTo>
                <a:close/>
              </a:path>
              <a:path w="616584" h="601979">
                <a:moveTo>
                  <a:pt x="151398" y="522436"/>
                </a:moveTo>
                <a:lnTo>
                  <a:pt x="138193" y="528015"/>
                </a:lnTo>
                <a:lnTo>
                  <a:pt x="149313" y="554337"/>
                </a:lnTo>
                <a:lnTo>
                  <a:pt x="162431" y="548795"/>
                </a:lnTo>
                <a:lnTo>
                  <a:pt x="151398" y="522436"/>
                </a:lnTo>
                <a:close/>
              </a:path>
              <a:path w="616584" h="601979">
                <a:moveTo>
                  <a:pt x="162431" y="548795"/>
                </a:moveTo>
                <a:lnTo>
                  <a:pt x="149313" y="554337"/>
                </a:lnTo>
                <a:lnTo>
                  <a:pt x="164751" y="554337"/>
                </a:lnTo>
                <a:lnTo>
                  <a:pt x="162431" y="548795"/>
                </a:lnTo>
                <a:close/>
              </a:path>
              <a:path w="616584" h="601979">
                <a:moveTo>
                  <a:pt x="615339" y="266312"/>
                </a:moveTo>
                <a:lnTo>
                  <a:pt x="586149" y="266312"/>
                </a:lnTo>
                <a:lnTo>
                  <a:pt x="585737" y="267329"/>
                </a:lnTo>
                <a:lnTo>
                  <a:pt x="585485" y="268395"/>
                </a:lnTo>
                <a:lnTo>
                  <a:pt x="585305" y="268395"/>
                </a:lnTo>
                <a:lnTo>
                  <a:pt x="583152" y="274017"/>
                </a:lnTo>
                <a:lnTo>
                  <a:pt x="582702" y="274814"/>
                </a:lnTo>
                <a:lnTo>
                  <a:pt x="582354" y="275672"/>
                </a:lnTo>
                <a:lnTo>
                  <a:pt x="582218" y="275672"/>
                </a:lnTo>
                <a:lnTo>
                  <a:pt x="578609" y="282229"/>
                </a:lnTo>
                <a:lnTo>
                  <a:pt x="575018" y="287261"/>
                </a:lnTo>
                <a:lnTo>
                  <a:pt x="572512" y="290865"/>
                </a:lnTo>
                <a:lnTo>
                  <a:pt x="566237" y="298212"/>
                </a:lnTo>
                <a:lnTo>
                  <a:pt x="564887" y="299849"/>
                </a:lnTo>
                <a:lnTo>
                  <a:pt x="555912" y="308951"/>
                </a:lnTo>
                <a:lnTo>
                  <a:pt x="555782" y="309119"/>
                </a:lnTo>
                <a:lnTo>
                  <a:pt x="545256" y="318625"/>
                </a:lnTo>
                <a:lnTo>
                  <a:pt x="505402" y="348490"/>
                </a:lnTo>
                <a:lnTo>
                  <a:pt x="455811" y="379064"/>
                </a:lnTo>
                <a:lnTo>
                  <a:pt x="416939" y="400389"/>
                </a:lnTo>
                <a:lnTo>
                  <a:pt x="375017" y="421802"/>
                </a:lnTo>
                <a:lnTo>
                  <a:pt x="329997" y="443519"/>
                </a:lnTo>
                <a:lnTo>
                  <a:pt x="282326" y="465490"/>
                </a:lnTo>
                <a:lnTo>
                  <a:pt x="232451" y="487668"/>
                </a:lnTo>
                <a:lnTo>
                  <a:pt x="180926" y="509962"/>
                </a:lnTo>
                <a:lnTo>
                  <a:pt x="151398" y="522436"/>
                </a:lnTo>
                <a:lnTo>
                  <a:pt x="162431" y="548795"/>
                </a:lnTo>
                <a:lnTo>
                  <a:pt x="244000" y="513807"/>
                </a:lnTo>
                <a:lnTo>
                  <a:pt x="294205" y="491481"/>
                </a:lnTo>
                <a:lnTo>
                  <a:pt x="342305" y="469310"/>
                </a:lnTo>
                <a:lnTo>
                  <a:pt x="387880" y="447323"/>
                </a:lnTo>
                <a:lnTo>
                  <a:pt x="430516" y="425541"/>
                </a:lnTo>
                <a:lnTo>
                  <a:pt x="469802" y="403981"/>
                </a:lnTo>
                <a:lnTo>
                  <a:pt x="505249" y="382701"/>
                </a:lnTo>
                <a:lnTo>
                  <a:pt x="550734" y="351030"/>
                </a:lnTo>
                <a:lnTo>
                  <a:pt x="585593" y="319548"/>
                </a:lnTo>
                <a:lnTo>
                  <a:pt x="608490" y="287261"/>
                </a:lnTo>
                <a:lnTo>
                  <a:pt x="613127" y="275672"/>
                </a:lnTo>
                <a:lnTo>
                  <a:pt x="582354" y="275672"/>
                </a:lnTo>
                <a:lnTo>
                  <a:pt x="582768" y="274814"/>
                </a:lnTo>
                <a:lnTo>
                  <a:pt x="613329" y="274814"/>
                </a:lnTo>
                <a:lnTo>
                  <a:pt x="614847" y="268395"/>
                </a:lnTo>
                <a:lnTo>
                  <a:pt x="585485" y="268395"/>
                </a:lnTo>
                <a:lnTo>
                  <a:pt x="585825" y="267329"/>
                </a:lnTo>
                <a:lnTo>
                  <a:pt x="615098" y="267329"/>
                </a:lnTo>
                <a:lnTo>
                  <a:pt x="615339" y="266312"/>
                </a:lnTo>
                <a:close/>
              </a:path>
              <a:path w="616584" h="601979">
                <a:moveTo>
                  <a:pt x="616064" y="259170"/>
                </a:moveTo>
                <a:lnTo>
                  <a:pt x="587665" y="259170"/>
                </a:lnTo>
                <a:lnTo>
                  <a:pt x="587375" y="260396"/>
                </a:lnTo>
                <a:lnTo>
                  <a:pt x="587305" y="261653"/>
                </a:lnTo>
                <a:lnTo>
                  <a:pt x="587078" y="261653"/>
                </a:lnTo>
                <a:lnTo>
                  <a:pt x="585737" y="267329"/>
                </a:lnTo>
                <a:lnTo>
                  <a:pt x="586149" y="266312"/>
                </a:lnTo>
                <a:lnTo>
                  <a:pt x="615339" y="266312"/>
                </a:lnTo>
                <a:lnTo>
                  <a:pt x="615763" y="264518"/>
                </a:lnTo>
                <a:lnTo>
                  <a:pt x="615924" y="261653"/>
                </a:lnTo>
                <a:lnTo>
                  <a:pt x="587305" y="261653"/>
                </a:lnTo>
                <a:lnTo>
                  <a:pt x="587487" y="260396"/>
                </a:lnTo>
                <a:lnTo>
                  <a:pt x="615995" y="260396"/>
                </a:lnTo>
                <a:lnTo>
                  <a:pt x="616064" y="259170"/>
                </a:lnTo>
                <a:close/>
              </a:path>
              <a:path w="616584" h="601979">
                <a:moveTo>
                  <a:pt x="616388" y="252567"/>
                </a:moveTo>
                <a:lnTo>
                  <a:pt x="587816" y="252567"/>
                </a:lnTo>
                <a:lnTo>
                  <a:pt x="587919" y="255258"/>
                </a:lnTo>
                <a:lnTo>
                  <a:pt x="587665" y="255258"/>
                </a:lnTo>
                <a:lnTo>
                  <a:pt x="587445" y="259170"/>
                </a:lnTo>
                <a:lnTo>
                  <a:pt x="587375" y="260396"/>
                </a:lnTo>
                <a:lnTo>
                  <a:pt x="587665" y="259170"/>
                </a:lnTo>
                <a:lnTo>
                  <a:pt x="616064" y="259170"/>
                </a:lnTo>
                <a:lnTo>
                  <a:pt x="616285" y="255258"/>
                </a:lnTo>
                <a:lnTo>
                  <a:pt x="587919" y="255258"/>
                </a:lnTo>
                <a:lnTo>
                  <a:pt x="587740" y="253916"/>
                </a:lnTo>
                <a:lnTo>
                  <a:pt x="616360" y="253916"/>
                </a:lnTo>
                <a:lnTo>
                  <a:pt x="616388" y="252567"/>
                </a:lnTo>
                <a:close/>
              </a:path>
              <a:path w="616584" h="601979">
                <a:moveTo>
                  <a:pt x="587826" y="252823"/>
                </a:moveTo>
                <a:lnTo>
                  <a:pt x="587740" y="253916"/>
                </a:lnTo>
                <a:lnTo>
                  <a:pt x="587919" y="255258"/>
                </a:lnTo>
                <a:lnTo>
                  <a:pt x="587826" y="252823"/>
                </a:lnTo>
                <a:close/>
              </a:path>
              <a:path w="616584" h="601979">
                <a:moveTo>
                  <a:pt x="615554" y="246315"/>
                </a:moveTo>
                <a:lnTo>
                  <a:pt x="586727" y="246315"/>
                </a:lnTo>
                <a:lnTo>
                  <a:pt x="586898" y="247602"/>
                </a:lnTo>
                <a:lnTo>
                  <a:pt x="587301" y="248841"/>
                </a:lnTo>
                <a:lnTo>
                  <a:pt x="587064" y="248841"/>
                </a:lnTo>
                <a:lnTo>
                  <a:pt x="587740" y="253916"/>
                </a:lnTo>
                <a:lnTo>
                  <a:pt x="587816" y="252567"/>
                </a:lnTo>
                <a:lnTo>
                  <a:pt x="616388" y="252567"/>
                </a:lnTo>
                <a:lnTo>
                  <a:pt x="615891" y="248841"/>
                </a:lnTo>
                <a:lnTo>
                  <a:pt x="587301" y="248841"/>
                </a:lnTo>
                <a:lnTo>
                  <a:pt x="587019" y="247602"/>
                </a:lnTo>
                <a:lnTo>
                  <a:pt x="615726" y="247602"/>
                </a:lnTo>
                <a:lnTo>
                  <a:pt x="615554" y="246315"/>
                </a:lnTo>
                <a:close/>
              </a:path>
              <a:path w="616584" h="601979">
                <a:moveTo>
                  <a:pt x="614485" y="240037"/>
                </a:moveTo>
                <a:lnTo>
                  <a:pt x="584441" y="240037"/>
                </a:lnTo>
                <a:lnTo>
                  <a:pt x="584854" y="241249"/>
                </a:lnTo>
                <a:lnTo>
                  <a:pt x="585332" y="242175"/>
                </a:lnTo>
                <a:lnTo>
                  <a:pt x="585135" y="242175"/>
                </a:lnTo>
                <a:lnTo>
                  <a:pt x="586898" y="247602"/>
                </a:lnTo>
                <a:lnTo>
                  <a:pt x="586727" y="246315"/>
                </a:lnTo>
                <a:lnTo>
                  <a:pt x="615554" y="246315"/>
                </a:lnTo>
                <a:lnTo>
                  <a:pt x="615002" y="242175"/>
                </a:lnTo>
                <a:lnTo>
                  <a:pt x="585332" y="242175"/>
                </a:lnTo>
                <a:lnTo>
                  <a:pt x="584946" y="241249"/>
                </a:lnTo>
                <a:lnTo>
                  <a:pt x="614879" y="241249"/>
                </a:lnTo>
                <a:lnTo>
                  <a:pt x="614485" y="240037"/>
                </a:lnTo>
                <a:close/>
              </a:path>
              <a:path w="616584" h="601979">
                <a:moveTo>
                  <a:pt x="612364" y="233506"/>
                </a:moveTo>
                <a:lnTo>
                  <a:pt x="580857" y="233506"/>
                </a:lnTo>
                <a:lnTo>
                  <a:pt x="581311" y="234386"/>
                </a:lnTo>
                <a:lnTo>
                  <a:pt x="581886" y="235198"/>
                </a:lnTo>
                <a:lnTo>
                  <a:pt x="581731" y="235198"/>
                </a:lnTo>
                <a:lnTo>
                  <a:pt x="584854" y="241249"/>
                </a:lnTo>
                <a:lnTo>
                  <a:pt x="584441" y="240037"/>
                </a:lnTo>
                <a:lnTo>
                  <a:pt x="614485" y="240037"/>
                </a:lnTo>
                <a:lnTo>
                  <a:pt x="612914" y="235198"/>
                </a:lnTo>
                <a:lnTo>
                  <a:pt x="581886" y="235198"/>
                </a:lnTo>
                <a:lnTo>
                  <a:pt x="581392" y="234386"/>
                </a:lnTo>
                <a:lnTo>
                  <a:pt x="612650" y="234386"/>
                </a:lnTo>
                <a:lnTo>
                  <a:pt x="612364" y="233506"/>
                </a:lnTo>
                <a:close/>
              </a:path>
              <a:path w="616584" h="601979">
                <a:moveTo>
                  <a:pt x="609480" y="226658"/>
                </a:moveTo>
                <a:lnTo>
                  <a:pt x="575851" y="226658"/>
                </a:lnTo>
                <a:lnTo>
                  <a:pt x="581311" y="234386"/>
                </a:lnTo>
                <a:lnTo>
                  <a:pt x="580857" y="233506"/>
                </a:lnTo>
                <a:lnTo>
                  <a:pt x="612364" y="233506"/>
                </a:lnTo>
                <a:lnTo>
                  <a:pt x="611258" y="230102"/>
                </a:lnTo>
                <a:lnTo>
                  <a:pt x="609480" y="226658"/>
                </a:lnTo>
                <a:close/>
              </a:path>
              <a:path w="616584" h="601979">
                <a:moveTo>
                  <a:pt x="6734" y="0"/>
                </a:moveTo>
                <a:lnTo>
                  <a:pt x="0" y="27769"/>
                </a:lnTo>
                <a:lnTo>
                  <a:pt x="110920" y="54670"/>
                </a:lnTo>
                <a:lnTo>
                  <a:pt x="218369" y="81852"/>
                </a:lnTo>
                <a:lnTo>
                  <a:pt x="269635" y="95617"/>
                </a:lnTo>
                <a:lnTo>
                  <a:pt x="318697" y="109543"/>
                </a:lnTo>
                <a:lnTo>
                  <a:pt x="365110" y="123664"/>
                </a:lnTo>
                <a:lnTo>
                  <a:pt x="408433" y="138007"/>
                </a:lnTo>
                <a:lnTo>
                  <a:pt x="448213" y="152593"/>
                </a:lnTo>
                <a:lnTo>
                  <a:pt x="484008" y="167434"/>
                </a:lnTo>
                <a:lnTo>
                  <a:pt x="528366" y="189699"/>
                </a:lnTo>
                <a:lnTo>
                  <a:pt x="557770" y="209491"/>
                </a:lnTo>
                <a:lnTo>
                  <a:pt x="561295" y="212209"/>
                </a:lnTo>
                <a:lnTo>
                  <a:pt x="569337" y="219534"/>
                </a:lnTo>
                <a:lnTo>
                  <a:pt x="576327" y="227332"/>
                </a:lnTo>
                <a:lnTo>
                  <a:pt x="575851" y="226658"/>
                </a:lnTo>
                <a:lnTo>
                  <a:pt x="609480" y="226658"/>
                </a:lnTo>
                <a:lnTo>
                  <a:pt x="605804" y="219534"/>
                </a:lnTo>
                <a:lnTo>
                  <a:pt x="580252" y="190820"/>
                </a:lnTo>
                <a:lnTo>
                  <a:pt x="542983" y="165143"/>
                </a:lnTo>
                <a:lnTo>
                  <a:pt x="495236" y="141145"/>
                </a:lnTo>
                <a:lnTo>
                  <a:pt x="458355" y="125864"/>
                </a:lnTo>
                <a:lnTo>
                  <a:pt x="417645" y="110949"/>
                </a:lnTo>
                <a:lnTo>
                  <a:pt x="373603" y="96376"/>
                </a:lnTo>
                <a:lnTo>
                  <a:pt x="326633" y="82090"/>
                </a:lnTo>
                <a:lnTo>
                  <a:pt x="277148" y="68045"/>
                </a:lnTo>
                <a:lnTo>
                  <a:pt x="225563" y="54197"/>
                </a:lnTo>
                <a:lnTo>
                  <a:pt x="117782" y="26931"/>
                </a:lnTo>
                <a:lnTo>
                  <a:pt x="6734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/>
          <p:cNvSpPr txBox="1"/>
          <p:nvPr/>
        </p:nvSpPr>
        <p:spPr>
          <a:xfrm>
            <a:off x="7325104" y="3065874"/>
            <a:ext cx="3515079" cy="1497575"/>
          </a:xfrm>
          <a:prstGeom prst="rect">
            <a:avLst/>
          </a:prstGeom>
        </p:spPr>
        <p:txBody>
          <a:bodyPr vert="horz" wrap="square" lIns="0" tIns="9523" rIns="0" bIns="0" rtlCol="0">
            <a:spAutoFit/>
          </a:bodyPr>
          <a:lstStyle/>
          <a:p>
            <a:pPr marL="12696" marR="5078">
              <a:lnSpc>
                <a:spcPct val="100800"/>
              </a:lnSpc>
              <a:spcBef>
                <a:spcPts val="75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Key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idea: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RNNs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have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25" dirty="0">
                <a:solidFill>
                  <a:srgbClr val="ED7D31"/>
                </a:solidFill>
                <a:latin typeface="Arial"/>
                <a:cs typeface="Arial"/>
              </a:rPr>
              <a:t>an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internal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state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that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25" dirty="0">
                <a:solidFill>
                  <a:srgbClr val="ED7D31"/>
                </a:solidFill>
                <a:latin typeface="Arial"/>
                <a:cs typeface="Arial"/>
              </a:rPr>
              <a:t>is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updated</a:t>
            </a:r>
            <a:r>
              <a:rPr sz="2399" b="1" spc="-4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as</a:t>
            </a:r>
            <a:r>
              <a:rPr sz="2399" b="1" spc="-3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a</a:t>
            </a:r>
            <a:r>
              <a:rPr sz="2399" b="1" spc="-3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sequence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is</a:t>
            </a:r>
            <a:r>
              <a:rPr sz="2399" b="1" spc="-2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processed</a:t>
            </a:r>
            <a:endParaRPr sz="239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1722" y="1895746"/>
            <a:ext cx="279390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Arbitrary</a:t>
            </a:r>
            <a:r>
              <a:rPr sz="1799" spc="-3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number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of</a:t>
            </a:r>
            <a:r>
              <a:rPr sz="1799" spc="-3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outputs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0365" y="5464025"/>
            <a:ext cx="2654244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Arbitrary</a:t>
            </a:r>
            <a:r>
              <a:rPr sz="1799" spc="-35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number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of</a:t>
            </a:r>
            <a:r>
              <a:rPr sz="1799" spc="-3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inputs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FF8805-4340-1B88-A462-42A6110DFEAF}"/>
              </a:ext>
            </a:extLst>
          </p:cNvPr>
          <p:cNvSpPr txBox="1">
            <a:spLocks/>
          </p:cNvSpPr>
          <p:nvPr/>
        </p:nvSpPr>
        <p:spPr>
          <a:xfrm>
            <a:off x="0" y="56013"/>
            <a:ext cx="11482459" cy="911470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dirty="0">
                <a:solidFill>
                  <a:srgbClr val="DC4400"/>
                </a:solidFill>
                <a:latin typeface="Impact"/>
              </a:rPr>
              <a:t>How to Represent RNNs in Computation Graphs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3CC93A-5A8C-08EC-0F68-4326EA38B7B8}"/>
              </a:ext>
            </a:extLst>
          </p:cNvPr>
          <p:cNvSpPr txBox="1"/>
          <p:nvPr/>
        </p:nvSpPr>
        <p:spPr>
          <a:xfrm>
            <a:off x="916700" y="1572743"/>
            <a:ext cx="10268450" cy="1180792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Computation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graphs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must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direct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acyclic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graphs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(DAGs)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but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RNNs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have 	</a:t>
            </a:r>
            <a:r>
              <a:rPr sz="2399" dirty="0">
                <a:latin typeface="Arial MT"/>
                <a:cs typeface="Arial MT"/>
              </a:rPr>
              <a:t>self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loops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670"/>
              </a:spcBef>
              <a:buFont typeface="Arial MT"/>
              <a:buChar char="•"/>
              <a:tabLst>
                <a:tab pos="239957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Solution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unrolling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RNNs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(define</a:t>
            </a:r>
            <a:r>
              <a:rPr sz="2399" spc="-8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maximum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depth)</a:t>
            </a:r>
            <a:endParaRPr sz="2399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0A13C02-097F-9698-168B-EED7414C0CF2}"/>
              </a:ext>
            </a:extLst>
          </p:cNvPr>
          <p:cNvSpPr txBox="1"/>
          <p:nvPr/>
        </p:nvSpPr>
        <p:spPr>
          <a:xfrm>
            <a:off x="1531199" y="3358795"/>
            <a:ext cx="1227135" cy="418467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298" rIns="0" bIns="0" rtlCol="0">
            <a:spAutoFit/>
          </a:bodyPr>
          <a:lstStyle/>
          <a:p>
            <a:pPr marL="215200">
              <a:spcBef>
                <a:spcPts val="1105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49DCA8-188C-5305-141F-2861D9400570}"/>
              </a:ext>
            </a:extLst>
          </p:cNvPr>
          <p:cNvSpPr txBox="1"/>
          <p:nvPr/>
        </p:nvSpPr>
        <p:spPr>
          <a:xfrm>
            <a:off x="1531199" y="4468071"/>
            <a:ext cx="1227135" cy="447954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029" rIns="0" bIns="0" rtlCol="0">
            <a:spAutoFit/>
          </a:bodyPr>
          <a:lstStyle/>
          <a:p>
            <a:pPr marL="337084">
              <a:spcBef>
                <a:spcPts val="1095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B520D4-76CB-2B1C-B186-217F3CD8E1A5}"/>
              </a:ext>
            </a:extLst>
          </p:cNvPr>
          <p:cNvSpPr txBox="1"/>
          <p:nvPr/>
        </p:nvSpPr>
        <p:spPr>
          <a:xfrm>
            <a:off x="1531199" y="5627852"/>
            <a:ext cx="1227135" cy="419108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91378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F119D49-0BD8-1077-42F9-D27400FF7C46}"/>
              </a:ext>
            </a:extLst>
          </p:cNvPr>
          <p:cNvSpPr/>
          <p:nvPr/>
        </p:nvSpPr>
        <p:spPr>
          <a:xfrm>
            <a:off x="2073178" y="5077305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6"/>
                </a:moveTo>
                <a:lnTo>
                  <a:pt x="57150" y="128586"/>
                </a:lnTo>
                <a:lnTo>
                  <a:pt x="57149" y="550690"/>
                </a:lnTo>
                <a:lnTo>
                  <a:pt x="85724" y="550690"/>
                </a:lnTo>
                <a:lnTo>
                  <a:pt x="85725" y="128586"/>
                </a:lnTo>
                <a:close/>
              </a:path>
              <a:path w="142875" h="551179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6"/>
                </a:lnTo>
                <a:lnTo>
                  <a:pt x="135731" y="128586"/>
                </a:lnTo>
                <a:lnTo>
                  <a:pt x="71438" y="0"/>
                </a:lnTo>
                <a:close/>
              </a:path>
              <a:path w="142875" h="551179">
                <a:moveTo>
                  <a:pt x="135731" y="128586"/>
                </a:moveTo>
                <a:lnTo>
                  <a:pt x="85725" y="128586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0762A3B-1F3D-2A47-F395-176021A19326}"/>
              </a:ext>
            </a:extLst>
          </p:cNvPr>
          <p:cNvSpPr/>
          <p:nvPr/>
        </p:nvSpPr>
        <p:spPr>
          <a:xfrm>
            <a:off x="2073179" y="3914795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48" y="553419"/>
                </a:lnTo>
                <a:lnTo>
                  <a:pt x="85723" y="553419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7" y="0"/>
                </a:moveTo>
                <a:lnTo>
                  <a:pt x="0" y="142875"/>
                </a:lnTo>
                <a:lnTo>
                  <a:pt x="57149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4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7B92C83-41D4-E64C-E6E7-0524984AF4A7}"/>
              </a:ext>
            </a:extLst>
          </p:cNvPr>
          <p:cNvSpPr/>
          <p:nvPr/>
        </p:nvSpPr>
        <p:spPr>
          <a:xfrm>
            <a:off x="977785" y="4701268"/>
            <a:ext cx="553576" cy="142838"/>
          </a:xfrm>
          <a:custGeom>
            <a:avLst/>
            <a:gdLst/>
            <a:ahLst/>
            <a:cxnLst/>
            <a:rect l="l" t="t" r="r" b="b"/>
            <a:pathLst>
              <a:path w="553719" h="142875">
                <a:moveTo>
                  <a:pt x="410682" y="0"/>
                </a:moveTo>
                <a:lnTo>
                  <a:pt x="410682" y="142875"/>
                </a:lnTo>
                <a:lnTo>
                  <a:pt x="524984" y="85725"/>
                </a:lnTo>
                <a:lnTo>
                  <a:pt x="424969" y="85725"/>
                </a:lnTo>
                <a:lnTo>
                  <a:pt x="424969" y="57150"/>
                </a:lnTo>
                <a:lnTo>
                  <a:pt x="524980" y="57150"/>
                </a:lnTo>
                <a:lnTo>
                  <a:pt x="410682" y="0"/>
                </a:lnTo>
                <a:close/>
              </a:path>
              <a:path w="553719" h="142875">
                <a:moveTo>
                  <a:pt x="410682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410682" y="85725"/>
                </a:lnTo>
                <a:lnTo>
                  <a:pt x="410682" y="57150"/>
                </a:lnTo>
                <a:close/>
              </a:path>
              <a:path w="553719" h="142875">
                <a:moveTo>
                  <a:pt x="524980" y="57150"/>
                </a:moveTo>
                <a:lnTo>
                  <a:pt x="424969" y="57150"/>
                </a:lnTo>
                <a:lnTo>
                  <a:pt x="424969" y="85725"/>
                </a:lnTo>
                <a:lnTo>
                  <a:pt x="524984" y="85725"/>
                </a:lnTo>
                <a:lnTo>
                  <a:pt x="553557" y="71438"/>
                </a:lnTo>
                <a:lnTo>
                  <a:pt x="524980" y="5715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4C65D1C-BB61-FD33-F07A-7F8FE5837E19}"/>
              </a:ext>
            </a:extLst>
          </p:cNvPr>
          <p:cNvSpPr txBox="1"/>
          <p:nvPr/>
        </p:nvSpPr>
        <p:spPr>
          <a:xfrm>
            <a:off x="683094" y="4805829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1FDA273-F4A8-84A3-ED74-622EB1B40752}"/>
              </a:ext>
            </a:extLst>
          </p:cNvPr>
          <p:cNvSpPr txBox="1"/>
          <p:nvPr/>
        </p:nvSpPr>
        <p:spPr>
          <a:xfrm>
            <a:off x="3760647" y="3358795"/>
            <a:ext cx="1227135" cy="418467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298" rIns="0" bIns="0" rtlCol="0">
            <a:spAutoFit/>
          </a:bodyPr>
          <a:lstStyle/>
          <a:p>
            <a:pPr marL="215200">
              <a:spcBef>
                <a:spcPts val="1105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AAA7ECB-3904-7F06-878C-BB2065C1AA58}"/>
              </a:ext>
            </a:extLst>
          </p:cNvPr>
          <p:cNvSpPr txBox="1"/>
          <p:nvPr/>
        </p:nvSpPr>
        <p:spPr>
          <a:xfrm>
            <a:off x="3760647" y="4468071"/>
            <a:ext cx="1227135" cy="447954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029" rIns="0" bIns="0" rtlCol="0">
            <a:spAutoFit/>
          </a:bodyPr>
          <a:lstStyle/>
          <a:p>
            <a:pPr marL="337084">
              <a:spcBef>
                <a:spcPts val="1095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80D0A27-2236-26B2-045E-D4CF1E4213A5}"/>
              </a:ext>
            </a:extLst>
          </p:cNvPr>
          <p:cNvSpPr txBox="1"/>
          <p:nvPr/>
        </p:nvSpPr>
        <p:spPr>
          <a:xfrm>
            <a:off x="3760647" y="5627852"/>
            <a:ext cx="1227135" cy="419108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91378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2DCE83E-799E-E407-9596-03EFBFF27F84}"/>
              </a:ext>
            </a:extLst>
          </p:cNvPr>
          <p:cNvSpPr/>
          <p:nvPr/>
        </p:nvSpPr>
        <p:spPr>
          <a:xfrm>
            <a:off x="4302626" y="5077305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6"/>
                </a:moveTo>
                <a:lnTo>
                  <a:pt x="57150" y="128586"/>
                </a:lnTo>
                <a:lnTo>
                  <a:pt x="57149" y="550690"/>
                </a:lnTo>
                <a:lnTo>
                  <a:pt x="85724" y="550690"/>
                </a:lnTo>
                <a:lnTo>
                  <a:pt x="85725" y="128586"/>
                </a:lnTo>
                <a:close/>
              </a:path>
              <a:path w="142875" h="551179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6"/>
                </a:lnTo>
                <a:lnTo>
                  <a:pt x="135731" y="128586"/>
                </a:lnTo>
                <a:lnTo>
                  <a:pt x="71438" y="0"/>
                </a:lnTo>
                <a:close/>
              </a:path>
              <a:path w="142875" h="551179">
                <a:moveTo>
                  <a:pt x="135731" y="128586"/>
                </a:moveTo>
                <a:lnTo>
                  <a:pt x="85725" y="128586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287DA5-9597-2414-8E31-1ED70EFD65A3}"/>
              </a:ext>
            </a:extLst>
          </p:cNvPr>
          <p:cNvSpPr/>
          <p:nvPr/>
        </p:nvSpPr>
        <p:spPr>
          <a:xfrm>
            <a:off x="4302627" y="3914795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48" y="553419"/>
                </a:lnTo>
                <a:lnTo>
                  <a:pt x="85723" y="553419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7" y="0"/>
                </a:moveTo>
                <a:lnTo>
                  <a:pt x="0" y="142875"/>
                </a:lnTo>
                <a:lnTo>
                  <a:pt x="57149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4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B95ACD3-6A3C-A2D0-1A3A-8B796EA067D6}"/>
              </a:ext>
            </a:extLst>
          </p:cNvPr>
          <p:cNvSpPr/>
          <p:nvPr/>
        </p:nvSpPr>
        <p:spPr>
          <a:xfrm>
            <a:off x="2757995" y="4701268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7" y="0"/>
                </a:moveTo>
                <a:lnTo>
                  <a:pt x="860037" y="142875"/>
                </a:lnTo>
                <a:lnTo>
                  <a:pt x="974335" y="85726"/>
                </a:lnTo>
                <a:lnTo>
                  <a:pt x="874325" y="85726"/>
                </a:lnTo>
                <a:lnTo>
                  <a:pt x="874325" y="57151"/>
                </a:lnTo>
                <a:lnTo>
                  <a:pt x="974340" y="57151"/>
                </a:lnTo>
                <a:lnTo>
                  <a:pt x="860037" y="0"/>
                </a:lnTo>
                <a:close/>
              </a:path>
              <a:path w="1003300" h="142875">
                <a:moveTo>
                  <a:pt x="860037" y="57151"/>
                </a:moveTo>
                <a:lnTo>
                  <a:pt x="0" y="57151"/>
                </a:lnTo>
                <a:lnTo>
                  <a:pt x="0" y="85726"/>
                </a:lnTo>
                <a:lnTo>
                  <a:pt x="860037" y="85726"/>
                </a:lnTo>
                <a:lnTo>
                  <a:pt x="860037" y="57151"/>
                </a:lnTo>
                <a:close/>
              </a:path>
              <a:path w="1003300" h="142875">
                <a:moveTo>
                  <a:pt x="974340" y="57151"/>
                </a:moveTo>
                <a:lnTo>
                  <a:pt x="874325" y="57151"/>
                </a:lnTo>
                <a:lnTo>
                  <a:pt x="874325" y="85726"/>
                </a:lnTo>
                <a:lnTo>
                  <a:pt x="974335" y="85726"/>
                </a:lnTo>
                <a:lnTo>
                  <a:pt x="1002912" y="71437"/>
                </a:lnTo>
                <a:lnTo>
                  <a:pt x="974340" y="57151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014B30A-7926-5D20-269C-77F58EB3EA7E}"/>
              </a:ext>
            </a:extLst>
          </p:cNvPr>
          <p:cNvSpPr txBox="1"/>
          <p:nvPr/>
        </p:nvSpPr>
        <p:spPr>
          <a:xfrm>
            <a:off x="2912541" y="4818017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AC86CF6-2306-8889-3522-CC27FEA4DA01}"/>
              </a:ext>
            </a:extLst>
          </p:cNvPr>
          <p:cNvSpPr txBox="1"/>
          <p:nvPr/>
        </p:nvSpPr>
        <p:spPr>
          <a:xfrm>
            <a:off x="5990095" y="3356071"/>
            <a:ext cx="1227135" cy="417826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39664" rIns="0" bIns="0" rtlCol="0">
            <a:spAutoFit/>
          </a:bodyPr>
          <a:lstStyle/>
          <a:p>
            <a:pPr marL="215200">
              <a:spcBef>
                <a:spcPts val="1100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2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1A46710-8092-B7DF-EAA7-BBE8784EE967}"/>
              </a:ext>
            </a:extLst>
          </p:cNvPr>
          <p:cNvSpPr txBox="1"/>
          <p:nvPr/>
        </p:nvSpPr>
        <p:spPr>
          <a:xfrm>
            <a:off x="5990095" y="4465343"/>
            <a:ext cx="1227135" cy="447313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8394" rIns="0" bIns="0" rtlCol="0">
            <a:spAutoFit/>
          </a:bodyPr>
          <a:lstStyle/>
          <a:p>
            <a:pPr marL="337084">
              <a:spcBef>
                <a:spcPts val="1090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A4F03A8-B424-DD8E-0FDE-314AC83270B4}"/>
              </a:ext>
            </a:extLst>
          </p:cNvPr>
          <p:cNvSpPr txBox="1"/>
          <p:nvPr/>
        </p:nvSpPr>
        <p:spPr>
          <a:xfrm>
            <a:off x="5990095" y="5625125"/>
            <a:ext cx="1227135" cy="419108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91378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3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8421348-94CD-BDDA-C386-0C3187276CE8}"/>
              </a:ext>
            </a:extLst>
          </p:cNvPr>
          <p:cNvSpPr/>
          <p:nvPr/>
        </p:nvSpPr>
        <p:spPr>
          <a:xfrm>
            <a:off x="6532074" y="5074578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50" y="550691"/>
                </a:lnTo>
                <a:lnTo>
                  <a:pt x="85725" y="550691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8" y="0"/>
                </a:moveTo>
                <a:lnTo>
                  <a:pt x="0" y="142874"/>
                </a:lnTo>
                <a:lnTo>
                  <a:pt x="57150" y="142874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5" y="142874"/>
                </a:lnTo>
                <a:lnTo>
                  <a:pt x="142875" y="142874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814D5C0-D0FE-48CD-FDA9-576ADF112A4B}"/>
              </a:ext>
            </a:extLst>
          </p:cNvPr>
          <p:cNvSpPr/>
          <p:nvPr/>
        </p:nvSpPr>
        <p:spPr>
          <a:xfrm>
            <a:off x="6532074" y="3912069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50" y="553417"/>
                </a:lnTo>
                <a:lnTo>
                  <a:pt x="85725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42F5596-B443-5E0C-38BE-E74CAAABBFB8}"/>
              </a:ext>
            </a:extLst>
          </p:cNvPr>
          <p:cNvSpPr/>
          <p:nvPr/>
        </p:nvSpPr>
        <p:spPr>
          <a:xfrm>
            <a:off x="4987442" y="4698542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7" y="0"/>
                </a:moveTo>
                <a:lnTo>
                  <a:pt x="860037" y="142875"/>
                </a:lnTo>
                <a:lnTo>
                  <a:pt x="974335" y="85725"/>
                </a:lnTo>
                <a:lnTo>
                  <a:pt x="874325" y="85725"/>
                </a:lnTo>
                <a:lnTo>
                  <a:pt x="874325" y="57150"/>
                </a:lnTo>
                <a:lnTo>
                  <a:pt x="974339" y="57150"/>
                </a:lnTo>
                <a:lnTo>
                  <a:pt x="860037" y="0"/>
                </a:lnTo>
                <a:close/>
              </a:path>
              <a:path w="1003300" h="142875">
                <a:moveTo>
                  <a:pt x="860037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60037" y="85725"/>
                </a:lnTo>
                <a:lnTo>
                  <a:pt x="860037" y="57150"/>
                </a:lnTo>
                <a:close/>
              </a:path>
              <a:path w="1003300" h="142875">
                <a:moveTo>
                  <a:pt x="974339" y="57150"/>
                </a:moveTo>
                <a:lnTo>
                  <a:pt x="874325" y="57150"/>
                </a:lnTo>
                <a:lnTo>
                  <a:pt x="874325" y="85725"/>
                </a:lnTo>
                <a:lnTo>
                  <a:pt x="974335" y="85725"/>
                </a:lnTo>
                <a:lnTo>
                  <a:pt x="1002912" y="71436"/>
                </a:lnTo>
                <a:lnTo>
                  <a:pt x="974339" y="5715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F93538C-86BF-A6F3-5DB8-825393687449}"/>
              </a:ext>
            </a:extLst>
          </p:cNvPr>
          <p:cNvSpPr txBox="1"/>
          <p:nvPr/>
        </p:nvSpPr>
        <p:spPr>
          <a:xfrm>
            <a:off x="5141989" y="4814971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2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879985A-8C37-EACC-3C8C-8979A4A03610}"/>
              </a:ext>
            </a:extLst>
          </p:cNvPr>
          <p:cNvSpPr txBox="1"/>
          <p:nvPr/>
        </p:nvSpPr>
        <p:spPr>
          <a:xfrm>
            <a:off x="8832940" y="3356071"/>
            <a:ext cx="1227135" cy="417826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39664" rIns="0" bIns="0" rtlCol="0">
            <a:spAutoFit/>
          </a:bodyPr>
          <a:lstStyle/>
          <a:p>
            <a:pPr marL="210757">
              <a:spcBef>
                <a:spcPts val="1100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5F8A41C-E4EA-FBBE-03C7-18C92406319C}"/>
              </a:ext>
            </a:extLst>
          </p:cNvPr>
          <p:cNvSpPr txBox="1"/>
          <p:nvPr/>
        </p:nvSpPr>
        <p:spPr>
          <a:xfrm>
            <a:off x="8832940" y="4465343"/>
            <a:ext cx="1227135" cy="447313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8394" rIns="0" bIns="0" rtlCol="0">
            <a:spAutoFit/>
          </a:bodyPr>
          <a:lstStyle/>
          <a:p>
            <a:pPr marL="337084">
              <a:spcBef>
                <a:spcPts val="1090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A0B21A9-4443-38D3-B384-1A46010991A0}"/>
              </a:ext>
            </a:extLst>
          </p:cNvPr>
          <p:cNvSpPr txBox="1"/>
          <p:nvPr/>
        </p:nvSpPr>
        <p:spPr>
          <a:xfrm>
            <a:off x="8832940" y="5625125"/>
            <a:ext cx="1227135" cy="419108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86934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C6CB40F4-8B1C-E9B7-6C1A-DE508B60EE8F}"/>
              </a:ext>
            </a:extLst>
          </p:cNvPr>
          <p:cNvSpPr/>
          <p:nvPr/>
        </p:nvSpPr>
        <p:spPr>
          <a:xfrm>
            <a:off x="9374920" y="5074578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50" y="550691"/>
                </a:lnTo>
                <a:lnTo>
                  <a:pt x="85725" y="550691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8" y="0"/>
                </a:moveTo>
                <a:lnTo>
                  <a:pt x="0" y="142874"/>
                </a:lnTo>
                <a:lnTo>
                  <a:pt x="57150" y="142874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5" y="142874"/>
                </a:lnTo>
                <a:lnTo>
                  <a:pt x="142875" y="142874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484118E-F819-5DF6-A77E-E81FD2B1E885}"/>
              </a:ext>
            </a:extLst>
          </p:cNvPr>
          <p:cNvSpPr/>
          <p:nvPr/>
        </p:nvSpPr>
        <p:spPr>
          <a:xfrm>
            <a:off x="9374920" y="3912069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50" y="553417"/>
                </a:lnTo>
                <a:lnTo>
                  <a:pt x="85725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66BB938-569D-2731-17C8-3AB810732D22}"/>
              </a:ext>
            </a:extLst>
          </p:cNvPr>
          <p:cNvSpPr/>
          <p:nvPr/>
        </p:nvSpPr>
        <p:spPr>
          <a:xfrm>
            <a:off x="7830288" y="4698542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8" y="0"/>
                </a:moveTo>
                <a:lnTo>
                  <a:pt x="860038" y="142875"/>
                </a:lnTo>
                <a:lnTo>
                  <a:pt x="974336" y="85725"/>
                </a:lnTo>
                <a:lnTo>
                  <a:pt x="874326" y="85725"/>
                </a:lnTo>
                <a:lnTo>
                  <a:pt x="874326" y="57150"/>
                </a:lnTo>
                <a:lnTo>
                  <a:pt x="974340" y="57150"/>
                </a:lnTo>
                <a:lnTo>
                  <a:pt x="860038" y="0"/>
                </a:lnTo>
                <a:close/>
              </a:path>
              <a:path w="1003300" h="142875">
                <a:moveTo>
                  <a:pt x="860038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60038" y="85725"/>
                </a:lnTo>
                <a:lnTo>
                  <a:pt x="860038" y="57150"/>
                </a:lnTo>
                <a:close/>
              </a:path>
              <a:path w="1003300" h="142875">
                <a:moveTo>
                  <a:pt x="974340" y="57150"/>
                </a:moveTo>
                <a:lnTo>
                  <a:pt x="874326" y="57150"/>
                </a:lnTo>
                <a:lnTo>
                  <a:pt x="874326" y="85725"/>
                </a:lnTo>
                <a:lnTo>
                  <a:pt x="974336" y="85725"/>
                </a:lnTo>
                <a:lnTo>
                  <a:pt x="1002913" y="71436"/>
                </a:lnTo>
                <a:lnTo>
                  <a:pt x="974340" y="5715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216A438-7D1A-0D9A-90A0-47D13381FDF9}"/>
              </a:ext>
            </a:extLst>
          </p:cNvPr>
          <p:cNvSpPr txBox="1"/>
          <p:nvPr/>
        </p:nvSpPr>
        <p:spPr>
          <a:xfrm>
            <a:off x="7980074" y="4814971"/>
            <a:ext cx="7027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817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607" y="243880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When</a:t>
            </a:r>
            <a:r>
              <a:rPr spc="-35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need</a:t>
            </a:r>
            <a:r>
              <a:rPr spc="-30" dirty="0"/>
              <a:t> </a:t>
            </a:r>
            <a:r>
              <a:rPr spc="-10" dirty="0"/>
              <a:t>RNNs?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481327"/>
            <a:ext cx="9778993" cy="2238663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RNNs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are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designed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process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sequences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(texts,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videos)</a:t>
            </a:r>
            <a:endParaRPr sz="2399" dirty="0">
              <a:latin typeface="Arial MT"/>
              <a:cs typeface="Arial MT"/>
            </a:endParaRPr>
          </a:p>
          <a:p>
            <a:pPr marL="239957" marR="5078" indent="-227261">
              <a:lnSpc>
                <a:spcPts val="2619"/>
              </a:lnSpc>
              <a:spcBef>
                <a:spcPts val="102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RNNs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are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extremely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useful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when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you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want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your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model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have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internal 	</a:t>
            </a:r>
            <a:r>
              <a:rPr sz="2399" dirty="0">
                <a:latin typeface="Arial MT"/>
                <a:cs typeface="Arial MT"/>
              </a:rPr>
              <a:t>states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when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sequence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is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processed</a:t>
            </a:r>
            <a:endParaRPr sz="2399" dirty="0">
              <a:latin typeface="Arial MT"/>
              <a:cs typeface="Arial MT"/>
            </a:endParaRPr>
          </a:p>
          <a:p>
            <a:pPr marL="697021" lvl="1" indent="-227261">
              <a:spcBef>
                <a:spcPts val="165"/>
              </a:spcBef>
              <a:buChar char="•"/>
              <a:tabLst>
                <a:tab pos="697021" algn="l"/>
              </a:tabLst>
            </a:pPr>
            <a:r>
              <a:rPr sz="2399" dirty="0">
                <a:latin typeface="Arial MT"/>
                <a:cs typeface="Arial MT"/>
              </a:rPr>
              <a:t>Commonly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used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reinforcement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learning</a:t>
            </a:r>
            <a:r>
              <a:rPr sz="2399" spc="-8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(RL)</a:t>
            </a:r>
            <a:endParaRPr sz="2399" dirty="0">
              <a:latin typeface="Arial MT"/>
              <a:cs typeface="Arial MT"/>
            </a:endParaRPr>
          </a:p>
          <a:p>
            <a:pPr lvl="1">
              <a:spcBef>
                <a:spcPts val="1560"/>
              </a:spcBef>
              <a:buFont typeface="Arial MT"/>
              <a:buChar char="•"/>
            </a:pPr>
            <a:endParaRPr sz="2399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0601-83C7-DF22-B459-5EBA6312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67A5A8-79A4-7EC6-DB03-04CE24274D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026" y="576037"/>
            <a:ext cx="9527594" cy="4873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3659"/>
              </a:lnSpc>
              <a:spcBef>
                <a:spcPts val="100"/>
              </a:spcBef>
            </a:pPr>
            <a:r>
              <a:rPr dirty="0"/>
              <a:t>Understand</a:t>
            </a:r>
            <a:r>
              <a:rPr spc="-50" dirty="0"/>
              <a:t> </a:t>
            </a:r>
            <a:r>
              <a:rPr lang="en-US" dirty="0"/>
              <a:t>ML</a:t>
            </a:r>
            <a:r>
              <a:rPr spc="-215" dirty="0"/>
              <a:t> </a:t>
            </a:r>
            <a:r>
              <a:rPr spc="-10" dirty="0"/>
              <a:t>Applications: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DCBA7C5-2E12-72C0-327B-937BCF31D6EB}"/>
              </a:ext>
            </a:extLst>
          </p:cNvPr>
          <p:cNvSpPr txBox="1"/>
          <p:nvPr/>
        </p:nvSpPr>
        <p:spPr>
          <a:xfrm>
            <a:off x="2938137" y="3679379"/>
            <a:ext cx="5763029" cy="21899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Convolutional Neural Networks</a:t>
            </a:r>
          </a:p>
          <a:p>
            <a:pPr marL="469124" indent="-456428">
              <a:lnSpc>
                <a:spcPts val="3324"/>
              </a:lnSpc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Recurrent Neural Networks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Transformers</a:t>
            </a:r>
          </a:p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Graph Neural Networks</a:t>
            </a:r>
          </a:p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Mixture-of-Experts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5E20C-15FC-938E-415B-500FCA3B1684}"/>
              </a:ext>
            </a:extLst>
          </p:cNvPr>
          <p:cNvSpPr txBox="1"/>
          <p:nvPr/>
        </p:nvSpPr>
        <p:spPr>
          <a:xfrm>
            <a:off x="1830789" y="2752556"/>
            <a:ext cx="8189859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>
              <a:spcBef>
                <a:spcPts val="100"/>
              </a:spcBef>
              <a:tabLst>
                <a:tab pos="469124" algn="l"/>
              </a:tabLst>
            </a:pPr>
            <a:r>
              <a:rPr lang="en-US" sz="2799" b="1" dirty="0">
                <a:latin typeface="Arial"/>
                <a:cs typeface="Arial"/>
              </a:rPr>
              <a:t>An Overview of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6574914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74" y="14732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Inefficiency</a:t>
            </a:r>
            <a:r>
              <a:rPr spc="-7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10" dirty="0"/>
              <a:t>RNNs?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10246866" cy="1838481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Problem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lack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parallelizability.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Both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forward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and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backward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passes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have 	</a:t>
            </a:r>
            <a:r>
              <a:rPr sz="2399" dirty="0">
                <a:latin typeface="Arial MT"/>
                <a:cs typeface="Arial MT"/>
              </a:rPr>
              <a:t>O(sequence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length)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unparallelizable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operators</a:t>
            </a:r>
            <a:endParaRPr sz="2399">
              <a:latin typeface="Arial MT"/>
              <a:cs typeface="Arial MT"/>
            </a:endParaRPr>
          </a:p>
          <a:p>
            <a:pPr marL="697021" marR="779546" lvl="1" indent="-227261">
              <a:lnSpc>
                <a:spcPts val="2589"/>
              </a:lnSpc>
              <a:spcBef>
                <a:spcPts val="495"/>
              </a:spcBef>
              <a:buChar char="•"/>
              <a:tabLst>
                <a:tab pos="698290" algn="l"/>
              </a:tabLst>
            </a:pPr>
            <a:r>
              <a:rPr sz="2399" dirty="0">
                <a:latin typeface="Arial MT"/>
                <a:cs typeface="Arial MT"/>
              </a:rPr>
              <a:t>A</a:t>
            </a:r>
            <a:r>
              <a:rPr sz="2399" spc="-1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state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cannot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computed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before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all</a:t>
            </a:r>
            <a:r>
              <a:rPr sz="2399" spc="-5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previous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states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have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been 	</a:t>
            </a:r>
            <a:r>
              <a:rPr sz="2399" spc="-10" dirty="0">
                <a:latin typeface="Arial MT"/>
                <a:cs typeface="Arial MT"/>
              </a:rPr>
              <a:t>computed</a:t>
            </a:r>
            <a:endParaRPr sz="2399">
              <a:latin typeface="Arial MT"/>
              <a:cs typeface="Arial MT"/>
            </a:endParaRPr>
          </a:p>
          <a:p>
            <a:pPr marL="697021" lvl="1" indent="-227261">
              <a:spcBef>
                <a:spcPts val="180"/>
              </a:spcBef>
              <a:buChar char="•"/>
              <a:tabLst>
                <a:tab pos="697021" algn="l"/>
              </a:tabLst>
            </a:pPr>
            <a:r>
              <a:rPr sz="2399" dirty="0">
                <a:latin typeface="Arial MT"/>
                <a:cs typeface="Arial MT"/>
              </a:rPr>
              <a:t>Inhibits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training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on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very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long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sequences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0334" y="3687371"/>
            <a:ext cx="1227135" cy="419108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15200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0334" y="4796644"/>
            <a:ext cx="1227135" cy="448596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664" rIns="0" bIns="0" rtlCol="0">
            <a:spAutoFit/>
          </a:bodyPr>
          <a:lstStyle/>
          <a:p>
            <a:pPr marL="337084">
              <a:spcBef>
                <a:spcPts val="1100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0334" y="5956426"/>
            <a:ext cx="1227135" cy="41975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1568" rIns="0" bIns="0" rtlCol="0">
            <a:spAutoFit/>
          </a:bodyPr>
          <a:lstStyle/>
          <a:p>
            <a:pPr marL="291378">
              <a:spcBef>
                <a:spcPts val="1115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2313" y="5405878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50" y="550691"/>
                </a:lnTo>
                <a:lnTo>
                  <a:pt x="85725" y="550691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7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8" name="object 8"/>
          <p:cNvSpPr/>
          <p:nvPr/>
        </p:nvSpPr>
        <p:spPr>
          <a:xfrm>
            <a:off x="2432313" y="4243371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50" y="553417"/>
                </a:lnTo>
                <a:lnTo>
                  <a:pt x="85725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7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/>
          <p:cNvSpPr/>
          <p:nvPr/>
        </p:nvSpPr>
        <p:spPr>
          <a:xfrm>
            <a:off x="1336920" y="5029843"/>
            <a:ext cx="553576" cy="142838"/>
          </a:xfrm>
          <a:custGeom>
            <a:avLst/>
            <a:gdLst/>
            <a:ahLst/>
            <a:cxnLst/>
            <a:rect l="l" t="t" r="r" b="b"/>
            <a:pathLst>
              <a:path w="553719" h="142875">
                <a:moveTo>
                  <a:pt x="410682" y="0"/>
                </a:moveTo>
                <a:lnTo>
                  <a:pt x="410682" y="142875"/>
                </a:lnTo>
                <a:lnTo>
                  <a:pt x="524982" y="85725"/>
                </a:lnTo>
                <a:lnTo>
                  <a:pt x="424969" y="85725"/>
                </a:lnTo>
                <a:lnTo>
                  <a:pt x="424969" y="57150"/>
                </a:lnTo>
                <a:lnTo>
                  <a:pt x="524982" y="57150"/>
                </a:lnTo>
                <a:lnTo>
                  <a:pt x="410682" y="0"/>
                </a:lnTo>
                <a:close/>
              </a:path>
              <a:path w="553719" h="142875">
                <a:moveTo>
                  <a:pt x="410682" y="57150"/>
                </a:moveTo>
                <a:lnTo>
                  <a:pt x="1" y="57150"/>
                </a:lnTo>
                <a:lnTo>
                  <a:pt x="0" y="85725"/>
                </a:lnTo>
                <a:lnTo>
                  <a:pt x="410682" y="85725"/>
                </a:lnTo>
                <a:lnTo>
                  <a:pt x="410682" y="57150"/>
                </a:lnTo>
                <a:close/>
              </a:path>
              <a:path w="553719" h="142875">
                <a:moveTo>
                  <a:pt x="524982" y="57150"/>
                </a:moveTo>
                <a:lnTo>
                  <a:pt x="424969" y="57150"/>
                </a:lnTo>
                <a:lnTo>
                  <a:pt x="424969" y="85725"/>
                </a:lnTo>
                <a:lnTo>
                  <a:pt x="524982" y="85725"/>
                </a:lnTo>
                <a:lnTo>
                  <a:pt x="553557" y="71437"/>
                </a:lnTo>
                <a:lnTo>
                  <a:pt x="524982" y="5715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0" name="object 10"/>
          <p:cNvSpPr txBox="1"/>
          <p:nvPr/>
        </p:nvSpPr>
        <p:spPr>
          <a:xfrm>
            <a:off x="1042229" y="5134927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0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9782" y="3687371"/>
            <a:ext cx="1227135" cy="419108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933" rIns="0" bIns="0" rtlCol="0">
            <a:spAutoFit/>
          </a:bodyPr>
          <a:lstStyle/>
          <a:p>
            <a:pPr marL="215200">
              <a:spcBef>
                <a:spcPts val="1110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9782" y="4796644"/>
            <a:ext cx="1227135" cy="448596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664" rIns="0" bIns="0" rtlCol="0">
            <a:spAutoFit/>
          </a:bodyPr>
          <a:lstStyle/>
          <a:p>
            <a:pPr marL="337084">
              <a:spcBef>
                <a:spcPts val="1100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9782" y="5956426"/>
            <a:ext cx="1227135" cy="41975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1568" rIns="0" bIns="0" rtlCol="0">
            <a:spAutoFit/>
          </a:bodyPr>
          <a:lstStyle/>
          <a:p>
            <a:pPr marL="291378">
              <a:spcBef>
                <a:spcPts val="1115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61762" y="5405878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50" y="550691"/>
                </a:lnTo>
                <a:lnTo>
                  <a:pt x="85725" y="550691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5" name="object 15"/>
          <p:cNvSpPr/>
          <p:nvPr/>
        </p:nvSpPr>
        <p:spPr>
          <a:xfrm>
            <a:off x="4661762" y="4243371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50" y="553417"/>
                </a:lnTo>
                <a:lnTo>
                  <a:pt x="85725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8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8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6" name="object 16"/>
          <p:cNvSpPr/>
          <p:nvPr/>
        </p:nvSpPr>
        <p:spPr>
          <a:xfrm>
            <a:off x="3117129" y="5029842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7" y="0"/>
                </a:moveTo>
                <a:lnTo>
                  <a:pt x="860038" y="142875"/>
                </a:lnTo>
                <a:lnTo>
                  <a:pt x="974335" y="85726"/>
                </a:lnTo>
                <a:lnTo>
                  <a:pt x="874326" y="85726"/>
                </a:lnTo>
                <a:lnTo>
                  <a:pt x="874326" y="57151"/>
                </a:lnTo>
                <a:lnTo>
                  <a:pt x="974340" y="57151"/>
                </a:lnTo>
                <a:lnTo>
                  <a:pt x="860037" y="0"/>
                </a:lnTo>
                <a:close/>
              </a:path>
              <a:path w="1003300" h="142875">
                <a:moveTo>
                  <a:pt x="860038" y="57151"/>
                </a:moveTo>
                <a:lnTo>
                  <a:pt x="0" y="57151"/>
                </a:lnTo>
                <a:lnTo>
                  <a:pt x="0" y="85726"/>
                </a:lnTo>
                <a:lnTo>
                  <a:pt x="860038" y="85726"/>
                </a:lnTo>
                <a:lnTo>
                  <a:pt x="860038" y="57151"/>
                </a:lnTo>
                <a:close/>
              </a:path>
              <a:path w="1003300" h="142875">
                <a:moveTo>
                  <a:pt x="974340" y="57151"/>
                </a:moveTo>
                <a:lnTo>
                  <a:pt x="874326" y="57151"/>
                </a:lnTo>
                <a:lnTo>
                  <a:pt x="874326" y="85726"/>
                </a:lnTo>
                <a:lnTo>
                  <a:pt x="974335" y="85726"/>
                </a:lnTo>
                <a:lnTo>
                  <a:pt x="1002912" y="71437"/>
                </a:lnTo>
                <a:lnTo>
                  <a:pt x="974340" y="57151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17" name="object 17"/>
          <p:cNvSpPr txBox="1"/>
          <p:nvPr/>
        </p:nvSpPr>
        <p:spPr>
          <a:xfrm>
            <a:off x="3271676" y="5144069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1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9231" y="3684643"/>
            <a:ext cx="1227135" cy="418467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298" rIns="0" bIns="0" rtlCol="0">
            <a:spAutoFit/>
          </a:bodyPr>
          <a:lstStyle/>
          <a:p>
            <a:pPr marL="215200">
              <a:spcBef>
                <a:spcPts val="1105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2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9231" y="4793919"/>
            <a:ext cx="1227135" cy="447954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029" rIns="0" bIns="0" rtlCol="0">
            <a:spAutoFit/>
          </a:bodyPr>
          <a:lstStyle/>
          <a:p>
            <a:pPr marL="337084">
              <a:spcBef>
                <a:spcPts val="1095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9231" y="5953700"/>
            <a:ext cx="1227135" cy="41975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1568" rIns="0" bIns="0" rtlCol="0">
            <a:spAutoFit/>
          </a:bodyPr>
          <a:lstStyle/>
          <a:p>
            <a:pPr marL="291378">
              <a:spcBef>
                <a:spcPts val="1115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3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91211" y="5403153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50" y="550690"/>
                </a:lnTo>
                <a:lnTo>
                  <a:pt x="85725" y="550690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7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2" name="object 22"/>
          <p:cNvSpPr/>
          <p:nvPr/>
        </p:nvSpPr>
        <p:spPr>
          <a:xfrm>
            <a:off x="6891211" y="4240644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50" y="553417"/>
                </a:lnTo>
                <a:lnTo>
                  <a:pt x="85725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7" y="0"/>
                </a:moveTo>
                <a:lnTo>
                  <a:pt x="0" y="142875"/>
                </a:lnTo>
                <a:lnTo>
                  <a:pt x="57150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5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3" name="object 23"/>
          <p:cNvSpPr/>
          <p:nvPr/>
        </p:nvSpPr>
        <p:spPr>
          <a:xfrm>
            <a:off x="5346578" y="5027116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8" y="0"/>
                </a:moveTo>
                <a:lnTo>
                  <a:pt x="860038" y="142875"/>
                </a:lnTo>
                <a:lnTo>
                  <a:pt x="974336" y="85726"/>
                </a:lnTo>
                <a:lnTo>
                  <a:pt x="874326" y="85726"/>
                </a:lnTo>
                <a:lnTo>
                  <a:pt x="874326" y="57151"/>
                </a:lnTo>
                <a:lnTo>
                  <a:pt x="974341" y="57151"/>
                </a:lnTo>
                <a:lnTo>
                  <a:pt x="860038" y="0"/>
                </a:lnTo>
                <a:close/>
              </a:path>
              <a:path w="1003300" h="142875">
                <a:moveTo>
                  <a:pt x="860038" y="57151"/>
                </a:moveTo>
                <a:lnTo>
                  <a:pt x="0" y="57151"/>
                </a:lnTo>
                <a:lnTo>
                  <a:pt x="0" y="85726"/>
                </a:lnTo>
                <a:lnTo>
                  <a:pt x="860038" y="85726"/>
                </a:lnTo>
                <a:lnTo>
                  <a:pt x="860038" y="57151"/>
                </a:lnTo>
                <a:close/>
              </a:path>
              <a:path w="1003300" h="142875">
                <a:moveTo>
                  <a:pt x="974341" y="57151"/>
                </a:moveTo>
                <a:lnTo>
                  <a:pt x="874326" y="57151"/>
                </a:lnTo>
                <a:lnTo>
                  <a:pt x="874326" y="85726"/>
                </a:lnTo>
                <a:lnTo>
                  <a:pt x="974336" y="85726"/>
                </a:lnTo>
                <a:lnTo>
                  <a:pt x="1002913" y="71437"/>
                </a:lnTo>
                <a:lnTo>
                  <a:pt x="974341" y="57151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4" name="object 24"/>
          <p:cNvSpPr txBox="1"/>
          <p:nvPr/>
        </p:nvSpPr>
        <p:spPr>
          <a:xfrm>
            <a:off x="5501125" y="5144069"/>
            <a:ext cx="69450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2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92077" y="3684643"/>
            <a:ext cx="1227135" cy="418467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140298" rIns="0" bIns="0" rtlCol="0">
            <a:spAutoFit/>
          </a:bodyPr>
          <a:lstStyle/>
          <a:p>
            <a:pPr marL="210757">
              <a:spcBef>
                <a:spcPts val="1105"/>
              </a:spcBef>
            </a:pPr>
            <a:r>
              <a:rPr sz="1799" b="1" spc="-10" dirty="0">
                <a:latin typeface="Arial"/>
                <a:cs typeface="Arial"/>
              </a:rPr>
              <a:t>output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92077" y="4793919"/>
            <a:ext cx="1227135" cy="447954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139029" rIns="0" bIns="0" rtlCol="0">
            <a:spAutoFit/>
          </a:bodyPr>
          <a:lstStyle/>
          <a:p>
            <a:pPr marL="337084">
              <a:spcBef>
                <a:spcPts val="1095"/>
              </a:spcBef>
            </a:pPr>
            <a:r>
              <a:rPr sz="1999" b="1" spc="-25" dirty="0">
                <a:solidFill>
                  <a:srgbClr val="FFFFFF"/>
                </a:solidFill>
                <a:latin typeface="Arial"/>
                <a:cs typeface="Arial"/>
              </a:rPr>
              <a:t>RNN</a:t>
            </a:r>
            <a:endParaRPr sz="1999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92077" y="5953700"/>
            <a:ext cx="1227135" cy="41975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41568" rIns="0" bIns="0" rtlCol="0">
            <a:spAutoFit/>
          </a:bodyPr>
          <a:lstStyle/>
          <a:p>
            <a:pPr marL="286934">
              <a:spcBef>
                <a:spcPts val="1115"/>
              </a:spcBef>
            </a:pPr>
            <a:r>
              <a:rPr sz="1799" b="1" spc="-10" dirty="0">
                <a:latin typeface="Arial"/>
                <a:cs typeface="Arial"/>
              </a:rPr>
              <a:t>input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734056" y="5403153"/>
            <a:ext cx="142838" cy="551036"/>
          </a:xfrm>
          <a:custGeom>
            <a:avLst/>
            <a:gdLst/>
            <a:ahLst/>
            <a:cxnLst/>
            <a:rect l="l" t="t" r="r" b="b"/>
            <a:pathLst>
              <a:path w="142875" h="551179">
                <a:moveTo>
                  <a:pt x="85725" y="128587"/>
                </a:moveTo>
                <a:lnTo>
                  <a:pt x="57150" y="128587"/>
                </a:lnTo>
                <a:lnTo>
                  <a:pt x="57148" y="550690"/>
                </a:lnTo>
                <a:lnTo>
                  <a:pt x="85723" y="550690"/>
                </a:lnTo>
                <a:lnTo>
                  <a:pt x="85725" y="128587"/>
                </a:lnTo>
                <a:close/>
              </a:path>
              <a:path w="142875" h="551179">
                <a:moveTo>
                  <a:pt x="71437" y="0"/>
                </a:moveTo>
                <a:lnTo>
                  <a:pt x="0" y="142875"/>
                </a:lnTo>
                <a:lnTo>
                  <a:pt x="57149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1179">
                <a:moveTo>
                  <a:pt x="135731" y="128587"/>
                </a:moveTo>
                <a:lnTo>
                  <a:pt x="85725" y="128587"/>
                </a:lnTo>
                <a:lnTo>
                  <a:pt x="85724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29" name="object 29"/>
          <p:cNvSpPr/>
          <p:nvPr/>
        </p:nvSpPr>
        <p:spPr>
          <a:xfrm>
            <a:off x="9734056" y="4240644"/>
            <a:ext cx="142838" cy="553576"/>
          </a:xfrm>
          <a:custGeom>
            <a:avLst/>
            <a:gdLst/>
            <a:ahLst/>
            <a:cxnLst/>
            <a:rect l="l" t="t" r="r" b="b"/>
            <a:pathLst>
              <a:path w="142875" h="553720">
                <a:moveTo>
                  <a:pt x="85725" y="128587"/>
                </a:moveTo>
                <a:lnTo>
                  <a:pt x="57150" y="128587"/>
                </a:lnTo>
                <a:lnTo>
                  <a:pt x="57148" y="553417"/>
                </a:lnTo>
                <a:lnTo>
                  <a:pt x="85723" y="553417"/>
                </a:lnTo>
                <a:lnTo>
                  <a:pt x="85725" y="128587"/>
                </a:lnTo>
                <a:close/>
              </a:path>
              <a:path w="142875" h="553720">
                <a:moveTo>
                  <a:pt x="71437" y="0"/>
                </a:moveTo>
                <a:lnTo>
                  <a:pt x="0" y="142875"/>
                </a:lnTo>
                <a:lnTo>
                  <a:pt x="57149" y="142875"/>
                </a:lnTo>
                <a:lnTo>
                  <a:pt x="57150" y="128587"/>
                </a:lnTo>
                <a:lnTo>
                  <a:pt x="135731" y="128587"/>
                </a:lnTo>
                <a:lnTo>
                  <a:pt x="71437" y="0"/>
                </a:lnTo>
                <a:close/>
              </a:path>
              <a:path w="142875" h="553720">
                <a:moveTo>
                  <a:pt x="135731" y="128587"/>
                </a:moveTo>
                <a:lnTo>
                  <a:pt x="85725" y="128587"/>
                </a:lnTo>
                <a:lnTo>
                  <a:pt x="85724" y="142875"/>
                </a:lnTo>
                <a:lnTo>
                  <a:pt x="142875" y="142875"/>
                </a:lnTo>
                <a:lnTo>
                  <a:pt x="135731" y="128587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0" name="object 30"/>
          <p:cNvSpPr/>
          <p:nvPr/>
        </p:nvSpPr>
        <p:spPr>
          <a:xfrm>
            <a:off x="8189424" y="5027116"/>
            <a:ext cx="1003039" cy="142838"/>
          </a:xfrm>
          <a:custGeom>
            <a:avLst/>
            <a:gdLst/>
            <a:ahLst/>
            <a:cxnLst/>
            <a:rect l="l" t="t" r="r" b="b"/>
            <a:pathLst>
              <a:path w="1003300" h="142875">
                <a:moveTo>
                  <a:pt x="860037" y="0"/>
                </a:moveTo>
                <a:lnTo>
                  <a:pt x="860037" y="142875"/>
                </a:lnTo>
                <a:lnTo>
                  <a:pt x="974335" y="85726"/>
                </a:lnTo>
                <a:lnTo>
                  <a:pt x="874325" y="85726"/>
                </a:lnTo>
                <a:lnTo>
                  <a:pt x="874325" y="57151"/>
                </a:lnTo>
                <a:lnTo>
                  <a:pt x="974340" y="57151"/>
                </a:lnTo>
                <a:lnTo>
                  <a:pt x="860037" y="0"/>
                </a:lnTo>
                <a:close/>
              </a:path>
              <a:path w="1003300" h="142875">
                <a:moveTo>
                  <a:pt x="860037" y="57151"/>
                </a:moveTo>
                <a:lnTo>
                  <a:pt x="0" y="57151"/>
                </a:lnTo>
                <a:lnTo>
                  <a:pt x="0" y="85726"/>
                </a:lnTo>
                <a:lnTo>
                  <a:pt x="860037" y="85726"/>
                </a:lnTo>
                <a:lnTo>
                  <a:pt x="860037" y="57151"/>
                </a:lnTo>
                <a:close/>
              </a:path>
              <a:path w="1003300" h="142875">
                <a:moveTo>
                  <a:pt x="974340" y="57151"/>
                </a:moveTo>
                <a:lnTo>
                  <a:pt x="874325" y="57151"/>
                </a:lnTo>
                <a:lnTo>
                  <a:pt x="874325" y="85726"/>
                </a:lnTo>
                <a:lnTo>
                  <a:pt x="974335" y="85726"/>
                </a:lnTo>
                <a:lnTo>
                  <a:pt x="1002912" y="71437"/>
                </a:lnTo>
                <a:lnTo>
                  <a:pt x="974340" y="57151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1" name="object 31"/>
          <p:cNvSpPr txBox="1"/>
          <p:nvPr/>
        </p:nvSpPr>
        <p:spPr>
          <a:xfrm>
            <a:off x="8339209" y="5144069"/>
            <a:ext cx="70276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z="1799" b="1" spc="-10" dirty="0">
                <a:latin typeface="Arial"/>
                <a:cs typeface="Arial"/>
              </a:rPr>
              <a:t>state</a:t>
            </a:r>
            <a:r>
              <a:rPr sz="1799" b="1" spc="-15" baseline="-13888" dirty="0">
                <a:latin typeface="Arial"/>
                <a:cs typeface="Arial"/>
              </a:rPr>
              <a:t>n</a:t>
            </a:r>
            <a:endParaRPr sz="1799" baseline="-138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B615EF-CFFF-A960-D109-A00401E1FDD5}"/>
              </a:ext>
            </a:extLst>
          </p:cNvPr>
          <p:cNvSpPr txBox="1">
            <a:spLocks/>
          </p:cNvSpPr>
          <p:nvPr/>
        </p:nvSpPr>
        <p:spPr>
          <a:xfrm>
            <a:off x="235407" y="162488"/>
            <a:ext cx="11476958" cy="911470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dirty="0">
                <a:solidFill>
                  <a:srgbClr val="DC4400"/>
                </a:solidFill>
                <a:latin typeface="Impact"/>
              </a:rPr>
              <a:t>Attention: Enable Parallelism within a Sequence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4E9F26-714E-D8A5-A498-241239C758C6}"/>
              </a:ext>
            </a:extLst>
          </p:cNvPr>
          <p:cNvSpPr txBox="1"/>
          <p:nvPr/>
        </p:nvSpPr>
        <p:spPr>
          <a:xfrm>
            <a:off x="916700" y="1572743"/>
            <a:ext cx="9296518" cy="723711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Idea: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treat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each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position’s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representation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query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access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and 	</a:t>
            </a:r>
            <a:r>
              <a:rPr sz="2399" dirty="0">
                <a:latin typeface="Arial MT"/>
                <a:cs typeface="Arial MT"/>
              </a:rPr>
              <a:t>incorporate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information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from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set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values</a:t>
            </a:r>
            <a:endParaRPr sz="2399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1999B6B-1216-73D2-B445-D18AA98985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6456" y="4011893"/>
            <a:ext cx="4570808" cy="268361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7489A67-D39C-F9C1-37C4-74963DC68BD8}"/>
              </a:ext>
            </a:extLst>
          </p:cNvPr>
          <p:cNvSpPr txBox="1"/>
          <p:nvPr/>
        </p:nvSpPr>
        <p:spPr>
          <a:xfrm>
            <a:off x="695416" y="4208576"/>
            <a:ext cx="1752778" cy="199413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Attention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2</a:t>
            </a:r>
            <a:endParaRPr sz="1799">
              <a:latin typeface="Arial MT"/>
              <a:cs typeface="Arial MT"/>
            </a:endParaRPr>
          </a:p>
          <a:p>
            <a:pPr>
              <a:spcBef>
                <a:spcPts val="2009"/>
              </a:spcBef>
            </a:pPr>
            <a:endParaRPr sz="1799">
              <a:latin typeface="Arial MT"/>
              <a:cs typeface="Arial MT"/>
            </a:endParaRPr>
          </a:p>
          <a:p>
            <a:pPr marL="12696"/>
            <a:r>
              <a:rPr sz="1799" dirty="0">
                <a:latin typeface="Arial MT"/>
                <a:cs typeface="Arial MT"/>
              </a:rPr>
              <a:t>Attention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1</a:t>
            </a:r>
            <a:endParaRPr sz="1799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99">
              <a:latin typeface="Arial MT"/>
              <a:cs typeface="Arial MT"/>
            </a:endParaRPr>
          </a:p>
          <a:p>
            <a:pPr>
              <a:spcBef>
                <a:spcPts val="465"/>
              </a:spcBef>
            </a:pPr>
            <a:endParaRPr sz="1799">
              <a:latin typeface="Arial MT"/>
              <a:cs typeface="Arial MT"/>
            </a:endParaRPr>
          </a:p>
          <a:p>
            <a:pPr marL="864610"/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0</a:t>
            </a:r>
            <a:endParaRPr sz="1799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508619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C49F1B-1EE1-841D-2183-E60122C33F13}"/>
              </a:ext>
            </a:extLst>
          </p:cNvPr>
          <p:cNvSpPr txBox="1">
            <a:spLocks/>
          </p:cNvSpPr>
          <p:nvPr/>
        </p:nvSpPr>
        <p:spPr>
          <a:xfrm>
            <a:off x="-234907" y="8037"/>
            <a:ext cx="11986640" cy="911470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dirty="0">
                <a:solidFill>
                  <a:srgbClr val="DC4400"/>
                </a:solidFill>
                <a:latin typeface="Impact"/>
              </a:rPr>
              <a:t>Attention: Enable Parallelism within a Sequence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49C243D-FE7E-E66B-B36E-FF8C2D72F0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6456" y="4011893"/>
            <a:ext cx="4570808" cy="268361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C7E08C7-156B-A913-5B75-F4FF3B964F82}"/>
              </a:ext>
            </a:extLst>
          </p:cNvPr>
          <p:cNvSpPr txBox="1"/>
          <p:nvPr/>
        </p:nvSpPr>
        <p:spPr>
          <a:xfrm>
            <a:off x="916700" y="1572743"/>
            <a:ext cx="10352248" cy="2591395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1060767" indent="-227261">
              <a:lnSpc>
                <a:spcPts val="2619"/>
              </a:lnSpc>
              <a:spcBef>
                <a:spcPts val="40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Idea: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treat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each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position’s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representation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query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dirty="0">
                <a:latin typeface="Arial MT"/>
                <a:cs typeface="Arial MT"/>
              </a:rPr>
              <a:t>to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access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and 	</a:t>
            </a:r>
            <a:r>
              <a:rPr sz="2399" dirty="0">
                <a:latin typeface="Arial MT"/>
                <a:cs typeface="Arial MT"/>
              </a:rPr>
              <a:t>incorporate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information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from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set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values</a:t>
            </a:r>
            <a:endParaRPr sz="2399">
              <a:latin typeface="Arial"/>
              <a:cs typeface="Arial"/>
            </a:endParaRPr>
          </a:p>
          <a:p>
            <a:pPr>
              <a:spcBef>
                <a:spcPts val="1834"/>
              </a:spcBef>
              <a:buFont typeface="Arial MT"/>
              <a:buChar char="•"/>
            </a:pPr>
            <a:endParaRPr sz="2399">
              <a:latin typeface="Arial"/>
              <a:cs typeface="Arial"/>
            </a:endParaRPr>
          </a:p>
          <a:p>
            <a:pPr marL="239957" marR="382790" indent="-227261">
              <a:lnSpc>
                <a:spcPts val="2589"/>
              </a:lnSpc>
              <a:spcBef>
                <a:spcPts val="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Massively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parallelizable: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number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8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unparallelizable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operations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does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spc="-25" dirty="0">
                <a:latin typeface="Arial MT"/>
                <a:cs typeface="Arial MT"/>
              </a:rPr>
              <a:t>not 	</a:t>
            </a:r>
            <a:r>
              <a:rPr sz="2399" dirty="0">
                <a:latin typeface="Arial MT"/>
                <a:cs typeface="Arial MT"/>
              </a:rPr>
              <a:t>increase</a:t>
            </a:r>
            <a:r>
              <a:rPr sz="2399" spc="-114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sequence</a:t>
            </a:r>
            <a:r>
              <a:rPr sz="2399" spc="-11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length</a:t>
            </a:r>
            <a:endParaRPr sz="2399">
              <a:latin typeface="Arial MT"/>
              <a:cs typeface="Arial MT"/>
            </a:endParaRPr>
          </a:p>
          <a:p>
            <a:pPr marL="6766434">
              <a:spcBef>
                <a:spcPts val="1999"/>
              </a:spcBef>
            </a:pP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We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will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learn</a:t>
            </a:r>
            <a:r>
              <a:rPr sz="2399" spc="-5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attention</a:t>
            </a:r>
            <a:r>
              <a:rPr sz="2399" spc="-6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25" dirty="0">
                <a:solidFill>
                  <a:srgbClr val="ED7D31"/>
                </a:solidFill>
                <a:latin typeface="Arial MT"/>
                <a:cs typeface="Arial MT"/>
              </a:rPr>
              <a:t>and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8A4AE6D-D2C3-2D40-442B-8466979334CE}"/>
              </a:ext>
            </a:extLst>
          </p:cNvPr>
          <p:cNvSpPr txBox="1"/>
          <p:nvPr/>
        </p:nvSpPr>
        <p:spPr>
          <a:xfrm>
            <a:off x="1547908" y="5860163"/>
            <a:ext cx="787830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0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F1F6446-6022-B7AF-AC74-E8453EF63F44}"/>
              </a:ext>
            </a:extLst>
          </p:cNvPr>
          <p:cNvSpPr txBox="1"/>
          <p:nvPr/>
        </p:nvSpPr>
        <p:spPr>
          <a:xfrm>
            <a:off x="695416" y="5000850"/>
            <a:ext cx="175277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Attention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1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F5B4F07-6F91-5286-2C98-9528AF814023}"/>
              </a:ext>
            </a:extLst>
          </p:cNvPr>
          <p:cNvSpPr txBox="1"/>
          <p:nvPr/>
        </p:nvSpPr>
        <p:spPr>
          <a:xfrm>
            <a:off x="695416" y="4208576"/>
            <a:ext cx="1752778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Attention</a:t>
            </a:r>
            <a:r>
              <a:rPr sz="1799" spc="-40" dirty="0">
                <a:latin typeface="Arial MT"/>
                <a:cs typeface="Arial MT"/>
              </a:rPr>
              <a:t> </a:t>
            </a:r>
            <a:r>
              <a:rPr sz="1799" dirty="0">
                <a:latin typeface="Arial MT"/>
                <a:cs typeface="Arial MT"/>
              </a:rPr>
              <a:t>Layer</a:t>
            </a:r>
            <a:r>
              <a:rPr sz="1799" spc="-30" dirty="0">
                <a:latin typeface="Arial MT"/>
                <a:cs typeface="Arial MT"/>
              </a:rPr>
              <a:t> </a:t>
            </a:r>
            <a:r>
              <a:rPr sz="1799" spc="-50" dirty="0">
                <a:latin typeface="Arial MT"/>
                <a:cs typeface="Arial MT"/>
              </a:rPr>
              <a:t>2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7C3C059-FD1D-0525-9AE0-4B2362AD3090}"/>
              </a:ext>
            </a:extLst>
          </p:cNvPr>
          <p:cNvSpPr txBox="1"/>
          <p:nvPr/>
        </p:nvSpPr>
        <p:spPr>
          <a:xfrm>
            <a:off x="7671308" y="4141537"/>
            <a:ext cx="3668074" cy="1494401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transformers</a:t>
            </a:r>
            <a:r>
              <a:rPr sz="2399" spc="-7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in</a:t>
            </a:r>
            <a:r>
              <a:rPr sz="2399" spc="-6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depth</a:t>
            </a:r>
            <a:r>
              <a:rPr sz="2399" spc="-6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later:</a:t>
            </a:r>
            <a:endParaRPr sz="2399">
              <a:latin typeface="Arial MT"/>
              <a:cs typeface="Arial MT"/>
            </a:endParaRPr>
          </a:p>
          <a:p>
            <a:pPr marL="297726" indent="-285029">
              <a:buChar char="•"/>
              <a:tabLst>
                <a:tab pos="297726" algn="l"/>
              </a:tabLst>
            </a:pPr>
            <a:r>
              <a:rPr sz="2399" spc="-20" dirty="0">
                <a:solidFill>
                  <a:srgbClr val="ED7D31"/>
                </a:solidFill>
                <a:latin typeface="Arial MT"/>
                <a:cs typeface="Arial MT"/>
              </a:rPr>
              <a:t>Self-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attention</a:t>
            </a:r>
            <a:endParaRPr sz="2399">
              <a:latin typeface="Arial MT"/>
              <a:cs typeface="Arial MT"/>
            </a:endParaRPr>
          </a:p>
          <a:p>
            <a:pPr marL="297726" indent="-285029">
              <a:spcBef>
                <a:spcPts val="25"/>
              </a:spcBef>
              <a:buChar char="•"/>
              <a:tabLst>
                <a:tab pos="297726" algn="l"/>
              </a:tabLst>
            </a:pP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Masked</a:t>
            </a:r>
            <a:r>
              <a:rPr sz="2399" spc="-10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attention</a:t>
            </a:r>
            <a:endParaRPr sz="2399">
              <a:latin typeface="Arial MT"/>
              <a:cs typeface="Arial MT"/>
            </a:endParaRPr>
          </a:p>
          <a:p>
            <a:pPr marL="297726" indent="-285029">
              <a:spcBef>
                <a:spcPts val="20"/>
              </a:spcBef>
              <a:buChar char="•"/>
              <a:tabLst>
                <a:tab pos="297726" algn="l"/>
              </a:tabLst>
            </a:pP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Multi-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head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attention</a:t>
            </a:r>
            <a:endParaRPr sz="2399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44762342-4B12-54E7-BA2E-5423327EBD5C}"/>
              </a:ext>
            </a:extLst>
          </p:cNvPr>
          <p:cNvGrpSpPr/>
          <p:nvPr/>
        </p:nvGrpSpPr>
        <p:grpSpPr>
          <a:xfrm>
            <a:off x="2506836" y="4420745"/>
            <a:ext cx="4648894" cy="2383804"/>
            <a:chOff x="2507489" y="4421003"/>
            <a:chExt cx="4650105" cy="238442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46F2E1F-8134-9EC0-D735-3C975E0DDE0A}"/>
                </a:ext>
              </a:extLst>
            </p:cNvPr>
            <p:cNvSpPr/>
            <p:nvPr/>
          </p:nvSpPr>
          <p:spPr>
            <a:xfrm>
              <a:off x="2545589" y="6198500"/>
              <a:ext cx="4573905" cy="568960"/>
            </a:xfrm>
            <a:custGeom>
              <a:avLst/>
              <a:gdLst/>
              <a:ahLst/>
              <a:cxnLst/>
              <a:rect l="l" t="t" r="r" b="b"/>
              <a:pathLst>
                <a:path w="4573905" h="568959">
                  <a:moveTo>
                    <a:pt x="0" y="0"/>
                  </a:moveTo>
                  <a:lnTo>
                    <a:pt x="4573667" y="0"/>
                  </a:lnTo>
                  <a:lnTo>
                    <a:pt x="4573667" y="568651"/>
                  </a:lnTo>
                  <a:lnTo>
                    <a:pt x="0" y="568651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2D146A18-E01D-C0E8-65ED-3E1A4FC0E49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9762" y="4421003"/>
              <a:ext cx="956703" cy="1008824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D11AC561-466F-3A7E-0B76-7C2FA93FBBC5}"/>
              </a:ext>
            </a:extLst>
          </p:cNvPr>
          <p:cNvSpPr txBox="1"/>
          <p:nvPr/>
        </p:nvSpPr>
        <p:spPr>
          <a:xfrm>
            <a:off x="7258365" y="6279660"/>
            <a:ext cx="816397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spc="-10" dirty="0">
                <a:solidFill>
                  <a:srgbClr val="ED7D31"/>
                </a:solidFill>
                <a:latin typeface="Arial"/>
                <a:cs typeface="Arial"/>
              </a:rPr>
              <a:t>values</a:t>
            </a:r>
            <a:endParaRPr sz="1999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4D9F760-276B-E4E0-4BE9-B4344DD7B43E}"/>
              </a:ext>
            </a:extLst>
          </p:cNvPr>
          <p:cNvSpPr txBox="1"/>
          <p:nvPr/>
        </p:nvSpPr>
        <p:spPr>
          <a:xfrm>
            <a:off x="4067442" y="4442196"/>
            <a:ext cx="717363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b="1" spc="-10" dirty="0">
                <a:solidFill>
                  <a:srgbClr val="4472C4"/>
                </a:solidFill>
                <a:latin typeface="Arial"/>
                <a:cs typeface="Arial"/>
              </a:rPr>
              <a:t>query</a:t>
            </a:r>
            <a:endParaRPr sz="1999">
              <a:latin typeface="Arial"/>
              <a:cs typeface="Arial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F1A7136E-3DBF-FE2E-DC9C-C343924DDBE1}"/>
              </a:ext>
            </a:extLst>
          </p:cNvPr>
          <p:cNvGrpSpPr/>
          <p:nvPr/>
        </p:nvGrpSpPr>
        <p:grpSpPr>
          <a:xfrm>
            <a:off x="2609277" y="4793944"/>
            <a:ext cx="3303044" cy="845599"/>
            <a:chOff x="2609957" y="4794299"/>
            <a:chExt cx="3303904" cy="845819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160DFCBD-2127-F4CF-DDA1-FCE14B66272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9957" y="5419850"/>
              <a:ext cx="231893" cy="220164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3337F5C-9559-E9DC-B608-8ECCF4438EDD}"/>
                </a:ext>
              </a:extLst>
            </p:cNvPr>
            <p:cNvSpPr/>
            <p:nvPr/>
          </p:nvSpPr>
          <p:spPr>
            <a:xfrm>
              <a:off x="2833431" y="5156026"/>
              <a:ext cx="257175" cy="49530"/>
            </a:xfrm>
            <a:custGeom>
              <a:avLst/>
              <a:gdLst/>
              <a:ahLst/>
              <a:cxnLst/>
              <a:rect l="l" t="t" r="r" b="b"/>
              <a:pathLst>
                <a:path w="257175" h="49529">
                  <a:moveTo>
                    <a:pt x="79452" y="48489"/>
                  </a:moveTo>
                  <a:lnTo>
                    <a:pt x="61908" y="48489"/>
                  </a:lnTo>
                  <a:lnTo>
                    <a:pt x="63813" y="48783"/>
                  </a:lnTo>
                  <a:lnTo>
                    <a:pt x="74266" y="49230"/>
                  </a:lnTo>
                  <a:lnTo>
                    <a:pt x="73154" y="49230"/>
                  </a:lnTo>
                  <a:lnTo>
                    <a:pt x="79452" y="48489"/>
                  </a:lnTo>
                  <a:close/>
                </a:path>
                <a:path w="257175" h="49529">
                  <a:moveTo>
                    <a:pt x="92338" y="48152"/>
                  </a:moveTo>
                  <a:lnTo>
                    <a:pt x="92147" y="48152"/>
                  </a:lnTo>
                  <a:lnTo>
                    <a:pt x="93625" y="48648"/>
                  </a:lnTo>
                  <a:lnTo>
                    <a:pt x="97133" y="49230"/>
                  </a:lnTo>
                  <a:lnTo>
                    <a:pt x="99541" y="49230"/>
                  </a:lnTo>
                  <a:lnTo>
                    <a:pt x="102799" y="48648"/>
                  </a:lnTo>
                  <a:lnTo>
                    <a:pt x="95333" y="48648"/>
                  </a:lnTo>
                  <a:lnTo>
                    <a:pt x="92338" y="48152"/>
                  </a:lnTo>
                  <a:close/>
                </a:path>
                <a:path w="257175" h="49529">
                  <a:moveTo>
                    <a:pt x="106932" y="47910"/>
                  </a:moveTo>
                  <a:lnTo>
                    <a:pt x="83492" y="47910"/>
                  </a:lnTo>
                  <a:lnTo>
                    <a:pt x="81886" y="48152"/>
                  </a:lnTo>
                  <a:lnTo>
                    <a:pt x="83799" y="48489"/>
                  </a:lnTo>
                  <a:lnTo>
                    <a:pt x="85613" y="48648"/>
                  </a:lnTo>
                  <a:lnTo>
                    <a:pt x="93602" y="48648"/>
                  </a:lnTo>
                  <a:lnTo>
                    <a:pt x="92147" y="48152"/>
                  </a:lnTo>
                  <a:lnTo>
                    <a:pt x="105579" y="48152"/>
                  </a:lnTo>
                  <a:lnTo>
                    <a:pt x="106932" y="47910"/>
                  </a:lnTo>
                  <a:close/>
                </a:path>
                <a:path w="257175" h="49529">
                  <a:moveTo>
                    <a:pt x="105579" y="48152"/>
                  </a:moveTo>
                  <a:lnTo>
                    <a:pt x="92338" y="48152"/>
                  </a:lnTo>
                  <a:lnTo>
                    <a:pt x="95333" y="48648"/>
                  </a:lnTo>
                  <a:lnTo>
                    <a:pt x="102799" y="48648"/>
                  </a:lnTo>
                  <a:lnTo>
                    <a:pt x="105579" y="48152"/>
                  </a:lnTo>
                  <a:close/>
                </a:path>
                <a:path w="257175" h="49529">
                  <a:moveTo>
                    <a:pt x="12327" y="2593"/>
                  </a:moveTo>
                  <a:lnTo>
                    <a:pt x="4837" y="6150"/>
                  </a:lnTo>
                  <a:lnTo>
                    <a:pt x="0" y="19735"/>
                  </a:lnTo>
                  <a:lnTo>
                    <a:pt x="3227" y="26611"/>
                  </a:lnTo>
                  <a:lnTo>
                    <a:pt x="3340" y="26852"/>
                  </a:lnTo>
                  <a:lnTo>
                    <a:pt x="3555" y="27205"/>
                  </a:lnTo>
                  <a:lnTo>
                    <a:pt x="23182" y="34335"/>
                  </a:lnTo>
                  <a:lnTo>
                    <a:pt x="35387" y="39218"/>
                  </a:lnTo>
                  <a:lnTo>
                    <a:pt x="49997" y="45275"/>
                  </a:lnTo>
                  <a:lnTo>
                    <a:pt x="51608" y="45824"/>
                  </a:lnTo>
                  <a:lnTo>
                    <a:pt x="61506" y="48489"/>
                  </a:lnTo>
                  <a:lnTo>
                    <a:pt x="79643" y="48489"/>
                  </a:lnTo>
                  <a:lnTo>
                    <a:pt x="81886" y="48152"/>
                  </a:lnTo>
                  <a:lnTo>
                    <a:pt x="80517" y="47910"/>
                  </a:lnTo>
                  <a:lnTo>
                    <a:pt x="106932" y="47910"/>
                  </a:lnTo>
                  <a:lnTo>
                    <a:pt x="126462" y="44372"/>
                  </a:lnTo>
                  <a:lnTo>
                    <a:pt x="127753" y="44056"/>
                  </a:lnTo>
                  <a:lnTo>
                    <a:pt x="139839" y="40311"/>
                  </a:lnTo>
                  <a:lnTo>
                    <a:pt x="150444" y="37631"/>
                  </a:lnTo>
                  <a:lnTo>
                    <a:pt x="162932" y="35196"/>
                  </a:lnTo>
                  <a:lnTo>
                    <a:pt x="177397" y="32169"/>
                  </a:lnTo>
                  <a:lnTo>
                    <a:pt x="177092" y="32169"/>
                  </a:lnTo>
                  <a:lnTo>
                    <a:pt x="188354" y="31188"/>
                  </a:lnTo>
                  <a:lnTo>
                    <a:pt x="190413" y="30787"/>
                  </a:lnTo>
                  <a:lnTo>
                    <a:pt x="195093" y="29347"/>
                  </a:lnTo>
                  <a:lnTo>
                    <a:pt x="198186" y="28618"/>
                  </a:lnTo>
                  <a:lnTo>
                    <a:pt x="82709" y="28618"/>
                  </a:lnTo>
                  <a:lnTo>
                    <a:pt x="80678" y="28096"/>
                  </a:lnTo>
                  <a:lnTo>
                    <a:pt x="81269" y="28096"/>
                  </a:lnTo>
                  <a:lnTo>
                    <a:pt x="77217" y="26611"/>
                  </a:lnTo>
                  <a:lnTo>
                    <a:pt x="69085" y="23478"/>
                  </a:lnTo>
                  <a:lnTo>
                    <a:pt x="67778" y="23051"/>
                  </a:lnTo>
                  <a:lnTo>
                    <a:pt x="60456" y="21080"/>
                  </a:lnTo>
                  <a:lnTo>
                    <a:pt x="60030" y="21080"/>
                  </a:lnTo>
                  <a:lnTo>
                    <a:pt x="58418" y="20532"/>
                  </a:lnTo>
                  <a:lnTo>
                    <a:pt x="58707" y="20532"/>
                  </a:lnTo>
                  <a:lnTo>
                    <a:pt x="45269" y="14960"/>
                  </a:lnTo>
                  <a:lnTo>
                    <a:pt x="32101" y="9700"/>
                  </a:lnTo>
                  <a:lnTo>
                    <a:pt x="12327" y="2593"/>
                  </a:lnTo>
                  <a:close/>
                </a:path>
                <a:path w="257175" h="49529">
                  <a:moveTo>
                    <a:pt x="83492" y="47910"/>
                  </a:moveTo>
                  <a:lnTo>
                    <a:pt x="80517" y="47910"/>
                  </a:lnTo>
                  <a:lnTo>
                    <a:pt x="81886" y="48152"/>
                  </a:lnTo>
                  <a:lnTo>
                    <a:pt x="83492" y="47910"/>
                  </a:lnTo>
                  <a:close/>
                </a:path>
                <a:path w="257175" h="49529">
                  <a:moveTo>
                    <a:pt x="80678" y="28096"/>
                  </a:moveTo>
                  <a:lnTo>
                    <a:pt x="82709" y="28618"/>
                  </a:lnTo>
                  <a:lnTo>
                    <a:pt x="84100" y="28618"/>
                  </a:lnTo>
                  <a:lnTo>
                    <a:pt x="80678" y="28096"/>
                  </a:lnTo>
                  <a:close/>
                </a:path>
                <a:path w="257175" h="49529">
                  <a:moveTo>
                    <a:pt x="81269" y="28096"/>
                  </a:moveTo>
                  <a:lnTo>
                    <a:pt x="80678" y="28096"/>
                  </a:lnTo>
                  <a:lnTo>
                    <a:pt x="84100" y="28618"/>
                  </a:lnTo>
                  <a:lnTo>
                    <a:pt x="82693" y="28618"/>
                  </a:lnTo>
                  <a:lnTo>
                    <a:pt x="81269" y="28096"/>
                  </a:lnTo>
                  <a:close/>
                </a:path>
                <a:path w="257175" h="49529">
                  <a:moveTo>
                    <a:pt x="93579" y="27795"/>
                  </a:moveTo>
                  <a:lnTo>
                    <a:pt x="85526" y="27795"/>
                  </a:lnTo>
                  <a:lnTo>
                    <a:pt x="83799" y="27946"/>
                  </a:lnTo>
                  <a:lnTo>
                    <a:pt x="79991" y="28618"/>
                  </a:lnTo>
                  <a:lnTo>
                    <a:pt x="198048" y="28618"/>
                  </a:lnTo>
                  <a:lnTo>
                    <a:pt x="201350" y="28096"/>
                  </a:lnTo>
                  <a:lnTo>
                    <a:pt x="92697" y="28096"/>
                  </a:lnTo>
                  <a:lnTo>
                    <a:pt x="93579" y="27795"/>
                  </a:lnTo>
                  <a:close/>
                </a:path>
                <a:path w="257175" h="49529">
                  <a:moveTo>
                    <a:pt x="97598" y="27205"/>
                  </a:moveTo>
                  <a:lnTo>
                    <a:pt x="97133" y="27205"/>
                  </a:lnTo>
                  <a:lnTo>
                    <a:pt x="93579" y="27795"/>
                  </a:lnTo>
                  <a:lnTo>
                    <a:pt x="92697" y="28096"/>
                  </a:lnTo>
                  <a:lnTo>
                    <a:pt x="93470" y="28096"/>
                  </a:lnTo>
                  <a:lnTo>
                    <a:pt x="95287" y="27795"/>
                  </a:lnTo>
                  <a:lnTo>
                    <a:pt x="203254" y="27795"/>
                  </a:lnTo>
                  <a:lnTo>
                    <a:pt x="205897" y="27377"/>
                  </a:lnTo>
                  <a:lnTo>
                    <a:pt x="96638" y="27377"/>
                  </a:lnTo>
                  <a:lnTo>
                    <a:pt x="97598" y="27205"/>
                  </a:lnTo>
                  <a:close/>
                </a:path>
                <a:path w="257175" h="49529">
                  <a:moveTo>
                    <a:pt x="203254" y="27795"/>
                  </a:moveTo>
                  <a:lnTo>
                    <a:pt x="95287" y="27795"/>
                  </a:lnTo>
                  <a:lnTo>
                    <a:pt x="93470" y="28096"/>
                  </a:lnTo>
                  <a:lnTo>
                    <a:pt x="201350" y="28096"/>
                  </a:lnTo>
                  <a:lnTo>
                    <a:pt x="203254" y="27795"/>
                  </a:lnTo>
                  <a:close/>
                </a:path>
                <a:path w="257175" h="49529">
                  <a:moveTo>
                    <a:pt x="249845" y="0"/>
                  </a:moveTo>
                  <a:lnTo>
                    <a:pt x="225401" y="3816"/>
                  </a:lnTo>
                  <a:lnTo>
                    <a:pt x="217558" y="5331"/>
                  </a:lnTo>
                  <a:lnTo>
                    <a:pt x="194876" y="8947"/>
                  </a:lnTo>
                  <a:lnTo>
                    <a:pt x="194001" y="9132"/>
                  </a:lnTo>
                  <a:lnTo>
                    <a:pt x="189691" y="10246"/>
                  </a:lnTo>
                  <a:lnTo>
                    <a:pt x="174344" y="14960"/>
                  </a:lnTo>
                  <a:lnTo>
                    <a:pt x="173786" y="15092"/>
                  </a:lnTo>
                  <a:lnTo>
                    <a:pt x="173381" y="15092"/>
                  </a:lnTo>
                  <a:lnTo>
                    <a:pt x="159671" y="17444"/>
                  </a:lnTo>
                  <a:lnTo>
                    <a:pt x="147242" y="19296"/>
                  </a:lnTo>
                  <a:lnTo>
                    <a:pt x="135572" y="21621"/>
                  </a:lnTo>
                  <a:lnTo>
                    <a:pt x="134834" y="21621"/>
                  </a:lnTo>
                  <a:lnTo>
                    <a:pt x="123573" y="22565"/>
                  </a:lnTo>
                  <a:lnTo>
                    <a:pt x="122523" y="22703"/>
                  </a:lnTo>
                  <a:lnTo>
                    <a:pt x="96638" y="27377"/>
                  </a:lnTo>
                  <a:lnTo>
                    <a:pt x="98573" y="27205"/>
                  </a:lnTo>
                  <a:lnTo>
                    <a:pt x="206981" y="27205"/>
                  </a:lnTo>
                  <a:lnTo>
                    <a:pt x="221006" y="25102"/>
                  </a:lnTo>
                  <a:lnTo>
                    <a:pt x="228623" y="23694"/>
                  </a:lnTo>
                  <a:lnTo>
                    <a:pt x="252855" y="20053"/>
                  </a:lnTo>
                  <a:lnTo>
                    <a:pt x="256521" y="15092"/>
                  </a:lnTo>
                  <a:lnTo>
                    <a:pt x="173786" y="15092"/>
                  </a:lnTo>
                  <a:lnTo>
                    <a:pt x="174220" y="14960"/>
                  </a:lnTo>
                  <a:lnTo>
                    <a:pt x="256619" y="14960"/>
                  </a:lnTo>
                  <a:lnTo>
                    <a:pt x="255973" y="10246"/>
                  </a:lnTo>
                  <a:lnTo>
                    <a:pt x="255008" y="3816"/>
                  </a:lnTo>
                  <a:lnTo>
                    <a:pt x="249845" y="0"/>
                  </a:lnTo>
                  <a:close/>
                </a:path>
                <a:path w="257175" h="49529">
                  <a:moveTo>
                    <a:pt x="206981" y="27205"/>
                  </a:moveTo>
                  <a:lnTo>
                    <a:pt x="98573" y="27205"/>
                  </a:lnTo>
                  <a:lnTo>
                    <a:pt x="96638" y="27377"/>
                  </a:lnTo>
                  <a:lnTo>
                    <a:pt x="205897" y="27377"/>
                  </a:lnTo>
                  <a:lnTo>
                    <a:pt x="206981" y="27205"/>
                  </a:lnTo>
                  <a:close/>
                </a:path>
                <a:path w="257175" h="49529">
                  <a:moveTo>
                    <a:pt x="58418" y="20532"/>
                  </a:moveTo>
                  <a:lnTo>
                    <a:pt x="60030" y="21080"/>
                  </a:lnTo>
                  <a:lnTo>
                    <a:pt x="59240" y="20753"/>
                  </a:lnTo>
                  <a:lnTo>
                    <a:pt x="58418" y="20532"/>
                  </a:lnTo>
                  <a:close/>
                </a:path>
                <a:path w="257175" h="49529">
                  <a:moveTo>
                    <a:pt x="59240" y="20753"/>
                  </a:moveTo>
                  <a:lnTo>
                    <a:pt x="60030" y="21080"/>
                  </a:lnTo>
                  <a:lnTo>
                    <a:pt x="60456" y="21080"/>
                  </a:lnTo>
                  <a:lnTo>
                    <a:pt x="59240" y="20753"/>
                  </a:lnTo>
                  <a:close/>
                </a:path>
                <a:path w="257175" h="49529">
                  <a:moveTo>
                    <a:pt x="58707" y="20532"/>
                  </a:moveTo>
                  <a:lnTo>
                    <a:pt x="58418" y="20532"/>
                  </a:lnTo>
                  <a:lnTo>
                    <a:pt x="59240" y="20753"/>
                  </a:lnTo>
                  <a:lnTo>
                    <a:pt x="58707" y="205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8B1D10A4-C4C0-0B13-97EF-9E8FAD7F382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2287" y="5099017"/>
              <a:ext cx="127722" cy="144073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6E0C8B43-E7C3-425F-0AC3-739148E94D6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8754" y="5060190"/>
              <a:ext cx="272302" cy="154882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C59F9527-E679-547D-E297-17D68F8BADE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8765" y="4794299"/>
              <a:ext cx="744921" cy="5956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30776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56061" y="279659"/>
            <a:ext cx="11140071" cy="913503"/>
          </a:xfrm>
          <a:prstGeom prst="rect">
            <a:avLst/>
          </a:prstGeom>
        </p:spPr>
        <p:txBody>
          <a:bodyPr vert="horz" wrap="square" lIns="0" tIns="63483" rIns="0" bIns="0" rtlCol="0">
            <a:spAutoFit/>
          </a:bodyPr>
          <a:lstStyle/>
          <a:p>
            <a:pPr marL="12696" marR="5078" algn="l">
              <a:lnSpc>
                <a:spcPts val="3499"/>
              </a:lnSpc>
              <a:spcBef>
                <a:spcPts val="500"/>
              </a:spcBef>
            </a:pPr>
            <a:r>
              <a:rPr sz="4400" dirty="0">
                <a:solidFill>
                  <a:srgbClr val="DC4400"/>
                </a:solidFill>
                <a:latin typeface="Impact"/>
                <a:cs typeface="+mj-cs"/>
              </a:rPr>
              <a:t>Challenges: Exponentially Increasing </a:t>
            </a:r>
            <a:br>
              <a:rPr lang="en-US" sz="4400" dirty="0">
                <a:solidFill>
                  <a:srgbClr val="DC4400"/>
                </a:solidFill>
                <a:latin typeface="Impact"/>
                <a:cs typeface="+mj-cs"/>
              </a:rPr>
            </a:br>
            <a:r>
              <a:rPr lang="en-US" sz="2400" dirty="0">
                <a:solidFill>
                  <a:schemeClr val="tx1"/>
                </a:solidFill>
                <a:latin typeface="Impact"/>
              </a:rPr>
              <a:t>- </a:t>
            </a:r>
            <a:r>
              <a:rPr sz="2400" dirty="0">
                <a:solidFill>
                  <a:schemeClr val="tx1"/>
                </a:solidFill>
                <a:latin typeface="Impact"/>
              </a:rPr>
              <a:t>Computational Costs for Transformer 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135" y="1778348"/>
            <a:ext cx="8913078" cy="47739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50358" y="2709352"/>
            <a:ext cx="3157667" cy="759897"/>
          </a:xfrm>
          <a:prstGeom prst="rect">
            <a:avLst/>
          </a:prstGeom>
        </p:spPr>
        <p:txBody>
          <a:bodyPr vert="horz" wrap="square" lIns="0" tIns="9523" rIns="0" bIns="0" rtlCol="0">
            <a:spAutoFit/>
          </a:bodyPr>
          <a:lstStyle/>
          <a:p>
            <a:pPr marL="12696" marR="5078">
              <a:lnSpc>
                <a:spcPct val="100800"/>
              </a:lnSpc>
              <a:spcBef>
                <a:spcPts val="75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We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have</a:t>
            </a:r>
            <a:r>
              <a:rPr sz="23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seen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similar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trend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in</a:t>
            </a:r>
            <a:r>
              <a:rPr sz="2399" b="1" spc="-4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CNNs</a:t>
            </a:r>
            <a:r>
              <a:rPr sz="2399" b="1" spc="-3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before.</a:t>
            </a:r>
            <a:endParaRPr sz="239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38551-55FD-0993-3850-01DA1DB4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C74A04-F5CB-6304-9EB0-6688B896B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026" y="576037"/>
            <a:ext cx="9527594" cy="4873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3659"/>
              </a:lnSpc>
              <a:spcBef>
                <a:spcPts val="100"/>
              </a:spcBef>
            </a:pPr>
            <a:r>
              <a:rPr dirty="0"/>
              <a:t>Understand</a:t>
            </a:r>
            <a:r>
              <a:rPr spc="-50" dirty="0"/>
              <a:t> </a:t>
            </a:r>
            <a:r>
              <a:rPr lang="en-US" dirty="0"/>
              <a:t>ML</a:t>
            </a:r>
            <a:r>
              <a:rPr spc="-215" dirty="0"/>
              <a:t> </a:t>
            </a:r>
            <a:r>
              <a:rPr spc="-10" dirty="0"/>
              <a:t>Applications: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98A4A7-29E2-D1FC-8A1E-99D779D9C7CD}"/>
              </a:ext>
            </a:extLst>
          </p:cNvPr>
          <p:cNvSpPr txBox="1"/>
          <p:nvPr/>
        </p:nvSpPr>
        <p:spPr>
          <a:xfrm>
            <a:off x="2938137" y="3679379"/>
            <a:ext cx="5763029" cy="21899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Convolutional Neural Networks</a:t>
            </a:r>
          </a:p>
          <a:p>
            <a:pPr marL="469124" indent="-456428">
              <a:lnSpc>
                <a:spcPts val="3324"/>
              </a:lnSpc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Recurrent Neural Networks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Transformers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Graph Neural Networks</a:t>
            </a:r>
          </a:p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Mixture-of-Experts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E84AF-5DEE-4783-5081-333A7957D3B5}"/>
              </a:ext>
            </a:extLst>
          </p:cNvPr>
          <p:cNvSpPr txBox="1"/>
          <p:nvPr/>
        </p:nvSpPr>
        <p:spPr>
          <a:xfrm>
            <a:off x="1830789" y="2752556"/>
            <a:ext cx="8189859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>
              <a:spcBef>
                <a:spcPts val="100"/>
              </a:spcBef>
              <a:tabLst>
                <a:tab pos="469124" algn="l"/>
              </a:tabLst>
            </a:pPr>
            <a:r>
              <a:rPr lang="en-US" sz="2799" b="1" dirty="0">
                <a:latin typeface="Arial"/>
                <a:cs typeface="Arial"/>
              </a:rPr>
              <a:t>An Overview of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8174907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313265" y="102961"/>
            <a:ext cx="12733867" cy="726676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12696" algn="l">
              <a:lnSpc>
                <a:spcPts val="3659"/>
              </a:lnSpc>
              <a:spcBef>
                <a:spcPts val="100"/>
              </a:spcBef>
            </a:pPr>
            <a:r>
              <a:rPr sz="4400" dirty="0">
                <a:solidFill>
                  <a:srgbClr val="DC4400"/>
                </a:solidFill>
                <a:latin typeface="Impact"/>
              </a:rPr>
              <a:t>Graph Neural Networks: The Hottest Subfield in ML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192" y="1399421"/>
            <a:ext cx="5709200" cy="536408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56" y="16993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GNNs:</a:t>
            </a:r>
            <a:r>
              <a:rPr spc="-50" dirty="0"/>
              <a:t> </a:t>
            </a:r>
            <a:r>
              <a:rPr dirty="0"/>
              <a:t>Neural</a:t>
            </a:r>
            <a:r>
              <a:rPr spc="-40" dirty="0"/>
              <a:t> </a:t>
            </a:r>
            <a:r>
              <a:rPr dirty="0"/>
              <a:t>Networks</a:t>
            </a:r>
            <a:r>
              <a:rPr spc="-50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Relational</a:t>
            </a:r>
            <a:r>
              <a:rPr spc="-4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2597" y="3003366"/>
            <a:ext cx="2830946" cy="13796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5708" y="2744981"/>
            <a:ext cx="3026532" cy="15393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637058" y="1583994"/>
            <a:ext cx="5214532" cy="5104070"/>
            <a:chOff x="3638006" y="1583513"/>
            <a:chExt cx="5215890" cy="5105400"/>
          </a:xfrm>
        </p:grpSpPr>
        <p:sp>
          <p:nvSpPr>
            <p:cNvPr id="6" name="object 6"/>
            <p:cNvSpPr/>
            <p:nvPr/>
          </p:nvSpPr>
          <p:spPr>
            <a:xfrm>
              <a:off x="6057900" y="1583513"/>
              <a:ext cx="76200" cy="5105400"/>
            </a:xfrm>
            <a:custGeom>
              <a:avLst/>
              <a:gdLst/>
              <a:ahLst/>
              <a:cxnLst/>
              <a:rect l="l" t="t" r="r" b="b"/>
              <a:pathLst>
                <a:path w="76200" h="5105400">
                  <a:moveTo>
                    <a:pt x="38100" y="0"/>
                  </a:moveTo>
                  <a:lnTo>
                    <a:pt x="23269" y="2994"/>
                  </a:lnTo>
                  <a:lnTo>
                    <a:pt x="11159" y="11159"/>
                  </a:lnTo>
                  <a:lnTo>
                    <a:pt x="2994" y="23269"/>
                  </a:lnTo>
                  <a:lnTo>
                    <a:pt x="0" y="38100"/>
                  </a:lnTo>
                  <a:lnTo>
                    <a:pt x="0" y="266700"/>
                  </a:lnTo>
                  <a:lnTo>
                    <a:pt x="2994" y="281529"/>
                  </a:lnTo>
                  <a:lnTo>
                    <a:pt x="11159" y="293640"/>
                  </a:lnTo>
                  <a:lnTo>
                    <a:pt x="23269" y="301805"/>
                  </a:lnTo>
                  <a:lnTo>
                    <a:pt x="38100" y="304800"/>
                  </a:lnTo>
                  <a:lnTo>
                    <a:pt x="52929" y="301805"/>
                  </a:lnTo>
                  <a:lnTo>
                    <a:pt x="65040" y="293640"/>
                  </a:lnTo>
                  <a:lnTo>
                    <a:pt x="73205" y="281529"/>
                  </a:lnTo>
                  <a:lnTo>
                    <a:pt x="76200" y="266700"/>
                  </a:lnTo>
                  <a:lnTo>
                    <a:pt x="76200" y="38100"/>
                  </a:lnTo>
                  <a:lnTo>
                    <a:pt x="73205" y="23269"/>
                  </a:lnTo>
                  <a:lnTo>
                    <a:pt x="65040" y="11159"/>
                  </a:lnTo>
                  <a:lnTo>
                    <a:pt x="52929" y="2994"/>
                  </a:lnTo>
                  <a:lnTo>
                    <a:pt x="38100" y="0"/>
                  </a:lnTo>
                  <a:close/>
                </a:path>
                <a:path w="76200" h="5105400">
                  <a:moveTo>
                    <a:pt x="38100" y="533400"/>
                  </a:moveTo>
                  <a:lnTo>
                    <a:pt x="23269" y="536394"/>
                  </a:lnTo>
                  <a:lnTo>
                    <a:pt x="11159" y="544559"/>
                  </a:lnTo>
                  <a:lnTo>
                    <a:pt x="2994" y="556669"/>
                  </a:lnTo>
                  <a:lnTo>
                    <a:pt x="0" y="571500"/>
                  </a:lnTo>
                  <a:lnTo>
                    <a:pt x="0" y="800100"/>
                  </a:lnTo>
                  <a:lnTo>
                    <a:pt x="2994" y="814929"/>
                  </a:lnTo>
                  <a:lnTo>
                    <a:pt x="11159" y="827040"/>
                  </a:lnTo>
                  <a:lnTo>
                    <a:pt x="23269" y="835205"/>
                  </a:lnTo>
                  <a:lnTo>
                    <a:pt x="38100" y="838200"/>
                  </a:lnTo>
                  <a:lnTo>
                    <a:pt x="52930" y="835205"/>
                  </a:lnTo>
                  <a:lnTo>
                    <a:pt x="65040" y="827040"/>
                  </a:lnTo>
                  <a:lnTo>
                    <a:pt x="73205" y="814929"/>
                  </a:lnTo>
                  <a:lnTo>
                    <a:pt x="76200" y="800100"/>
                  </a:lnTo>
                  <a:lnTo>
                    <a:pt x="76200" y="571500"/>
                  </a:lnTo>
                  <a:lnTo>
                    <a:pt x="73205" y="556669"/>
                  </a:lnTo>
                  <a:lnTo>
                    <a:pt x="65040" y="544559"/>
                  </a:lnTo>
                  <a:lnTo>
                    <a:pt x="52930" y="536394"/>
                  </a:lnTo>
                  <a:lnTo>
                    <a:pt x="38100" y="533400"/>
                  </a:lnTo>
                  <a:close/>
                </a:path>
                <a:path w="76200" h="5105400">
                  <a:moveTo>
                    <a:pt x="38100" y="1066800"/>
                  </a:moveTo>
                  <a:lnTo>
                    <a:pt x="23270" y="1069794"/>
                  </a:lnTo>
                  <a:lnTo>
                    <a:pt x="11159" y="1077959"/>
                  </a:lnTo>
                  <a:lnTo>
                    <a:pt x="2994" y="1090069"/>
                  </a:lnTo>
                  <a:lnTo>
                    <a:pt x="0" y="1104900"/>
                  </a:lnTo>
                  <a:lnTo>
                    <a:pt x="0" y="1333500"/>
                  </a:lnTo>
                  <a:lnTo>
                    <a:pt x="2994" y="1348329"/>
                  </a:lnTo>
                  <a:lnTo>
                    <a:pt x="11159" y="1360440"/>
                  </a:lnTo>
                  <a:lnTo>
                    <a:pt x="23270" y="1368605"/>
                  </a:lnTo>
                  <a:lnTo>
                    <a:pt x="38100" y="1371600"/>
                  </a:lnTo>
                  <a:lnTo>
                    <a:pt x="52930" y="1368605"/>
                  </a:lnTo>
                  <a:lnTo>
                    <a:pt x="65040" y="1360440"/>
                  </a:lnTo>
                  <a:lnTo>
                    <a:pt x="73205" y="1348329"/>
                  </a:lnTo>
                  <a:lnTo>
                    <a:pt x="76200" y="1333500"/>
                  </a:lnTo>
                  <a:lnTo>
                    <a:pt x="76200" y="1104900"/>
                  </a:lnTo>
                  <a:lnTo>
                    <a:pt x="73205" y="1090069"/>
                  </a:lnTo>
                  <a:lnTo>
                    <a:pt x="65040" y="1077959"/>
                  </a:lnTo>
                  <a:lnTo>
                    <a:pt x="52930" y="1069794"/>
                  </a:lnTo>
                  <a:lnTo>
                    <a:pt x="38100" y="1066800"/>
                  </a:lnTo>
                  <a:close/>
                </a:path>
                <a:path w="76200" h="5105400">
                  <a:moveTo>
                    <a:pt x="38100" y="1600200"/>
                  </a:moveTo>
                  <a:lnTo>
                    <a:pt x="23270" y="1603194"/>
                  </a:lnTo>
                  <a:lnTo>
                    <a:pt x="11159" y="1611359"/>
                  </a:lnTo>
                  <a:lnTo>
                    <a:pt x="2994" y="1623469"/>
                  </a:lnTo>
                  <a:lnTo>
                    <a:pt x="0" y="1638300"/>
                  </a:lnTo>
                  <a:lnTo>
                    <a:pt x="0" y="1866900"/>
                  </a:lnTo>
                  <a:lnTo>
                    <a:pt x="2994" y="1881729"/>
                  </a:lnTo>
                  <a:lnTo>
                    <a:pt x="11159" y="1893840"/>
                  </a:lnTo>
                  <a:lnTo>
                    <a:pt x="23270" y="1902005"/>
                  </a:lnTo>
                  <a:lnTo>
                    <a:pt x="38100" y="1905000"/>
                  </a:lnTo>
                  <a:lnTo>
                    <a:pt x="52930" y="1902005"/>
                  </a:lnTo>
                  <a:lnTo>
                    <a:pt x="65040" y="1893840"/>
                  </a:lnTo>
                  <a:lnTo>
                    <a:pt x="73205" y="1881729"/>
                  </a:lnTo>
                  <a:lnTo>
                    <a:pt x="76200" y="1866900"/>
                  </a:lnTo>
                  <a:lnTo>
                    <a:pt x="76200" y="1638300"/>
                  </a:lnTo>
                  <a:lnTo>
                    <a:pt x="73205" y="1623469"/>
                  </a:lnTo>
                  <a:lnTo>
                    <a:pt x="65040" y="1611359"/>
                  </a:lnTo>
                  <a:lnTo>
                    <a:pt x="52930" y="1603194"/>
                  </a:lnTo>
                  <a:lnTo>
                    <a:pt x="38100" y="1600200"/>
                  </a:lnTo>
                  <a:close/>
                </a:path>
                <a:path w="76200" h="5105400">
                  <a:moveTo>
                    <a:pt x="38100" y="2133600"/>
                  </a:moveTo>
                  <a:lnTo>
                    <a:pt x="23270" y="2136594"/>
                  </a:lnTo>
                  <a:lnTo>
                    <a:pt x="11159" y="2144759"/>
                  </a:lnTo>
                  <a:lnTo>
                    <a:pt x="2994" y="2156869"/>
                  </a:lnTo>
                  <a:lnTo>
                    <a:pt x="0" y="2171700"/>
                  </a:lnTo>
                  <a:lnTo>
                    <a:pt x="0" y="2400300"/>
                  </a:lnTo>
                  <a:lnTo>
                    <a:pt x="2994" y="2415129"/>
                  </a:lnTo>
                  <a:lnTo>
                    <a:pt x="11159" y="2427240"/>
                  </a:lnTo>
                  <a:lnTo>
                    <a:pt x="23270" y="2435405"/>
                  </a:lnTo>
                  <a:lnTo>
                    <a:pt x="38100" y="2438400"/>
                  </a:lnTo>
                  <a:lnTo>
                    <a:pt x="52930" y="2435405"/>
                  </a:lnTo>
                  <a:lnTo>
                    <a:pt x="65040" y="2427240"/>
                  </a:lnTo>
                  <a:lnTo>
                    <a:pt x="73205" y="2415129"/>
                  </a:lnTo>
                  <a:lnTo>
                    <a:pt x="76200" y="2400300"/>
                  </a:lnTo>
                  <a:lnTo>
                    <a:pt x="76200" y="2171700"/>
                  </a:lnTo>
                  <a:lnTo>
                    <a:pt x="73205" y="2156869"/>
                  </a:lnTo>
                  <a:lnTo>
                    <a:pt x="65040" y="2144759"/>
                  </a:lnTo>
                  <a:lnTo>
                    <a:pt x="52930" y="2136594"/>
                  </a:lnTo>
                  <a:lnTo>
                    <a:pt x="38100" y="2133600"/>
                  </a:lnTo>
                  <a:close/>
                </a:path>
                <a:path w="76200" h="5105400">
                  <a:moveTo>
                    <a:pt x="38100" y="2667000"/>
                  </a:moveTo>
                  <a:lnTo>
                    <a:pt x="23270" y="2669994"/>
                  </a:lnTo>
                  <a:lnTo>
                    <a:pt x="11159" y="2678159"/>
                  </a:lnTo>
                  <a:lnTo>
                    <a:pt x="2994" y="2690269"/>
                  </a:lnTo>
                  <a:lnTo>
                    <a:pt x="0" y="2705100"/>
                  </a:lnTo>
                  <a:lnTo>
                    <a:pt x="0" y="2933700"/>
                  </a:lnTo>
                  <a:lnTo>
                    <a:pt x="2994" y="2948529"/>
                  </a:lnTo>
                  <a:lnTo>
                    <a:pt x="11159" y="2960640"/>
                  </a:lnTo>
                  <a:lnTo>
                    <a:pt x="23270" y="2968805"/>
                  </a:lnTo>
                  <a:lnTo>
                    <a:pt x="38100" y="2971800"/>
                  </a:lnTo>
                  <a:lnTo>
                    <a:pt x="52930" y="2968805"/>
                  </a:lnTo>
                  <a:lnTo>
                    <a:pt x="65040" y="2960640"/>
                  </a:lnTo>
                  <a:lnTo>
                    <a:pt x="73205" y="2948529"/>
                  </a:lnTo>
                  <a:lnTo>
                    <a:pt x="76200" y="2933700"/>
                  </a:lnTo>
                  <a:lnTo>
                    <a:pt x="76200" y="2705100"/>
                  </a:lnTo>
                  <a:lnTo>
                    <a:pt x="73205" y="2690269"/>
                  </a:lnTo>
                  <a:lnTo>
                    <a:pt x="65040" y="2678159"/>
                  </a:lnTo>
                  <a:lnTo>
                    <a:pt x="52930" y="2669994"/>
                  </a:lnTo>
                  <a:lnTo>
                    <a:pt x="38100" y="2667000"/>
                  </a:lnTo>
                  <a:close/>
                </a:path>
                <a:path w="76200" h="5105400">
                  <a:moveTo>
                    <a:pt x="38100" y="3200400"/>
                  </a:moveTo>
                  <a:lnTo>
                    <a:pt x="23270" y="3203394"/>
                  </a:lnTo>
                  <a:lnTo>
                    <a:pt x="11159" y="3211559"/>
                  </a:lnTo>
                  <a:lnTo>
                    <a:pt x="2994" y="3223669"/>
                  </a:lnTo>
                  <a:lnTo>
                    <a:pt x="0" y="3238500"/>
                  </a:lnTo>
                  <a:lnTo>
                    <a:pt x="0" y="3467100"/>
                  </a:lnTo>
                  <a:lnTo>
                    <a:pt x="2994" y="3481929"/>
                  </a:lnTo>
                  <a:lnTo>
                    <a:pt x="11159" y="3494040"/>
                  </a:lnTo>
                  <a:lnTo>
                    <a:pt x="23270" y="3502205"/>
                  </a:lnTo>
                  <a:lnTo>
                    <a:pt x="38100" y="3505200"/>
                  </a:lnTo>
                  <a:lnTo>
                    <a:pt x="52930" y="3502205"/>
                  </a:lnTo>
                  <a:lnTo>
                    <a:pt x="65040" y="3494040"/>
                  </a:lnTo>
                  <a:lnTo>
                    <a:pt x="73205" y="3481929"/>
                  </a:lnTo>
                  <a:lnTo>
                    <a:pt x="76200" y="3467100"/>
                  </a:lnTo>
                  <a:lnTo>
                    <a:pt x="76200" y="3238500"/>
                  </a:lnTo>
                  <a:lnTo>
                    <a:pt x="73205" y="3223669"/>
                  </a:lnTo>
                  <a:lnTo>
                    <a:pt x="65040" y="3211559"/>
                  </a:lnTo>
                  <a:lnTo>
                    <a:pt x="52930" y="3203394"/>
                  </a:lnTo>
                  <a:lnTo>
                    <a:pt x="38100" y="3200400"/>
                  </a:lnTo>
                  <a:close/>
                </a:path>
                <a:path w="76200" h="5105400">
                  <a:moveTo>
                    <a:pt x="38100" y="3733800"/>
                  </a:moveTo>
                  <a:lnTo>
                    <a:pt x="23270" y="3736794"/>
                  </a:lnTo>
                  <a:lnTo>
                    <a:pt x="11159" y="3744959"/>
                  </a:lnTo>
                  <a:lnTo>
                    <a:pt x="2994" y="3757069"/>
                  </a:lnTo>
                  <a:lnTo>
                    <a:pt x="0" y="3771900"/>
                  </a:lnTo>
                  <a:lnTo>
                    <a:pt x="0" y="4000500"/>
                  </a:lnTo>
                  <a:lnTo>
                    <a:pt x="2994" y="4015329"/>
                  </a:lnTo>
                  <a:lnTo>
                    <a:pt x="11159" y="4027440"/>
                  </a:lnTo>
                  <a:lnTo>
                    <a:pt x="23270" y="4035605"/>
                  </a:lnTo>
                  <a:lnTo>
                    <a:pt x="38101" y="4038599"/>
                  </a:lnTo>
                  <a:lnTo>
                    <a:pt x="52931" y="4035605"/>
                  </a:lnTo>
                  <a:lnTo>
                    <a:pt x="65041" y="4027440"/>
                  </a:lnTo>
                  <a:lnTo>
                    <a:pt x="73206" y="4015329"/>
                  </a:lnTo>
                  <a:lnTo>
                    <a:pt x="76200" y="4000500"/>
                  </a:lnTo>
                  <a:lnTo>
                    <a:pt x="76200" y="3771900"/>
                  </a:lnTo>
                  <a:lnTo>
                    <a:pt x="73205" y="3757069"/>
                  </a:lnTo>
                  <a:lnTo>
                    <a:pt x="65040" y="3744959"/>
                  </a:lnTo>
                  <a:lnTo>
                    <a:pt x="52930" y="3736794"/>
                  </a:lnTo>
                  <a:lnTo>
                    <a:pt x="38100" y="3733800"/>
                  </a:lnTo>
                  <a:close/>
                </a:path>
                <a:path w="76200" h="5105400">
                  <a:moveTo>
                    <a:pt x="38101" y="4267199"/>
                  </a:moveTo>
                  <a:lnTo>
                    <a:pt x="23270" y="4270193"/>
                  </a:lnTo>
                  <a:lnTo>
                    <a:pt x="11160" y="4278358"/>
                  </a:lnTo>
                  <a:lnTo>
                    <a:pt x="2995" y="4290469"/>
                  </a:lnTo>
                  <a:lnTo>
                    <a:pt x="1" y="4305299"/>
                  </a:lnTo>
                  <a:lnTo>
                    <a:pt x="1" y="4533899"/>
                  </a:lnTo>
                  <a:lnTo>
                    <a:pt x="2995" y="4548729"/>
                  </a:lnTo>
                  <a:lnTo>
                    <a:pt x="11160" y="4560840"/>
                  </a:lnTo>
                  <a:lnTo>
                    <a:pt x="23270" y="4569005"/>
                  </a:lnTo>
                  <a:lnTo>
                    <a:pt x="38101" y="4571999"/>
                  </a:lnTo>
                  <a:lnTo>
                    <a:pt x="52931" y="4569005"/>
                  </a:lnTo>
                  <a:lnTo>
                    <a:pt x="65041" y="4560840"/>
                  </a:lnTo>
                  <a:lnTo>
                    <a:pt x="73207" y="4548729"/>
                  </a:lnTo>
                  <a:lnTo>
                    <a:pt x="76201" y="4533899"/>
                  </a:lnTo>
                  <a:lnTo>
                    <a:pt x="76201" y="4305299"/>
                  </a:lnTo>
                  <a:lnTo>
                    <a:pt x="73207" y="4290469"/>
                  </a:lnTo>
                  <a:lnTo>
                    <a:pt x="65041" y="4278358"/>
                  </a:lnTo>
                  <a:lnTo>
                    <a:pt x="52931" y="4270193"/>
                  </a:lnTo>
                  <a:lnTo>
                    <a:pt x="38101" y="4267199"/>
                  </a:lnTo>
                  <a:close/>
                </a:path>
                <a:path w="76200" h="5105400">
                  <a:moveTo>
                    <a:pt x="38101" y="4800599"/>
                  </a:moveTo>
                  <a:lnTo>
                    <a:pt x="23270" y="4803593"/>
                  </a:lnTo>
                  <a:lnTo>
                    <a:pt x="11160" y="4811758"/>
                  </a:lnTo>
                  <a:lnTo>
                    <a:pt x="2995" y="4823869"/>
                  </a:lnTo>
                  <a:lnTo>
                    <a:pt x="1" y="4838699"/>
                  </a:lnTo>
                  <a:lnTo>
                    <a:pt x="1" y="5067299"/>
                  </a:lnTo>
                  <a:lnTo>
                    <a:pt x="2995" y="5082129"/>
                  </a:lnTo>
                  <a:lnTo>
                    <a:pt x="11160" y="5094240"/>
                  </a:lnTo>
                  <a:lnTo>
                    <a:pt x="23270" y="5102405"/>
                  </a:lnTo>
                  <a:lnTo>
                    <a:pt x="38101" y="5105399"/>
                  </a:lnTo>
                  <a:lnTo>
                    <a:pt x="52931" y="5102405"/>
                  </a:lnTo>
                  <a:lnTo>
                    <a:pt x="65041" y="5094240"/>
                  </a:lnTo>
                  <a:lnTo>
                    <a:pt x="73207" y="5082129"/>
                  </a:lnTo>
                  <a:lnTo>
                    <a:pt x="76201" y="5067299"/>
                  </a:lnTo>
                  <a:lnTo>
                    <a:pt x="76201" y="4838699"/>
                  </a:lnTo>
                  <a:lnTo>
                    <a:pt x="73207" y="4823869"/>
                  </a:lnTo>
                  <a:lnTo>
                    <a:pt x="65041" y="4811758"/>
                  </a:lnTo>
                  <a:lnTo>
                    <a:pt x="52931" y="4803593"/>
                  </a:lnTo>
                  <a:lnTo>
                    <a:pt x="38101" y="4800599"/>
                  </a:lnTo>
                  <a:close/>
                </a:path>
              </a:pathLst>
            </a:custGeom>
            <a:solidFill>
              <a:srgbClr val="FBE5D6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7" name="object 7"/>
            <p:cNvSpPr/>
            <p:nvPr/>
          </p:nvSpPr>
          <p:spPr>
            <a:xfrm>
              <a:off x="5196794" y="2883372"/>
              <a:ext cx="2065020" cy="1241425"/>
            </a:xfrm>
            <a:custGeom>
              <a:avLst/>
              <a:gdLst/>
              <a:ahLst/>
              <a:cxnLst/>
              <a:rect l="l" t="t" r="r" b="b"/>
              <a:pathLst>
                <a:path w="2065020" h="1241425">
                  <a:moveTo>
                    <a:pt x="1444071" y="0"/>
                  </a:moveTo>
                  <a:lnTo>
                    <a:pt x="1444071" y="310250"/>
                  </a:lnTo>
                  <a:lnTo>
                    <a:pt x="0" y="310250"/>
                  </a:lnTo>
                  <a:lnTo>
                    <a:pt x="0" y="930752"/>
                  </a:lnTo>
                  <a:lnTo>
                    <a:pt x="1444071" y="930752"/>
                  </a:lnTo>
                  <a:lnTo>
                    <a:pt x="1444071" y="1241002"/>
                  </a:lnTo>
                  <a:lnTo>
                    <a:pt x="2064571" y="620501"/>
                  </a:lnTo>
                  <a:lnTo>
                    <a:pt x="1444071" y="0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8006" y="5120078"/>
              <a:ext cx="1993489" cy="11062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1217" y="4850439"/>
              <a:ext cx="2362064" cy="155896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307" y="5002298"/>
            <a:ext cx="3171429" cy="13061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02360" y="1981068"/>
            <a:ext cx="2430782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399" b="1" spc="-7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39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2323" y="1959738"/>
            <a:ext cx="3410965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Graph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3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399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8442" y="4947671"/>
            <a:ext cx="2427334" cy="136335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18532" y="2207070"/>
            <a:ext cx="3781710" cy="3909947"/>
            <a:chOff x="6620256" y="2206751"/>
            <a:chExt cx="3782695" cy="39109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0256" y="2206751"/>
              <a:ext cx="3782567" cy="3910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26358" y="2213701"/>
              <a:ext cx="3627120" cy="3755390"/>
            </a:xfrm>
            <a:custGeom>
              <a:avLst/>
              <a:gdLst/>
              <a:ahLst/>
              <a:cxnLst/>
              <a:rect l="l" t="t" r="r" b="b"/>
              <a:pathLst>
                <a:path w="3627120" h="3755390">
                  <a:moveTo>
                    <a:pt x="3626559" y="0"/>
                  </a:moveTo>
                  <a:lnTo>
                    <a:pt x="0" y="0"/>
                  </a:lnTo>
                  <a:lnTo>
                    <a:pt x="0" y="3754800"/>
                  </a:lnTo>
                  <a:lnTo>
                    <a:pt x="3626559" y="3754800"/>
                  </a:lnTo>
                  <a:lnTo>
                    <a:pt x="362655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0016" y="3316645"/>
              <a:ext cx="2618987" cy="14769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70714" y="6018616"/>
            <a:ext cx="17013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latin typeface="Arial MT"/>
                <a:cs typeface="Arial MT"/>
              </a:rPr>
              <a:t>DNN</a:t>
            </a:r>
            <a:r>
              <a:rPr sz="1799" spc="-4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Operations</a:t>
            </a:r>
            <a:endParaRPr sz="1799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13087" y="2207070"/>
            <a:ext cx="4631754" cy="3928356"/>
            <a:chOff x="1813560" y="2206751"/>
            <a:chExt cx="4632960" cy="392937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3560" y="2206751"/>
              <a:ext cx="3904488" cy="39288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19968" y="2213701"/>
              <a:ext cx="3749040" cy="3771900"/>
            </a:xfrm>
            <a:custGeom>
              <a:avLst/>
              <a:gdLst/>
              <a:ahLst/>
              <a:cxnLst/>
              <a:rect l="l" t="t" r="r" b="b"/>
              <a:pathLst>
                <a:path w="3749040" h="3771900">
                  <a:moveTo>
                    <a:pt x="3748420" y="0"/>
                  </a:moveTo>
                  <a:lnTo>
                    <a:pt x="0" y="0"/>
                  </a:lnTo>
                  <a:lnTo>
                    <a:pt x="0" y="3771669"/>
                  </a:lnTo>
                  <a:lnTo>
                    <a:pt x="3748420" y="3771669"/>
                  </a:lnTo>
                  <a:lnTo>
                    <a:pt x="374842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" name="object 10"/>
            <p:cNvSpPr/>
            <p:nvPr/>
          </p:nvSpPr>
          <p:spPr>
            <a:xfrm>
              <a:off x="4425969" y="3767336"/>
              <a:ext cx="2020570" cy="688975"/>
            </a:xfrm>
            <a:custGeom>
              <a:avLst/>
              <a:gdLst/>
              <a:ahLst/>
              <a:cxnLst/>
              <a:rect l="l" t="t" r="r" b="b"/>
              <a:pathLst>
                <a:path w="2020570" h="688975">
                  <a:moveTo>
                    <a:pt x="2020355" y="0"/>
                  </a:moveTo>
                  <a:lnTo>
                    <a:pt x="0" y="0"/>
                  </a:lnTo>
                  <a:lnTo>
                    <a:pt x="0" y="688977"/>
                  </a:lnTo>
                  <a:lnTo>
                    <a:pt x="2020355" y="688977"/>
                  </a:lnTo>
                  <a:lnTo>
                    <a:pt x="202035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37236" y="3796188"/>
            <a:ext cx="1394097" cy="330114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Aggregation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4052" y="4114114"/>
            <a:ext cx="1701357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dirty="0">
                <a:solidFill>
                  <a:srgbClr val="FFFFFF"/>
                </a:solidFill>
                <a:latin typeface="Arial MT"/>
                <a:cs typeface="Arial MT"/>
              </a:rPr>
              <a:t>(sum,</a:t>
            </a:r>
            <a:r>
              <a:rPr sz="1799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99" dirty="0">
                <a:solidFill>
                  <a:srgbClr val="FFFFFF"/>
                </a:solidFill>
                <a:latin typeface="Arial MT"/>
                <a:cs typeface="Arial MT"/>
              </a:rPr>
              <a:t>LSTM,</a:t>
            </a:r>
            <a:r>
              <a:rPr sz="1799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99" spc="-25" dirty="0">
                <a:solidFill>
                  <a:srgbClr val="FFFFFF"/>
                </a:solidFill>
                <a:latin typeface="Arial MT"/>
                <a:cs typeface="Arial MT"/>
              </a:rPr>
              <a:t>…)</a:t>
            </a:r>
            <a:endParaRPr sz="1799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56923" y="2551532"/>
            <a:ext cx="5194217" cy="3169095"/>
            <a:chOff x="2057459" y="2551304"/>
            <a:chExt cx="5195570" cy="3169920"/>
          </a:xfrm>
        </p:grpSpPr>
        <p:sp>
          <p:nvSpPr>
            <p:cNvPr id="14" name="object 14"/>
            <p:cNvSpPr/>
            <p:nvPr/>
          </p:nvSpPr>
          <p:spPr>
            <a:xfrm>
              <a:off x="2233066" y="3222993"/>
              <a:ext cx="3274695" cy="2498725"/>
            </a:xfrm>
            <a:custGeom>
              <a:avLst/>
              <a:gdLst/>
              <a:ahLst/>
              <a:cxnLst/>
              <a:rect l="l" t="t" r="r" b="b"/>
              <a:pathLst>
                <a:path w="3274695" h="2498725">
                  <a:moveTo>
                    <a:pt x="28575" y="2369578"/>
                  </a:moveTo>
                  <a:lnTo>
                    <a:pt x="0" y="2369578"/>
                  </a:lnTo>
                  <a:lnTo>
                    <a:pt x="0" y="2455303"/>
                  </a:lnTo>
                  <a:lnTo>
                    <a:pt x="28575" y="2455303"/>
                  </a:lnTo>
                  <a:lnTo>
                    <a:pt x="28575" y="2369578"/>
                  </a:lnTo>
                  <a:close/>
                </a:path>
                <a:path w="3274695" h="2498725">
                  <a:moveTo>
                    <a:pt x="28575" y="2255278"/>
                  </a:moveTo>
                  <a:lnTo>
                    <a:pt x="0" y="2255278"/>
                  </a:lnTo>
                  <a:lnTo>
                    <a:pt x="0" y="2341003"/>
                  </a:lnTo>
                  <a:lnTo>
                    <a:pt x="28575" y="2341003"/>
                  </a:lnTo>
                  <a:lnTo>
                    <a:pt x="28575" y="2255278"/>
                  </a:lnTo>
                  <a:close/>
                </a:path>
                <a:path w="3274695" h="2498725">
                  <a:moveTo>
                    <a:pt x="100012" y="2469591"/>
                  </a:moveTo>
                  <a:lnTo>
                    <a:pt x="14287" y="2469591"/>
                  </a:lnTo>
                  <a:lnTo>
                    <a:pt x="28575" y="2483878"/>
                  </a:lnTo>
                  <a:lnTo>
                    <a:pt x="0" y="2483878"/>
                  </a:lnTo>
                  <a:lnTo>
                    <a:pt x="0" y="2498166"/>
                  </a:lnTo>
                  <a:lnTo>
                    <a:pt x="100012" y="2498166"/>
                  </a:lnTo>
                  <a:lnTo>
                    <a:pt x="100012" y="2469591"/>
                  </a:lnTo>
                  <a:close/>
                </a:path>
                <a:path w="3274695" h="2498725">
                  <a:moveTo>
                    <a:pt x="214312" y="2469591"/>
                  </a:moveTo>
                  <a:lnTo>
                    <a:pt x="128587" y="2469591"/>
                  </a:lnTo>
                  <a:lnTo>
                    <a:pt x="128587" y="2498166"/>
                  </a:lnTo>
                  <a:lnTo>
                    <a:pt x="214312" y="2498166"/>
                  </a:lnTo>
                  <a:lnTo>
                    <a:pt x="214312" y="2469591"/>
                  </a:lnTo>
                  <a:close/>
                </a:path>
                <a:path w="3274695" h="2498725">
                  <a:moveTo>
                    <a:pt x="328612" y="2469591"/>
                  </a:moveTo>
                  <a:lnTo>
                    <a:pt x="242887" y="2469591"/>
                  </a:lnTo>
                  <a:lnTo>
                    <a:pt x="242887" y="2498166"/>
                  </a:lnTo>
                  <a:lnTo>
                    <a:pt x="328612" y="2498166"/>
                  </a:lnTo>
                  <a:lnTo>
                    <a:pt x="328612" y="2469591"/>
                  </a:lnTo>
                  <a:close/>
                </a:path>
                <a:path w="3274695" h="2498725">
                  <a:moveTo>
                    <a:pt x="442912" y="2469591"/>
                  </a:moveTo>
                  <a:lnTo>
                    <a:pt x="357187" y="2469591"/>
                  </a:lnTo>
                  <a:lnTo>
                    <a:pt x="357187" y="2498166"/>
                  </a:lnTo>
                  <a:lnTo>
                    <a:pt x="442912" y="2498166"/>
                  </a:lnTo>
                  <a:lnTo>
                    <a:pt x="442912" y="2469591"/>
                  </a:lnTo>
                  <a:close/>
                </a:path>
                <a:path w="3274695" h="2498725">
                  <a:moveTo>
                    <a:pt x="557212" y="2469591"/>
                  </a:moveTo>
                  <a:lnTo>
                    <a:pt x="471487" y="2469591"/>
                  </a:lnTo>
                  <a:lnTo>
                    <a:pt x="471487" y="2498166"/>
                  </a:lnTo>
                  <a:lnTo>
                    <a:pt x="557212" y="2498166"/>
                  </a:lnTo>
                  <a:lnTo>
                    <a:pt x="557212" y="2469591"/>
                  </a:lnTo>
                  <a:close/>
                </a:path>
                <a:path w="3274695" h="2498725">
                  <a:moveTo>
                    <a:pt x="671512" y="2469591"/>
                  </a:moveTo>
                  <a:lnTo>
                    <a:pt x="585787" y="2469591"/>
                  </a:lnTo>
                  <a:lnTo>
                    <a:pt x="585787" y="2498166"/>
                  </a:lnTo>
                  <a:lnTo>
                    <a:pt x="671512" y="2498166"/>
                  </a:lnTo>
                  <a:lnTo>
                    <a:pt x="671512" y="2469591"/>
                  </a:lnTo>
                  <a:close/>
                </a:path>
                <a:path w="3274695" h="2498725">
                  <a:moveTo>
                    <a:pt x="785812" y="2469591"/>
                  </a:moveTo>
                  <a:lnTo>
                    <a:pt x="700087" y="2469591"/>
                  </a:lnTo>
                  <a:lnTo>
                    <a:pt x="700087" y="2498166"/>
                  </a:lnTo>
                  <a:lnTo>
                    <a:pt x="785812" y="2498166"/>
                  </a:lnTo>
                  <a:lnTo>
                    <a:pt x="785812" y="2469591"/>
                  </a:lnTo>
                  <a:close/>
                </a:path>
                <a:path w="3274695" h="2498725">
                  <a:moveTo>
                    <a:pt x="900112" y="2469591"/>
                  </a:moveTo>
                  <a:lnTo>
                    <a:pt x="814387" y="2469591"/>
                  </a:lnTo>
                  <a:lnTo>
                    <a:pt x="814387" y="2498166"/>
                  </a:lnTo>
                  <a:lnTo>
                    <a:pt x="900112" y="2498166"/>
                  </a:lnTo>
                  <a:lnTo>
                    <a:pt x="900112" y="2469591"/>
                  </a:lnTo>
                  <a:close/>
                </a:path>
                <a:path w="3274695" h="2498725">
                  <a:moveTo>
                    <a:pt x="1014412" y="2469591"/>
                  </a:moveTo>
                  <a:lnTo>
                    <a:pt x="928687" y="2469591"/>
                  </a:lnTo>
                  <a:lnTo>
                    <a:pt x="928687" y="2498166"/>
                  </a:lnTo>
                  <a:lnTo>
                    <a:pt x="1014412" y="2498166"/>
                  </a:lnTo>
                  <a:lnTo>
                    <a:pt x="1014412" y="2469591"/>
                  </a:lnTo>
                  <a:close/>
                </a:path>
                <a:path w="3274695" h="2498725">
                  <a:moveTo>
                    <a:pt x="1128712" y="2469591"/>
                  </a:moveTo>
                  <a:lnTo>
                    <a:pt x="1042987" y="2469591"/>
                  </a:lnTo>
                  <a:lnTo>
                    <a:pt x="1042987" y="2498166"/>
                  </a:lnTo>
                  <a:lnTo>
                    <a:pt x="1128712" y="2498166"/>
                  </a:lnTo>
                  <a:lnTo>
                    <a:pt x="1128712" y="2469591"/>
                  </a:lnTo>
                  <a:close/>
                </a:path>
                <a:path w="3274695" h="2498725">
                  <a:moveTo>
                    <a:pt x="1243012" y="2469591"/>
                  </a:moveTo>
                  <a:lnTo>
                    <a:pt x="1157287" y="2469591"/>
                  </a:lnTo>
                  <a:lnTo>
                    <a:pt x="1157287" y="2498166"/>
                  </a:lnTo>
                  <a:lnTo>
                    <a:pt x="1243012" y="2498166"/>
                  </a:lnTo>
                  <a:lnTo>
                    <a:pt x="1243012" y="2469591"/>
                  </a:lnTo>
                  <a:close/>
                </a:path>
                <a:path w="3274695" h="2498725">
                  <a:moveTo>
                    <a:pt x="1357312" y="2469591"/>
                  </a:moveTo>
                  <a:lnTo>
                    <a:pt x="1271587" y="2469591"/>
                  </a:lnTo>
                  <a:lnTo>
                    <a:pt x="1271587" y="2498166"/>
                  </a:lnTo>
                  <a:lnTo>
                    <a:pt x="1357312" y="2498166"/>
                  </a:lnTo>
                  <a:lnTo>
                    <a:pt x="1357312" y="2469591"/>
                  </a:lnTo>
                  <a:close/>
                </a:path>
                <a:path w="3274695" h="2498725">
                  <a:moveTo>
                    <a:pt x="1471612" y="2469591"/>
                  </a:moveTo>
                  <a:lnTo>
                    <a:pt x="1385887" y="2469591"/>
                  </a:lnTo>
                  <a:lnTo>
                    <a:pt x="1385887" y="2498166"/>
                  </a:lnTo>
                  <a:lnTo>
                    <a:pt x="1471612" y="2498166"/>
                  </a:lnTo>
                  <a:lnTo>
                    <a:pt x="1471612" y="2469591"/>
                  </a:lnTo>
                  <a:close/>
                </a:path>
                <a:path w="3274695" h="2498725">
                  <a:moveTo>
                    <a:pt x="1535468" y="0"/>
                  </a:moveTo>
                  <a:lnTo>
                    <a:pt x="1449743" y="0"/>
                  </a:lnTo>
                  <a:lnTo>
                    <a:pt x="1449743" y="28575"/>
                  </a:lnTo>
                  <a:lnTo>
                    <a:pt x="1535468" y="28575"/>
                  </a:lnTo>
                  <a:lnTo>
                    <a:pt x="1535468" y="0"/>
                  </a:lnTo>
                  <a:close/>
                </a:path>
                <a:path w="3274695" h="2498725">
                  <a:moveTo>
                    <a:pt x="1585912" y="2469591"/>
                  </a:moveTo>
                  <a:lnTo>
                    <a:pt x="1500187" y="2469591"/>
                  </a:lnTo>
                  <a:lnTo>
                    <a:pt x="1500187" y="2498166"/>
                  </a:lnTo>
                  <a:lnTo>
                    <a:pt x="1585912" y="2498166"/>
                  </a:lnTo>
                  <a:lnTo>
                    <a:pt x="1585912" y="2469591"/>
                  </a:lnTo>
                  <a:close/>
                </a:path>
                <a:path w="3274695" h="2498725">
                  <a:moveTo>
                    <a:pt x="1649768" y="0"/>
                  </a:moveTo>
                  <a:lnTo>
                    <a:pt x="1564043" y="0"/>
                  </a:lnTo>
                  <a:lnTo>
                    <a:pt x="1564043" y="28575"/>
                  </a:lnTo>
                  <a:lnTo>
                    <a:pt x="1649768" y="28575"/>
                  </a:lnTo>
                  <a:lnTo>
                    <a:pt x="1649768" y="0"/>
                  </a:lnTo>
                  <a:close/>
                </a:path>
                <a:path w="3274695" h="2498725">
                  <a:moveTo>
                    <a:pt x="1700212" y="2469591"/>
                  </a:moveTo>
                  <a:lnTo>
                    <a:pt x="1614487" y="2469591"/>
                  </a:lnTo>
                  <a:lnTo>
                    <a:pt x="1614487" y="2498166"/>
                  </a:lnTo>
                  <a:lnTo>
                    <a:pt x="1700212" y="2498166"/>
                  </a:lnTo>
                  <a:lnTo>
                    <a:pt x="1700212" y="2469591"/>
                  </a:lnTo>
                  <a:close/>
                </a:path>
                <a:path w="3274695" h="2498725">
                  <a:moveTo>
                    <a:pt x="1764068" y="0"/>
                  </a:moveTo>
                  <a:lnTo>
                    <a:pt x="1678343" y="0"/>
                  </a:lnTo>
                  <a:lnTo>
                    <a:pt x="1678343" y="28575"/>
                  </a:lnTo>
                  <a:lnTo>
                    <a:pt x="1764068" y="28575"/>
                  </a:lnTo>
                  <a:lnTo>
                    <a:pt x="1764068" y="0"/>
                  </a:lnTo>
                  <a:close/>
                </a:path>
                <a:path w="3274695" h="2498725">
                  <a:moveTo>
                    <a:pt x="1814512" y="2469591"/>
                  </a:moveTo>
                  <a:lnTo>
                    <a:pt x="1728787" y="2469591"/>
                  </a:lnTo>
                  <a:lnTo>
                    <a:pt x="1728787" y="2498166"/>
                  </a:lnTo>
                  <a:lnTo>
                    <a:pt x="1814512" y="2498166"/>
                  </a:lnTo>
                  <a:lnTo>
                    <a:pt x="1814512" y="2469591"/>
                  </a:lnTo>
                  <a:close/>
                </a:path>
                <a:path w="3274695" h="2498725">
                  <a:moveTo>
                    <a:pt x="1878368" y="0"/>
                  </a:moveTo>
                  <a:lnTo>
                    <a:pt x="1792643" y="0"/>
                  </a:lnTo>
                  <a:lnTo>
                    <a:pt x="1792643" y="28575"/>
                  </a:lnTo>
                  <a:lnTo>
                    <a:pt x="1878368" y="28575"/>
                  </a:lnTo>
                  <a:lnTo>
                    <a:pt x="1878368" y="0"/>
                  </a:lnTo>
                  <a:close/>
                </a:path>
                <a:path w="3274695" h="2498725">
                  <a:moveTo>
                    <a:pt x="1928812" y="2469591"/>
                  </a:moveTo>
                  <a:lnTo>
                    <a:pt x="1843087" y="2469591"/>
                  </a:lnTo>
                  <a:lnTo>
                    <a:pt x="1843087" y="2498166"/>
                  </a:lnTo>
                  <a:lnTo>
                    <a:pt x="1928812" y="2498166"/>
                  </a:lnTo>
                  <a:lnTo>
                    <a:pt x="1928812" y="2469591"/>
                  </a:lnTo>
                  <a:close/>
                </a:path>
                <a:path w="3274695" h="2498725">
                  <a:moveTo>
                    <a:pt x="1955228" y="1555026"/>
                  </a:moveTo>
                  <a:lnTo>
                    <a:pt x="1869503" y="1555026"/>
                  </a:lnTo>
                  <a:lnTo>
                    <a:pt x="1869503" y="1583601"/>
                  </a:lnTo>
                  <a:lnTo>
                    <a:pt x="1955228" y="1583601"/>
                  </a:lnTo>
                  <a:lnTo>
                    <a:pt x="1955228" y="1555026"/>
                  </a:lnTo>
                  <a:close/>
                </a:path>
                <a:path w="3274695" h="2498725">
                  <a:moveTo>
                    <a:pt x="1992668" y="0"/>
                  </a:moveTo>
                  <a:lnTo>
                    <a:pt x="1906943" y="0"/>
                  </a:lnTo>
                  <a:lnTo>
                    <a:pt x="1906943" y="28575"/>
                  </a:lnTo>
                  <a:lnTo>
                    <a:pt x="1992668" y="28575"/>
                  </a:lnTo>
                  <a:lnTo>
                    <a:pt x="1992668" y="0"/>
                  </a:lnTo>
                  <a:close/>
                </a:path>
                <a:path w="3274695" h="2498725">
                  <a:moveTo>
                    <a:pt x="2043112" y="2469591"/>
                  </a:moveTo>
                  <a:lnTo>
                    <a:pt x="1957387" y="2469591"/>
                  </a:lnTo>
                  <a:lnTo>
                    <a:pt x="1957387" y="2498166"/>
                  </a:lnTo>
                  <a:lnTo>
                    <a:pt x="2043112" y="2498166"/>
                  </a:lnTo>
                  <a:lnTo>
                    <a:pt x="2043112" y="2469591"/>
                  </a:lnTo>
                  <a:close/>
                </a:path>
                <a:path w="3274695" h="2498725">
                  <a:moveTo>
                    <a:pt x="2045487" y="1530985"/>
                  </a:moveTo>
                  <a:lnTo>
                    <a:pt x="2016912" y="1530985"/>
                  </a:lnTo>
                  <a:lnTo>
                    <a:pt x="2016912" y="1555026"/>
                  </a:lnTo>
                  <a:lnTo>
                    <a:pt x="1983803" y="1555026"/>
                  </a:lnTo>
                  <a:lnTo>
                    <a:pt x="1983803" y="1583601"/>
                  </a:lnTo>
                  <a:lnTo>
                    <a:pt x="2045487" y="1583601"/>
                  </a:lnTo>
                  <a:lnTo>
                    <a:pt x="2045487" y="1569313"/>
                  </a:lnTo>
                  <a:lnTo>
                    <a:pt x="2045487" y="1555026"/>
                  </a:lnTo>
                  <a:lnTo>
                    <a:pt x="2045487" y="1530985"/>
                  </a:lnTo>
                  <a:close/>
                </a:path>
                <a:path w="3274695" h="2498725">
                  <a:moveTo>
                    <a:pt x="2045487" y="1416685"/>
                  </a:moveTo>
                  <a:lnTo>
                    <a:pt x="2016912" y="1416685"/>
                  </a:lnTo>
                  <a:lnTo>
                    <a:pt x="2016912" y="1502410"/>
                  </a:lnTo>
                  <a:lnTo>
                    <a:pt x="2045487" y="1502410"/>
                  </a:lnTo>
                  <a:lnTo>
                    <a:pt x="2045487" y="1416685"/>
                  </a:lnTo>
                  <a:close/>
                </a:path>
                <a:path w="3274695" h="2498725">
                  <a:moveTo>
                    <a:pt x="2045487" y="1302385"/>
                  </a:moveTo>
                  <a:lnTo>
                    <a:pt x="2016912" y="1302385"/>
                  </a:lnTo>
                  <a:lnTo>
                    <a:pt x="2016912" y="1388110"/>
                  </a:lnTo>
                  <a:lnTo>
                    <a:pt x="2045487" y="1388110"/>
                  </a:lnTo>
                  <a:lnTo>
                    <a:pt x="2045487" y="1302385"/>
                  </a:lnTo>
                  <a:close/>
                </a:path>
                <a:path w="3274695" h="2498725">
                  <a:moveTo>
                    <a:pt x="2045487" y="1188085"/>
                  </a:moveTo>
                  <a:lnTo>
                    <a:pt x="2016912" y="1188085"/>
                  </a:lnTo>
                  <a:lnTo>
                    <a:pt x="2016912" y="1273810"/>
                  </a:lnTo>
                  <a:lnTo>
                    <a:pt x="2045487" y="1273810"/>
                  </a:lnTo>
                  <a:lnTo>
                    <a:pt x="2045487" y="1188085"/>
                  </a:lnTo>
                  <a:close/>
                </a:path>
                <a:path w="3274695" h="2498725">
                  <a:moveTo>
                    <a:pt x="2045487" y="1073785"/>
                  </a:moveTo>
                  <a:lnTo>
                    <a:pt x="2016912" y="1073785"/>
                  </a:lnTo>
                  <a:lnTo>
                    <a:pt x="2016912" y="1159510"/>
                  </a:lnTo>
                  <a:lnTo>
                    <a:pt x="2045487" y="1159510"/>
                  </a:lnTo>
                  <a:lnTo>
                    <a:pt x="2045487" y="1073785"/>
                  </a:lnTo>
                  <a:close/>
                </a:path>
                <a:path w="3274695" h="2498725">
                  <a:moveTo>
                    <a:pt x="2045487" y="959485"/>
                  </a:moveTo>
                  <a:lnTo>
                    <a:pt x="2016912" y="959485"/>
                  </a:lnTo>
                  <a:lnTo>
                    <a:pt x="2016912" y="1045210"/>
                  </a:lnTo>
                  <a:lnTo>
                    <a:pt x="2045487" y="1045210"/>
                  </a:lnTo>
                  <a:lnTo>
                    <a:pt x="2045487" y="959485"/>
                  </a:lnTo>
                  <a:close/>
                </a:path>
                <a:path w="3274695" h="2498725">
                  <a:moveTo>
                    <a:pt x="2106968" y="0"/>
                  </a:moveTo>
                  <a:lnTo>
                    <a:pt x="2021243" y="0"/>
                  </a:lnTo>
                  <a:lnTo>
                    <a:pt x="2021243" y="28575"/>
                  </a:lnTo>
                  <a:lnTo>
                    <a:pt x="2106968" y="28575"/>
                  </a:lnTo>
                  <a:lnTo>
                    <a:pt x="2106968" y="0"/>
                  </a:lnTo>
                  <a:close/>
                </a:path>
                <a:path w="3274695" h="2498725">
                  <a:moveTo>
                    <a:pt x="2157412" y="2469591"/>
                  </a:moveTo>
                  <a:lnTo>
                    <a:pt x="2071687" y="2469591"/>
                  </a:lnTo>
                  <a:lnTo>
                    <a:pt x="2071687" y="2498166"/>
                  </a:lnTo>
                  <a:lnTo>
                    <a:pt x="2157412" y="2498166"/>
                  </a:lnTo>
                  <a:lnTo>
                    <a:pt x="2157412" y="2469591"/>
                  </a:lnTo>
                  <a:close/>
                </a:path>
                <a:path w="3274695" h="2498725">
                  <a:moveTo>
                    <a:pt x="2192896" y="888834"/>
                  </a:moveTo>
                  <a:lnTo>
                    <a:pt x="2164321" y="874547"/>
                  </a:lnTo>
                  <a:lnTo>
                    <a:pt x="2050021" y="817397"/>
                  </a:lnTo>
                  <a:lnTo>
                    <a:pt x="2050021" y="874547"/>
                  </a:lnTo>
                  <a:lnTo>
                    <a:pt x="2016912" y="874547"/>
                  </a:lnTo>
                  <a:lnTo>
                    <a:pt x="2016912" y="930910"/>
                  </a:lnTo>
                  <a:lnTo>
                    <a:pt x="2045487" y="930910"/>
                  </a:lnTo>
                  <a:lnTo>
                    <a:pt x="2045487" y="903122"/>
                  </a:lnTo>
                  <a:lnTo>
                    <a:pt x="2050021" y="903122"/>
                  </a:lnTo>
                  <a:lnTo>
                    <a:pt x="2050021" y="960272"/>
                  </a:lnTo>
                  <a:lnTo>
                    <a:pt x="2164321" y="903122"/>
                  </a:lnTo>
                  <a:lnTo>
                    <a:pt x="2192896" y="888834"/>
                  </a:lnTo>
                  <a:close/>
                </a:path>
                <a:path w="3274695" h="2498725">
                  <a:moveTo>
                    <a:pt x="2221268" y="0"/>
                  </a:moveTo>
                  <a:lnTo>
                    <a:pt x="2135543" y="0"/>
                  </a:lnTo>
                  <a:lnTo>
                    <a:pt x="2135543" y="28575"/>
                  </a:lnTo>
                  <a:lnTo>
                    <a:pt x="2221268" y="28575"/>
                  </a:lnTo>
                  <a:lnTo>
                    <a:pt x="2221268" y="0"/>
                  </a:lnTo>
                  <a:close/>
                </a:path>
                <a:path w="3274695" h="2498725">
                  <a:moveTo>
                    <a:pt x="2271712" y="2469591"/>
                  </a:moveTo>
                  <a:lnTo>
                    <a:pt x="2185987" y="2469591"/>
                  </a:lnTo>
                  <a:lnTo>
                    <a:pt x="2185987" y="2498166"/>
                  </a:lnTo>
                  <a:lnTo>
                    <a:pt x="2271712" y="2498166"/>
                  </a:lnTo>
                  <a:lnTo>
                    <a:pt x="2271712" y="2469591"/>
                  </a:lnTo>
                  <a:close/>
                </a:path>
                <a:path w="3274695" h="2498725">
                  <a:moveTo>
                    <a:pt x="2335568" y="0"/>
                  </a:moveTo>
                  <a:lnTo>
                    <a:pt x="2249843" y="0"/>
                  </a:lnTo>
                  <a:lnTo>
                    <a:pt x="2249843" y="28575"/>
                  </a:lnTo>
                  <a:lnTo>
                    <a:pt x="2335568" y="28575"/>
                  </a:lnTo>
                  <a:lnTo>
                    <a:pt x="2335568" y="0"/>
                  </a:lnTo>
                  <a:close/>
                </a:path>
                <a:path w="3274695" h="2498725">
                  <a:moveTo>
                    <a:pt x="2386012" y="2469591"/>
                  </a:moveTo>
                  <a:lnTo>
                    <a:pt x="2300287" y="2469591"/>
                  </a:lnTo>
                  <a:lnTo>
                    <a:pt x="2300287" y="2498166"/>
                  </a:lnTo>
                  <a:lnTo>
                    <a:pt x="2386012" y="2498166"/>
                  </a:lnTo>
                  <a:lnTo>
                    <a:pt x="2386012" y="2469591"/>
                  </a:lnTo>
                  <a:close/>
                </a:path>
                <a:path w="3274695" h="2498725">
                  <a:moveTo>
                    <a:pt x="2449868" y="0"/>
                  </a:moveTo>
                  <a:lnTo>
                    <a:pt x="2364143" y="0"/>
                  </a:lnTo>
                  <a:lnTo>
                    <a:pt x="2364143" y="28575"/>
                  </a:lnTo>
                  <a:lnTo>
                    <a:pt x="2449868" y="28575"/>
                  </a:lnTo>
                  <a:lnTo>
                    <a:pt x="2449868" y="0"/>
                  </a:lnTo>
                  <a:close/>
                </a:path>
                <a:path w="3274695" h="2498725">
                  <a:moveTo>
                    <a:pt x="2500312" y="2469591"/>
                  </a:moveTo>
                  <a:lnTo>
                    <a:pt x="2414587" y="2469591"/>
                  </a:lnTo>
                  <a:lnTo>
                    <a:pt x="2414587" y="2498166"/>
                  </a:lnTo>
                  <a:lnTo>
                    <a:pt x="2500312" y="2498166"/>
                  </a:lnTo>
                  <a:lnTo>
                    <a:pt x="2500312" y="2469591"/>
                  </a:lnTo>
                  <a:close/>
                </a:path>
                <a:path w="3274695" h="2498725">
                  <a:moveTo>
                    <a:pt x="2564168" y="0"/>
                  </a:moveTo>
                  <a:lnTo>
                    <a:pt x="2478443" y="0"/>
                  </a:lnTo>
                  <a:lnTo>
                    <a:pt x="2478443" y="28575"/>
                  </a:lnTo>
                  <a:lnTo>
                    <a:pt x="2564168" y="28575"/>
                  </a:lnTo>
                  <a:lnTo>
                    <a:pt x="2564168" y="0"/>
                  </a:lnTo>
                  <a:close/>
                </a:path>
                <a:path w="3274695" h="2498725">
                  <a:moveTo>
                    <a:pt x="2614612" y="2469591"/>
                  </a:moveTo>
                  <a:lnTo>
                    <a:pt x="2528887" y="2469591"/>
                  </a:lnTo>
                  <a:lnTo>
                    <a:pt x="2528887" y="2498166"/>
                  </a:lnTo>
                  <a:lnTo>
                    <a:pt x="2614612" y="2498166"/>
                  </a:lnTo>
                  <a:lnTo>
                    <a:pt x="2614612" y="2469591"/>
                  </a:lnTo>
                  <a:close/>
                </a:path>
                <a:path w="3274695" h="2498725">
                  <a:moveTo>
                    <a:pt x="2678468" y="0"/>
                  </a:moveTo>
                  <a:lnTo>
                    <a:pt x="2592743" y="0"/>
                  </a:lnTo>
                  <a:lnTo>
                    <a:pt x="2592743" y="28575"/>
                  </a:lnTo>
                  <a:lnTo>
                    <a:pt x="2678468" y="28575"/>
                  </a:lnTo>
                  <a:lnTo>
                    <a:pt x="2678468" y="0"/>
                  </a:lnTo>
                  <a:close/>
                </a:path>
                <a:path w="3274695" h="2498725">
                  <a:moveTo>
                    <a:pt x="2728912" y="2469591"/>
                  </a:moveTo>
                  <a:lnTo>
                    <a:pt x="2643187" y="2469591"/>
                  </a:lnTo>
                  <a:lnTo>
                    <a:pt x="2643187" y="2498166"/>
                  </a:lnTo>
                  <a:lnTo>
                    <a:pt x="2728912" y="2498166"/>
                  </a:lnTo>
                  <a:lnTo>
                    <a:pt x="2728912" y="2469591"/>
                  </a:lnTo>
                  <a:close/>
                </a:path>
                <a:path w="3274695" h="2498725">
                  <a:moveTo>
                    <a:pt x="2792768" y="0"/>
                  </a:moveTo>
                  <a:lnTo>
                    <a:pt x="2707043" y="0"/>
                  </a:lnTo>
                  <a:lnTo>
                    <a:pt x="2707043" y="28575"/>
                  </a:lnTo>
                  <a:lnTo>
                    <a:pt x="2792768" y="28575"/>
                  </a:lnTo>
                  <a:lnTo>
                    <a:pt x="2792768" y="0"/>
                  </a:lnTo>
                  <a:close/>
                </a:path>
                <a:path w="3274695" h="2498725">
                  <a:moveTo>
                    <a:pt x="2843212" y="2469591"/>
                  </a:moveTo>
                  <a:lnTo>
                    <a:pt x="2757487" y="2469591"/>
                  </a:lnTo>
                  <a:lnTo>
                    <a:pt x="2757487" y="2498166"/>
                  </a:lnTo>
                  <a:lnTo>
                    <a:pt x="2843212" y="2498166"/>
                  </a:lnTo>
                  <a:lnTo>
                    <a:pt x="2843212" y="2469591"/>
                  </a:lnTo>
                  <a:close/>
                </a:path>
                <a:path w="3274695" h="2498725">
                  <a:moveTo>
                    <a:pt x="2907068" y="0"/>
                  </a:moveTo>
                  <a:lnTo>
                    <a:pt x="2821343" y="0"/>
                  </a:lnTo>
                  <a:lnTo>
                    <a:pt x="2821343" y="28575"/>
                  </a:lnTo>
                  <a:lnTo>
                    <a:pt x="2907068" y="28575"/>
                  </a:lnTo>
                  <a:lnTo>
                    <a:pt x="2907068" y="0"/>
                  </a:lnTo>
                  <a:close/>
                </a:path>
                <a:path w="3274695" h="2498725">
                  <a:moveTo>
                    <a:pt x="2957512" y="2469591"/>
                  </a:moveTo>
                  <a:lnTo>
                    <a:pt x="2871787" y="2469591"/>
                  </a:lnTo>
                  <a:lnTo>
                    <a:pt x="2871787" y="2498166"/>
                  </a:lnTo>
                  <a:lnTo>
                    <a:pt x="2957512" y="2498166"/>
                  </a:lnTo>
                  <a:lnTo>
                    <a:pt x="2957512" y="2469591"/>
                  </a:lnTo>
                  <a:close/>
                </a:path>
                <a:path w="3274695" h="2498725">
                  <a:moveTo>
                    <a:pt x="3021368" y="0"/>
                  </a:moveTo>
                  <a:lnTo>
                    <a:pt x="2935643" y="0"/>
                  </a:lnTo>
                  <a:lnTo>
                    <a:pt x="2935643" y="28575"/>
                  </a:lnTo>
                  <a:lnTo>
                    <a:pt x="3021368" y="28575"/>
                  </a:lnTo>
                  <a:lnTo>
                    <a:pt x="3021368" y="0"/>
                  </a:lnTo>
                  <a:close/>
                </a:path>
                <a:path w="3274695" h="2498725">
                  <a:moveTo>
                    <a:pt x="3071812" y="2469591"/>
                  </a:moveTo>
                  <a:lnTo>
                    <a:pt x="2986087" y="2469591"/>
                  </a:lnTo>
                  <a:lnTo>
                    <a:pt x="2986087" y="2498166"/>
                  </a:lnTo>
                  <a:lnTo>
                    <a:pt x="3071812" y="2498166"/>
                  </a:lnTo>
                  <a:lnTo>
                    <a:pt x="3071812" y="2469591"/>
                  </a:lnTo>
                  <a:close/>
                </a:path>
                <a:path w="3274695" h="2498725">
                  <a:moveTo>
                    <a:pt x="3135668" y="0"/>
                  </a:moveTo>
                  <a:lnTo>
                    <a:pt x="3049943" y="0"/>
                  </a:lnTo>
                  <a:lnTo>
                    <a:pt x="3049943" y="28575"/>
                  </a:lnTo>
                  <a:lnTo>
                    <a:pt x="3135668" y="28575"/>
                  </a:lnTo>
                  <a:lnTo>
                    <a:pt x="3135668" y="0"/>
                  </a:lnTo>
                  <a:close/>
                </a:path>
                <a:path w="3274695" h="2498725">
                  <a:moveTo>
                    <a:pt x="3186112" y="2469591"/>
                  </a:moveTo>
                  <a:lnTo>
                    <a:pt x="3100387" y="2469591"/>
                  </a:lnTo>
                  <a:lnTo>
                    <a:pt x="3100387" y="2498166"/>
                  </a:lnTo>
                  <a:lnTo>
                    <a:pt x="3186112" y="2498166"/>
                  </a:lnTo>
                  <a:lnTo>
                    <a:pt x="3186112" y="2469591"/>
                  </a:lnTo>
                  <a:close/>
                </a:path>
                <a:path w="3274695" h="2498725">
                  <a:moveTo>
                    <a:pt x="3217367" y="2386546"/>
                  </a:moveTo>
                  <a:lnTo>
                    <a:pt x="3188792" y="2386546"/>
                  </a:lnTo>
                  <a:lnTo>
                    <a:pt x="3188792" y="2472271"/>
                  </a:lnTo>
                  <a:lnTo>
                    <a:pt x="3217367" y="2472271"/>
                  </a:lnTo>
                  <a:lnTo>
                    <a:pt x="3217367" y="2386546"/>
                  </a:lnTo>
                  <a:close/>
                </a:path>
                <a:path w="3274695" h="2498725">
                  <a:moveTo>
                    <a:pt x="3217367" y="2272246"/>
                  </a:moveTo>
                  <a:lnTo>
                    <a:pt x="3188792" y="2272246"/>
                  </a:lnTo>
                  <a:lnTo>
                    <a:pt x="3188792" y="2357971"/>
                  </a:lnTo>
                  <a:lnTo>
                    <a:pt x="3217367" y="2357971"/>
                  </a:lnTo>
                  <a:lnTo>
                    <a:pt x="3217367" y="2272246"/>
                  </a:lnTo>
                  <a:close/>
                </a:path>
                <a:path w="3274695" h="2498725">
                  <a:moveTo>
                    <a:pt x="3217367" y="2157946"/>
                  </a:moveTo>
                  <a:lnTo>
                    <a:pt x="3188792" y="2157946"/>
                  </a:lnTo>
                  <a:lnTo>
                    <a:pt x="3188792" y="2243671"/>
                  </a:lnTo>
                  <a:lnTo>
                    <a:pt x="3217367" y="2243671"/>
                  </a:lnTo>
                  <a:lnTo>
                    <a:pt x="3217367" y="2157946"/>
                  </a:lnTo>
                  <a:close/>
                </a:path>
                <a:path w="3274695" h="2498725">
                  <a:moveTo>
                    <a:pt x="3217367" y="2043645"/>
                  </a:moveTo>
                  <a:lnTo>
                    <a:pt x="3188792" y="2043645"/>
                  </a:lnTo>
                  <a:lnTo>
                    <a:pt x="3188792" y="2129371"/>
                  </a:lnTo>
                  <a:lnTo>
                    <a:pt x="3217367" y="2129371"/>
                  </a:lnTo>
                  <a:lnTo>
                    <a:pt x="3217367" y="2043645"/>
                  </a:lnTo>
                  <a:close/>
                </a:path>
                <a:path w="3274695" h="2498725">
                  <a:moveTo>
                    <a:pt x="3217367" y="1929345"/>
                  </a:moveTo>
                  <a:lnTo>
                    <a:pt x="3188792" y="1929345"/>
                  </a:lnTo>
                  <a:lnTo>
                    <a:pt x="3188792" y="2015070"/>
                  </a:lnTo>
                  <a:lnTo>
                    <a:pt x="3217367" y="2015070"/>
                  </a:lnTo>
                  <a:lnTo>
                    <a:pt x="3217367" y="1929345"/>
                  </a:lnTo>
                  <a:close/>
                </a:path>
                <a:path w="3274695" h="2498725">
                  <a:moveTo>
                    <a:pt x="3217367" y="1815045"/>
                  </a:moveTo>
                  <a:lnTo>
                    <a:pt x="3188792" y="1815045"/>
                  </a:lnTo>
                  <a:lnTo>
                    <a:pt x="3188792" y="1900770"/>
                  </a:lnTo>
                  <a:lnTo>
                    <a:pt x="3217367" y="1900770"/>
                  </a:lnTo>
                  <a:lnTo>
                    <a:pt x="3217367" y="1815045"/>
                  </a:lnTo>
                  <a:close/>
                </a:path>
                <a:path w="3274695" h="2498725">
                  <a:moveTo>
                    <a:pt x="3217367" y="1700745"/>
                  </a:moveTo>
                  <a:lnTo>
                    <a:pt x="3188792" y="1700745"/>
                  </a:lnTo>
                  <a:lnTo>
                    <a:pt x="3188792" y="1786470"/>
                  </a:lnTo>
                  <a:lnTo>
                    <a:pt x="3217367" y="1786470"/>
                  </a:lnTo>
                  <a:lnTo>
                    <a:pt x="3217367" y="1700745"/>
                  </a:lnTo>
                  <a:close/>
                </a:path>
                <a:path w="3274695" h="2498725">
                  <a:moveTo>
                    <a:pt x="3217367" y="1586445"/>
                  </a:moveTo>
                  <a:lnTo>
                    <a:pt x="3188792" y="1586445"/>
                  </a:lnTo>
                  <a:lnTo>
                    <a:pt x="3188792" y="1672170"/>
                  </a:lnTo>
                  <a:lnTo>
                    <a:pt x="3217367" y="1672170"/>
                  </a:lnTo>
                  <a:lnTo>
                    <a:pt x="3217367" y="1586445"/>
                  </a:lnTo>
                  <a:close/>
                </a:path>
                <a:path w="3274695" h="2498725">
                  <a:moveTo>
                    <a:pt x="3217367" y="1472145"/>
                  </a:moveTo>
                  <a:lnTo>
                    <a:pt x="3188792" y="1472145"/>
                  </a:lnTo>
                  <a:lnTo>
                    <a:pt x="3188792" y="1557870"/>
                  </a:lnTo>
                  <a:lnTo>
                    <a:pt x="3217367" y="1557870"/>
                  </a:lnTo>
                  <a:lnTo>
                    <a:pt x="3217367" y="1472145"/>
                  </a:lnTo>
                  <a:close/>
                </a:path>
                <a:path w="3274695" h="2498725">
                  <a:moveTo>
                    <a:pt x="3217367" y="204050"/>
                  </a:moveTo>
                  <a:lnTo>
                    <a:pt x="3188792" y="204050"/>
                  </a:lnTo>
                  <a:lnTo>
                    <a:pt x="3188792" y="289775"/>
                  </a:lnTo>
                  <a:lnTo>
                    <a:pt x="3217367" y="289775"/>
                  </a:lnTo>
                  <a:lnTo>
                    <a:pt x="3217367" y="204050"/>
                  </a:lnTo>
                  <a:close/>
                </a:path>
                <a:path w="3274695" h="2498725">
                  <a:moveTo>
                    <a:pt x="3217367" y="89750"/>
                  </a:moveTo>
                  <a:lnTo>
                    <a:pt x="3188792" y="89750"/>
                  </a:lnTo>
                  <a:lnTo>
                    <a:pt x="3188792" y="175475"/>
                  </a:lnTo>
                  <a:lnTo>
                    <a:pt x="3217367" y="175475"/>
                  </a:lnTo>
                  <a:lnTo>
                    <a:pt x="3217367" y="89750"/>
                  </a:lnTo>
                  <a:close/>
                </a:path>
                <a:path w="3274695" h="2498725">
                  <a:moveTo>
                    <a:pt x="3217367" y="0"/>
                  </a:moveTo>
                  <a:lnTo>
                    <a:pt x="3164243" y="0"/>
                  </a:lnTo>
                  <a:lnTo>
                    <a:pt x="3164243" y="28575"/>
                  </a:lnTo>
                  <a:lnTo>
                    <a:pt x="3188792" y="28575"/>
                  </a:lnTo>
                  <a:lnTo>
                    <a:pt x="3188792" y="61175"/>
                  </a:lnTo>
                  <a:lnTo>
                    <a:pt x="3217367" y="61175"/>
                  </a:lnTo>
                  <a:lnTo>
                    <a:pt x="3217367" y="28575"/>
                  </a:lnTo>
                  <a:lnTo>
                    <a:pt x="3217367" y="14287"/>
                  </a:lnTo>
                  <a:lnTo>
                    <a:pt x="3217367" y="0"/>
                  </a:lnTo>
                  <a:close/>
                </a:path>
                <a:path w="3274695" h="2498725">
                  <a:moveTo>
                    <a:pt x="3274517" y="1376197"/>
                  </a:moveTo>
                  <a:lnTo>
                    <a:pt x="3267367" y="1361909"/>
                  </a:lnTo>
                  <a:lnTo>
                    <a:pt x="3203079" y="1233322"/>
                  </a:lnTo>
                  <a:lnTo>
                    <a:pt x="3131642" y="1376197"/>
                  </a:lnTo>
                  <a:lnTo>
                    <a:pt x="3188792" y="1376197"/>
                  </a:lnTo>
                  <a:lnTo>
                    <a:pt x="3188792" y="1443570"/>
                  </a:lnTo>
                  <a:lnTo>
                    <a:pt x="3217367" y="1443570"/>
                  </a:lnTo>
                  <a:lnTo>
                    <a:pt x="3217367" y="1376197"/>
                  </a:lnTo>
                  <a:lnTo>
                    <a:pt x="3274517" y="1376197"/>
                  </a:lnTo>
                  <a:close/>
                </a:path>
                <a:path w="3274695" h="2498725">
                  <a:moveTo>
                    <a:pt x="3274517" y="401472"/>
                  </a:moveTo>
                  <a:lnTo>
                    <a:pt x="3217367" y="401472"/>
                  </a:lnTo>
                  <a:lnTo>
                    <a:pt x="3217367" y="318350"/>
                  </a:lnTo>
                  <a:lnTo>
                    <a:pt x="3188792" y="318350"/>
                  </a:lnTo>
                  <a:lnTo>
                    <a:pt x="3188792" y="401472"/>
                  </a:lnTo>
                  <a:lnTo>
                    <a:pt x="3131642" y="401472"/>
                  </a:lnTo>
                  <a:lnTo>
                    <a:pt x="3203079" y="544347"/>
                  </a:lnTo>
                  <a:lnTo>
                    <a:pt x="3273209" y="404075"/>
                  </a:lnTo>
                  <a:lnTo>
                    <a:pt x="3274517" y="401472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2976" y="3385441"/>
              <a:ext cx="380365" cy="1447800"/>
            </a:xfrm>
            <a:custGeom>
              <a:avLst/>
              <a:gdLst/>
              <a:ahLst/>
              <a:cxnLst/>
              <a:rect l="l" t="t" r="r" b="b"/>
              <a:pathLst>
                <a:path w="380365" h="1447800">
                  <a:moveTo>
                    <a:pt x="316490" y="0"/>
                  </a:moveTo>
                  <a:lnTo>
                    <a:pt x="63299" y="0"/>
                  </a:lnTo>
                  <a:lnTo>
                    <a:pt x="38660" y="4974"/>
                  </a:lnTo>
                  <a:lnTo>
                    <a:pt x="18539" y="18539"/>
                  </a:lnTo>
                  <a:lnTo>
                    <a:pt x="4974" y="38659"/>
                  </a:lnTo>
                  <a:lnTo>
                    <a:pt x="0" y="63298"/>
                  </a:lnTo>
                  <a:lnTo>
                    <a:pt x="0" y="1384329"/>
                  </a:lnTo>
                  <a:lnTo>
                    <a:pt x="4974" y="1408968"/>
                  </a:lnTo>
                  <a:lnTo>
                    <a:pt x="18539" y="1429088"/>
                  </a:lnTo>
                  <a:lnTo>
                    <a:pt x="38660" y="1442654"/>
                  </a:lnTo>
                  <a:lnTo>
                    <a:pt x="63299" y="1447628"/>
                  </a:lnTo>
                  <a:lnTo>
                    <a:pt x="316490" y="1447628"/>
                  </a:lnTo>
                  <a:lnTo>
                    <a:pt x="341129" y="1442654"/>
                  </a:lnTo>
                  <a:lnTo>
                    <a:pt x="361249" y="1429088"/>
                  </a:lnTo>
                  <a:lnTo>
                    <a:pt x="374814" y="1408968"/>
                  </a:lnTo>
                  <a:lnTo>
                    <a:pt x="379788" y="1384329"/>
                  </a:lnTo>
                  <a:lnTo>
                    <a:pt x="379788" y="63298"/>
                  </a:lnTo>
                  <a:lnTo>
                    <a:pt x="374814" y="38659"/>
                  </a:lnTo>
                  <a:lnTo>
                    <a:pt x="361249" y="18539"/>
                  </a:lnTo>
                  <a:lnTo>
                    <a:pt x="341129" y="4974"/>
                  </a:lnTo>
                  <a:lnTo>
                    <a:pt x="31649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0453" y="3778138"/>
              <a:ext cx="236200" cy="2147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0453" y="4019508"/>
              <a:ext cx="236200" cy="2147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0453" y="4260876"/>
              <a:ext cx="236200" cy="2147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46210" y="4052796"/>
              <a:ext cx="427355" cy="114300"/>
            </a:xfrm>
            <a:custGeom>
              <a:avLst/>
              <a:gdLst/>
              <a:ahLst/>
              <a:cxnLst/>
              <a:rect l="l" t="t" r="r" b="b"/>
              <a:pathLst>
                <a:path w="427354" h="114300">
                  <a:moveTo>
                    <a:pt x="312124" y="0"/>
                  </a:moveTo>
                  <a:lnTo>
                    <a:pt x="312813" y="114297"/>
                  </a:lnTo>
                  <a:lnTo>
                    <a:pt x="387879" y="76197"/>
                  </a:lnTo>
                  <a:lnTo>
                    <a:pt x="331634" y="76197"/>
                  </a:lnTo>
                  <a:lnTo>
                    <a:pt x="331515" y="56460"/>
                  </a:lnTo>
                  <a:lnTo>
                    <a:pt x="331404" y="38099"/>
                  </a:lnTo>
                  <a:lnTo>
                    <a:pt x="389484" y="38099"/>
                  </a:lnTo>
                  <a:lnTo>
                    <a:pt x="312124" y="0"/>
                  </a:lnTo>
                  <a:close/>
                </a:path>
                <a:path w="427354" h="114300">
                  <a:moveTo>
                    <a:pt x="312353" y="38099"/>
                  </a:moveTo>
                  <a:lnTo>
                    <a:pt x="0" y="39980"/>
                  </a:lnTo>
                  <a:lnTo>
                    <a:pt x="99" y="56460"/>
                  </a:lnTo>
                  <a:lnTo>
                    <a:pt x="218" y="76197"/>
                  </a:lnTo>
                  <a:lnTo>
                    <a:pt x="229" y="78079"/>
                  </a:lnTo>
                  <a:lnTo>
                    <a:pt x="312583" y="76197"/>
                  </a:lnTo>
                  <a:lnTo>
                    <a:pt x="312464" y="56460"/>
                  </a:lnTo>
                  <a:lnTo>
                    <a:pt x="312353" y="38099"/>
                  </a:lnTo>
                  <a:close/>
                </a:path>
                <a:path w="427354" h="114300">
                  <a:moveTo>
                    <a:pt x="389484" y="38099"/>
                  </a:moveTo>
                  <a:lnTo>
                    <a:pt x="331404" y="38099"/>
                  </a:lnTo>
                  <a:lnTo>
                    <a:pt x="331515" y="56460"/>
                  </a:lnTo>
                  <a:lnTo>
                    <a:pt x="331634" y="76197"/>
                  </a:lnTo>
                  <a:lnTo>
                    <a:pt x="387879" y="76197"/>
                  </a:lnTo>
                  <a:lnTo>
                    <a:pt x="426766" y="56460"/>
                  </a:lnTo>
                  <a:lnTo>
                    <a:pt x="389484" y="380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1022" y="3536769"/>
              <a:ext cx="236202" cy="21472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40287" y="4499982"/>
              <a:ext cx="236202" cy="2147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03028" y="2551304"/>
              <a:ext cx="380365" cy="1372235"/>
            </a:xfrm>
            <a:custGeom>
              <a:avLst/>
              <a:gdLst/>
              <a:ahLst/>
              <a:cxnLst/>
              <a:rect l="l" t="t" r="r" b="b"/>
              <a:pathLst>
                <a:path w="380364" h="1372235">
                  <a:moveTo>
                    <a:pt x="316489" y="0"/>
                  </a:moveTo>
                  <a:lnTo>
                    <a:pt x="63300" y="0"/>
                  </a:lnTo>
                  <a:lnTo>
                    <a:pt x="38660" y="4974"/>
                  </a:lnTo>
                  <a:lnTo>
                    <a:pt x="18540" y="18540"/>
                  </a:lnTo>
                  <a:lnTo>
                    <a:pt x="4974" y="38661"/>
                  </a:lnTo>
                  <a:lnTo>
                    <a:pt x="0" y="63300"/>
                  </a:lnTo>
                  <a:lnTo>
                    <a:pt x="0" y="1308627"/>
                  </a:lnTo>
                  <a:lnTo>
                    <a:pt x="4974" y="1333266"/>
                  </a:lnTo>
                  <a:lnTo>
                    <a:pt x="18540" y="1353387"/>
                  </a:lnTo>
                  <a:lnTo>
                    <a:pt x="38660" y="1366953"/>
                  </a:lnTo>
                  <a:lnTo>
                    <a:pt x="63300" y="1371927"/>
                  </a:lnTo>
                  <a:lnTo>
                    <a:pt x="316489" y="1371927"/>
                  </a:lnTo>
                  <a:lnTo>
                    <a:pt x="341128" y="1366953"/>
                  </a:lnTo>
                  <a:lnTo>
                    <a:pt x="361249" y="1353387"/>
                  </a:lnTo>
                  <a:lnTo>
                    <a:pt x="374815" y="1333266"/>
                  </a:lnTo>
                  <a:lnTo>
                    <a:pt x="379789" y="1308627"/>
                  </a:lnTo>
                  <a:lnTo>
                    <a:pt x="379789" y="63300"/>
                  </a:lnTo>
                  <a:lnTo>
                    <a:pt x="374815" y="38661"/>
                  </a:lnTo>
                  <a:lnTo>
                    <a:pt x="361249" y="18540"/>
                  </a:lnTo>
                  <a:lnTo>
                    <a:pt x="341128" y="4974"/>
                  </a:lnTo>
                  <a:lnTo>
                    <a:pt x="316489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9598" y="3122235"/>
              <a:ext cx="236200" cy="2147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9598" y="3387741"/>
              <a:ext cx="236200" cy="21472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9598" y="3653246"/>
              <a:ext cx="236200" cy="2147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9598" y="2849896"/>
              <a:ext cx="236200" cy="21472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9598" y="2577559"/>
              <a:ext cx="236200" cy="2147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22792" y="4106339"/>
              <a:ext cx="380365" cy="1372235"/>
            </a:xfrm>
            <a:custGeom>
              <a:avLst/>
              <a:gdLst/>
              <a:ahLst/>
              <a:cxnLst/>
              <a:rect l="l" t="t" r="r" b="b"/>
              <a:pathLst>
                <a:path w="380364" h="1372235">
                  <a:moveTo>
                    <a:pt x="316489" y="0"/>
                  </a:moveTo>
                  <a:lnTo>
                    <a:pt x="63300" y="0"/>
                  </a:lnTo>
                  <a:lnTo>
                    <a:pt x="38660" y="4974"/>
                  </a:lnTo>
                  <a:lnTo>
                    <a:pt x="18540" y="18540"/>
                  </a:lnTo>
                  <a:lnTo>
                    <a:pt x="4974" y="38661"/>
                  </a:lnTo>
                  <a:lnTo>
                    <a:pt x="0" y="63300"/>
                  </a:lnTo>
                  <a:lnTo>
                    <a:pt x="0" y="1308627"/>
                  </a:lnTo>
                  <a:lnTo>
                    <a:pt x="4974" y="1333266"/>
                  </a:lnTo>
                  <a:lnTo>
                    <a:pt x="18540" y="1353387"/>
                  </a:lnTo>
                  <a:lnTo>
                    <a:pt x="38660" y="1366953"/>
                  </a:lnTo>
                  <a:lnTo>
                    <a:pt x="63300" y="1371927"/>
                  </a:lnTo>
                  <a:lnTo>
                    <a:pt x="316489" y="1371927"/>
                  </a:lnTo>
                  <a:lnTo>
                    <a:pt x="341128" y="1366953"/>
                  </a:lnTo>
                  <a:lnTo>
                    <a:pt x="361248" y="1353387"/>
                  </a:lnTo>
                  <a:lnTo>
                    <a:pt x="374814" y="1333266"/>
                  </a:lnTo>
                  <a:lnTo>
                    <a:pt x="379788" y="1308627"/>
                  </a:lnTo>
                  <a:lnTo>
                    <a:pt x="379788" y="63300"/>
                  </a:lnTo>
                  <a:lnTo>
                    <a:pt x="374814" y="38661"/>
                  </a:lnTo>
                  <a:lnTo>
                    <a:pt x="361248" y="18540"/>
                  </a:lnTo>
                  <a:lnTo>
                    <a:pt x="341128" y="4974"/>
                  </a:lnTo>
                  <a:lnTo>
                    <a:pt x="316489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9362" y="4677270"/>
              <a:ext cx="236200" cy="2147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9362" y="4942775"/>
              <a:ext cx="236200" cy="2147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9362" y="5208281"/>
              <a:ext cx="236200" cy="21472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9362" y="4404931"/>
              <a:ext cx="236200" cy="2147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9362" y="4132594"/>
              <a:ext cx="236200" cy="21472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057459" y="4106339"/>
              <a:ext cx="380365" cy="1372235"/>
            </a:xfrm>
            <a:custGeom>
              <a:avLst/>
              <a:gdLst/>
              <a:ahLst/>
              <a:cxnLst/>
              <a:rect l="l" t="t" r="r" b="b"/>
              <a:pathLst>
                <a:path w="380364" h="1372235">
                  <a:moveTo>
                    <a:pt x="316489" y="0"/>
                  </a:moveTo>
                  <a:lnTo>
                    <a:pt x="63300" y="0"/>
                  </a:lnTo>
                  <a:lnTo>
                    <a:pt x="38661" y="4974"/>
                  </a:lnTo>
                  <a:lnTo>
                    <a:pt x="18540" y="18540"/>
                  </a:lnTo>
                  <a:lnTo>
                    <a:pt x="4974" y="38661"/>
                  </a:lnTo>
                  <a:lnTo>
                    <a:pt x="0" y="63300"/>
                  </a:lnTo>
                  <a:lnTo>
                    <a:pt x="0" y="1308627"/>
                  </a:lnTo>
                  <a:lnTo>
                    <a:pt x="4974" y="1333266"/>
                  </a:lnTo>
                  <a:lnTo>
                    <a:pt x="18540" y="1353387"/>
                  </a:lnTo>
                  <a:lnTo>
                    <a:pt x="38661" y="1366953"/>
                  </a:lnTo>
                  <a:lnTo>
                    <a:pt x="63300" y="1371927"/>
                  </a:lnTo>
                  <a:lnTo>
                    <a:pt x="316489" y="1371927"/>
                  </a:lnTo>
                  <a:lnTo>
                    <a:pt x="341128" y="1366953"/>
                  </a:lnTo>
                  <a:lnTo>
                    <a:pt x="361249" y="1353387"/>
                  </a:lnTo>
                  <a:lnTo>
                    <a:pt x="374815" y="1333266"/>
                  </a:lnTo>
                  <a:lnTo>
                    <a:pt x="379789" y="1308627"/>
                  </a:lnTo>
                  <a:lnTo>
                    <a:pt x="379789" y="63300"/>
                  </a:lnTo>
                  <a:lnTo>
                    <a:pt x="374815" y="38661"/>
                  </a:lnTo>
                  <a:lnTo>
                    <a:pt x="361249" y="18540"/>
                  </a:lnTo>
                  <a:lnTo>
                    <a:pt x="341128" y="4974"/>
                  </a:lnTo>
                  <a:lnTo>
                    <a:pt x="316489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029" y="4677270"/>
              <a:ext cx="236202" cy="21472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029" y="4942775"/>
              <a:ext cx="236202" cy="2147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029" y="5208281"/>
              <a:ext cx="236202" cy="2147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029" y="4404931"/>
              <a:ext cx="236202" cy="21472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029" y="4132594"/>
              <a:ext cx="236202" cy="21472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926120" y="3275882"/>
              <a:ext cx="335915" cy="305435"/>
            </a:xfrm>
            <a:custGeom>
              <a:avLst/>
              <a:gdLst/>
              <a:ahLst/>
              <a:cxnLst/>
              <a:rect l="l" t="t" r="r" b="b"/>
              <a:pathLst>
                <a:path w="335914" h="305435">
                  <a:moveTo>
                    <a:pt x="167835" y="0"/>
                  </a:moveTo>
                  <a:lnTo>
                    <a:pt x="114786" y="7778"/>
                  </a:lnTo>
                  <a:lnTo>
                    <a:pt x="68713" y="29438"/>
                  </a:lnTo>
                  <a:lnTo>
                    <a:pt x="32382" y="62467"/>
                  </a:lnTo>
                  <a:lnTo>
                    <a:pt x="8556" y="104351"/>
                  </a:lnTo>
                  <a:lnTo>
                    <a:pt x="0" y="152577"/>
                  </a:lnTo>
                  <a:lnTo>
                    <a:pt x="8556" y="200804"/>
                  </a:lnTo>
                  <a:lnTo>
                    <a:pt x="32382" y="242688"/>
                  </a:lnTo>
                  <a:lnTo>
                    <a:pt x="68713" y="275717"/>
                  </a:lnTo>
                  <a:lnTo>
                    <a:pt x="114786" y="297378"/>
                  </a:lnTo>
                  <a:lnTo>
                    <a:pt x="167835" y="305156"/>
                  </a:lnTo>
                  <a:lnTo>
                    <a:pt x="220884" y="297378"/>
                  </a:lnTo>
                  <a:lnTo>
                    <a:pt x="266957" y="275717"/>
                  </a:lnTo>
                  <a:lnTo>
                    <a:pt x="303289" y="242688"/>
                  </a:lnTo>
                  <a:lnTo>
                    <a:pt x="327115" y="200804"/>
                  </a:lnTo>
                  <a:lnTo>
                    <a:pt x="335672" y="152577"/>
                  </a:lnTo>
                  <a:lnTo>
                    <a:pt x="327115" y="104351"/>
                  </a:lnTo>
                  <a:lnTo>
                    <a:pt x="303289" y="62467"/>
                  </a:lnTo>
                  <a:lnTo>
                    <a:pt x="266957" y="29438"/>
                  </a:lnTo>
                  <a:lnTo>
                    <a:pt x="220884" y="7778"/>
                  </a:lnTo>
                  <a:lnTo>
                    <a:pt x="167835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603714" y="6027758"/>
            <a:ext cx="2233983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10" dirty="0">
                <a:latin typeface="Arial MT"/>
                <a:cs typeface="Arial MT"/>
              </a:rPr>
              <a:t>Neighbor</a:t>
            </a:r>
            <a:r>
              <a:rPr sz="1799" spc="-55" dirty="0">
                <a:latin typeface="Arial MT"/>
                <a:cs typeface="Arial MT"/>
              </a:rPr>
              <a:t> </a:t>
            </a:r>
            <a:r>
              <a:rPr sz="1799" spc="-10" dirty="0">
                <a:latin typeface="Arial MT"/>
                <a:cs typeface="Arial MT"/>
              </a:rPr>
              <a:t>Aggregation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54200" y="184417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Graph</a:t>
            </a:r>
            <a:r>
              <a:rPr spc="-35" dirty="0"/>
              <a:t> </a:t>
            </a:r>
            <a:r>
              <a:rPr dirty="0"/>
              <a:t>Neural</a:t>
            </a:r>
            <a:r>
              <a:rPr spc="-25" dirty="0"/>
              <a:t> </a:t>
            </a:r>
            <a:r>
              <a:rPr spc="-10" dirty="0"/>
              <a:t>Network</a:t>
            </a:r>
            <a:r>
              <a:rPr spc="-20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916700" y="1572743"/>
            <a:ext cx="8528368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39957" indent="-227261">
              <a:spcBef>
                <a:spcPts val="10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Combine</a:t>
            </a:r>
            <a:r>
              <a:rPr sz="2399" spc="-40" dirty="0">
                <a:latin typeface="Arial MT"/>
                <a:cs typeface="Arial MT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graph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propagation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dirty="0">
                <a:latin typeface="Arial MT"/>
                <a:cs typeface="Arial MT"/>
              </a:rPr>
              <a:t>w/</a:t>
            </a:r>
            <a:r>
              <a:rPr sz="2399" spc="-45" dirty="0">
                <a:latin typeface="Arial MT"/>
                <a:cs typeface="Arial MT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399" b="1" spc="-4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network</a:t>
            </a:r>
            <a:r>
              <a:rPr sz="2399" b="1" spc="-4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operations</a:t>
            </a:r>
            <a:endParaRPr sz="2399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16970" y="3279179"/>
            <a:ext cx="165692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spc="-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40738" y="3912355"/>
            <a:ext cx="335828" cy="305355"/>
          </a:xfrm>
          <a:custGeom>
            <a:avLst/>
            <a:gdLst/>
            <a:ahLst/>
            <a:cxnLst/>
            <a:rect l="l" t="t" r="r" b="b"/>
            <a:pathLst>
              <a:path w="335914" h="305435">
                <a:moveTo>
                  <a:pt x="167836" y="0"/>
                </a:moveTo>
                <a:lnTo>
                  <a:pt x="114787" y="7778"/>
                </a:lnTo>
                <a:lnTo>
                  <a:pt x="68714" y="29438"/>
                </a:lnTo>
                <a:lnTo>
                  <a:pt x="32382" y="62467"/>
                </a:lnTo>
                <a:lnTo>
                  <a:pt x="8556" y="104351"/>
                </a:lnTo>
                <a:lnTo>
                  <a:pt x="0" y="152577"/>
                </a:lnTo>
                <a:lnTo>
                  <a:pt x="8556" y="200804"/>
                </a:lnTo>
                <a:lnTo>
                  <a:pt x="32382" y="242688"/>
                </a:lnTo>
                <a:lnTo>
                  <a:pt x="68714" y="275717"/>
                </a:lnTo>
                <a:lnTo>
                  <a:pt x="114787" y="297378"/>
                </a:lnTo>
                <a:lnTo>
                  <a:pt x="167836" y="305156"/>
                </a:lnTo>
                <a:lnTo>
                  <a:pt x="220886" y="297378"/>
                </a:lnTo>
                <a:lnTo>
                  <a:pt x="266958" y="275717"/>
                </a:lnTo>
                <a:lnTo>
                  <a:pt x="303290" y="242688"/>
                </a:lnTo>
                <a:lnTo>
                  <a:pt x="327116" y="200804"/>
                </a:lnTo>
                <a:lnTo>
                  <a:pt x="335672" y="152577"/>
                </a:lnTo>
                <a:lnTo>
                  <a:pt x="327116" y="104351"/>
                </a:lnTo>
                <a:lnTo>
                  <a:pt x="303290" y="62467"/>
                </a:lnTo>
                <a:lnTo>
                  <a:pt x="266958" y="29438"/>
                </a:lnTo>
                <a:lnTo>
                  <a:pt x="220886" y="7778"/>
                </a:lnTo>
                <a:lnTo>
                  <a:pt x="1678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6" name="object 46"/>
          <p:cNvSpPr txBox="1"/>
          <p:nvPr/>
        </p:nvSpPr>
        <p:spPr>
          <a:xfrm>
            <a:off x="3019654" y="3916044"/>
            <a:ext cx="178389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1799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72770" y="4434761"/>
            <a:ext cx="335828" cy="305355"/>
          </a:xfrm>
          <a:custGeom>
            <a:avLst/>
            <a:gdLst/>
            <a:ahLst/>
            <a:cxnLst/>
            <a:rect l="l" t="t" r="r" b="b"/>
            <a:pathLst>
              <a:path w="335914" h="305435">
                <a:moveTo>
                  <a:pt x="167836" y="0"/>
                </a:moveTo>
                <a:lnTo>
                  <a:pt x="114787" y="7778"/>
                </a:lnTo>
                <a:lnTo>
                  <a:pt x="68714" y="29438"/>
                </a:lnTo>
                <a:lnTo>
                  <a:pt x="32382" y="62467"/>
                </a:lnTo>
                <a:lnTo>
                  <a:pt x="8556" y="104352"/>
                </a:lnTo>
                <a:lnTo>
                  <a:pt x="0" y="152579"/>
                </a:lnTo>
                <a:lnTo>
                  <a:pt x="8556" y="200805"/>
                </a:lnTo>
                <a:lnTo>
                  <a:pt x="32382" y="242689"/>
                </a:lnTo>
                <a:lnTo>
                  <a:pt x="68714" y="275718"/>
                </a:lnTo>
                <a:lnTo>
                  <a:pt x="114787" y="297378"/>
                </a:lnTo>
                <a:lnTo>
                  <a:pt x="167836" y="305156"/>
                </a:lnTo>
                <a:lnTo>
                  <a:pt x="220886" y="297378"/>
                </a:lnTo>
                <a:lnTo>
                  <a:pt x="266959" y="275718"/>
                </a:lnTo>
                <a:lnTo>
                  <a:pt x="303290" y="242689"/>
                </a:lnTo>
                <a:lnTo>
                  <a:pt x="327117" y="200805"/>
                </a:lnTo>
                <a:lnTo>
                  <a:pt x="335673" y="152579"/>
                </a:lnTo>
                <a:lnTo>
                  <a:pt x="327117" y="104352"/>
                </a:lnTo>
                <a:lnTo>
                  <a:pt x="303290" y="62467"/>
                </a:lnTo>
                <a:lnTo>
                  <a:pt x="266959" y="29438"/>
                </a:lnTo>
                <a:lnTo>
                  <a:pt x="220886" y="7778"/>
                </a:lnTo>
                <a:lnTo>
                  <a:pt x="167836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8" name="object 48"/>
          <p:cNvSpPr txBox="1"/>
          <p:nvPr/>
        </p:nvSpPr>
        <p:spPr>
          <a:xfrm>
            <a:off x="3458035" y="4437116"/>
            <a:ext cx="177754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spc="-50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494732" y="4434760"/>
            <a:ext cx="335828" cy="305355"/>
          </a:xfrm>
          <a:custGeom>
            <a:avLst/>
            <a:gdLst/>
            <a:ahLst/>
            <a:cxnLst/>
            <a:rect l="l" t="t" r="r" b="b"/>
            <a:pathLst>
              <a:path w="335914" h="305435">
                <a:moveTo>
                  <a:pt x="167835" y="0"/>
                </a:moveTo>
                <a:lnTo>
                  <a:pt x="114786" y="7778"/>
                </a:lnTo>
                <a:lnTo>
                  <a:pt x="68713" y="29438"/>
                </a:lnTo>
                <a:lnTo>
                  <a:pt x="32382" y="62467"/>
                </a:lnTo>
                <a:lnTo>
                  <a:pt x="8556" y="104352"/>
                </a:lnTo>
                <a:lnTo>
                  <a:pt x="0" y="152579"/>
                </a:lnTo>
                <a:lnTo>
                  <a:pt x="8556" y="200805"/>
                </a:lnTo>
                <a:lnTo>
                  <a:pt x="32382" y="242689"/>
                </a:lnTo>
                <a:lnTo>
                  <a:pt x="68713" y="275718"/>
                </a:lnTo>
                <a:lnTo>
                  <a:pt x="114786" y="297378"/>
                </a:lnTo>
                <a:lnTo>
                  <a:pt x="167835" y="305156"/>
                </a:lnTo>
                <a:lnTo>
                  <a:pt x="220884" y="297378"/>
                </a:lnTo>
                <a:lnTo>
                  <a:pt x="266957" y="275718"/>
                </a:lnTo>
                <a:lnTo>
                  <a:pt x="303289" y="242689"/>
                </a:lnTo>
                <a:lnTo>
                  <a:pt x="327115" y="200805"/>
                </a:lnTo>
                <a:lnTo>
                  <a:pt x="335672" y="152579"/>
                </a:lnTo>
                <a:lnTo>
                  <a:pt x="327115" y="104352"/>
                </a:lnTo>
                <a:lnTo>
                  <a:pt x="303289" y="62467"/>
                </a:lnTo>
                <a:lnTo>
                  <a:pt x="266957" y="29438"/>
                </a:lnTo>
                <a:lnTo>
                  <a:pt x="220884" y="7778"/>
                </a:lnTo>
                <a:lnTo>
                  <a:pt x="167835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50" name="object 50"/>
          <p:cNvSpPr txBox="1"/>
          <p:nvPr/>
        </p:nvSpPr>
        <p:spPr>
          <a:xfrm>
            <a:off x="2579994" y="4437116"/>
            <a:ext cx="177754" cy="299642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799" spc="-5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1799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769363" y="3580337"/>
            <a:ext cx="664672" cy="1013830"/>
            <a:chOff x="2770084" y="3580376"/>
            <a:chExt cx="664845" cy="1014094"/>
          </a:xfrm>
        </p:grpSpPr>
        <p:sp>
          <p:nvSpPr>
            <p:cNvPr id="52" name="object 52"/>
            <p:cNvSpPr/>
            <p:nvPr/>
          </p:nvSpPr>
          <p:spPr>
            <a:xfrm>
              <a:off x="2831054" y="4587600"/>
              <a:ext cx="542925" cy="0"/>
            </a:xfrm>
            <a:custGeom>
              <a:avLst/>
              <a:gdLst/>
              <a:ahLst/>
              <a:cxnLst/>
              <a:rect l="l" t="t" r="r" b="b"/>
              <a:pathLst>
                <a:path w="542925">
                  <a:moveTo>
                    <a:pt x="0" y="0"/>
                  </a:moveTo>
                  <a:lnTo>
                    <a:pt x="542595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3" name="object 53"/>
            <p:cNvSpPr/>
            <p:nvPr/>
          </p:nvSpPr>
          <p:spPr>
            <a:xfrm>
              <a:off x="2770073" y="3580383"/>
              <a:ext cx="664845" cy="907415"/>
            </a:xfrm>
            <a:custGeom>
              <a:avLst/>
              <a:gdLst/>
              <a:ahLst/>
              <a:cxnLst/>
              <a:rect l="l" t="t" r="r" b="b"/>
              <a:pathLst>
                <a:path w="664845" h="907414">
                  <a:moveTo>
                    <a:pt x="220586" y="592569"/>
                  </a:moveTo>
                  <a:lnTo>
                    <a:pt x="136918" y="639330"/>
                  </a:lnTo>
                  <a:lnTo>
                    <a:pt x="160540" y="655396"/>
                  </a:lnTo>
                  <a:lnTo>
                    <a:pt x="0" y="891298"/>
                  </a:lnTo>
                  <a:lnTo>
                    <a:pt x="23634" y="907376"/>
                  </a:lnTo>
                  <a:lnTo>
                    <a:pt x="184162" y="671474"/>
                  </a:lnTo>
                  <a:lnTo>
                    <a:pt x="207784" y="687552"/>
                  </a:lnTo>
                  <a:lnTo>
                    <a:pt x="213715" y="643585"/>
                  </a:lnTo>
                  <a:lnTo>
                    <a:pt x="220586" y="592569"/>
                  </a:lnTo>
                  <a:close/>
                </a:path>
                <a:path w="664845" h="907414">
                  <a:moveTo>
                    <a:pt x="378104" y="244487"/>
                  </a:moveTo>
                  <a:lnTo>
                    <a:pt x="349554" y="245808"/>
                  </a:lnTo>
                  <a:lnTo>
                    <a:pt x="338213" y="1320"/>
                  </a:lnTo>
                  <a:lnTo>
                    <a:pt x="338150" y="0"/>
                  </a:lnTo>
                  <a:lnTo>
                    <a:pt x="309600" y="1320"/>
                  </a:lnTo>
                  <a:lnTo>
                    <a:pt x="320890" y="244487"/>
                  </a:lnTo>
                  <a:lnTo>
                    <a:pt x="321017" y="247129"/>
                  </a:lnTo>
                  <a:lnTo>
                    <a:pt x="292468" y="248450"/>
                  </a:lnTo>
                  <a:lnTo>
                    <a:pt x="339255" y="332105"/>
                  </a:lnTo>
                  <a:lnTo>
                    <a:pt x="370598" y="261404"/>
                  </a:lnTo>
                  <a:lnTo>
                    <a:pt x="378104" y="244487"/>
                  </a:lnTo>
                  <a:close/>
                </a:path>
                <a:path w="664845" h="907414">
                  <a:moveTo>
                    <a:pt x="664794" y="891679"/>
                  </a:moveTo>
                  <a:lnTo>
                    <a:pt x="515950" y="657275"/>
                  </a:lnTo>
                  <a:lnTo>
                    <a:pt x="534949" y="645223"/>
                  </a:lnTo>
                  <a:lnTo>
                    <a:pt x="540080" y="641959"/>
                  </a:lnTo>
                  <a:lnTo>
                    <a:pt x="457936" y="592569"/>
                  </a:lnTo>
                  <a:lnTo>
                    <a:pt x="467702" y="687908"/>
                  </a:lnTo>
                  <a:lnTo>
                    <a:pt x="491832" y="672592"/>
                  </a:lnTo>
                  <a:lnTo>
                    <a:pt x="640664" y="906995"/>
                  </a:lnTo>
                  <a:lnTo>
                    <a:pt x="664794" y="891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58525" y="3357109"/>
            <a:ext cx="263456" cy="263456"/>
            <a:chOff x="58540" y="3357090"/>
            <a:chExt cx="263525" cy="263525"/>
          </a:xfrm>
        </p:grpSpPr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827" y="3371377"/>
              <a:ext cx="234460" cy="23446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827" y="3371377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0" y="117230"/>
                  </a:moveTo>
                  <a:lnTo>
                    <a:pt x="9212" y="71599"/>
                  </a:lnTo>
                  <a:lnTo>
                    <a:pt x="34336" y="34336"/>
                  </a:lnTo>
                  <a:lnTo>
                    <a:pt x="71599" y="9212"/>
                  </a:lnTo>
                  <a:lnTo>
                    <a:pt x="117230" y="0"/>
                  </a:lnTo>
                  <a:lnTo>
                    <a:pt x="162861" y="9212"/>
                  </a:lnTo>
                  <a:lnTo>
                    <a:pt x="200124" y="34336"/>
                  </a:lnTo>
                  <a:lnTo>
                    <a:pt x="225248" y="71599"/>
                  </a:lnTo>
                  <a:lnTo>
                    <a:pt x="234461" y="117230"/>
                  </a:lnTo>
                  <a:lnTo>
                    <a:pt x="225248" y="162861"/>
                  </a:lnTo>
                  <a:lnTo>
                    <a:pt x="200124" y="200124"/>
                  </a:lnTo>
                  <a:lnTo>
                    <a:pt x="162861" y="225248"/>
                  </a:lnTo>
                  <a:lnTo>
                    <a:pt x="117230" y="234461"/>
                  </a:lnTo>
                  <a:lnTo>
                    <a:pt x="71599" y="225248"/>
                  </a:lnTo>
                  <a:lnTo>
                    <a:pt x="34336" y="200124"/>
                  </a:lnTo>
                  <a:lnTo>
                    <a:pt x="9212" y="162861"/>
                  </a:lnTo>
                  <a:lnTo>
                    <a:pt x="0" y="117230"/>
                  </a:lnTo>
                  <a:close/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58524" y="2974168"/>
            <a:ext cx="263456" cy="263456"/>
            <a:chOff x="58539" y="2974049"/>
            <a:chExt cx="263525" cy="263525"/>
          </a:xfrm>
        </p:grpSpPr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827" y="2988336"/>
              <a:ext cx="234461" cy="23446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2827" y="2988336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0" y="117230"/>
                  </a:moveTo>
                  <a:lnTo>
                    <a:pt x="9212" y="71599"/>
                  </a:lnTo>
                  <a:lnTo>
                    <a:pt x="34336" y="34336"/>
                  </a:lnTo>
                  <a:lnTo>
                    <a:pt x="71599" y="9212"/>
                  </a:lnTo>
                  <a:lnTo>
                    <a:pt x="117230" y="0"/>
                  </a:lnTo>
                  <a:lnTo>
                    <a:pt x="162861" y="9212"/>
                  </a:lnTo>
                  <a:lnTo>
                    <a:pt x="200124" y="34336"/>
                  </a:lnTo>
                  <a:lnTo>
                    <a:pt x="225248" y="71599"/>
                  </a:lnTo>
                  <a:lnTo>
                    <a:pt x="234461" y="117230"/>
                  </a:lnTo>
                  <a:lnTo>
                    <a:pt x="225248" y="162861"/>
                  </a:lnTo>
                  <a:lnTo>
                    <a:pt x="200124" y="200124"/>
                  </a:lnTo>
                  <a:lnTo>
                    <a:pt x="162861" y="225248"/>
                  </a:lnTo>
                  <a:lnTo>
                    <a:pt x="117230" y="234461"/>
                  </a:lnTo>
                  <a:lnTo>
                    <a:pt x="71599" y="225248"/>
                  </a:lnTo>
                  <a:lnTo>
                    <a:pt x="34336" y="200124"/>
                  </a:lnTo>
                  <a:lnTo>
                    <a:pt x="9212" y="162861"/>
                  </a:lnTo>
                  <a:lnTo>
                    <a:pt x="0" y="11723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15540" y="2834287"/>
            <a:ext cx="1346484" cy="75321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38723" marR="5078" indent="-26662">
              <a:lnSpc>
                <a:spcPct val="142200"/>
              </a:lnSpc>
              <a:spcBef>
                <a:spcPts val="100"/>
              </a:spcBef>
            </a:pPr>
            <a:r>
              <a:rPr sz="1799" spc="-25" dirty="0">
                <a:solidFill>
                  <a:srgbClr val="FF0000"/>
                </a:solidFill>
                <a:latin typeface="Arial MT"/>
                <a:cs typeface="Arial MT"/>
              </a:rPr>
              <a:t>Target</a:t>
            </a:r>
            <a:r>
              <a:rPr sz="1799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99" spc="-10" dirty="0">
                <a:solidFill>
                  <a:srgbClr val="FF0000"/>
                </a:solidFill>
                <a:latin typeface="Arial MT"/>
                <a:cs typeface="Arial MT"/>
              </a:rPr>
              <a:t>vertex </a:t>
            </a:r>
            <a:r>
              <a:rPr sz="1799" spc="-10" dirty="0">
                <a:solidFill>
                  <a:srgbClr val="4472C4"/>
                </a:solidFill>
                <a:latin typeface="Arial MT"/>
                <a:cs typeface="Arial MT"/>
              </a:rPr>
              <a:t>Neighbors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794744" y="2639265"/>
            <a:ext cx="1676598" cy="568177"/>
          </a:xfrm>
          <a:prstGeom prst="rect">
            <a:avLst/>
          </a:prstGeom>
        </p:spPr>
        <p:txBody>
          <a:bodyPr vert="horz" wrap="square" lIns="0" tIns="26663" rIns="0" bIns="0" rtlCol="0">
            <a:spAutoFit/>
          </a:bodyPr>
          <a:lstStyle/>
          <a:p>
            <a:pPr marR="5078" indent="577677">
              <a:lnSpc>
                <a:spcPts val="2109"/>
              </a:lnSpc>
              <a:spcBef>
                <a:spcPts val="210"/>
              </a:spcBef>
            </a:pPr>
            <a:r>
              <a:rPr sz="1799" spc="-10" dirty="0">
                <a:latin typeface="Arial MT"/>
                <a:cs typeface="Arial MT"/>
              </a:rPr>
              <a:t>Input Representations</a:t>
            </a:r>
            <a:endParaRPr sz="1799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24632" y="2214018"/>
            <a:ext cx="3626175" cy="2101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99">
              <a:latin typeface="Times New Roman"/>
              <a:cs typeface="Times New Roman"/>
            </a:endParaRPr>
          </a:p>
          <a:p>
            <a:pPr>
              <a:spcBef>
                <a:spcPts val="130"/>
              </a:spcBef>
            </a:pPr>
            <a:endParaRPr sz="1799">
              <a:latin typeface="Times New Roman"/>
              <a:cs typeface="Times New Roman"/>
            </a:endParaRPr>
          </a:p>
          <a:p>
            <a:pPr marL="971893" marR="982049" indent="603069">
              <a:lnSpc>
                <a:spcPts val="2089"/>
              </a:lnSpc>
            </a:pPr>
            <a:r>
              <a:rPr sz="1799" spc="-25" dirty="0">
                <a:latin typeface="Arial MT"/>
                <a:cs typeface="Arial MT"/>
              </a:rPr>
              <a:t>New </a:t>
            </a:r>
            <a:r>
              <a:rPr sz="1799" spc="-10" dirty="0">
                <a:latin typeface="Arial MT"/>
                <a:cs typeface="Arial MT"/>
              </a:rPr>
              <a:t>Representations</a:t>
            </a:r>
            <a:endParaRPr sz="1799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99">
              <a:latin typeface="Arial MT"/>
              <a:cs typeface="Arial MT"/>
            </a:endParaRPr>
          </a:p>
          <a:p>
            <a:pPr>
              <a:spcBef>
                <a:spcPts val="1275"/>
              </a:spcBef>
            </a:pPr>
            <a:endParaRPr sz="1799">
              <a:latin typeface="Arial MT"/>
              <a:cs typeface="Arial MT"/>
            </a:endParaRPr>
          </a:p>
          <a:p>
            <a:pPr marR="905872" algn="r"/>
            <a:r>
              <a:rPr sz="1799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79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75" y="91295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dirty="0"/>
              <a:t>Challenges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GNN</a:t>
            </a:r>
            <a:r>
              <a:rPr spc="-40" dirty="0"/>
              <a:t> </a:t>
            </a:r>
            <a:r>
              <a:rPr dirty="0"/>
              <a:t>Computations</a:t>
            </a:r>
            <a:r>
              <a:rPr spc="-45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spc="-20" dirty="0"/>
              <a:t>GPUs</a:t>
            </a:r>
          </a:p>
        </p:txBody>
      </p:sp>
      <p:sp>
        <p:nvSpPr>
          <p:cNvPr id="3" name="object 3"/>
          <p:cNvSpPr/>
          <p:nvPr/>
        </p:nvSpPr>
        <p:spPr>
          <a:xfrm>
            <a:off x="6056322" y="1473710"/>
            <a:ext cx="76180" cy="5104070"/>
          </a:xfrm>
          <a:custGeom>
            <a:avLst/>
            <a:gdLst/>
            <a:ahLst/>
            <a:cxnLst/>
            <a:rect l="l" t="t" r="r" b="b"/>
            <a:pathLst>
              <a:path w="76200" h="5105400">
                <a:moveTo>
                  <a:pt x="38100" y="0"/>
                </a:moveTo>
                <a:lnTo>
                  <a:pt x="23269" y="2994"/>
                </a:lnTo>
                <a:lnTo>
                  <a:pt x="11159" y="11159"/>
                </a:lnTo>
                <a:lnTo>
                  <a:pt x="2994" y="23269"/>
                </a:lnTo>
                <a:lnTo>
                  <a:pt x="0" y="38100"/>
                </a:lnTo>
                <a:lnTo>
                  <a:pt x="0" y="266700"/>
                </a:lnTo>
                <a:lnTo>
                  <a:pt x="2994" y="281530"/>
                </a:lnTo>
                <a:lnTo>
                  <a:pt x="11159" y="293640"/>
                </a:lnTo>
                <a:lnTo>
                  <a:pt x="23269" y="301805"/>
                </a:lnTo>
                <a:lnTo>
                  <a:pt x="38100" y="304800"/>
                </a:lnTo>
                <a:lnTo>
                  <a:pt x="52929" y="301805"/>
                </a:lnTo>
                <a:lnTo>
                  <a:pt x="65040" y="293640"/>
                </a:lnTo>
                <a:lnTo>
                  <a:pt x="73205" y="281530"/>
                </a:lnTo>
                <a:lnTo>
                  <a:pt x="76200" y="266700"/>
                </a:lnTo>
                <a:lnTo>
                  <a:pt x="76200" y="38100"/>
                </a:lnTo>
                <a:lnTo>
                  <a:pt x="73205" y="23269"/>
                </a:lnTo>
                <a:lnTo>
                  <a:pt x="65040" y="11159"/>
                </a:lnTo>
                <a:lnTo>
                  <a:pt x="52929" y="2994"/>
                </a:lnTo>
                <a:lnTo>
                  <a:pt x="38100" y="0"/>
                </a:lnTo>
                <a:close/>
              </a:path>
              <a:path w="76200" h="5105400">
                <a:moveTo>
                  <a:pt x="38100" y="533400"/>
                </a:moveTo>
                <a:lnTo>
                  <a:pt x="23269" y="536394"/>
                </a:lnTo>
                <a:lnTo>
                  <a:pt x="11159" y="544559"/>
                </a:lnTo>
                <a:lnTo>
                  <a:pt x="2994" y="556669"/>
                </a:lnTo>
                <a:lnTo>
                  <a:pt x="0" y="571500"/>
                </a:lnTo>
                <a:lnTo>
                  <a:pt x="0" y="800100"/>
                </a:lnTo>
                <a:lnTo>
                  <a:pt x="2994" y="814930"/>
                </a:lnTo>
                <a:lnTo>
                  <a:pt x="11159" y="827040"/>
                </a:lnTo>
                <a:lnTo>
                  <a:pt x="23269" y="835205"/>
                </a:lnTo>
                <a:lnTo>
                  <a:pt x="38100" y="838200"/>
                </a:lnTo>
                <a:lnTo>
                  <a:pt x="52930" y="835205"/>
                </a:lnTo>
                <a:lnTo>
                  <a:pt x="65040" y="827040"/>
                </a:lnTo>
                <a:lnTo>
                  <a:pt x="73205" y="814930"/>
                </a:lnTo>
                <a:lnTo>
                  <a:pt x="76200" y="800100"/>
                </a:lnTo>
                <a:lnTo>
                  <a:pt x="76200" y="571500"/>
                </a:lnTo>
                <a:lnTo>
                  <a:pt x="73205" y="556669"/>
                </a:lnTo>
                <a:lnTo>
                  <a:pt x="65040" y="544559"/>
                </a:lnTo>
                <a:lnTo>
                  <a:pt x="52930" y="536394"/>
                </a:lnTo>
                <a:lnTo>
                  <a:pt x="38100" y="533400"/>
                </a:lnTo>
                <a:close/>
              </a:path>
              <a:path w="76200" h="5105400">
                <a:moveTo>
                  <a:pt x="38100" y="1066800"/>
                </a:moveTo>
                <a:lnTo>
                  <a:pt x="23270" y="1069794"/>
                </a:lnTo>
                <a:lnTo>
                  <a:pt x="11159" y="1077959"/>
                </a:lnTo>
                <a:lnTo>
                  <a:pt x="2994" y="1090069"/>
                </a:lnTo>
                <a:lnTo>
                  <a:pt x="0" y="1104900"/>
                </a:lnTo>
                <a:lnTo>
                  <a:pt x="0" y="1333500"/>
                </a:lnTo>
                <a:lnTo>
                  <a:pt x="2994" y="1348329"/>
                </a:lnTo>
                <a:lnTo>
                  <a:pt x="11159" y="1360440"/>
                </a:lnTo>
                <a:lnTo>
                  <a:pt x="23270" y="1368605"/>
                </a:lnTo>
                <a:lnTo>
                  <a:pt x="38100" y="1371600"/>
                </a:lnTo>
                <a:lnTo>
                  <a:pt x="52930" y="1368605"/>
                </a:lnTo>
                <a:lnTo>
                  <a:pt x="65040" y="1360440"/>
                </a:lnTo>
                <a:lnTo>
                  <a:pt x="73205" y="1348329"/>
                </a:lnTo>
                <a:lnTo>
                  <a:pt x="76200" y="1333500"/>
                </a:lnTo>
                <a:lnTo>
                  <a:pt x="76200" y="1104900"/>
                </a:lnTo>
                <a:lnTo>
                  <a:pt x="73205" y="1090069"/>
                </a:lnTo>
                <a:lnTo>
                  <a:pt x="65040" y="1077959"/>
                </a:lnTo>
                <a:lnTo>
                  <a:pt x="52930" y="1069794"/>
                </a:lnTo>
                <a:lnTo>
                  <a:pt x="38100" y="1066800"/>
                </a:lnTo>
                <a:close/>
              </a:path>
              <a:path w="76200" h="5105400">
                <a:moveTo>
                  <a:pt x="38100" y="1600200"/>
                </a:moveTo>
                <a:lnTo>
                  <a:pt x="23270" y="1603194"/>
                </a:lnTo>
                <a:lnTo>
                  <a:pt x="11159" y="1611359"/>
                </a:lnTo>
                <a:lnTo>
                  <a:pt x="2994" y="1623469"/>
                </a:lnTo>
                <a:lnTo>
                  <a:pt x="0" y="1638300"/>
                </a:lnTo>
                <a:lnTo>
                  <a:pt x="0" y="1866900"/>
                </a:lnTo>
                <a:lnTo>
                  <a:pt x="2994" y="1881729"/>
                </a:lnTo>
                <a:lnTo>
                  <a:pt x="11159" y="1893840"/>
                </a:lnTo>
                <a:lnTo>
                  <a:pt x="23270" y="1902005"/>
                </a:lnTo>
                <a:lnTo>
                  <a:pt x="38100" y="1905000"/>
                </a:lnTo>
                <a:lnTo>
                  <a:pt x="52930" y="1902005"/>
                </a:lnTo>
                <a:lnTo>
                  <a:pt x="65040" y="1893840"/>
                </a:lnTo>
                <a:lnTo>
                  <a:pt x="73205" y="1881729"/>
                </a:lnTo>
                <a:lnTo>
                  <a:pt x="76200" y="1866900"/>
                </a:lnTo>
                <a:lnTo>
                  <a:pt x="76200" y="1638300"/>
                </a:lnTo>
                <a:lnTo>
                  <a:pt x="73205" y="1623469"/>
                </a:lnTo>
                <a:lnTo>
                  <a:pt x="65040" y="1611359"/>
                </a:lnTo>
                <a:lnTo>
                  <a:pt x="52930" y="1603194"/>
                </a:lnTo>
                <a:lnTo>
                  <a:pt x="38100" y="1600200"/>
                </a:lnTo>
                <a:close/>
              </a:path>
              <a:path w="76200" h="5105400">
                <a:moveTo>
                  <a:pt x="38100" y="2133600"/>
                </a:moveTo>
                <a:lnTo>
                  <a:pt x="23270" y="2136594"/>
                </a:lnTo>
                <a:lnTo>
                  <a:pt x="11159" y="2144759"/>
                </a:lnTo>
                <a:lnTo>
                  <a:pt x="2994" y="2156869"/>
                </a:lnTo>
                <a:lnTo>
                  <a:pt x="0" y="2171700"/>
                </a:lnTo>
                <a:lnTo>
                  <a:pt x="0" y="2400300"/>
                </a:lnTo>
                <a:lnTo>
                  <a:pt x="2994" y="2415129"/>
                </a:lnTo>
                <a:lnTo>
                  <a:pt x="11159" y="2427240"/>
                </a:lnTo>
                <a:lnTo>
                  <a:pt x="23270" y="2435405"/>
                </a:lnTo>
                <a:lnTo>
                  <a:pt x="38100" y="2438400"/>
                </a:lnTo>
                <a:lnTo>
                  <a:pt x="52930" y="2435405"/>
                </a:lnTo>
                <a:lnTo>
                  <a:pt x="65040" y="2427240"/>
                </a:lnTo>
                <a:lnTo>
                  <a:pt x="73205" y="2415129"/>
                </a:lnTo>
                <a:lnTo>
                  <a:pt x="76200" y="2400300"/>
                </a:lnTo>
                <a:lnTo>
                  <a:pt x="76200" y="2171700"/>
                </a:lnTo>
                <a:lnTo>
                  <a:pt x="73205" y="2156869"/>
                </a:lnTo>
                <a:lnTo>
                  <a:pt x="65040" y="2144759"/>
                </a:lnTo>
                <a:lnTo>
                  <a:pt x="52930" y="2136594"/>
                </a:lnTo>
                <a:lnTo>
                  <a:pt x="38100" y="2133600"/>
                </a:lnTo>
                <a:close/>
              </a:path>
              <a:path w="76200" h="5105400">
                <a:moveTo>
                  <a:pt x="38100" y="2667000"/>
                </a:moveTo>
                <a:lnTo>
                  <a:pt x="23270" y="2669994"/>
                </a:lnTo>
                <a:lnTo>
                  <a:pt x="11159" y="2678159"/>
                </a:lnTo>
                <a:lnTo>
                  <a:pt x="2994" y="2690269"/>
                </a:lnTo>
                <a:lnTo>
                  <a:pt x="0" y="2705100"/>
                </a:lnTo>
                <a:lnTo>
                  <a:pt x="0" y="2933700"/>
                </a:lnTo>
                <a:lnTo>
                  <a:pt x="2994" y="2948529"/>
                </a:lnTo>
                <a:lnTo>
                  <a:pt x="11159" y="2960640"/>
                </a:lnTo>
                <a:lnTo>
                  <a:pt x="23270" y="2968805"/>
                </a:lnTo>
                <a:lnTo>
                  <a:pt x="38100" y="2971800"/>
                </a:lnTo>
                <a:lnTo>
                  <a:pt x="52930" y="2968805"/>
                </a:lnTo>
                <a:lnTo>
                  <a:pt x="65040" y="2960640"/>
                </a:lnTo>
                <a:lnTo>
                  <a:pt x="73205" y="2948529"/>
                </a:lnTo>
                <a:lnTo>
                  <a:pt x="76200" y="2933700"/>
                </a:lnTo>
                <a:lnTo>
                  <a:pt x="76200" y="2705100"/>
                </a:lnTo>
                <a:lnTo>
                  <a:pt x="73205" y="2690269"/>
                </a:lnTo>
                <a:lnTo>
                  <a:pt x="65040" y="2678159"/>
                </a:lnTo>
                <a:lnTo>
                  <a:pt x="52930" y="2669994"/>
                </a:lnTo>
                <a:lnTo>
                  <a:pt x="38100" y="2667000"/>
                </a:lnTo>
                <a:close/>
              </a:path>
              <a:path w="76200" h="5105400">
                <a:moveTo>
                  <a:pt x="38100" y="3200400"/>
                </a:moveTo>
                <a:lnTo>
                  <a:pt x="23270" y="3203394"/>
                </a:lnTo>
                <a:lnTo>
                  <a:pt x="11159" y="3211559"/>
                </a:lnTo>
                <a:lnTo>
                  <a:pt x="2994" y="3223669"/>
                </a:lnTo>
                <a:lnTo>
                  <a:pt x="0" y="3238500"/>
                </a:lnTo>
                <a:lnTo>
                  <a:pt x="0" y="3467100"/>
                </a:lnTo>
                <a:lnTo>
                  <a:pt x="2994" y="3481929"/>
                </a:lnTo>
                <a:lnTo>
                  <a:pt x="11159" y="3494040"/>
                </a:lnTo>
                <a:lnTo>
                  <a:pt x="23270" y="3502205"/>
                </a:lnTo>
                <a:lnTo>
                  <a:pt x="38100" y="3505200"/>
                </a:lnTo>
                <a:lnTo>
                  <a:pt x="52930" y="3502205"/>
                </a:lnTo>
                <a:lnTo>
                  <a:pt x="65040" y="3494040"/>
                </a:lnTo>
                <a:lnTo>
                  <a:pt x="73205" y="3481929"/>
                </a:lnTo>
                <a:lnTo>
                  <a:pt x="76200" y="3467100"/>
                </a:lnTo>
                <a:lnTo>
                  <a:pt x="76200" y="3238500"/>
                </a:lnTo>
                <a:lnTo>
                  <a:pt x="73205" y="3223669"/>
                </a:lnTo>
                <a:lnTo>
                  <a:pt x="65040" y="3211559"/>
                </a:lnTo>
                <a:lnTo>
                  <a:pt x="52930" y="3203394"/>
                </a:lnTo>
                <a:lnTo>
                  <a:pt x="38100" y="3200400"/>
                </a:lnTo>
                <a:close/>
              </a:path>
              <a:path w="76200" h="5105400">
                <a:moveTo>
                  <a:pt x="38100" y="3733800"/>
                </a:moveTo>
                <a:lnTo>
                  <a:pt x="23270" y="3736794"/>
                </a:lnTo>
                <a:lnTo>
                  <a:pt x="11159" y="3744959"/>
                </a:lnTo>
                <a:lnTo>
                  <a:pt x="2994" y="3757069"/>
                </a:lnTo>
                <a:lnTo>
                  <a:pt x="0" y="3771900"/>
                </a:lnTo>
                <a:lnTo>
                  <a:pt x="0" y="4000500"/>
                </a:lnTo>
                <a:lnTo>
                  <a:pt x="2994" y="4015329"/>
                </a:lnTo>
                <a:lnTo>
                  <a:pt x="11159" y="4027440"/>
                </a:lnTo>
                <a:lnTo>
                  <a:pt x="23270" y="4035605"/>
                </a:lnTo>
                <a:lnTo>
                  <a:pt x="38100" y="4038600"/>
                </a:lnTo>
                <a:lnTo>
                  <a:pt x="52930" y="4035605"/>
                </a:lnTo>
                <a:lnTo>
                  <a:pt x="65040" y="4027440"/>
                </a:lnTo>
                <a:lnTo>
                  <a:pt x="73205" y="4015329"/>
                </a:lnTo>
                <a:lnTo>
                  <a:pt x="76200" y="4000500"/>
                </a:lnTo>
                <a:lnTo>
                  <a:pt x="76200" y="3771900"/>
                </a:lnTo>
                <a:lnTo>
                  <a:pt x="73205" y="3757069"/>
                </a:lnTo>
                <a:lnTo>
                  <a:pt x="65040" y="3744959"/>
                </a:lnTo>
                <a:lnTo>
                  <a:pt x="52930" y="3736794"/>
                </a:lnTo>
                <a:lnTo>
                  <a:pt x="38100" y="3733800"/>
                </a:lnTo>
                <a:close/>
              </a:path>
              <a:path w="76200" h="5105400">
                <a:moveTo>
                  <a:pt x="38101" y="4267199"/>
                </a:moveTo>
                <a:lnTo>
                  <a:pt x="23270" y="4270193"/>
                </a:lnTo>
                <a:lnTo>
                  <a:pt x="11160" y="4278359"/>
                </a:lnTo>
                <a:lnTo>
                  <a:pt x="2995" y="4290469"/>
                </a:lnTo>
                <a:lnTo>
                  <a:pt x="1" y="4305299"/>
                </a:lnTo>
                <a:lnTo>
                  <a:pt x="1" y="4533899"/>
                </a:lnTo>
                <a:lnTo>
                  <a:pt x="2995" y="4548730"/>
                </a:lnTo>
                <a:lnTo>
                  <a:pt x="11160" y="4560840"/>
                </a:lnTo>
                <a:lnTo>
                  <a:pt x="23270" y="4569005"/>
                </a:lnTo>
                <a:lnTo>
                  <a:pt x="38101" y="4571999"/>
                </a:lnTo>
                <a:lnTo>
                  <a:pt x="52931" y="4569005"/>
                </a:lnTo>
                <a:lnTo>
                  <a:pt x="65041" y="4560840"/>
                </a:lnTo>
                <a:lnTo>
                  <a:pt x="73207" y="4548730"/>
                </a:lnTo>
                <a:lnTo>
                  <a:pt x="76201" y="4533899"/>
                </a:lnTo>
                <a:lnTo>
                  <a:pt x="76201" y="4305299"/>
                </a:lnTo>
                <a:lnTo>
                  <a:pt x="73207" y="4290469"/>
                </a:lnTo>
                <a:lnTo>
                  <a:pt x="65041" y="4278359"/>
                </a:lnTo>
                <a:lnTo>
                  <a:pt x="52931" y="4270193"/>
                </a:lnTo>
                <a:lnTo>
                  <a:pt x="38101" y="4267199"/>
                </a:lnTo>
                <a:close/>
              </a:path>
              <a:path w="76200" h="5105400">
                <a:moveTo>
                  <a:pt x="38101" y="4800599"/>
                </a:moveTo>
                <a:lnTo>
                  <a:pt x="23270" y="4803593"/>
                </a:lnTo>
                <a:lnTo>
                  <a:pt x="11160" y="4811759"/>
                </a:lnTo>
                <a:lnTo>
                  <a:pt x="2995" y="4823869"/>
                </a:lnTo>
                <a:lnTo>
                  <a:pt x="1" y="4838699"/>
                </a:lnTo>
                <a:lnTo>
                  <a:pt x="1" y="5067299"/>
                </a:lnTo>
                <a:lnTo>
                  <a:pt x="2995" y="5082130"/>
                </a:lnTo>
                <a:lnTo>
                  <a:pt x="11160" y="5094240"/>
                </a:lnTo>
                <a:lnTo>
                  <a:pt x="23270" y="5102405"/>
                </a:lnTo>
                <a:lnTo>
                  <a:pt x="38101" y="5105399"/>
                </a:lnTo>
                <a:lnTo>
                  <a:pt x="52931" y="5102405"/>
                </a:lnTo>
                <a:lnTo>
                  <a:pt x="65041" y="5094240"/>
                </a:lnTo>
                <a:lnTo>
                  <a:pt x="73207" y="5082130"/>
                </a:lnTo>
                <a:lnTo>
                  <a:pt x="76201" y="5067299"/>
                </a:lnTo>
                <a:lnTo>
                  <a:pt x="76201" y="4838699"/>
                </a:lnTo>
                <a:lnTo>
                  <a:pt x="73207" y="4823869"/>
                </a:lnTo>
                <a:lnTo>
                  <a:pt x="65041" y="4811759"/>
                </a:lnTo>
                <a:lnTo>
                  <a:pt x="52931" y="4803593"/>
                </a:lnTo>
                <a:lnTo>
                  <a:pt x="38101" y="4800599"/>
                </a:lnTo>
                <a:close/>
              </a:path>
            </a:pathLst>
          </a:custGeom>
          <a:solidFill>
            <a:srgbClr val="FBE5D6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508" y="2040473"/>
            <a:ext cx="2339626" cy="11401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4893" y="1931906"/>
            <a:ext cx="2067161" cy="105140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83105" y="3235106"/>
            <a:ext cx="1788964" cy="1668979"/>
            <a:chOff x="1483492" y="3235055"/>
            <a:chExt cx="1789430" cy="1669414"/>
          </a:xfrm>
        </p:grpSpPr>
        <p:sp>
          <p:nvSpPr>
            <p:cNvPr id="7" name="object 7"/>
            <p:cNvSpPr/>
            <p:nvPr/>
          </p:nvSpPr>
          <p:spPr>
            <a:xfrm>
              <a:off x="1594664" y="4385570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8" name="object 8"/>
            <p:cNvSpPr/>
            <p:nvPr/>
          </p:nvSpPr>
          <p:spPr>
            <a:xfrm>
              <a:off x="2114208" y="4385570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9" name="object 9"/>
            <p:cNvSpPr/>
            <p:nvPr/>
          </p:nvSpPr>
          <p:spPr>
            <a:xfrm>
              <a:off x="2639002" y="4385570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1172" y="4385570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1547" y="4792770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3492" y="4681598"/>
              <a:ext cx="222344" cy="222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660" y="4681598"/>
              <a:ext cx="222344" cy="2223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35887" y="4792770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7829" y="4681598"/>
              <a:ext cx="222344" cy="2223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999" y="4681598"/>
              <a:ext cx="222344" cy="2223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13717" y="4792770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4664" y="3881487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9" name="object 19"/>
            <p:cNvSpPr/>
            <p:nvPr/>
          </p:nvSpPr>
          <p:spPr>
            <a:xfrm>
              <a:off x="2114208" y="3881487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0" name="object 20"/>
            <p:cNvSpPr/>
            <p:nvPr/>
          </p:nvSpPr>
          <p:spPr>
            <a:xfrm>
              <a:off x="2639002" y="3881487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1172" y="3881487"/>
              <a:ext cx="0" cy="310515"/>
            </a:xfrm>
            <a:custGeom>
              <a:avLst/>
              <a:gdLst/>
              <a:ahLst/>
              <a:cxnLst/>
              <a:rect l="l" t="t" r="r" b="b"/>
              <a:pathLst>
                <a:path h="310514">
                  <a:moveTo>
                    <a:pt x="0" y="0"/>
                  </a:moveTo>
                  <a:lnTo>
                    <a:pt x="1" y="310315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1547" y="3784602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3492" y="3673430"/>
              <a:ext cx="222344" cy="2223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660" y="3673430"/>
              <a:ext cx="222344" cy="2223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35887" y="3784602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7829" y="3673430"/>
              <a:ext cx="222344" cy="2223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999" y="3673430"/>
              <a:ext cx="222344" cy="2223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213717" y="3784602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9" name="object 29"/>
            <p:cNvSpPr/>
            <p:nvPr/>
          </p:nvSpPr>
          <p:spPr>
            <a:xfrm>
              <a:off x="1691547" y="4288687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492" y="4177515"/>
              <a:ext cx="222344" cy="2223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5660" y="4177515"/>
              <a:ext cx="222344" cy="2223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35887" y="4288687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7829" y="4177515"/>
              <a:ext cx="222344" cy="2223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9999" y="4177515"/>
              <a:ext cx="222344" cy="2223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13717" y="4288687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30">
                  <a:moveTo>
                    <a:pt x="0" y="0"/>
                  </a:moveTo>
                  <a:lnTo>
                    <a:pt x="328400" y="1"/>
                  </a:lnTo>
                </a:path>
              </a:pathLst>
            </a:custGeom>
            <a:ln w="285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6" name="object 36"/>
            <p:cNvSpPr/>
            <p:nvPr/>
          </p:nvSpPr>
          <p:spPr>
            <a:xfrm>
              <a:off x="2185644" y="3235055"/>
              <a:ext cx="434975" cy="408940"/>
            </a:xfrm>
            <a:custGeom>
              <a:avLst/>
              <a:gdLst/>
              <a:ahLst/>
              <a:cxnLst/>
              <a:rect l="l" t="t" r="r" b="b"/>
              <a:pathLst>
                <a:path w="434975" h="408939">
                  <a:moveTo>
                    <a:pt x="326222" y="0"/>
                  </a:moveTo>
                  <a:lnTo>
                    <a:pt x="108741" y="0"/>
                  </a:lnTo>
                  <a:lnTo>
                    <a:pt x="108741" y="204232"/>
                  </a:lnTo>
                  <a:lnTo>
                    <a:pt x="0" y="204232"/>
                  </a:lnTo>
                  <a:lnTo>
                    <a:pt x="217481" y="408465"/>
                  </a:lnTo>
                  <a:lnTo>
                    <a:pt x="434963" y="204232"/>
                  </a:lnTo>
                  <a:lnTo>
                    <a:pt x="326222" y="204232"/>
                  </a:lnTo>
                  <a:lnTo>
                    <a:pt x="326222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375331" y="3030927"/>
            <a:ext cx="2251124" cy="3754412"/>
            <a:chOff x="7377253" y="3030823"/>
            <a:chExt cx="2251710" cy="3755390"/>
          </a:xfrm>
        </p:grpSpPr>
        <p:sp>
          <p:nvSpPr>
            <p:cNvPr id="38" name="object 38"/>
            <p:cNvSpPr/>
            <p:nvPr/>
          </p:nvSpPr>
          <p:spPr>
            <a:xfrm>
              <a:off x="8037159" y="3030823"/>
              <a:ext cx="434975" cy="408940"/>
            </a:xfrm>
            <a:custGeom>
              <a:avLst/>
              <a:gdLst/>
              <a:ahLst/>
              <a:cxnLst/>
              <a:rect l="l" t="t" r="r" b="b"/>
              <a:pathLst>
                <a:path w="434975" h="408939">
                  <a:moveTo>
                    <a:pt x="326222" y="0"/>
                  </a:moveTo>
                  <a:lnTo>
                    <a:pt x="108741" y="0"/>
                  </a:lnTo>
                  <a:lnTo>
                    <a:pt x="108741" y="204232"/>
                  </a:lnTo>
                  <a:lnTo>
                    <a:pt x="0" y="204232"/>
                  </a:lnTo>
                  <a:lnTo>
                    <a:pt x="217482" y="408465"/>
                  </a:lnTo>
                  <a:lnTo>
                    <a:pt x="434963" y="204232"/>
                  </a:lnTo>
                  <a:lnTo>
                    <a:pt x="326222" y="204232"/>
                  </a:lnTo>
                  <a:lnTo>
                    <a:pt x="326222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39" name="object 39"/>
            <p:cNvSpPr/>
            <p:nvPr/>
          </p:nvSpPr>
          <p:spPr>
            <a:xfrm>
              <a:off x="8004195" y="4995903"/>
              <a:ext cx="434975" cy="408940"/>
            </a:xfrm>
            <a:custGeom>
              <a:avLst/>
              <a:gdLst/>
              <a:ahLst/>
              <a:cxnLst/>
              <a:rect l="l" t="t" r="r" b="b"/>
              <a:pathLst>
                <a:path w="434975" h="408939">
                  <a:moveTo>
                    <a:pt x="326223" y="0"/>
                  </a:moveTo>
                  <a:lnTo>
                    <a:pt x="108741" y="0"/>
                  </a:lnTo>
                  <a:lnTo>
                    <a:pt x="108741" y="204232"/>
                  </a:lnTo>
                  <a:lnTo>
                    <a:pt x="0" y="204232"/>
                  </a:lnTo>
                  <a:lnTo>
                    <a:pt x="217482" y="408465"/>
                  </a:lnTo>
                  <a:lnTo>
                    <a:pt x="434963" y="204232"/>
                  </a:lnTo>
                  <a:lnTo>
                    <a:pt x="326223" y="204232"/>
                  </a:lnTo>
                  <a:lnTo>
                    <a:pt x="326223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77253" y="5383905"/>
              <a:ext cx="1754776" cy="14020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8656" y="5730239"/>
              <a:ext cx="569976" cy="5699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23420" y="3439288"/>
              <a:ext cx="1535460" cy="1538763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447090" y="4970207"/>
            <a:ext cx="2319686" cy="1835942"/>
            <a:chOff x="1447468" y="4970609"/>
            <a:chExt cx="2320290" cy="1836420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7352" y="5986271"/>
              <a:ext cx="569976" cy="5699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200722" y="4970609"/>
              <a:ext cx="434975" cy="408940"/>
            </a:xfrm>
            <a:custGeom>
              <a:avLst/>
              <a:gdLst/>
              <a:ahLst/>
              <a:cxnLst/>
              <a:rect l="l" t="t" r="r" b="b"/>
              <a:pathLst>
                <a:path w="434975" h="408939">
                  <a:moveTo>
                    <a:pt x="326222" y="0"/>
                  </a:moveTo>
                  <a:lnTo>
                    <a:pt x="108739" y="0"/>
                  </a:lnTo>
                  <a:lnTo>
                    <a:pt x="108739" y="204232"/>
                  </a:lnTo>
                  <a:lnTo>
                    <a:pt x="0" y="204232"/>
                  </a:lnTo>
                  <a:lnTo>
                    <a:pt x="217481" y="408465"/>
                  </a:lnTo>
                  <a:lnTo>
                    <a:pt x="434963" y="204232"/>
                  </a:lnTo>
                  <a:lnTo>
                    <a:pt x="326222" y="204232"/>
                  </a:lnTo>
                  <a:lnTo>
                    <a:pt x="326222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7468" y="5404368"/>
              <a:ext cx="1754776" cy="140205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794719" y="6052137"/>
            <a:ext cx="2307624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b="1" dirty="0">
                <a:solidFill>
                  <a:srgbClr val="70AD47"/>
                </a:solidFill>
                <a:latin typeface="Arial"/>
                <a:cs typeface="Arial"/>
              </a:rPr>
              <a:t>Good</a:t>
            </a:r>
            <a:r>
              <a:rPr sz="2399" b="1" spc="-25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70AD47"/>
                </a:solidFill>
                <a:latin typeface="Arial"/>
                <a:cs typeface="Arial"/>
              </a:rPr>
              <a:t>efficiency</a:t>
            </a:r>
            <a:endParaRPr sz="2399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28097" y="3927218"/>
            <a:ext cx="2153994" cy="63483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26662" marR="5078" indent="-14600">
              <a:spcBef>
                <a:spcPts val="100"/>
              </a:spcBef>
            </a:pPr>
            <a:r>
              <a:rPr sz="1999" b="1" dirty="0">
                <a:solidFill>
                  <a:srgbClr val="70AD47"/>
                </a:solidFill>
                <a:latin typeface="Arial"/>
                <a:cs typeface="Arial"/>
              </a:rPr>
              <a:t>Small</a:t>
            </a:r>
            <a:r>
              <a:rPr sz="1999" b="1" spc="-65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70AD47"/>
                </a:solidFill>
                <a:latin typeface="Arial"/>
                <a:cs typeface="Arial"/>
              </a:rPr>
              <a:t>and</a:t>
            </a:r>
            <a:r>
              <a:rPr sz="1999" b="1" spc="-50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70AD47"/>
                </a:solidFill>
                <a:latin typeface="Arial"/>
                <a:cs typeface="Arial"/>
              </a:rPr>
              <a:t>regular </a:t>
            </a:r>
            <a:r>
              <a:rPr sz="1999" b="1" dirty="0">
                <a:solidFill>
                  <a:srgbClr val="70AD47"/>
                </a:solidFill>
                <a:latin typeface="Arial"/>
                <a:cs typeface="Arial"/>
              </a:rPr>
              <a:t>intermediate</a:t>
            </a:r>
            <a:r>
              <a:rPr sz="1999" b="1" spc="-114" dirty="0">
                <a:solidFill>
                  <a:srgbClr val="70AD47"/>
                </a:solidFill>
                <a:latin typeface="Arial"/>
                <a:cs typeface="Arial"/>
              </a:rPr>
              <a:t> </a:t>
            </a:r>
            <a:r>
              <a:rPr sz="1999" b="1" spc="-20" dirty="0">
                <a:solidFill>
                  <a:srgbClr val="70AD47"/>
                </a:solidFill>
                <a:latin typeface="Arial"/>
                <a:cs typeface="Arial"/>
              </a:rPr>
              <a:t>data</a:t>
            </a:r>
            <a:endParaRPr sz="1999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08000" y="3832755"/>
            <a:ext cx="2338096" cy="63483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18709" marR="5078" indent="-106648">
              <a:spcBef>
                <a:spcPts val="100"/>
              </a:spcBef>
            </a:pPr>
            <a:r>
              <a:rPr sz="1999" b="1" dirty="0">
                <a:solidFill>
                  <a:srgbClr val="C55A11"/>
                </a:solidFill>
                <a:latin typeface="Arial"/>
                <a:cs typeface="Arial"/>
              </a:rPr>
              <a:t>Large</a:t>
            </a:r>
            <a:r>
              <a:rPr sz="1999" b="1" spc="-5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999" b="1"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sz="1999" b="1" spc="-5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999" b="1" spc="-10" dirty="0">
                <a:solidFill>
                  <a:srgbClr val="C55A11"/>
                </a:solidFill>
                <a:latin typeface="Arial"/>
                <a:cs typeface="Arial"/>
              </a:rPr>
              <a:t>irregular </a:t>
            </a:r>
            <a:r>
              <a:rPr sz="1999" b="1" dirty="0">
                <a:solidFill>
                  <a:srgbClr val="C55A11"/>
                </a:solidFill>
                <a:latin typeface="Arial"/>
                <a:cs typeface="Arial"/>
              </a:rPr>
              <a:t>intermediate</a:t>
            </a:r>
            <a:r>
              <a:rPr sz="1999" b="1" spc="-114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1999" b="1" spc="-20" dirty="0">
                <a:solidFill>
                  <a:srgbClr val="C55A11"/>
                </a:solidFill>
                <a:latin typeface="Arial"/>
                <a:cs typeface="Arial"/>
              </a:rPr>
              <a:t>data</a:t>
            </a:r>
            <a:endParaRPr sz="1999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40704" y="5400034"/>
            <a:ext cx="1769919" cy="1125562"/>
          </a:xfrm>
          <a:prstGeom prst="rect">
            <a:avLst/>
          </a:prstGeom>
        </p:spPr>
        <p:txBody>
          <a:bodyPr vert="horz" wrap="square" lIns="0" tIns="10792" rIns="0" bIns="0" rtlCol="0">
            <a:spAutoFit/>
          </a:bodyPr>
          <a:lstStyle/>
          <a:p>
            <a:pPr marL="12696" marR="5078">
              <a:lnSpc>
                <a:spcPct val="100400"/>
              </a:lnSpc>
              <a:spcBef>
                <a:spcPts val="85"/>
              </a:spcBef>
            </a:pPr>
            <a:r>
              <a:rPr sz="2399" b="1" dirty="0">
                <a:solidFill>
                  <a:srgbClr val="C55A11"/>
                </a:solidFill>
                <a:latin typeface="Arial"/>
                <a:cs typeface="Arial"/>
              </a:rPr>
              <a:t>Efficiency</a:t>
            </a:r>
            <a:r>
              <a:rPr sz="2399" b="1" spc="-10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399" b="1" spc="-50" dirty="0">
                <a:solidFill>
                  <a:srgbClr val="C55A11"/>
                </a:solidFill>
                <a:latin typeface="Arial"/>
                <a:cs typeface="Arial"/>
              </a:rPr>
              <a:t>&amp; </a:t>
            </a:r>
            <a:r>
              <a:rPr sz="2399" b="1" spc="-10" dirty="0">
                <a:solidFill>
                  <a:srgbClr val="C55A11"/>
                </a:solidFill>
                <a:latin typeface="Arial"/>
                <a:cs typeface="Arial"/>
              </a:rPr>
              <a:t>scalability challenges</a:t>
            </a:r>
            <a:endParaRPr sz="2399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90405" y="1386864"/>
            <a:ext cx="9097180" cy="391058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  <a:tabLst>
                <a:tab pos="5698050" algn="l"/>
              </a:tabLst>
            </a:pPr>
            <a:r>
              <a:rPr sz="3599" b="1" baseline="1157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3599" b="1" spc="-104" baseline="1157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3599" b="1" spc="-15" baseline="1157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r>
              <a:rPr sz="3599" b="1" baseline="1157" dirty="0">
                <a:solidFill>
                  <a:srgbClr val="ED7D31"/>
                </a:solidFill>
                <a:latin typeface="Arial"/>
                <a:cs typeface="Arial"/>
              </a:rPr>
              <a:t>	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Graph</a:t>
            </a:r>
            <a:r>
              <a:rPr sz="2399" b="1" spc="-55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Neural</a:t>
            </a:r>
            <a:r>
              <a:rPr sz="2399" b="1" spc="-5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spc="-10" dirty="0">
                <a:solidFill>
                  <a:srgbClr val="ED7D31"/>
                </a:solidFill>
                <a:latin typeface="Arial"/>
                <a:cs typeface="Arial"/>
              </a:rPr>
              <a:t>Networks</a:t>
            </a:r>
            <a:endParaRPr sz="2399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80720-CCF1-1E4B-BFA6-EA319173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9BE976-9E56-BEBB-1570-86F6269D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026" y="576037"/>
            <a:ext cx="9527594" cy="4873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lnSpc>
                <a:spcPts val="3659"/>
              </a:lnSpc>
              <a:spcBef>
                <a:spcPts val="100"/>
              </a:spcBef>
            </a:pPr>
            <a:r>
              <a:rPr dirty="0"/>
              <a:t>Understand</a:t>
            </a:r>
            <a:r>
              <a:rPr spc="-50" dirty="0"/>
              <a:t> </a:t>
            </a:r>
            <a:r>
              <a:rPr lang="en-US" dirty="0"/>
              <a:t>ML</a:t>
            </a:r>
            <a:r>
              <a:rPr spc="-215" dirty="0"/>
              <a:t> </a:t>
            </a:r>
            <a:r>
              <a:rPr spc="-10" dirty="0"/>
              <a:t>Applications: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21D4432-128E-98BF-2139-64CCD0A2877F}"/>
              </a:ext>
            </a:extLst>
          </p:cNvPr>
          <p:cNvSpPr txBox="1"/>
          <p:nvPr/>
        </p:nvSpPr>
        <p:spPr>
          <a:xfrm>
            <a:off x="2938137" y="3679379"/>
            <a:ext cx="5763029" cy="2189955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469124" indent="-456428"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Convolutional Neural Networks</a:t>
            </a:r>
          </a:p>
          <a:p>
            <a:pPr marL="469124" indent="-456428">
              <a:lnSpc>
                <a:spcPts val="3324"/>
              </a:lnSpc>
              <a:spcBef>
                <a:spcPts val="100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Recurrent Neural Networks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Transformers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rgbClr val="F8CBAD"/>
                </a:solidFill>
                <a:latin typeface="Arial"/>
                <a:cs typeface="Arial"/>
              </a:rPr>
              <a:t>Graph Neural Networks</a:t>
            </a:r>
          </a:p>
          <a:p>
            <a:pPr marL="469124" indent="-456428">
              <a:lnSpc>
                <a:spcPts val="3324"/>
              </a:lnSpc>
              <a:spcBef>
                <a:spcPts val="45"/>
              </a:spcBef>
              <a:buFont typeface="Arial MT"/>
              <a:buChar char="•"/>
              <a:tabLst>
                <a:tab pos="469124" algn="l"/>
              </a:tabLst>
            </a:pPr>
            <a:r>
              <a:rPr sz="2799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Mixture-of-Experts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CD51E-9B4D-AB66-956C-3CED0905B1A0}"/>
              </a:ext>
            </a:extLst>
          </p:cNvPr>
          <p:cNvSpPr txBox="1"/>
          <p:nvPr/>
        </p:nvSpPr>
        <p:spPr>
          <a:xfrm>
            <a:off x="1830789" y="2752556"/>
            <a:ext cx="8189859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>
              <a:spcBef>
                <a:spcPts val="100"/>
              </a:spcBef>
              <a:tabLst>
                <a:tab pos="469124" algn="l"/>
              </a:tabLst>
            </a:pPr>
            <a:r>
              <a:rPr lang="en-US" sz="2799" b="1" dirty="0">
                <a:latin typeface="Arial"/>
                <a:cs typeface="Arial"/>
              </a:rPr>
              <a:t>An Overview of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7436023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74" y="166848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pc="-10" dirty="0"/>
              <a:t>Mixture-of-Experts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700" y="1572743"/>
            <a:ext cx="9690116" cy="723711"/>
          </a:xfrm>
          <a:prstGeom prst="rect">
            <a:avLst/>
          </a:prstGeom>
        </p:spPr>
        <p:txBody>
          <a:bodyPr vert="horz" wrap="square" lIns="0" tIns="51422" rIns="0" bIns="0" rtlCol="0">
            <a:spAutoFit/>
          </a:bodyPr>
          <a:lstStyle/>
          <a:p>
            <a:pPr marL="239957" marR="5078" indent="-227261">
              <a:lnSpc>
                <a:spcPts val="2619"/>
              </a:lnSpc>
              <a:spcBef>
                <a:spcPts val="405"/>
              </a:spcBef>
              <a:buFont typeface="Arial MT"/>
              <a:buChar char="•"/>
              <a:tabLst>
                <a:tab pos="241228" algn="l"/>
              </a:tabLst>
            </a:pP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Key</a:t>
            </a:r>
            <a:r>
              <a:rPr sz="2399" b="1" spc="-60" dirty="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sz="2399" b="1" dirty="0">
                <a:solidFill>
                  <a:srgbClr val="ED7D31"/>
                </a:solidFill>
                <a:latin typeface="Arial"/>
                <a:cs typeface="Arial"/>
              </a:rPr>
              <a:t>idea</a:t>
            </a:r>
            <a:r>
              <a:rPr sz="2399" dirty="0">
                <a:latin typeface="Arial MT"/>
                <a:cs typeface="Arial MT"/>
              </a:rPr>
              <a:t>: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make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each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expert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focus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on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predicting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the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right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answer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for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50" dirty="0">
                <a:latin typeface="Arial MT"/>
                <a:cs typeface="Arial MT"/>
              </a:rPr>
              <a:t>a 	</a:t>
            </a:r>
            <a:r>
              <a:rPr sz="2399" dirty="0">
                <a:latin typeface="Arial MT"/>
                <a:cs typeface="Arial MT"/>
              </a:rPr>
              <a:t>subset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cases</a:t>
            </a:r>
            <a:endParaRPr sz="2399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212" y="2844598"/>
            <a:ext cx="7513084" cy="3819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702732" y="355599"/>
            <a:ext cx="13817601" cy="788359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 algn="l">
              <a:spcBef>
                <a:spcPts val="100"/>
              </a:spcBef>
            </a:pPr>
            <a:r>
              <a:rPr sz="3600" spc="-10" dirty="0">
                <a:solidFill>
                  <a:srgbClr val="DC4400"/>
                </a:solidFill>
                <a:latin typeface="Impact"/>
              </a:rPr>
              <a:t>Switch Transformers = Transformers + Mixture of Experts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898" y="1861882"/>
            <a:ext cx="9027050" cy="445139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674" y="226386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/>
          <a:p>
            <a:pPr marL="38089">
              <a:spcBef>
                <a:spcPts val="100"/>
              </a:spcBef>
            </a:pPr>
            <a:r>
              <a:rPr spc="-10" dirty="0"/>
              <a:t>Recap:</a:t>
            </a:r>
            <a:r>
              <a:rPr spc="-204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Overview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521" y="1722441"/>
            <a:ext cx="10256388" cy="3557613"/>
          </a:xfrm>
          <a:prstGeom prst="rect">
            <a:avLst/>
          </a:prstGeom>
        </p:spPr>
        <p:txBody>
          <a:bodyPr vert="horz" wrap="square" lIns="0" tIns="104113" rIns="0" bIns="0" rtlCol="0">
            <a:spAutoFit/>
          </a:bodyPr>
          <a:lstStyle/>
          <a:p>
            <a:pPr marL="239957" indent="-227261">
              <a:spcBef>
                <a:spcPts val="8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Convolutional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neural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networks:</a:t>
            </a:r>
            <a:r>
              <a:rPr sz="2399" spc="-10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various</a:t>
            </a:r>
            <a:r>
              <a:rPr sz="2399" spc="-9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computer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vision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tasks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Recurrent</a:t>
            </a:r>
            <a:r>
              <a:rPr sz="2399" spc="-10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neural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networks:</a:t>
            </a:r>
            <a:r>
              <a:rPr sz="2399" spc="-10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processing</a:t>
            </a:r>
            <a:r>
              <a:rPr sz="2399" spc="-10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sequences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spc="-20" dirty="0">
                <a:latin typeface="Arial MT"/>
                <a:cs typeface="Arial MT"/>
              </a:rPr>
              <a:t>Transformers:</a:t>
            </a:r>
            <a:r>
              <a:rPr sz="2399" spc="-150" dirty="0">
                <a:latin typeface="Arial MT"/>
                <a:cs typeface="Arial MT"/>
              </a:rPr>
              <a:t> </a:t>
            </a:r>
            <a:r>
              <a:rPr sz="1999" dirty="0">
                <a:latin typeface="Arial MT"/>
                <a:cs typeface="Arial MT"/>
              </a:rPr>
              <a:t>e</a:t>
            </a:r>
            <a:r>
              <a:rPr sz="2399" dirty="0">
                <a:latin typeface="Arial MT"/>
                <a:cs typeface="Arial MT"/>
              </a:rPr>
              <a:t>fficient</a:t>
            </a:r>
            <a:r>
              <a:rPr sz="2399" spc="-9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natural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language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processing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Graph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neural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networks: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deep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learning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relational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20" dirty="0">
                <a:latin typeface="Arial MT"/>
                <a:cs typeface="Arial MT"/>
              </a:rPr>
              <a:t>data</a:t>
            </a:r>
            <a:endParaRPr sz="2399" dirty="0">
              <a:latin typeface="Arial MT"/>
              <a:cs typeface="Arial MT"/>
            </a:endParaRPr>
          </a:p>
          <a:p>
            <a:pPr marL="239957" indent="-227261">
              <a:spcBef>
                <a:spcPts val="720"/>
              </a:spcBef>
              <a:buChar char="•"/>
              <a:tabLst>
                <a:tab pos="239957" algn="l"/>
              </a:tabLst>
            </a:pPr>
            <a:r>
              <a:rPr sz="2399" dirty="0">
                <a:latin typeface="Arial MT"/>
                <a:cs typeface="Arial MT"/>
              </a:rPr>
              <a:t>Mixture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experts: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ensemble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deep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learning</a:t>
            </a:r>
            <a:endParaRPr sz="2399" dirty="0">
              <a:latin typeface="Arial MT"/>
              <a:cs typeface="Arial MT"/>
            </a:endParaRPr>
          </a:p>
          <a:p>
            <a:pPr>
              <a:spcBef>
                <a:spcPts val="1859"/>
              </a:spcBef>
              <a:buFont typeface="Arial MT"/>
              <a:buChar char="•"/>
            </a:pPr>
            <a:endParaRPr sz="2399" dirty="0">
              <a:latin typeface="Arial MT"/>
              <a:cs typeface="Arial MT"/>
            </a:endParaRPr>
          </a:p>
          <a:p>
            <a:pPr marL="239957" marR="5078" indent="-227261">
              <a:lnSpc>
                <a:spcPts val="2619"/>
              </a:lnSpc>
              <a:spcBef>
                <a:spcPts val="5"/>
              </a:spcBef>
              <a:buChar char="•"/>
              <a:tabLst>
                <a:tab pos="241228" algn="l"/>
              </a:tabLst>
            </a:pPr>
            <a:r>
              <a:rPr sz="2399" dirty="0">
                <a:latin typeface="Arial MT"/>
                <a:cs typeface="Arial MT"/>
              </a:rPr>
              <a:t>A</a:t>
            </a:r>
            <a:r>
              <a:rPr sz="2399" spc="-1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key</a:t>
            </a:r>
            <a:r>
              <a:rPr sz="2399" spc="-8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takeaway: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DNN</a:t>
            </a:r>
            <a:r>
              <a:rPr sz="2399" spc="-5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techniques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are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not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applied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</a:t>
            </a:r>
            <a:r>
              <a:rPr sz="2399" spc="-6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isolation.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Solving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real- 	</a:t>
            </a:r>
            <a:r>
              <a:rPr sz="2399" dirty="0">
                <a:latin typeface="Arial MT"/>
                <a:cs typeface="Arial MT"/>
              </a:rPr>
              <a:t>world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problems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require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``clever’’</a:t>
            </a:r>
            <a:r>
              <a:rPr sz="2399" spc="-14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integration</a:t>
            </a:r>
            <a:r>
              <a:rPr sz="2399" spc="-70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of</a:t>
            </a:r>
            <a:r>
              <a:rPr sz="2399" spc="-75" dirty="0">
                <a:latin typeface="Arial MT"/>
                <a:cs typeface="Arial MT"/>
              </a:rPr>
              <a:t> </a:t>
            </a:r>
            <a:r>
              <a:rPr sz="2399" dirty="0">
                <a:latin typeface="Arial MT"/>
                <a:cs typeface="Arial MT"/>
              </a:rPr>
              <a:t>DNN</a:t>
            </a:r>
            <a:r>
              <a:rPr sz="2399" spc="-65" dirty="0">
                <a:latin typeface="Arial MT"/>
                <a:cs typeface="Arial MT"/>
              </a:rPr>
              <a:t> </a:t>
            </a:r>
            <a:r>
              <a:rPr sz="2399" spc="-10" dirty="0">
                <a:latin typeface="Arial MT"/>
                <a:cs typeface="Arial MT"/>
              </a:rPr>
              <a:t>techniques</a:t>
            </a:r>
            <a:endParaRPr sz="2399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FC09DA-AADF-EEDA-FCDB-7F3FD2BA4961}"/>
              </a:ext>
            </a:extLst>
          </p:cNvPr>
          <p:cNvSpPr txBox="1">
            <a:spLocks/>
          </p:cNvSpPr>
          <p:nvPr/>
        </p:nvSpPr>
        <p:spPr>
          <a:xfrm>
            <a:off x="-661090" y="-61869"/>
            <a:ext cx="10360168" cy="911294"/>
          </a:xfrm>
          <a:prstGeom prst="rect">
            <a:avLst/>
          </a:prstGeom>
        </p:spPr>
        <p:txBody>
          <a:bodyPr vert="horz" wrap="square" lIns="0" tIns="232095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089">
              <a:spcBef>
                <a:spcPts val="100"/>
              </a:spcBef>
            </a:pPr>
            <a:r>
              <a:rPr lang="en-US" dirty="0">
                <a:solidFill>
                  <a:srgbClr val="DC4400"/>
                </a:solidFill>
                <a:latin typeface="Impact"/>
              </a:rPr>
              <a:t>Next Lecture: Deep Learning Systems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10CF5D8-BC85-DB61-33B3-66366FE5527C}"/>
              </a:ext>
            </a:extLst>
          </p:cNvPr>
          <p:cNvGrpSpPr/>
          <p:nvPr/>
        </p:nvGrpSpPr>
        <p:grpSpPr>
          <a:xfrm>
            <a:off x="9826382" y="894"/>
            <a:ext cx="2362855" cy="566907"/>
            <a:chOff x="9828942" y="0"/>
            <a:chExt cx="2363470" cy="56705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16189F2-88D2-754D-1B62-6DCDDA1DFA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8942" y="3889"/>
              <a:ext cx="562828" cy="562828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0E21B6E-4107-E81F-314A-443C1B0847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4126" y="0"/>
              <a:ext cx="1787872" cy="562829"/>
            </a:xfrm>
            <a:prstGeom prst="rect">
              <a:avLst/>
            </a:prstGeom>
          </p:spPr>
        </p:pic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7EB03491-8927-10E0-BF15-C5955339AF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9127" y="942137"/>
            <a:ext cx="3884526" cy="818698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1210B7F5-1236-F9B3-7CD9-3855F19E0BE1}"/>
              </a:ext>
            </a:extLst>
          </p:cNvPr>
          <p:cNvSpPr txBox="1"/>
          <p:nvPr/>
        </p:nvSpPr>
        <p:spPr>
          <a:xfrm>
            <a:off x="2200674" y="1110557"/>
            <a:ext cx="1518524" cy="3402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76" rIns="0" bIns="0" rtlCol="0">
            <a:spAutoFit/>
          </a:bodyPr>
          <a:lstStyle/>
          <a:p>
            <a:pPr marL="176477">
              <a:spcBef>
                <a:spcPts val="254"/>
              </a:spcBef>
            </a:pPr>
            <a:r>
              <a:rPr sz="1999" b="1" dirty="0">
                <a:solidFill>
                  <a:srgbClr val="5B9BD5"/>
                </a:solidFill>
                <a:latin typeface="Arial"/>
                <a:cs typeface="Arial"/>
              </a:rPr>
              <a:t>ML</a:t>
            </a:r>
            <a:r>
              <a:rPr sz="1999" b="1" spc="-5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999" b="1" spc="-20" dirty="0">
                <a:solidFill>
                  <a:srgbClr val="5B9BD5"/>
                </a:solidFill>
                <a:latin typeface="Arial"/>
                <a:cs typeface="Arial"/>
              </a:rPr>
              <a:t>Model</a:t>
            </a:r>
            <a:endParaRPr sz="1999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058FB35-DE01-03D8-B88E-05A135DDF193}"/>
              </a:ext>
            </a:extLst>
          </p:cNvPr>
          <p:cNvSpPr/>
          <p:nvPr/>
        </p:nvSpPr>
        <p:spPr>
          <a:xfrm>
            <a:off x="4614294" y="4790374"/>
            <a:ext cx="365665" cy="1825150"/>
          </a:xfrm>
          <a:custGeom>
            <a:avLst/>
            <a:gdLst/>
            <a:ahLst/>
            <a:cxnLst/>
            <a:rect l="l" t="t" r="r" b="b"/>
            <a:pathLst>
              <a:path w="365760" h="1825625">
                <a:moveTo>
                  <a:pt x="304549" y="0"/>
                </a:moveTo>
                <a:lnTo>
                  <a:pt x="60910" y="0"/>
                </a:lnTo>
                <a:lnTo>
                  <a:pt x="37201" y="4786"/>
                </a:lnTo>
                <a:lnTo>
                  <a:pt x="17840" y="17840"/>
                </a:lnTo>
                <a:lnTo>
                  <a:pt x="4786" y="37201"/>
                </a:lnTo>
                <a:lnTo>
                  <a:pt x="0" y="60910"/>
                </a:lnTo>
                <a:lnTo>
                  <a:pt x="0" y="1764666"/>
                </a:lnTo>
                <a:lnTo>
                  <a:pt x="4786" y="1788375"/>
                </a:lnTo>
                <a:lnTo>
                  <a:pt x="17840" y="1807736"/>
                </a:lnTo>
                <a:lnTo>
                  <a:pt x="37201" y="1820790"/>
                </a:lnTo>
                <a:lnTo>
                  <a:pt x="60910" y="1825577"/>
                </a:lnTo>
                <a:lnTo>
                  <a:pt x="304549" y="1825577"/>
                </a:lnTo>
                <a:lnTo>
                  <a:pt x="328259" y="1820790"/>
                </a:lnTo>
                <a:lnTo>
                  <a:pt x="347620" y="1807736"/>
                </a:lnTo>
                <a:lnTo>
                  <a:pt x="360673" y="1788375"/>
                </a:lnTo>
                <a:lnTo>
                  <a:pt x="365460" y="1764666"/>
                </a:lnTo>
                <a:lnTo>
                  <a:pt x="365460" y="60910"/>
                </a:lnTo>
                <a:lnTo>
                  <a:pt x="360673" y="37201"/>
                </a:lnTo>
                <a:lnTo>
                  <a:pt x="347620" y="17840"/>
                </a:lnTo>
                <a:lnTo>
                  <a:pt x="328259" y="4786"/>
                </a:lnTo>
                <a:lnTo>
                  <a:pt x="30454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E50CDB4-AF32-0407-ED37-BBF0F7100365}"/>
              </a:ext>
            </a:extLst>
          </p:cNvPr>
          <p:cNvSpPr txBox="1"/>
          <p:nvPr/>
        </p:nvSpPr>
        <p:spPr>
          <a:xfrm>
            <a:off x="4668980" y="5290841"/>
            <a:ext cx="243656" cy="827824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696">
              <a:lnSpc>
                <a:spcPts val="1869"/>
              </a:lnSpc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1925102-B345-4A44-E321-270E4CE2C49F}"/>
              </a:ext>
            </a:extLst>
          </p:cNvPr>
          <p:cNvGrpSpPr/>
          <p:nvPr/>
        </p:nvGrpSpPr>
        <p:grpSpPr>
          <a:xfrm>
            <a:off x="1264602" y="4745898"/>
            <a:ext cx="3242735" cy="1923549"/>
            <a:chOff x="1395983" y="4940807"/>
            <a:chExt cx="3243580" cy="192405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25FD53D0-63CA-0554-1CF6-3B26B5AD5EF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7255" y="4940807"/>
              <a:ext cx="2971799" cy="1813560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521D288-2B21-01A3-A347-65DCD05740FC}"/>
                </a:ext>
              </a:extLst>
            </p:cNvPr>
            <p:cNvSpPr/>
            <p:nvPr/>
          </p:nvSpPr>
          <p:spPr>
            <a:xfrm>
              <a:off x="1699406" y="4972087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2777515" y="0"/>
                  </a:moveTo>
                  <a:lnTo>
                    <a:pt x="77809" y="0"/>
                  </a:lnTo>
                  <a:lnTo>
                    <a:pt x="47522" y="6114"/>
                  </a:lnTo>
                  <a:lnTo>
                    <a:pt x="22789" y="22789"/>
                  </a:lnTo>
                  <a:lnTo>
                    <a:pt x="6114" y="47522"/>
                  </a:lnTo>
                  <a:lnTo>
                    <a:pt x="0" y="77809"/>
                  </a:lnTo>
                  <a:lnTo>
                    <a:pt x="0" y="1617761"/>
                  </a:lnTo>
                  <a:lnTo>
                    <a:pt x="6114" y="1648048"/>
                  </a:lnTo>
                  <a:lnTo>
                    <a:pt x="22789" y="1672780"/>
                  </a:lnTo>
                  <a:lnTo>
                    <a:pt x="47522" y="1689455"/>
                  </a:lnTo>
                  <a:lnTo>
                    <a:pt x="77809" y="1695570"/>
                  </a:lnTo>
                  <a:lnTo>
                    <a:pt x="2777515" y="1695570"/>
                  </a:lnTo>
                  <a:lnTo>
                    <a:pt x="2807802" y="1689455"/>
                  </a:lnTo>
                  <a:lnTo>
                    <a:pt x="2832534" y="1672780"/>
                  </a:lnTo>
                  <a:lnTo>
                    <a:pt x="2849209" y="1648048"/>
                  </a:lnTo>
                  <a:lnTo>
                    <a:pt x="2855324" y="1617761"/>
                  </a:lnTo>
                  <a:lnTo>
                    <a:pt x="2855324" y="77809"/>
                  </a:lnTo>
                  <a:lnTo>
                    <a:pt x="2849209" y="47522"/>
                  </a:lnTo>
                  <a:lnTo>
                    <a:pt x="2832534" y="22789"/>
                  </a:lnTo>
                  <a:lnTo>
                    <a:pt x="2807802" y="6114"/>
                  </a:lnTo>
                  <a:lnTo>
                    <a:pt x="277751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0EB90E1-12F6-C5EB-5DDD-E0DD582523BB}"/>
                </a:ext>
              </a:extLst>
            </p:cNvPr>
            <p:cNvSpPr/>
            <p:nvPr/>
          </p:nvSpPr>
          <p:spPr>
            <a:xfrm>
              <a:off x="1699406" y="4972087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0" y="77809"/>
                  </a:moveTo>
                  <a:lnTo>
                    <a:pt x="6114" y="47522"/>
                  </a:lnTo>
                  <a:lnTo>
                    <a:pt x="22789" y="22789"/>
                  </a:lnTo>
                  <a:lnTo>
                    <a:pt x="47522" y="6114"/>
                  </a:lnTo>
                  <a:lnTo>
                    <a:pt x="77809" y="0"/>
                  </a:lnTo>
                  <a:lnTo>
                    <a:pt x="2777515" y="0"/>
                  </a:lnTo>
                  <a:lnTo>
                    <a:pt x="2807802" y="6114"/>
                  </a:lnTo>
                  <a:lnTo>
                    <a:pt x="2832534" y="22789"/>
                  </a:lnTo>
                  <a:lnTo>
                    <a:pt x="2849210" y="47522"/>
                  </a:lnTo>
                  <a:lnTo>
                    <a:pt x="2855325" y="77809"/>
                  </a:lnTo>
                  <a:lnTo>
                    <a:pt x="2855325" y="1617762"/>
                  </a:lnTo>
                  <a:lnTo>
                    <a:pt x="2849210" y="1648048"/>
                  </a:lnTo>
                  <a:lnTo>
                    <a:pt x="2832534" y="1672781"/>
                  </a:lnTo>
                  <a:lnTo>
                    <a:pt x="2807802" y="1689456"/>
                  </a:lnTo>
                  <a:lnTo>
                    <a:pt x="2777515" y="1695571"/>
                  </a:lnTo>
                  <a:lnTo>
                    <a:pt x="77809" y="1695571"/>
                  </a:lnTo>
                  <a:lnTo>
                    <a:pt x="47522" y="1689456"/>
                  </a:lnTo>
                  <a:lnTo>
                    <a:pt x="22789" y="1672781"/>
                  </a:lnTo>
                  <a:lnTo>
                    <a:pt x="6114" y="1648048"/>
                  </a:lnTo>
                  <a:lnTo>
                    <a:pt x="0" y="1617762"/>
                  </a:lnTo>
                  <a:lnTo>
                    <a:pt x="0" y="77809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9D8F9159-A51A-226C-B5C4-AD772DC019D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815" y="4998719"/>
              <a:ext cx="2974848" cy="1813560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F22DD48-C3D7-AD3B-513D-6537A1CDA1E1}"/>
                </a:ext>
              </a:extLst>
            </p:cNvPr>
            <p:cNvSpPr/>
            <p:nvPr/>
          </p:nvSpPr>
          <p:spPr>
            <a:xfrm>
              <a:off x="1608616" y="5031780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2777515" y="0"/>
                  </a:moveTo>
                  <a:lnTo>
                    <a:pt x="77809" y="0"/>
                  </a:lnTo>
                  <a:lnTo>
                    <a:pt x="47522" y="6114"/>
                  </a:lnTo>
                  <a:lnTo>
                    <a:pt x="22789" y="22790"/>
                  </a:lnTo>
                  <a:lnTo>
                    <a:pt x="6114" y="47523"/>
                  </a:lnTo>
                  <a:lnTo>
                    <a:pt x="0" y="77810"/>
                  </a:lnTo>
                  <a:lnTo>
                    <a:pt x="0" y="1617761"/>
                  </a:lnTo>
                  <a:lnTo>
                    <a:pt x="6114" y="1648048"/>
                  </a:lnTo>
                  <a:lnTo>
                    <a:pt x="22789" y="1672781"/>
                  </a:lnTo>
                  <a:lnTo>
                    <a:pt x="47522" y="1689456"/>
                  </a:lnTo>
                  <a:lnTo>
                    <a:pt x="77809" y="1695571"/>
                  </a:lnTo>
                  <a:lnTo>
                    <a:pt x="2777515" y="1695571"/>
                  </a:lnTo>
                  <a:lnTo>
                    <a:pt x="2807802" y="1689456"/>
                  </a:lnTo>
                  <a:lnTo>
                    <a:pt x="2832534" y="1672781"/>
                  </a:lnTo>
                  <a:lnTo>
                    <a:pt x="2849209" y="1648048"/>
                  </a:lnTo>
                  <a:lnTo>
                    <a:pt x="2855324" y="1617761"/>
                  </a:lnTo>
                  <a:lnTo>
                    <a:pt x="2855324" y="77810"/>
                  </a:lnTo>
                  <a:lnTo>
                    <a:pt x="2849209" y="47523"/>
                  </a:lnTo>
                  <a:lnTo>
                    <a:pt x="2832534" y="22790"/>
                  </a:lnTo>
                  <a:lnTo>
                    <a:pt x="2807802" y="6114"/>
                  </a:lnTo>
                  <a:lnTo>
                    <a:pt x="277751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357C229-908E-F80A-6A56-C04B929FE50F}"/>
                </a:ext>
              </a:extLst>
            </p:cNvPr>
            <p:cNvSpPr/>
            <p:nvPr/>
          </p:nvSpPr>
          <p:spPr>
            <a:xfrm>
              <a:off x="1608616" y="5031780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0" y="77809"/>
                  </a:moveTo>
                  <a:lnTo>
                    <a:pt x="6114" y="47522"/>
                  </a:lnTo>
                  <a:lnTo>
                    <a:pt x="22789" y="22789"/>
                  </a:lnTo>
                  <a:lnTo>
                    <a:pt x="47522" y="6114"/>
                  </a:lnTo>
                  <a:lnTo>
                    <a:pt x="77809" y="0"/>
                  </a:lnTo>
                  <a:lnTo>
                    <a:pt x="2777515" y="0"/>
                  </a:lnTo>
                  <a:lnTo>
                    <a:pt x="2807802" y="6114"/>
                  </a:lnTo>
                  <a:lnTo>
                    <a:pt x="2832534" y="22789"/>
                  </a:lnTo>
                  <a:lnTo>
                    <a:pt x="2849210" y="47522"/>
                  </a:lnTo>
                  <a:lnTo>
                    <a:pt x="2855325" y="77809"/>
                  </a:lnTo>
                  <a:lnTo>
                    <a:pt x="2855325" y="1617762"/>
                  </a:lnTo>
                  <a:lnTo>
                    <a:pt x="2849210" y="1648048"/>
                  </a:lnTo>
                  <a:lnTo>
                    <a:pt x="2832534" y="1672781"/>
                  </a:lnTo>
                  <a:lnTo>
                    <a:pt x="2807802" y="1689456"/>
                  </a:lnTo>
                  <a:lnTo>
                    <a:pt x="2777515" y="1695571"/>
                  </a:lnTo>
                  <a:lnTo>
                    <a:pt x="77809" y="1695571"/>
                  </a:lnTo>
                  <a:lnTo>
                    <a:pt x="47522" y="1689456"/>
                  </a:lnTo>
                  <a:lnTo>
                    <a:pt x="22789" y="1672781"/>
                  </a:lnTo>
                  <a:lnTo>
                    <a:pt x="6114" y="1648048"/>
                  </a:lnTo>
                  <a:lnTo>
                    <a:pt x="0" y="1617762"/>
                  </a:lnTo>
                  <a:lnTo>
                    <a:pt x="0" y="77809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5A64CA68-6CDD-E93C-B7B4-7706A426F57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7423" y="5059679"/>
              <a:ext cx="2971800" cy="1798320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A16CE19-9B4F-64EC-0433-0B4A6E01ABD7}"/>
                </a:ext>
              </a:extLst>
            </p:cNvPr>
            <p:cNvSpPr/>
            <p:nvPr/>
          </p:nvSpPr>
          <p:spPr>
            <a:xfrm>
              <a:off x="1517826" y="5091474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2777514" y="0"/>
                  </a:moveTo>
                  <a:lnTo>
                    <a:pt x="77809" y="0"/>
                  </a:lnTo>
                  <a:lnTo>
                    <a:pt x="47522" y="6114"/>
                  </a:lnTo>
                  <a:lnTo>
                    <a:pt x="22789" y="22789"/>
                  </a:lnTo>
                  <a:lnTo>
                    <a:pt x="6114" y="47522"/>
                  </a:lnTo>
                  <a:lnTo>
                    <a:pt x="0" y="77809"/>
                  </a:lnTo>
                  <a:lnTo>
                    <a:pt x="0" y="1617761"/>
                  </a:lnTo>
                  <a:lnTo>
                    <a:pt x="6114" y="1648047"/>
                  </a:lnTo>
                  <a:lnTo>
                    <a:pt x="22789" y="1672780"/>
                  </a:lnTo>
                  <a:lnTo>
                    <a:pt x="47522" y="1689455"/>
                  </a:lnTo>
                  <a:lnTo>
                    <a:pt x="77809" y="1695570"/>
                  </a:lnTo>
                  <a:lnTo>
                    <a:pt x="2777514" y="1695570"/>
                  </a:lnTo>
                  <a:lnTo>
                    <a:pt x="2807801" y="1689455"/>
                  </a:lnTo>
                  <a:lnTo>
                    <a:pt x="2832534" y="1672780"/>
                  </a:lnTo>
                  <a:lnTo>
                    <a:pt x="2849209" y="1648047"/>
                  </a:lnTo>
                  <a:lnTo>
                    <a:pt x="2855324" y="1617761"/>
                  </a:lnTo>
                  <a:lnTo>
                    <a:pt x="2855324" y="77809"/>
                  </a:lnTo>
                  <a:lnTo>
                    <a:pt x="2849209" y="47522"/>
                  </a:lnTo>
                  <a:lnTo>
                    <a:pt x="2832534" y="22789"/>
                  </a:lnTo>
                  <a:lnTo>
                    <a:pt x="2807801" y="6114"/>
                  </a:lnTo>
                  <a:lnTo>
                    <a:pt x="277751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872B841A-4A2C-068A-D091-D39004D2B0E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5983" y="5085124"/>
              <a:ext cx="2983517" cy="1772875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D818DDA-F2D1-3C8C-EB4C-9C6D4C7C87A6}"/>
                </a:ext>
              </a:extLst>
            </p:cNvPr>
            <p:cNvSpPr/>
            <p:nvPr/>
          </p:nvSpPr>
          <p:spPr>
            <a:xfrm>
              <a:off x="1427035" y="5162429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2777515" y="0"/>
                  </a:moveTo>
                  <a:lnTo>
                    <a:pt x="77810" y="0"/>
                  </a:lnTo>
                  <a:lnTo>
                    <a:pt x="47523" y="6114"/>
                  </a:lnTo>
                  <a:lnTo>
                    <a:pt x="22790" y="22789"/>
                  </a:lnTo>
                  <a:lnTo>
                    <a:pt x="6114" y="47522"/>
                  </a:lnTo>
                  <a:lnTo>
                    <a:pt x="0" y="77809"/>
                  </a:lnTo>
                  <a:lnTo>
                    <a:pt x="0" y="1617761"/>
                  </a:lnTo>
                  <a:lnTo>
                    <a:pt x="6114" y="1648048"/>
                  </a:lnTo>
                  <a:lnTo>
                    <a:pt x="22790" y="1672780"/>
                  </a:lnTo>
                  <a:lnTo>
                    <a:pt x="47523" y="1689455"/>
                  </a:lnTo>
                  <a:lnTo>
                    <a:pt x="77810" y="1695570"/>
                  </a:lnTo>
                  <a:lnTo>
                    <a:pt x="2777515" y="1695570"/>
                  </a:lnTo>
                  <a:lnTo>
                    <a:pt x="2807802" y="1689455"/>
                  </a:lnTo>
                  <a:lnTo>
                    <a:pt x="2832535" y="1672780"/>
                  </a:lnTo>
                  <a:lnTo>
                    <a:pt x="2849210" y="1648048"/>
                  </a:lnTo>
                  <a:lnTo>
                    <a:pt x="2855325" y="1617761"/>
                  </a:lnTo>
                  <a:lnTo>
                    <a:pt x="2855325" y="77809"/>
                  </a:lnTo>
                  <a:lnTo>
                    <a:pt x="2849210" y="47522"/>
                  </a:lnTo>
                  <a:lnTo>
                    <a:pt x="2832535" y="22789"/>
                  </a:lnTo>
                  <a:lnTo>
                    <a:pt x="2807802" y="6114"/>
                  </a:lnTo>
                  <a:lnTo>
                    <a:pt x="277751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A9F99F2-E699-70FF-15BD-D6494CF9DEDB}"/>
                </a:ext>
              </a:extLst>
            </p:cNvPr>
            <p:cNvSpPr/>
            <p:nvPr/>
          </p:nvSpPr>
          <p:spPr>
            <a:xfrm>
              <a:off x="1427035" y="5162429"/>
              <a:ext cx="2855595" cy="1696085"/>
            </a:xfrm>
            <a:custGeom>
              <a:avLst/>
              <a:gdLst/>
              <a:ahLst/>
              <a:cxnLst/>
              <a:rect l="l" t="t" r="r" b="b"/>
              <a:pathLst>
                <a:path w="2855595" h="1696084">
                  <a:moveTo>
                    <a:pt x="0" y="77809"/>
                  </a:moveTo>
                  <a:lnTo>
                    <a:pt x="6114" y="47522"/>
                  </a:lnTo>
                  <a:lnTo>
                    <a:pt x="22789" y="22789"/>
                  </a:lnTo>
                  <a:lnTo>
                    <a:pt x="47522" y="6114"/>
                  </a:lnTo>
                  <a:lnTo>
                    <a:pt x="77809" y="0"/>
                  </a:lnTo>
                  <a:lnTo>
                    <a:pt x="2777515" y="0"/>
                  </a:lnTo>
                  <a:lnTo>
                    <a:pt x="2807802" y="6114"/>
                  </a:lnTo>
                  <a:lnTo>
                    <a:pt x="2832534" y="22789"/>
                  </a:lnTo>
                  <a:lnTo>
                    <a:pt x="2849210" y="47522"/>
                  </a:lnTo>
                  <a:lnTo>
                    <a:pt x="2855325" y="77809"/>
                  </a:lnTo>
                  <a:lnTo>
                    <a:pt x="2855325" y="1617762"/>
                  </a:lnTo>
                  <a:lnTo>
                    <a:pt x="2849210" y="1648048"/>
                  </a:lnTo>
                  <a:lnTo>
                    <a:pt x="2832534" y="1672781"/>
                  </a:lnTo>
                  <a:lnTo>
                    <a:pt x="2807802" y="1689456"/>
                  </a:lnTo>
                  <a:lnTo>
                    <a:pt x="2777515" y="1695571"/>
                  </a:lnTo>
                  <a:lnTo>
                    <a:pt x="77809" y="1695571"/>
                  </a:lnTo>
                  <a:lnTo>
                    <a:pt x="47522" y="1689456"/>
                  </a:lnTo>
                  <a:lnTo>
                    <a:pt x="22789" y="1672781"/>
                  </a:lnTo>
                  <a:lnTo>
                    <a:pt x="6114" y="1648048"/>
                  </a:lnTo>
                  <a:lnTo>
                    <a:pt x="0" y="1617762"/>
                  </a:lnTo>
                  <a:lnTo>
                    <a:pt x="0" y="77809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017AD695-1F8A-E203-71C9-84B05D5F019E}"/>
                </a:ext>
              </a:extLst>
            </p:cNvPr>
            <p:cNvSpPr/>
            <p:nvPr/>
          </p:nvSpPr>
          <p:spPr>
            <a:xfrm>
              <a:off x="1503823" y="5211290"/>
              <a:ext cx="2705735" cy="1595120"/>
            </a:xfrm>
            <a:custGeom>
              <a:avLst/>
              <a:gdLst/>
              <a:ahLst/>
              <a:cxnLst/>
              <a:rect l="l" t="t" r="r" b="b"/>
              <a:pathLst>
                <a:path w="2705735" h="1595120">
                  <a:moveTo>
                    <a:pt x="2705470" y="0"/>
                  </a:moveTo>
                  <a:lnTo>
                    <a:pt x="0" y="0"/>
                  </a:lnTo>
                  <a:lnTo>
                    <a:pt x="0" y="1594750"/>
                  </a:lnTo>
                  <a:lnTo>
                    <a:pt x="2705470" y="1594750"/>
                  </a:lnTo>
                  <a:lnTo>
                    <a:pt x="27054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68C6DDEA-F709-7B4C-F152-E8DA7A1E063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03823" y="5211289"/>
              <a:ext cx="2705470" cy="1512008"/>
            </a:xfrm>
            <a:prstGeom prst="rect">
              <a:avLst/>
            </a:prstGeom>
          </p:spPr>
        </p:pic>
      </p:grpSp>
      <p:sp>
        <p:nvSpPr>
          <p:cNvPr id="24" name="object 24">
            <a:extLst>
              <a:ext uri="{FF2B5EF4-FFF2-40B4-BE49-F238E27FC236}">
                <a16:creationId xmlns:a16="http://schemas.microsoft.com/office/drawing/2014/main" id="{0C76F99D-B603-39A6-CEC1-BAA30E161047}"/>
              </a:ext>
            </a:extLst>
          </p:cNvPr>
          <p:cNvSpPr txBox="1"/>
          <p:nvPr/>
        </p:nvSpPr>
        <p:spPr>
          <a:xfrm>
            <a:off x="1688340" y="5344244"/>
            <a:ext cx="648801" cy="30769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76180" rIns="0" bIns="0" rtlCol="0">
            <a:spAutoFit/>
          </a:bodyPr>
          <a:lstStyle/>
          <a:p>
            <a:pPr>
              <a:spcBef>
                <a:spcPts val="600"/>
              </a:spcBef>
            </a:pPr>
            <a:endParaRPr sz="750">
              <a:latin typeface="Times New Roman"/>
              <a:cs typeface="Times New Roman"/>
            </a:endParaRPr>
          </a:p>
          <a:p>
            <a:pPr marL="210122"/>
            <a:r>
              <a:rPr sz="750" b="1" spc="140" dirty="0">
                <a:solidFill>
                  <a:srgbClr val="FFFFFF"/>
                </a:solidFill>
                <a:latin typeface="Calibri"/>
                <a:cs typeface="Calibri"/>
              </a:rPr>
              <a:t>CPU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0DFF363-7889-8A63-49E0-0B43D0899A0D}"/>
              </a:ext>
            </a:extLst>
          </p:cNvPr>
          <p:cNvSpPr txBox="1"/>
          <p:nvPr/>
        </p:nvSpPr>
        <p:spPr>
          <a:xfrm>
            <a:off x="1426455" y="6015724"/>
            <a:ext cx="262187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39993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BBD4210-8943-25C0-034C-392525F5E459}"/>
              </a:ext>
            </a:extLst>
          </p:cNvPr>
          <p:cNvSpPr txBox="1"/>
          <p:nvPr/>
        </p:nvSpPr>
        <p:spPr>
          <a:xfrm>
            <a:off x="1879558" y="6015724"/>
            <a:ext cx="266631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42532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8A4F5D4-C0A3-96EB-6EA6-BA7468D51C9C}"/>
              </a:ext>
            </a:extLst>
          </p:cNvPr>
          <p:cNvSpPr txBox="1"/>
          <p:nvPr/>
        </p:nvSpPr>
        <p:spPr>
          <a:xfrm>
            <a:off x="2336818" y="6015724"/>
            <a:ext cx="262187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40628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8" name="object 28">
            <a:extLst>
              <a:ext uri="{FF2B5EF4-FFF2-40B4-BE49-F238E27FC236}">
                <a16:creationId xmlns:a16="http://schemas.microsoft.com/office/drawing/2014/main" id="{003538A0-05D0-A8CB-5FE4-48C6D0DE6C2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72414" y="6309303"/>
            <a:ext cx="187061" cy="243607"/>
          </a:xfrm>
          <a:prstGeom prst="rect">
            <a:avLst/>
          </a:prstGeom>
        </p:spPr>
      </p:pic>
      <p:sp>
        <p:nvSpPr>
          <p:cNvPr id="29" name="object 29">
            <a:extLst>
              <a:ext uri="{FF2B5EF4-FFF2-40B4-BE49-F238E27FC236}">
                <a16:creationId xmlns:a16="http://schemas.microsoft.com/office/drawing/2014/main" id="{C68D9F6E-DE36-4FA8-0FE4-00ECC5521F46}"/>
              </a:ext>
            </a:extLst>
          </p:cNvPr>
          <p:cNvSpPr txBox="1"/>
          <p:nvPr/>
        </p:nvSpPr>
        <p:spPr>
          <a:xfrm>
            <a:off x="1388798" y="6341575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F8B7237-D7CF-B148-C5C6-4E62E01A7AB1}"/>
              </a:ext>
            </a:extLst>
          </p:cNvPr>
          <p:cNvSpPr/>
          <p:nvPr/>
        </p:nvSpPr>
        <p:spPr>
          <a:xfrm>
            <a:off x="1380728" y="5381722"/>
            <a:ext cx="183467" cy="274883"/>
          </a:xfrm>
          <a:custGeom>
            <a:avLst/>
            <a:gdLst/>
            <a:ahLst/>
            <a:cxnLst/>
            <a:rect l="l" t="t" r="r" b="b"/>
            <a:pathLst>
              <a:path w="183514" h="274954">
                <a:moveTo>
                  <a:pt x="152459" y="0"/>
                </a:moveTo>
                <a:lnTo>
                  <a:pt x="30492" y="0"/>
                </a:lnTo>
                <a:lnTo>
                  <a:pt x="18623" y="1800"/>
                </a:lnTo>
                <a:lnTo>
                  <a:pt x="8931" y="6709"/>
                </a:lnTo>
                <a:lnTo>
                  <a:pt x="2396" y="13992"/>
                </a:lnTo>
                <a:lnTo>
                  <a:pt x="0" y="22909"/>
                </a:lnTo>
                <a:lnTo>
                  <a:pt x="0" y="252000"/>
                </a:lnTo>
                <a:lnTo>
                  <a:pt x="2396" y="260918"/>
                </a:lnTo>
                <a:lnTo>
                  <a:pt x="8931" y="268200"/>
                </a:lnTo>
                <a:lnTo>
                  <a:pt x="18623" y="273110"/>
                </a:lnTo>
                <a:lnTo>
                  <a:pt x="30492" y="274910"/>
                </a:lnTo>
                <a:lnTo>
                  <a:pt x="152459" y="274910"/>
                </a:lnTo>
                <a:lnTo>
                  <a:pt x="164328" y="273110"/>
                </a:lnTo>
                <a:lnTo>
                  <a:pt x="174021" y="268200"/>
                </a:lnTo>
                <a:lnTo>
                  <a:pt x="180556" y="260918"/>
                </a:lnTo>
                <a:lnTo>
                  <a:pt x="182952" y="252000"/>
                </a:lnTo>
                <a:lnTo>
                  <a:pt x="182952" y="22909"/>
                </a:lnTo>
                <a:lnTo>
                  <a:pt x="180556" y="13992"/>
                </a:lnTo>
                <a:lnTo>
                  <a:pt x="174021" y="6709"/>
                </a:lnTo>
                <a:lnTo>
                  <a:pt x="164328" y="1800"/>
                </a:lnTo>
                <a:lnTo>
                  <a:pt x="152459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8F7CA1E-154B-5187-86A4-BE1EA7071209}"/>
              </a:ext>
            </a:extLst>
          </p:cNvPr>
          <p:cNvSpPr txBox="1"/>
          <p:nvPr/>
        </p:nvSpPr>
        <p:spPr>
          <a:xfrm>
            <a:off x="1395374" y="5406177"/>
            <a:ext cx="230832" cy="226001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FE26B49-B102-815E-7A6F-B370C4A1ED89}"/>
              </a:ext>
            </a:extLst>
          </p:cNvPr>
          <p:cNvSpPr/>
          <p:nvPr/>
        </p:nvSpPr>
        <p:spPr>
          <a:xfrm>
            <a:off x="2469840" y="5381722"/>
            <a:ext cx="183467" cy="274883"/>
          </a:xfrm>
          <a:custGeom>
            <a:avLst/>
            <a:gdLst/>
            <a:ahLst/>
            <a:cxnLst/>
            <a:rect l="l" t="t" r="r" b="b"/>
            <a:pathLst>
              <a:path w="183514" h="274954">
                <a:moveTo>
                  <a:pt x="152458" y="0"/>
                </a:moveTo>
                <a:lnTo>
                  <a:pt x="30492" y="0"/>
                </a:lnTo>
                <a:lnTo>
                  <a:pt x="18623" y="1800"/>
                </a:lnTo>
                <a:lnTo>
                  <a:pt x="8931" y="6709"/>
                </a:lnTo>
                <a:lnTo>
                  <a:pt x="2396" y="13992"/>
                </a:lnTo>
                <a:lnTo>
                  <a:pt x="0" y="22909"/>
                </a:lnTo>
                <a:lnTo>
                  <a:pt x="0" y="252000"/>
                </a:lnTo>
                <a:lnTo>
                  <a:pt x="2396" y="260918"/>
                </a:lnTo>
                <a:lnTo>
                  <a:pt x="8931" y="268200"/>
                </a:lnTo>
                <a:lnTo>
                  <a:pt x="18623" y="273110"/>
                </a:lnTo>
                <a:lnTo>
                  <a:pt x="30492" y="274910"/>
                </a:lnTo>
                <a:lnTo>
                  <a:pt x="152458" y="274910"/>
                </a:lnTo>
                <a:lnTo>
                  <a:pt x="164327" y="273110"/>
                </a:lnTo>
                <a:lnTo>
                  <a:pt x="174020" y="268200"/>
                </a:lnTo>
                <a:lnTo>
                  <a:pt x="180554" y="260918"/>
                </a:lnTo>
                <a:lnTo>
                  <a:pt x="182951" y="252000"/>
                </a:lnTo>
                <a:lnTo>
                  <a:pt x="182951" y="22909"/>
                </a:lnTo>
                <a:lnTo>
                  <a:pt x="180554" y="13992"/>
                </a:lnTo>
                <a:lnTo>
                  <a:pt x="174020" y="6709"/>
                </a:lnTo>
                <a:lnTo>
                  <a:pt x="164327" y="1800"/>
                </a:lnTo>
                <a:lnTo>
                  <a:pt x="152458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200CE19-0271-64E2-C9A7-0394999ACF17}"/>
              </a:ext>
            </a:extLst>
          </p:cNvPr>
          <p:cNvSpPr txBox="1"/>
          <p:nvPr/>
        </p:nvSpPr>
        <p:spPr>
          <a:xfrm>
            <a:off x="2485815" y="5406177"/>
            <a:ext cx="230832" cy="226001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34" name="object 34">
            <a:extLst>
              <a:ext uri="{FF2B5EF4-FFF2-40B4-BE49-F238E27FC236}">
                <a16:creationId xmlns:a16="http://schemas.microsoft.com/office/drawing/2014/main" id="{212286E8-8535-4698-BC2F-2F7F7FBE5AE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21128" y="6371767"/>
            <a:ext cx="182903" cy="238879"/>
          </a:xfrm>
          <a:prstGeom prst="rect">
            <a:avLst/>
          </a:prstGeom>
        </p:spPr>
      </p:pic>
      <p:sp>
        <p:nvSpPr>
          <p:cNvPr id="35" name="object 35">
            <a:extLst>
              <a:ext uri="{FF2B5EF4-FFF2-40B4-BE49-F238E27FC236}">
                <a16:creationId xmlns:a16="http://schemas.microsoft.com/office/drawing/2014/main" id="{36D2222C-F9A5-7F91-9EBF-1BF6F0E790F1}"/>
              </a:ext>
            </a:extLst>
          </p:cNvPr>
          <p:cNvSpPr txBox="1"/>
          <p:nvPr/>
        </p:nvSpPr>
        <p:spPr>
          <a:xfrm>
            <a:off x="1936981" y="6404039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36" name="object 36">
            <a:extLst>
              <a:ext uri="{FF2B5EF4-FFF2-40B4-BE49-F238E27FC236}">
                <a16:creationId xmlns:a16="http://schemas.microsoft.com/office/drawing/2014/main" id="{5D5B66F0-2509-AB1F-CAEF-0628002375C4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65683" y="6315549"/>
            <a:ext cx="182903" cy="243607"/>
          </a:xfrm>
          <a:prstGeom prst="rect">
            <a:avLst/>
          </a:prstGeom>
        </p:spPr>
      </p:pic>
      <p:sp>
        <p:nvSpPr>
          <p:cNvPr id="37" name="object 37">
            <a:extLst>
              <a:ext uri="{FF2B5EF4-FFF2-40B4-BE49-F238E27FC236}">
                <a16:creationId xmlns:a16="http://schemas.microsoft.com/office/drawing/2014/main" id="{DEFC10A1-0411-CCFE-659E-495C3A85B991}"/>
              </a:ext>
            </a:extLst>
          </p:cNvPr>
          <p:cNvSpPr txBox="1"/>
          <p:nvPr/>
        </p:nvSpPr>
        <p:spPr>
          <a:xfrm>
            <a:off x="2481200" y="6347821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43F7DD44-2258-DF0B-79D0-B87F371EDA63}"/>
              </a:ext>
            </a:extLst>
          </p:cNvPr>
          <p:cNvSpPr txBox="1"/>
          <p:nvPr/>
        </p:nvSpPr>
        <p:spPr>
          <a:xfrm>
            <a:off x="3126632" y="5344244"/>
            <a:ext cx="644357" cy="30769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76180" rIns="0" bIns="0" rtlCol="0">
            <a:spAutoFit/>
          </a:bodyPr>
          <a:lstStyle/>
          <a:p>
            <a:pPr>
              <a:spcBef>
                <a:spcPts val="600"/>
              </a:spcBef>
            </a:pPr>
            <a:endParaRPr sz="750">
              <a:latin typeface="Times New Roman"/>
              <a:cs typeface="Times New Roman"/>
            </a:endParaRPr>
          </a:p>
          <a:p>
            <a:pPr marL="207583"/>
            <a:r>
              <a:rPr sz="750" b="1" spc="140" dirty="0">
                <a:solidFill>
                  <a:srgbClr val="FFFFFF"/>
                </a:solidFill>
                <a:latin typeface="Calibri"/>
                <a:cs typeface="Calibri"/>
              </a:rPr>
              <a:t>CPU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7DB1AC6-BB53-7EA7-B457-D1D187BA4B60}"/>
              </a:ext>
            </a:extLst>
          </p:cNvPr>
          <p:cNvSpPr txBox="1"/>
          <p:nvPr/>
        </p:nvSpPr>
        <p:spPr>
          <a:xfrm>
            <a:off x="2860588" y="6015724"/>
            <a:ext cx="266631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41897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49D1447-D249-DBA9-6738-3F21695316AB}"/>
              </a:ext>
            </a:extLst>
          </p:cNvPr>
          <p:cNvSpPr txBox="1"/>
          <p:nvPr/>
        </p:nvSpPr>
        <p:spPr>
          <a:xfrm>
            <a:off x="3317848" y="6015724"/>
            <a:ext cx="262187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39993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FD07053A-F8FA-C648-5FBF-88FA5ADC9B32}"/>
              </a:ext>
            </a:extLst>
          </p:cNvPr>
          <p:cNvSpPr txBox="1"/>
          <p:nvPr/>
        </p:nvSpPr>
        <p:spPr>
          <a:xfrm>
            <a:off x="3770951" y="6015724"/>
            <a:ext cx="266631" cy="135257"/>
          </a:xfrm>
          <a:prstGeom prst="rect">
            <a:avLst/>
          </a:prstGeom>
          <a:solidFill>
            <a:srgbClr val="70AD47"/>
          </a:solidFill>
        </p:spPr>
        <p:txBody>
          <a:bodyPr vert="horz" wrap="square" lIns="0" tIns="42533" rIns="0" bIns="0" rtlCol="0">
            <a:spAutoFit/>
          </a:bodyPr>
          <a:lstStyle/>
          <a:p>
            <a:pPr marL="41897">
              <a:spcBef>
                <a:spcPts val="334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GPU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2" name="object 42">
            <a:extLst>
              <a:ext uri="{FF2B5EF4-FFF2-40B4-BE49-F238E27FC236}">
                <a16:creationId xmlns:a16="http://schemas.microsoft.com/office/drawing/2014/main" id="{87A7EFF8-E476-C693-6BDF-04F86AAFF29F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06549" y="6309303"/>
            <a:ext cx="187060" cy="243607"/>
          </a:xfrm>
          <a:prstGeom prst="rect">
            <a:avLst/>
          </a:prstGeom>
        </p:spPr>
      </p:pic>
      <p:sp>
        <p:nvSpPr>
          <p:cNvPr id="43" name="object 43">
            <a:extLst>
              <a:ext uri="{FF2B5EF4-FFF2-40B4-BE49-F238E27FC236}">
                <a16:creationId xmlns:a16="http://schemas.microsoft.com/office/drawing/2014/main" id="{FBCB85A2-31DE-0F48-3D0E-AC380B993EBD}"/>
              </a:ext>
            </a:extLst>
          </p:cNvPr>
          <p:cNvSpPr txBox="1"/>
          <p:nvPr/>
        </p:nvSpPr>
        <p:spPr>
          <a:xfrm>
            <a:off x="2824428" y="6341575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288E519-D30A-A4B2-289B-8EFC326B07EC}"/>
              </a:ext>
            </a:extLst>
          </p:cNvPr>
          <p:cNvSpPr/>
          <p:nvPr/>
        </p:nvSpPr>
        <p:spPr>
          <a:xfrm>
            <a:off x="2814863" y="5381722"/>
            <a:ext cx="183467" cy="274883"/>
          </a:xfrm>
          <a:custGeom>
            <a:avLst/>
            <a:gdLst/>
            <a:ahLst/>
            <a:cxnLst/>
            <a:rect l="l" t="t" r="r" b="b"/>
            <a:pathLst>
              <a:path w="183514" h="274954">
                <a:moveTo>
                  <a:pt x="152458" y="0"/>
                </a:moveTo>
                <a:lnTo>
                  <a:pt x="30492" y="0"/>
                </a:lnTo>
                <a:lnTo>
                  <a:pt x="18623" y="1800"/>
                </a:lnTo>
                <a:lnTo>
                  <a:pt x="8930" y="6709"/>
                </a:lnTo>
                <a:lnTo>
                  <a:pt x="2396" y="13992"/>
                </a:lnTo>
                <a:lnTo>
                  <a:pt x="0" y="22909"/>
                </a:lnTo>
                <a:lnTo>
                  <a:pt x="0" y="252000"/>
                </a:lnTo>
                <a:lnTo>
                  <a:pt x="2396" y="260918"/>
                </a:lnTo>
                <a:lnTo>
                  <a:pt x="8930" y="268200"/>
                </a:lnTo>
                <a:lnTo>
                  <a:pt x="18623" y="273110"/>
                </a:lnTo>
                <a:lnTo>
                  <a:pt x="30492" y="274910"/>
                </a:lnTo>
                <a:lnTo>
                  <a:pt x="152458" y="274910"/>
                </a:lnTo>
                <a:lnTo>
                  <a:pt x="164327" y="273110"/>
                </a:lnTo>
                <a:lnTo>
                  <a:pt x="174020" y="268200"/>
                </a:lnTo>
                <a:lnTo>
                  <a:pt x="180554" y="260918"/>
                </a:lnTo>
                <a:lnTo>
                  <a:pt x="182951" y="252000"/>
                </a:lnTo>
                <a:lnTo>
                  <a:pt x="182951" y="22909"/>
                </a:lnTo>
                <a:lnTo>
                  <a:pt x="180554" y="13992"/>
                </a:lnTo>
                <a:lnTo>
                  <a:pt x="174020" y="6709"/>
                </a:lnTo>
                <a:lnTo>
                  <a:pt x="164327" y="1800"/>
                </a:lnTo>
                <a:lnTo>
                  <a:pt x="152458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10DC39D-1D70-89E6-B078-E88A5643FA64}"/>
              </a:ext>
            </a:extLst>
          </p:cNvPr>
          <p:cNvSpPr txBox="1"/>
          <p:nvPr/>
        </p:nvSpPr>
        <p:spPr>
          <a:xfrm>
            <a:off x="2831004" y="5406177"/>
            <a:ext cx="230832" cy="226001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5B6F899D-D597-A0AB-ABAF-A1F09F1D3735}"/>
              </a:ext>
            </a:extLst>
          </p:cNvPr>
          <p:cNvSpPr/>
          <p:nvPr/>
        </p:nvSpPr>
        <p:spPr>
          <a:xfrm>
            <a:off x="3908129" y="5381722"/>
            <a:ext cx="169501" cy="274883"/>
          </a:xfrm>
          <a:custGeom>
            <a:avLst/>
            <a:gdLst/>
            <a:ahLst/>
            <a:cxnLst/>
            <a:rect l="l" t="t" r="r" b="b"/>
            <a:pathLst>
              <a:path w="169545" h="274954">
                <a:moveTo>
                  <a:pt x="148995" y="0"/>
                </a:moveTo>
                <a:lnTo>
                  <a:pt x="29800" y="0"/>
                </a:lnTo>
                <a:lnTo>
                  <a:pt x="18201" y="1759"/>
                </a:lnTo>
                <a:lnTo>
                  <a:pt x="8728" y="6557"/>
                </a:lnTo>
                <a:lnTo>
                  <a:pt x="2341" y="13674"/>
                </a:lnTo>
                <a:lnTo>
                  <a:pt x="0" y="22388"/>
                </a:lnTo>
                <a:lnTo>
                  <a:pt x="0" y="252521"/>
                </a:lnTo>
                <a:lnTo>
                  <a:pt x="2341" y="261236"/>
                </a:lnTo>
                <a:lnTo>
                  <a:pt x="8728" y="268353"/>
                </a:lnTo>
                <a:lnTo>
                  <a:pt x="18201" y="273151"/>
                </a:lnTo>
                <a:lnTo>
                  <a:pt x="29800" y="274910"/>
                </a:lnTo>
                <a:lnTo>
                  <a:pt x="148995" y="274910"/>
                </a:lnTo>
                <a:lnTo>
                  <a:pt x="160593" y="273151"/>
                </a:lnTo>
                <a:lnTo>
                  <a:pt x="169095" y="268844"/>
                </a:lnTo>
                <a:lnTo>
                  <a:pt x="169095" y="6065"/>
                </a:lnTo>
                <a:lnTo>
                  <a:pt x="160593" y="1759"/>
                </a:lnTo>
                <a:lnTo>
                  <a:pt x="148995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A633F2E-617D-8705-13CF-2214C3B7558C}"/>
              </a:ext>
            </a:extLst>
          </p:cNvPr>
          <p:cNvSpPr txBox="1"/>
          <p:nvPr/>
        </p:nvSpPr>
        <p:spPr>
          <a:xfrm>
            <a:off x="3921445" y="5406177"/>
            <a:ext cx="230832" cy="226001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48" name="object 48">
            <a:extLst>
              <a:ext uri="{FF2B5EF4-FFF2-40B4-BE49-F238E27FC236}">
                <a16:creationId xmlns:a16="http://schemas.microsoft.com/office/drawing/2014/main" id="{DD29835D-8721-F2F2-5400-3F8F99BE7888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55261" y="6371767"/>
            <a:ext cx="187061" cy="238879"/>
          </a:xfrm>
          <a:prstGeom prst="rect">
            <a:avLst/>
          </a:prstGeom>
        </p:spPr>
      </p:pic>
      <p:sp>
        <p:nvSpPr>
          <p:cNvPr id="49" name="object 49">
            <a:extLst>
              <a:ext uri="{FF2B5EF4-FFF2-40B4-BE49-F238E27FC236}">
                <a16:creationId xmlns:a16="http://schemas.microsoft.com/office/drawing/2014/main" id="{EFCA71F4-1188-B8F8-9371-1CF1718DB574}"/>
              </a:ext>
            </a:extLst>
          </p:cNvPr>
          <p:cNvSpPr txBox="1"/>
          <p:nvPr/>
        </p:nvSpPr>
        <p:spPr>
          <a:xfrm>
            <a:off x="3372611" y="6404039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50" name="object 50">
            <a:extLst>
              <a:ext uri="{FF2B5EF4-FFF2-40B4-BE49-F238E27FC236}">
                <a16:creationId xmlns:a16="http://schemas.microsoft.com/office/drawing/2014/main" id="{5CB6D0B5-C731-33AC-051A-EF1E8D148311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99815" y="6315549"/>
            <a:ext cx="177365" cy="243607"/>
          </a:xfrm>
          <a:prstGeom prst="rect">
            <a:avLst/>
          </a:prstGeom>
        </p:spPr>
      </p:pic>
      <p:sp>
        <p:nvSpPr>
          <p:cNvPr id="51" name="object 51">
            <a:extLst>
              <a:ext uri="{FF2B5EF4-FFF2-40B4-BE49-F238E27FC236}">
                <a16:creationId xmlns:a16="http://schemas.microsoft.com/office/drawing/2014/main" id="{25FBAAF7-9851-1CC3-5BC6-61A227995FC0}"/>
              </a:ext>
            </a:extLst>
          </p:cNvPr>
          <p:cNvSpPr txBox="1"/>
          <p:nvPr/>
        </p:nvSpPr>
        <p:spPr>
          <a:xfrm>
            <a:off x="3916829" y="6347821"/>
            <a:ext cx="230832" cy="180928"/>
          </a:xfrm>
          <a:prstGeom prst="rect">
            <a:avLst/>
          </a:prstGeom>
        </p:spPr>
        <p:txBody>
          <a:bodyPr vert="vert270" wrap="square" lIns="0" tIns="12062" rIns="0" bIns="0" rtlCol="0">
            <a:spAutoFit/>
          </a:bodyPr>
          <a:lstStyle/>
          <a:p>
            <a:pPr marL="12696">
              <a:spcBef>
                <a:spcPts val="95"/>
              </a:spcBef>
            </a:pPr>
            <a:r>
              <a:rPr sz="750" b="1" spc="-100" dirty="0">
                <a:solidFill>
                  <a:srgbClr val="FFFFFF"/>
                </a:solidFill>
                <a:latin typeface="Calibri"/>
                <a:cs typeface="Calibri"/>
              </a:rPr>
              <a:t>HBM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2" name="object 52">
            <a:extLst>
              <a:ext uri="{FF2B5EF4-FFF2-40B4-BE49-F238E27FC236}">
                <a16:creationId xmlns:a16="http://schemas.microsoft.com/office/drawing/2014/main" id="{76BDBB45-48CB-FB69-724D-E41A47205798}"/>
              </a:ext>
            </a:extLst>
          </p:cNvPr>
          <p:cNvGrpSpPr/>
          <p:nvPr/>
        </p:nvGrpSpPr>
        <p:grpSpPr>
          <a:xfrm>
            <a:off x="735201" y="1590235"/>
            <a:ext cx="4584776" cy="2607901"/>
            <a:chOff x="866444" y="1784322"/>
            <a:chExt cx="4585970" cy="2608580"/>
          </a:xfrm>
        </p:grpSpPr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69D75961-8782-C9D1-0533-076CC35A7D4A}"/>
                </a:ext>
              </a:extLst>
            </p:cNvPr>
            <p:cNvSpPr/>
            <p:nvPr/>
          </p:nvSpPr>
          <p:spPr>
            <a:xfrm>
              <a:off x="866444" y="2114422"/>
              <a:ext cx="4585970" cy="888365"/>
            </a:xfrm>
            <a:custGeom>
              <a:avLst/>
              <a:gdLst/>
              <a:ahLst/>
              <a:cxnLst/>
              <a:rect l="l" t="t" r="r" b="b"/>
              <a:pathLst>
                <a:path w="4585970" h="888364">
                  <a:moveTo>
                    <a:pt x="4570107" y="70777"/>
                  </a:moveTo>
                  <a:lnTo>
                    <a:pt x="4564545" y="43218"/>
                  </a:lnTo>
                  <a:lnTo>
                    <a:pt x="4549381" y="20726"/>
                  </a:lnTo>
                  <a:lnTo>
                    <a:pt x="4526877" y="5562"/>
                  </a:lnTo>
                  <a:lnTo>
                    <a:pt x="4499330" y="0"/>
                  </a:lnTo>
                  <a:lnTo>
                    <a:pt x="70764" y="0"/>
                  </a:lnTo>
                  <a:lnTo>
                    <a:pt x="43218" y="5562"/>
                  </a:lnTo>
                  <a:lnTo>
                    <a:pt x="20726" y="20726"/>
                  </a:lnTo>
                  <a:lnTo>
                    <a:pt x="5549" y="43218"/>
                  </a:lnTo>
                  <a:lnTo>
                    <a:pt x="0" y="70777"/>
                  </a:lnTo>
                  <a:lnTo>
                    <a:pt x="0" y="353847"/>
                  </a:lnTo>
                  <a:lnTo>
                    <a:pt x="5549" y="381393"/>
                  </a:lnTo>
                  <a:lnTo>
                    <a:pt x="20726" y="403885"/>
                  </a:lnTo>
                  <a:lnTo>
                    <a:pt x="43218" y="419049"/>
                  </a:lnTo>
                  <a:lnTo>
                    <a:pt x="70764" y="424611"/>
                  </a:lnTo>
                  <a:lnTo>
                    <a:pt x="4499330" y="424611"/>
                  </a:lnTo>
                  <a:lnTo>
                    <a:pt x="4526877" y="419049"/>
                  </a:lnTo>
                  <a:lnTo>
                    <a:pt x="4549381" y="403885"/>
                  </a:lnTo>
                  <a:lnTo>
                    <a:pt x="4564545" y="381393"/>
                  </a:lnTo>
                  <a:lnTo>
                    <a:pt x="4570107" y="353847"/>
                  </a:lnTo>
                  <a:lnTo>
                    <a:pt x="4570107" y="70777"/>
                  </a:lnTo>
                  <a:close/>
                </a:path>
                <a:path w="4585970" h="888364">
                  <a:moveTo>
                    <a:pt x="4585716" y="534479"/>
                  </a:moveTo>
                  <a:lnTo>
                    <a:pt x="4580153" y="506933"/>
                  </a:lnTo>
                  <a:lnTo>
                    <a:pt x="4564989" y="484441"/>
                  </a:lnTo>
                  <a:lnTo>
                    <a:pt x="4542485" y="469277"/>
                  </a:lnTo>
                  <a:lnTo>
                    <a:pt x="4514939" y="463715"/>
                  </a:lnTo>
                  <a:lnTo>
                    <a:pt x="86372" y="463715"/>
                  </a:lnTo>
                  <a:lnTo>
                    <a:pt x="58826" y="469277"/>
                  </a:lnTo>
                  <a:lnTo>
                    <a:pt x="36334" y="484441"/>
                  </a:lnTo>
                  <a:lnTo>
                    <a:pt x="21158" y="506933"/>
                  </a:lnTo>
                  <a:lnTo>
                    <a:pt x="15595" y="534479"/>
                  </a:lnTo>
                  <a:lnTo>
                    <a:pt x="15595" y="817549"/>
                  </a:lnTo>
                  <a:lnTo>
                    <a:pt x="21158" y="845096"/>
                  </a:lnTo>
                  <a:lnTo>
                    <a:pt x="36334" y="867600"/>
                  </a:lnTo>
                  <a:lnTo>
                    <a:pt x="58826" y="882764"/>
                  </a:lnTo>
                  <a:lnTo>
                    <a:pt x="86372" y="888326"/>
                  </a:lnTo>
                  <a:lnTo>
                    <a:pt x="4514939" y="888326"/>
                  </a:lnTo>
                  <a:lnTo>
                    <a:pt x="4542485" y="882764"/>
                  </a:lnTo>
                  <a:lnTo>
                    <a:pt x="4564989" y="867600"/>
                  </a:lnTo>
                  <a:lnTo>
                    <a:pt x="4580153" y="845096"/>
                  </a:lnTo>
                  <a:lnTo>
                    <a:pt x="4585716" y="817549"/>
                  </a:lnTo>
                  <a:lnTo>
                    <a:pt x="4585716" y="5344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6D8B4B2-78A5-409F-4E84-CAAB742A59B2}"/>
                </a:ext>
              </a:extLst>
            </p:cNvPr>
            <p:cNvSpPr/>
            <p:nvPr/>
          </p:nvSpPr>
          <p:spPr>
            <a:xfrm>
              <a:off x="2911974" y="1784322"/>
              <a:ext cx="360045" cy="313690"/>
            </a:xfrm>
            <a:custGeom>
              <a:avLst/>
              <a:gdLst/>
              <a:ahLst/>
              <a:cxnLst/>
              <a:rect l="l" t="t" r="r" b="b"/>
              <a:pathLst>
                <a:path w="360045" h="313689">
                  <a:moveTo>
                    <a:pt x="269605" y="0"/>
                  </a:moveTo>
                  <a:lnTo>
                    <a:pt x="89869" y="0"/>
                  </a:lnTo>
                  <a:lnTo>
                    <a:pt x="89869" y="156762"/>
                  </a:lnTo>
                  <a:lnTo>
                    <a:pt x="0" y="156762"/>
                  </a:lnTo>
                  <a:lnTo>
                    <a:pt x="179736" y="313524"/>
                  </a:lnTo>
                  <a:lnTo>
                    <a:pt x="359474" y="156762"/>
                  </a:lnTo>
                  <a:lnTo>
                    <a:pt x="269605" y="156762"/>
                  </a:lnTo>
                  <a:lnTo>
                    <a:pt x="269605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B74B6829-E527-2CA0-CE9F-FED988FB2933}"/>
                </a:ext>
              </a:extLst>
            </p:cNvPr>
            <p:cNvSpPr/>
            <p:nvPr/>
          </p:nvSpPr>
          <p:spPr>
            <a:xfrm>
              <a:off x="882040" y="3041840"/>
              <a:ext cx="4570730" cy="1351280"/>
            </a:xfrm>
            <a:custGeom>
              <a:avLst/>
              <a:gdLst/>
              <a:ahLst/>
              <a:cxnLst/>
              <a:rect l="l" t="t" r="r" b="b"/>
              <a:pathLst>
                <a:path w="4570730" h="1351279">
                  <a:moveTo>
                    <a:pt x="4570120" y="996810"/>
                  </a:moveTo>
                  <a:lnTo>
                    <a:pt x="4564558" y="969264"/>
                  </a:lnTo>
                  <a:lnTo>
                    <a:pt x="4549394" y="946772"/>
                  </a:lnTo>
                  <a:lnTo>
                    <a:pt x="4526889" y="931608"/>
                  </a:lnTo>
                  <a:lnTo>
                    <a:pt x="4499343" y="926045"/>
                  </a:lnTo>
                  <a:lnTo>
                    <a:pt x="70777" y="926045"/>
                  </a:lnTo>
                  <a:lnTo>
                    <a:pt x="43230" y="931608"/>
                  </a:lnTo>
                  <a:lnTo>
                    <a:pt x="20726" y="946772"/>
                  </a:lnTo>
                  <a:lnTo>
                    <a:pt x="5562" y="969264"/>
                  </a:lnTo>
                  <a:lnTo>
                    <a:pt x="0" y="996810"/>
                  </a:lnTo>
                  <a:lnTo>
                    <a:pt x="0" y="1279880"/>
                  </a:lnTo>
                  <a:lnTo>
                    <a:pt x="5562" y="1307426"/>
                  </a:lnTo>
                  <a:lnTo>
                    <a:pt x="20726" y="1329931"/>
                  </a:lnTo>
                  <a:lnTo>
                    <a:pt x="43230" y="1345095"/>
                  </a:lnTo>
                  <a:lnTo>
                    <a:pt x="70777" y="1350657"/>
                  </a:lnTo>
                  <a:lnTo>
                    <a:pt x="4499343" y="1350657"/>
                  </a:lnTo>
                  <a:lnTo>
                    <a:pt x="4526889" y="1345095"/>
                  </a:lnTo>
                  <a:lnTo>
                    <a:pt x="4549394" y="1329931"/>
                  </a:lnTo>
                  <a:lnTo>
                    <a:pt x="4564558" y="1307426"/>
                  </a:lnTo>
                  <a:lnTo>
                    <a:pt x="4570120" y="1279880"/>
                  </a:lnTo>
                  <a:lnTo>
                    <a:pt x="4570120" y="996810"/>
                  </a:lnTo>
                  <a:close/>
                </a:path>
                <a:path w="4570730" h="1351279">
                  <a:moveTo>
                    <a:pt x="4570120" y="533793"/>
                  </a:moveTo>
                  <a:lnTo>
                    <a:pt x="4564558" y="506247"/>
                  </a:lnTo>
                  <a:lnTo>
                    <a:pt x="4549394" y="483755"/>
                  </a:lnTo>
                  <a:lnTo>
                    <a:pt x="4526889" y="468579"/>
                  </a:lnTo>
                  <a:lnTo>
                    <a:pt x="4499343" y="463016"/>
                  </a:lnTo>
                  <a:lnTo>
                    <a:pt x="70777" y="463016"/>
                  </a:lnTo>
                  <a:lnTo>
                    <a:pt x="43230" y="468579"/>
                  </a:lnTo>
                  <a:lnTo>
                    <a:pt x="20739" y="483755"/>
                  </a:lnTo>
                  <a:lnTo>
                    <a:pt x="5562" y="506247"/>
                  </a:lnTo>
                  <a:lnTo>
                    <a:pt x="0" y="533793"/>
                  </a:lnTo>
                  <a:lnTo>
                    <a:pt x="0" y="816864"/>
                  </a:lnTo>
                  <a:lnTo>
                    <a:pt x="5562" y="844410"/>
                  </a:lnTo>
                  <a:lnTo>
                    <a:pt x="20739" y="866902"/>
                  </a:lnTo>
                  <a:lnTo>
                    <a:pt x="43230" y="882078"/>
                  </a:lnTo>
                  <a:lnTo>
                    <a:pt x="70777" y="887628"/>
                  </a:lnTo>
                  <a:lnTo>
                    <a:pt x="4499343" y="887628"/>
                  </a:lnTo>
                  <a:lnTo>
                    <a:pt x="4526889" y="882078"/>
                  </a:lnTo>
                  <a:lnTo>
                    <a:pt x="4549394" y="866902"/>
                  </a:lnTo>
                  <a:lnTo>
                    <a:pt x="4564558" y="844410"/>
                  </a:lnTo>
                  <a:lnTo>
                    <a:pt x="4570120" y="816864"/>
                  </a:lnTo>
                  <a:lnTo>
                    <a:pt x="4570120" y="533793"/>
                  </a:lnTo>
                  <a:close/>
                </a:path>
                <a:path w="4570730" h="1351279">
                  <a:moveTo>
                    <a:pt x="4570120" y="70777"/>
                  </a:moveTo>
                  <a:lnTo>
                    <a:pt x="4564558" y="43230"/>
                  </a:lnTo>
                  <a:lnTo>
                    <a:pt x="4549394" y="20726"/>
                  </a:lnTo>
                  <a:lnTo>
                    <a:pt x="4526889" y="5562"/>
                  </a:lnTo>
                  <a:lnTo>
                    <a:pt x="4499343" y="0"/>
                  </a:lnTo>
                  <a:lnTo>
                    <a:pt x="70777" y="0"/>
                  </a:lnTo>
                  <a:lnTo>
                    <a:pt x="43230" y="5562"/>
                  </a:lnTo>
                  <a:lnTo>
                    <a:pt x="20739" y="20726"/>
                  </a:lnTo>
                  <a:lnTo>
                    <a:pt x="5562" y="43230"/>
                  </a:lnTo>
                  <a:lnTo>
                    <a:pt x="0" y="70777"/>
                  </a:lnTo>
                  <a:lnTo>
                    <a:pt x="0" y="353847"/>
                  </a:lnTo>
                  <a:lnTo>
                    <a:pt x="5562" y="381393"/>
                  </a:lnTo>
                  <a:lnTo>
                    <a:pt x="20739" y="403885"/>
                  </a:lnTo>
                  <a:lnTo>
                    <a:pt x="43230" y="419049"/>
                  </a:lnTo>
                  <a:lnTo>
                    <a:pt x="70777" y="424611"/>
                  </a:lnTo>
                  <a:lnTo>
                    <a:pt x="4499343" y="424611"/>
                  </a:lnTo>
                  <a:lnTo>
                    <a:pt x="4526889" y="419049"/>
                  </a:lnTo>
                  <a:lnTo>
                    <a:pt x="4549394" y="403885"/>
                  </a:lnTo>
                  <a:lnTo>
                    <a:pt x="4564558" y="381393"/>
                  </a:lnTo>
                  <a:lnTo>
                    <a:pt x="4570120" y="353847"/>
                  </a:lnTo>
                  <a:lnTo>
                    <a:pt x="4570120" y="70777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grpSp>
        <p:nvGrpSpPr>
          <p:cNvPr id="56" name="object 56">
            <a:extLst>
              <a:ext uri="{FF2B5EF4-FFF2-40B4-BE49-F238E27FC236}">
                <a16:creationId xmlns:a16="http://schemas.microsoft.com/office/drawing/2014/main" id="{95F35F56-08A1-CE29-ADB9-201457598E05}"/>
              </a:ext>
            </a:extLst>
          </p:cNvPr>
          <p:cNvGrpSpPr/>
          <p:nvPr/>
        </p:nvGrpSpPr>
        <p:grpSpPr>
          <a:xfrm>
            <a:off x="750804" y="4255831"/>
            <a:ext cx="4569540" cy="1900060"/>
            <a:chOff x="882051" y="4450612"/>
            <a:chExt cx="4570730" cy="1900555"/>
          </a:xfrm>
        </p:grpSpPr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C9BFF659-7808-E7B0-802F-DF6F3D529354}"/>
                </a:ext>
              </a:extLst>
            </p:cNvPr>
            <p:cNvSpPr/>
            <p:nvPr/>
          </p:nvSpPr>
          <p:spPr>
            <a:xfrm>
              <a:off x="4269752" y="5795962"/>
              <a:ext cx="502284" cy="554990"/>
            </a:xfrm>
            <a:custGeom>
              <a:avLst/>
              <a:gdLst/>
              <a:ahLst/>
              <a:cxnLst/>
              <a:rect l="l" t="t" r="r" b="b"/>
              <a:pathLst>
                <a:path w="502285" h="554989">
                  <a:moveTo>
                    <a:pt x="493395" y="42862"/>
                  </a:moveTo>
                  <a:lnTo>
                    <a:pt x="464832" y="28575"/>
                  </a:lnTo>
                  <a:lnTo>
                    <a:pt x="407682" y="0"/>
                  </a:lnTo>
                  <a:lnTo>
                    <a:pt x="407682" y="28575"/>
                  </a:lnTo>
                  <a:lnTo>
                    <a:pt x="245986" y="28575"/>
                  </a:lnTo>
                  <a:lnTo>
                    <a:pt x="245986" y="0"/>
                  </a:lnTo>
                  <a:lnTo>
                    <a:pt x="160261" y="42862"/>
                  </a:lnTo>
                  <a:lnTo>
                    <a:pt x="245986" y="85725"/>
                  </a:lnTo>
                  <a:lnTo>
                    <a:pt x="245986" y="57150"/>
                  </a:lnTo>
                  <a:lnTo>
                    <a:pt x="407682" y="57150"/>
                  </a:lnTo>
                  <a:lnTo>
                    <a:pt x="407682" y="85725"/>
                  </a:lnTo>
                  <a:lnTo>
                    <a:pt x="464820" y="57150"/>
                  </a:lnTo>
                  <a:lnTo>
                    <a:pt x="493395" y="42862"/>
                  </a:lnTo>
                  <a:close/>
                </a:path>
                <a:path w="502285" h="554989">
                  <a:moveTo>
                    <a:pt x="496023" y="512102"/>
                  </a:moveTo>
                  <a:lnTo>
                    <a:pt x="467448" y="497814"/>
                  </a:lnTo>
                  <a:lnTo>
                    <a:pt x="410298" y="469239"/>
                  </a:lnTo>
                  <a:lnTo>
                    <a:pt x="410298" y="497814"/>
                  </a:lnTo>
                  <a:lnTo>
                    <a:pt x="85712" y="497814"/>
                  </a:lnTo>
                  <a:lnTo>
                    <a:pt x="85712" y="469239"/>
                  </a:lnTo>
                  <a:lnTo>
                    <a:pt x="0" y="512102"/>
                  </a:lnTo>
                  <a:lnTo>
                    <a:pt x="85725" y="554964"/>
                  </a:lnTo>
                  <a:lnTo>
                    <a:pt x="85712" y="526389"/>
                  </a:lnTo>
                  <a:lnTo>
                    <a:pt x="410298" y="526389"/>
                  </a:lnTo>
                  <a:lnTo>
                    <a:pt x="410298" y="554964"/>
                  </a:lnTo>
                  <a:lnTo>
                    <a:pt x="467448" y="526389"/>
                  </a:lnTo>
                  <a:lnTo>
                    <a:pt x="496023" y="512102"/>
                  </a:lnTo>
                  <a:close/>
                </a:path>
                <a:path w="502285" h="554989">
                  <a:moveTo>
                    <a:pt x="501662" y="271741"/>
                  </a:moveTo>
                  <a:lnTo>
                    <a:pt x="473087" y="257454"/>
                  </a:lnTo>
                  <a:lnTo>
                    <a:pt x="415937" y="228879"/>
                  </a:lnTo>
                  <a:lnTo>
                    <a:pt x="415937" y="257454"/>
                  </a:lnTo>
                  <a:lnTo>
                    <a:pt x="184111" y="257454"/>
                  </a:lnTo>
                  <a:lnTo>
                    <a:pt x="184111" y="228879"/>
                  </a:lnTo>
                  <a:lnTo>
                    <a:pt x="98399" y="271741"/>
                  </a:lnTo>
                  <a:lnTo>
                    <a:pt x="184111" y="314604"/>
                  </a:lnTo>
                  <a:lnTo>
                    <a:pt x="184111" y="286029"/>
                  </a:lnTo>
                  <a:lnTo>
                    <a:pt x="415937" y="286029"/>
                  </a:lnTo>
                  <a:lnTo>
                    <a:pt x="415937" y="314604"/>
                  </a:lnTo>
                  <a:lnTo>
                    <a:pt x="473087" y="286029"/>
                  </a:lnTo>
                  <a:lnTo>
                    <a:pt x="501662" y="27174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035438C2-F030-5483-A8C8-7C3C7C4E5BB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0171" y="5581323"/>
              <a:ext cx="251250" cy="85724"/>
            </a:xfrm>
            <a:prstGeom prst="rect">
              <a:avLst/>
            </a:prstGeom>
          </p:spPr>
        </p:pic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B7405789-A706-70DD-120B-4FAE6136D6B1}"/>
                </a:ext>
              </a:extLst>
            </p:cNvPr>
            <p:cNvSpPr/>
            <p:nvPr/>
          </p:nvSpPr>
          <p:spPr>
            <a:xfrm>
              <a:off x="882051" y="4450612"/>
              <a:ext cx="4570730" cy="424815"/>
            </a:xfrm>
            <a:custGeom>
              <a:avLst/>
              <a:gdLst/>
              <a:ahLst/>
              <a:cxnLst/>
              <a:rect l="l" t="t" r="r" b="b"/>
              <a:pathLst>
                <a:path w="4570730" h="424814">
                  <a:moveTo>
                    <a:pt x="4499341" y="0"/>
                  </a:moveTo>
                  <a:lnTo>
                    <a:pt x="70770" y="0"/>
                  </a:lnTo>
                  <a:lnTo>
                    <a:pt x="43223" y="5561"/>
                  </a:lnTo>
                  <a:lnTo>
                    <a:pt x="20728" y="20728"/>
                  </a:lnTo>
                  <a:lnTo>
                    <a:pt x="5561" y="43223"/>
                  </a:lnTo>
                  <a:lnTo>
                    <a:pt x="0" y="70770"/>
                  </a:lnTo>
                  <a:lnTo>
                    <a:pt x="0" y="353841"/>
                  </a:lnTo>
                  <a:lnTo>
                    <a:pt x="5561" y="381388"/>
                  </a:lnTo>
                  <a:lnTo>
                    <a:pt x="20728" y="403884"/>
                  </a:lnTo>
                  <a:lnTo>
                    <a:pt x="43223" y="419051"/>
                  </a:lnTo>
                  <a:lnTo>
                    <a:pt x="70770" y="424613"/>
                  </a:lnTo>
                  <a:lnTo>
                    <a:pt x="4499341" y="424613"/>
                  </a:lnTo>
                  <a:lnTo>
                    <a:pt x="4526889" y="419051"/>
                  </a:lnTo>
                  <a:lnTo>
                    <a:pt x="4549384" y="403884"/>
                  </a:lnTo>
                  <a:lnTo>
                    <a:pt x="4564551" y="381388"/>
                  </a:lnTo>
                  <a:lnTo>
                    <a:pt x="4570112" y="353841"/>
                  </a:lnTo>
                  <a:lnTo>
                    <a:pt x="4570112" y="70770"/>
                  </a:lnTo>
                  <a:lnTo>
                    <a:pt x="4564551" y="43223"/>
                  </a:lnTo>
                  <a:lnTo>
                    <a:pt x="4549384" y="20728"/>
                  </a:lnTo>
                  <a:lnTo>
                    <a:pt x="4526889" y="5561"/>
                  </a:lnTo>
                  <a:lnTo>
                    <a:pt x="44993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1799"/>
            </a:p>
          </p:txBody>
        </p:sp>
      </p:grpSp>
      <p:sp>
        <p:nvSpPr>
          <p:cNvPr id="60" name="object 60">
            <a:extLst>
              <a:ext uri="{FF2B5EF4-FFF2-40B4-BE49-F238E27FC236}">
                <a16:creationId xmlns:a16="http://schemas.microsoft.com/office/drawing/2014/main" id="{AFDE8E08-2A4B-7B18-1AD3-B69942AB0C92}"/>
              </a:ext>
            </a:extLst>
          </p:cNvPr>
          <p:cNvSpPr txBox="1"/>
          <p:nvPr/>
        </p:nvSpPr>
        <p:spPr>
          <a:xfrm>
            <a:off x="1031410" y="1797728"/>
            <a:ext cx="4007710" cy="282311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564980" marR="557363" indent="-31106" algn="ctr">
              <a:lnSpc>
                <a:spcPct val="152000"/>
              </a:lnSpc>
              <a:spcBef>
                <a:spcPts val="100"/>
              </a:spcBef>
            </a:pP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Automatic</a:t>
            </a:r>
            <a:r>
              <a:rPr sz="1999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Differentiation </a:t>
            </a:r>
            <a:r>
              <a:rPr sz="1999" spc="-20" dirty="0">
                <a:solidFill>
                  <a:srgbClr val="FFFFFF"/>
                </a:solidFill>
                <a:latin typeface="Arial MT"/>
                <a:cs typeface="Arial MT"/>
              </a:rPr>
              <a:t>Graph-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1999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Optimization</a:t>
            </a:r>
            <a:endParaRPr sz="1999">
              <a:latin typeface="Arial MT"/>
              <a:cs typeface="Arial MT"/>
            </a:endParaRPr>
          </a:p>
          <a:p>
            <a:pPr marL="12696" marR="5078" algn="ctr">
              <a:lnSpc>
                <a:spcPct val="152000"/>
              </a:lnSpc>
            </a:pP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Parallelization</a:t>
            </a:r>
            <a:r>
              <a:rPr sz="1999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999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Distributed</a:t>
            </a:r>
            <a:r>
              <a:rPr sz="1999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Training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999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Layout</a:t>
            </a:r>
            <a:r>
              <a:rPr sz="1999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999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Placement</a:t>
            </a:r>
            <a:endParaRPr sz="1999">
              <a:latin typeface="Arial MT"/>
              <a:cs typeface="Arial MT"/>
            </a:endParaRPr>
          </a:p>
          <a:p>
            <a:pPr marL="742092" marR="734475" algn="ctr">
              <a:lnSpc>
                <a:spcPts val="3789"/>
              </a:lnSpc>
              <a:spcBef>
                <a:spcPts val="15"/>
              </a:spcBef>
            </a:pP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Kernel</a:t>
            </a:r>
            <a:r>
              <a:rPr sz="1999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Optimizations </a:t>
            </a:r>
            <a:r>
              <a:rPr sz="1999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1999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99" spc="-10" dirty="0">
                <a:solidFill>
                  <a:srgbClr val="FFFFFF"/>
                </a:solidFill>
                <a:latin typeface="Arial MT"/>
                <a:cs typeface="Arial MT"/>
              </a:rPr>
              <a:t>Optimizations</a:t>
            </a:r>
            <a:endParaRPr sz="1999">
              <a:latin typeface="Arial MT"/>
              <a:cs typeface="Arial MT"/>
            </a:endParaRPr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5EF6209-C02F-C68A-B7FD-C09D63880240}"/>
              </a:ext>
            </a:extLst>
          </p:cNvPr>
          <p:cNvSpPr txBox="1"/>
          <p:nvPr/>
        </p:nvSpPr>
        <p:spPr>
          <a:xfrm>
            <a:off x="6351400" y="3093298"/>
            <a:ext cx="4868547" cy="1128736"/>
          </a:xfrm>
          <a:prstGeom prst="rect">
            <a:avLst/>
          </a:prstGeom>
        </p:spPr>
        <p:txBody>
          <a:bodyPr vert="horz" wrap="square" lIns="0" tIns="9523" rIns="0" bIns="0" rtlCol="0">
            <a:spAutoFit/>
          </a:bodyPr>
          <a:lstStyle/>
          <a:p>
            <a:pPr marL="12696" marR="5078">
              <a:lnSpc>
                <a:spcPct val="100800"/>
              </a:lnSpc>
              <a:spcBef>
                <a:spcPts val="75"/>
              </a:spcBef>
            </a:pP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We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will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learn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the</a:t>
            </a:r>
            <a:r>
              <a:rPr sz="2399" spc="-5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current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design</a:t>
            </a:r>
            <a:r>
              <a:rPr sz="2399" spc="-6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25" dirty="0">
                <a:solidFill>
                  <a:srgbClr val="ED7D31"/>
                </a:solidFill>
                <a:latin typeface="Arial MT"/>
                <a:cs typeface="Arial MT"/>
              </a:rPr>
              <a:t>and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key</a:t>
            </a:r>
            <a:r>
              <a:rPr sz="2399" spc="-5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techniques</a:t>
            </a:r>
            <a:r>
              <a:rPr sz="2399" spc="-4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of</a:t>
            </a:r>
            <a:r>
              <a:rPr sz="2399" spc="-5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each</a:t>
            </a:r>
            <a:r>
              <a:rPr sz="2399" spc="-4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stack</a:t>
            </a:r>
            <a:r>
              <a:rPr sz="2399" spc="-45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dirty="0">
                <a:solidFill>
                  <a:srgbClr val="ED7D31"/>
                </a:solidFill>
                <a:latin typeface="Arial MT"/>
                <a:cs typeface="Arial MT"/>
              </a:rPr>
              <a:t>in</a:t>
            </a:r>
            <a:r>
              <a:rPr sz="2399" spc="-50" dirty="0">
                <a:solidFill>
                  <a:srgbClr val="ED7D31"/>
                </a:solidFill>
                <a:latin typeface="Arial MT"/>
                <a:cs typeface="Arial MT"/>
              </a:rPr>
              <a:t> </a:t>
            </a:r>
            <a:r>
              <a:rPr sz="2399" spc="-25" dirty="0">
                <a:solidFill>
                  <a:srgbClr val="ED7D31"/>
                </a:solidFill>
                <a:latin typeface="Arial MT"/>
                <a:cs typeface="Arial MT"/>
              </a:rPr>
              <a:t>ML </a:t>
            </a:r>
            <a:r>
              <a:rPr sz="2399" spc="-10" dirty="0">
                <a:solidFill>
                  <a:srgbClr val="ED7D31"/>
                </a:solidFill>
                <a:latin typeface="Arial MT"/>
                <a:cs typeface="Arial MT"/>
              </a:rPr>
              <a:t>systems</a:t>
            </a:r>
            <a:endParaRPr sz="2399">
              <a:latin typeface="Arial MT"/>
              <a:cs typeface="Arial MT"/>
            </a:endParaRPr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33084D2E-57E9-0C6E-9AE9-03469CED8AE5}"/>
              </a:ext>
            </a:extLst>
          </p:cNvPr>
          <p:cNvSpPr/>
          <p:nvPr/>
        </p:nvSpPr>
        <p:spPr>
          <a:xfrm>
            <a:off x="2773190" y="4662863"/>
            <a:ext cx="359951" cy="313608"/>
          </a:xfrm>
          <a:custGeom>
            <a:avLst/>
            <a:gdLst/>
            <a:ahLst/>
            <a:cxnLst/>
            <a:rect l="l" t="t" r="r" b="b"/>
            <a:pathLst>
              <a:path w="360045" h="313689">
                <a:moveTo>
                  <a:pt x="269605" y="0"/>
                </a:moveTo>
                <a:lnTo>
                  <a:pt x="89869" y="0"/>
                </a:lnTo>
                <a:lnTo>
                  <a:pt x="89869" y="156762"/>
                </a:lnTo>
                <a:lnTo>
                  <a:pt x="0" y="156762"/>
                </a:lnTo>
                <a:lnTo>
                  <a:pt x="179738" y="313524"/>
                </a:lnTo>
                <a:lnTo>
                  <a:pt x="359474" y="156762"/>
                </a:lnTo>
                <a:lnTo>
                  <a:pt x="269605" y="156762"/>
                </a:lnTo>
                <a:lnTo>
                  <a:pt x="269605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</p:spTree>
    <p:extLst>
      <p:ext uri="{BB962C8B-B14F-4D97-AF65-F5344CB8AC3E}">
        <p14:creationId xmlns:p14="http://schemas.microsoft.com/office/powerpoint/2010/main" val="182121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1BEE7492B748AAA939E15478942A" ma:contentTypeVersion="3" ma:contentTypeDescription="Create a new document." ma:contentTypeScope="" ma:versionID="a3ae003b3bc9c2f933d329e11d0c3319">
  <xsd:schema xmlns:xsd="http://www.w3.org/2001/XMLSchema" xmlns:xs="http://www.w3.org/2001/XMLSchema" xmlns:p="http://schemas.microsoft.com/office/2006/metadata/properties" xmlns:ns2="f5820155-a73e-4bed-81ca-61e3abc3ae5c" targetNamespace="http://schemas.microsoft.com/office/2006/metadata/properties" ma:root="true" ma:fieldsID="7eb7418994d847370236082d77edc9a3" ns2:_="">
    <xsd:import namespace="f5820155-a73e-4bed-81ca-61e3abc3ae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20155-a73e-4bed-81ca-61e3abc3a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FA5DC-F667-44BB-A5E3-CEE4E3C4ADE6}"/>
</file>

<file path=customXml/itemProps2.xml><?xml version="1.0" encoding="utf-8"?>
<ds:datastoreItem xmlns:ds="http://schemas.openxmlformats.org/officeDocument/2006/customXml" ds:itemID="{C845C6B0-5DE9-490D-9C37-BDB02342D95B}"/>
</file>

<file path=customXml/itemProps3.xml><?xml version="1.0" encoding="utf-8"?>
<ds:datastoreItem xmlns:ds="http://schemas.openxmlformats.org/officeDocument/2006/customXml" ds:itemID="{6F2BEADE-3393-420A-BCE9-319F588D88F0}"/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3860</Words>
  <Application>Microsoft Office PowerPoint</Application>
  <PresentationFormat>Custom</PresentationFormat>
  <Paragraphs>847</Paragraphs>
  <Slides>67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 MT</vt:lpstr>
      <vt:lpstr>Aptos</vt:lpstr>
      <vt:lpstr>Arial</vt:lpstr>
      <vt:lpstr>Calibri</vt:lpstr>
      <vt:lpstr>Calibri Light</vt:lpstr>
      <vt:lpstr>Cambria Math</vt:lpstr>
      <vt:lpstr>Impact</vt:lpstr>
      <vt:lpstr>Times New Roman</vt:lpstr>
      <vt:lpstr>Verdana</vt:lpstr>
      <vt:lpstr>Office Theme</vt:lpstr>
      <vt:lpstr>1_Office Theme</vt:lpstr>
      <vt:lpstr>CS/ECE 599 Advanced Topics in Deep Learning &amp; High-performance Computing</vt:lpstr>
      <vt:lpstr>What is Machine Learning and Deep Learning?</vt:lpstr>
      <vt:lpstr>History: Milestones in the Development of ML/DL</vt:lpstr>
      <vt:lpstr>DL and High-Performance Architectures</vt:lpstr>
      <vt:lpstr>Artificial Intelligence Use Cases and Growth Trends</vt:lpstr>
      <vt:lpstr>Three Main Types of Machine Learning</vt:lpstr>
      <vt:lpstr>So what is a Deep Neural Network?</vt:lpstr>
      <vt:lpstr>Graphical/Mathematical Intuitions for DNNs</vt:lpstr>
      <vt:lpstr>Key Phases of Deep Learning</vt:lpstr>
      <vt:lpstr>PowerPoint Presentation</vt:lpstr>
      <vt:lpstr>Deep Neural Network</vt:lpstr>
      <vt:lpstr>DNN Training Overview</vt:lpstr>
      <vt:lpstr>Gradient Descent (GD)</vt:lpstr>
      <vt:lpstr>Gradient Descent (GD)</vt:lpstr>
      <vt:lpstr>Gradient Descent (GD)</vt:lpstr>
      <vt:lpstr>Stochastic Gradient Descent (SGD)</vt:lpstr>
      <vt:lpstr>PowerPoint Presentation</vt:lpstr>
      <vt:lpstr>How to compute gradients? </vt:lpstr>
      <vt:lpstr>Backpropagation: a simple example</vt:lpstr>
      <vt:lpstr>Backpropagation: a simple example</vt:lpstr>
      <vt:lpstr>Exercise: Compute 𝛛𝑓</vt:lpstr>
      <vt:lpstr>Exercise: Compute 𝛛𝑓</vt:lpstr>
      <vt:lpstr>Exercise: Compute 𝛛𝑓</vt:lpstr>
      <vt:lpstr>Issues?</vt:lpstr>
      <vt:lpstr>Reverse Mode Automatic Differentiation</vt:lpstr>
      <vt:lpstr>Exercise: Compute 𝛛𝑙 , 𝛛𝑙 , 𝛛𝑙 ,</vt:lpstr>
      <vt:lpstr>Exercise: Compute 𝛛𝑙 , 𝛛𝑙 , 𝛛𝑙 ,</vt:lpstr>
      <vt:lpstr>Exercise: Compute 𝛛𝑙 , 𝛛𝑙 , 𝛛𝑙 ,</vt:lpstr>
      <vt:lpstr>Exercise: Compute 𝛛𝑙 , 𝛛𝑙 , 𝛛𝑙 ,</vt:lpstr>
      <vt:lpstr>Exercise: Compute 𝛛𝑙 , 𝛛𝑙 , 𝛛𝑙 ,</vt:lpstr>
      <vt:lpstr>Exercise: Compute 𝛛𝑙 , 𝛛𝑙 , 𝛛𝑙 ,</vt:lpstr>
      <vt:lpstr>PowerPoint Presentation</vt:lpstr>
      <vt:lpstr>Discuss: Backpropagation v.s. Reverse AutoDiff</vt:lpstr>
      <vt:lpstr>Discuss: Backpropagation v.s. Reverse AutoDiff</vt:lpstr>
      <vt:lpstr>PowerPoint Presentation</vt:lpstr>
      <vt:lpstr>Reverse AutoDiff Implementation</vt:lpstr>
      <vt:lpstr>Forward/Backward Implementation</vt:lpstr>
      <vt:lpstr>Manual Gradient Checking: Numeric Gradient</vt:lpstr>
      <vt:lpstr>Summary</vt:lpstr>
      <vt:lpstr>Understand ML Applications:</vt:lpstr>
      <vt:lpstr>CNNs are widely used in vision tasks</vt:lpstr>
      <vt:lpstr>Recap: Convolution</vt:lpstr>
      <vt:lpstr>CNNs</vt:lpstr>
      <vt:lpstr>Computation Challenges in CNNs:  - Increasing Computational Requirements</vt:lpstr>
      <vt:lpstr>Understand ML Applications:</vt:lpstr>
      <vt:lpstr>PowerPoint Presentation</vt:lpstr>
      <vt:lpstr>PowerPoint Presentation</vt:lpstr>
      <vt:lpstr>PowerPoint Presentation</vt:lpstr>
      <vt:lpstr>PowerPoint Presentation</vt:lpstr>
      <vt:lpstr>Recurrent Neural Networks</vt:lpstr>
      <vt:lpstr>PowerPoint Presentation</vt:lpstr>
      <vt:lpstr>When do we need RNNs?</vt:lpstr>
      <vt:lpstr>Understand ML Applications:</vt:lpstr>
      <vt:lpstr>Inefficiency in RNNs?</vt:lpstr>
      <vt:lpstr>PowerPoint Presentation</vt:lpstr>
      <vt:lpstr>PowerPoint Presentation</vt:lpstr>
      <vt:lpstr>Challenges: Exponentially Increasing  - Computational Costs for Transformer Models</vt:lpstr>
      <vt:lpstr>Understand ML Applications:</vt:lpstr>
      <vt:lpstr>Graph Neural Networks: The Hottest Subfield in ML</vt:lpstr>
      <vt:lpstr>GNNs: Neural Networks on Relational Data</vt:lpstr>
      <vt:lpstr>Graph Neural Network Architecture</vt:lpstr>
      <vt:lpstr>Challenges of GNN Computations on GPUs</vt:lpstr>
      <vt:lpstr>Understand ML Applications:</vt:lpstr>
      <vt:lpstr>Mixture-of-Experts</vt:lpstr>
      <vt:lpstr>Switch Transformers = Transformers + Mixture of Experts</vt:lpstr>
      <vt:lpstr>Recap: An Overview of Deep Learning Models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Forkey</dc:creator>
  <cp:lastModifiedBy>Dong, Wenqian</cp:lastModifiedBy>
  <cp:revision>40</cp:revision>
  <dcterms:created xsi:type="dcterms:W3CDTF">2017-05-19T18:48:06Z</dcterms:created>
  <dcterms:modified xsi:type="dcterms:W3CDTF">2026-02-01T20:37:23Z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0x0101005E1D1BEE7492B748AAA939E15478942A</vt:lpwstr>
  </property>
</Properties>
</file>