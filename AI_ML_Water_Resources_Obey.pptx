
<file path=[Content_Types].xml><?xml version="1.0" encoding="utf-8"?>
<Types xmlns="http://schemas.openxmlformats.org/package/2006/content-types">
  <Default Extension="bin" ContentType="image/unknown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7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12.jpg" ContentType="image/jpg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4"/>
    <p:sldMasterId id="2147483651" r:id="rId5"/>
    <p:sldMasterId id="2147483667" r:id="rId6"/>
  </p:sldMasterIdLst>
  <p:notesMasterIdLst>
    <p:notesMasterId r:id="rId24"/>
  </p:notesMasterIdLst>
  <p:sldIdLst>
    <p:sldId id="256" r:id="rId7"/>
    <p:sldId id="287" r:id="rId8"/>
    <p:sldId id="261" r:id="rId9"/>
    <p:sldId id="285" r:id="rId10"/>
    <p:sldId id="257" r:id="rId11"/>
    <p:sldId id="284" r:id="rId12"/>
    <p:sldId id="269" r:id="rId13"/>
    <p:sldId id="267" r:id="rId14"/>
    <p:sldId id="258" r:id="rId15"/>
    <p:sldId id="276" r:id="rId16"/>
    <p:sldId id="259" r:id="rId17"/>
    <p:sldId id="263" r:id="rId18"/>
    <p:sldId id="277" r:id="rId19"/>
    <p:sldId id="279" r:id="rId20"/>
    <p:sldId id="280" r:id="rId21"/>
    <p:sldId id="286" r:id="rId22"/>
    <p:sldId id="28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2E702-3EC0-430F-B7B8-C311C65CF2F7}" v="2" dt="2026-04-26T08:29:04.861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55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41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ntha Obeysekera" userId="746567d5-bca1-4cfe-9ff2-830dff7f142b" providerId="ADAL" clId="{0449B1CE-3603-4936-8D6C-FA466DF3740F}"/>
    <pc:docChg chg="undo custSel addSld modSld sldOrd">
      <pc:chgData name="Jayantha Obeysekera" userId="746567d5-bca1-4cfe-9ff2-830dff7f142b" providerId="ADAL" clId="{0449B1CE-3603-4936-8D6C-FA466DF3740F}" dt="2026-04-26T08:34:47.912" v="274"/>
      <pc:docMkLst>
        <pc:docMk/>
      </pc:docMkLst>
      <pc:sldChg chg="addSp delSp modSp add mod ord modClrScheme chgLayout">
        <pc:chgData name="Jayantha Obeysekera" userId="746567d5-bca1-4cfe-9ff2-830dff7f142b" providerId="ADAL" clId="{0449B1CE-3603-4936-8D6C-FA466DF3740F}" dt="2026-04-26T08:34:47.912" v="274"/>
        <pc:sldMkLst>
          <pc:docMk/>
          <pc:sldMk cId="1972424265" sldId="261"/>
        </pc:sldMkLst>
        <pc:spChg chg="mod ord">
          <ac:chgData name="Jayantha Obeysekera" userId="746567d5-bca1-4cfe-9ff2-830dff7f142b" providerId="ADAL" clId="{0449B1CE-3603-4936-8D6C-FA466DF3740F}" dt="2026-04-26T08:30:38.418" v="263" actId="1076"/>
          <ac:spMkLst>
            <pc:docMk/>
            <pc:sldMk cId="1972424265" sldId="261"/>
            <ac:spMk id="2" creationId="{00000000-0000-0000-0000-000000000000}"/>
          </ac:spMkLst>
        </pc:spChg>
        <pc:spChg chg="del">
          <ac:chgData name="Jayantha Obeysekera" userId="746567d5-bca1-4cfe-9ff2-830dff7f142b" providerId="ADAL" clId="{0449B1CE-3603-4936-8D6C-FA466DF3740F}" dt="2026-04-26T08:29:36.266" v="255" actId="478"/>
          <ac:spMkLst>
            <pc:docMk/>
            <pc:sldMk cId="1972424265" sldId="261"/>
            <ac:spMk id="3" creationId="{00000000-0000-0000-0000-000000000000}"/>
          </ac:spMkLst>
        </pc:spChg>
        <pc:spChg chg="add del mod">
          <ac:chgData name="Jayantha Obeysekera" userId="746567d5-bca1-4cfe-9ff2-830dff7f142b" providerId="ADAL" clId="{0449B1CE-3603-4936-8D6C-FA466DF3740F}" dt="2026-04-26T08:29:39.591" v="256" actId="478"/>
          <ac:spMkLst>
            <pc:docMk/>
            <pc:sldMk cId="1972424265" sldId="261"/>
            <ac:spMk id="5" creationId="{DF751C70-E3DD-A32E-DB51-94EC43890DD0}"/>
          </ac:spMkLst>
        </pc:spChg>
        <pc:spChg chg="mod">
          <ac:chgData name="Jayantha Obeysekera" userId="746567d5-bca1-4cfe-9ff2-830dff7f142b" providerId="ADAL" clId="{0449B1CE-3603-4936-8D6C-FA466DF3740F}" dt="2026-04-26T08:31:09.509" v="268" actId="1076"/>
          <ac:spMkLst>
            <pc:docMk/>
            <pc:sldMk cId="1972424265" sldId="261"/>
            <ac:spMk id="6" creationId="{B63ABED4-D1B0-9208-046C-71E7C63CB2EB}"/>
          </ac:spMkLst>
        </pc:spChg>
        <pc:spChg chg="del">
          <ac:chgData name="Jayantha Obeysekera" userId="746567d5-bca1-4cfe-9ff2-830dff7f142b" providerId="ADAL" clId="{0449B1CE-3603-4936-8D6C-FA466DF3740F}" dt="2026-04-26T08:29:32.352" v="254" actId="478"/>
          <ac:spMkLst>
            <pc:docMk/>
            <pc:sldMk cId="1972424265" sldId="261"/>
            <ac:spMk id="12" creationId="{08793DE1-59E6-1843-70C9-6E0E6E993055}"/>
          </ac:spMkLst>
        </pc:spChg>
        <pc:spChg chg="mod">
          <ac:chgData name="Jayantha Obeysekera" userId="746567d5-bca1-4cfe-9ff2-830dff7f142b" providerId="ADAL" clId="{0449B1CE-3603-4936-8D6C-FA466DF3740F}" dt="2026-04-26T08:31:19.820" v="270" actId="255"/>
          <ac:spMkLst>
            <pc:docMk/>
            <pc:sldMk cId="1972424265" sldId="261"/>
            <ac:spMk id="14" creationId="{DD445B27-46FD-6192-30AB-05C0BE044DFC}"/>
          </ac:spMkLst>
        </pc:spChg>
      </pc:sldChg>
      <pc:sldChg chg="delSp modSp mod">
        <pc:chgData name="Jayantha Obeysekera" userId="746567d5-bca1-4cfe-9ff2-830dff7f142b" providerId="ADAL" clId="{0449B1CE-3603-4936-8D6C-FA466DF3740F}" dt="2026-04-20T15:06:42.039" v="223" actId="1076"/>
        <pc:sldMkLst>
          <pc:docMk/>
          <pc:sldMk cId="0" sldId="263"/>
        </pc:sldMkLst>
        <pc:spChg chg="mod">
          <ac:chgData name="Jayantha Obeysekera" userId="746567d5-bca1-4cfe-9ff2-830dff7f142b" providerId="ADAL" clId="{0449B1CE-3603-4936-8D6C-FA466DF3740F}" dt="2026-04-20T15:05:06.884" v="184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4:32.623" v="177" actId="1410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5:15.005" v="186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5:11.812" v="185" actId="107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5:11.812" v="185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6:34.427" v="221" actId="14100"/>
          <ac:spMkLst>
            <pc:docMk/>
            <pc:sldMk cId="0" sldId="263"/>
            <ac:spMk id="2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5:26.322" v="187" actId="14100"/>
          <ac:spMkLst>
            <pc:docMk/>
            <pc:sldMk cId="0" sldId="263"/>
            <ac:spMk id="2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5:54.646" v="212" actId="107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6:05.907" v="216" actId="255"/>
          <ac:spMkLst>
            <pc:docMk/>
            <pc:sldMk cId="0" sldId="263"/>
            <ac:spMk id="2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6:38.805" v="222" actId="14100"/>
          <ac:spMkLst>
            <pc:docMk/>
            <pc:sldMk cId="0" sldId="263"/>
            <ac:spMk id="28" creationId="{00000000-0000-0000-0000-000000000000}"/>
          </ac:spMkLst>
        </pc:spChg>
        <pc:picChg chg="mod">
          <ac:chgData name="Jayantha Obeysekera" userId="746567d5-bca1-4cfe-9ff2-830dff7f142b" providerId="ADAL" clId="{0449B1CE-3603-4936-8D6C-FA466DF3740F}" dt="2026-04-20T15:06:42.039" v="223" actId="1076"/>
          <ac:picMkLst>
            <pc:docMk/>
            <pc:sldMk cId="0" sldId="263"/>
            <ac:picMk id="26" creationId="{00000000-0000-0000-0000-000000000000}"/>
          </ac:picMkLst>
        </pc:picChg>
      </pc:sldChg>
      <pc:sldChg chg="delSp modSp mod">
        <pc:chgData name="Jayantha Obeysekera" userId="746567d5-bca1-4cfe-9ff2-830dff7f142b" providerId="ADAL" clId="{0449B1CE-3603-4936-8D6C-FA466DF3740F}" dt="2026-04-20T14:53:44.438" v="28" actId="20577"/>
        <pc:sldMkLst>
          <pc:docMk/>
          <pc:sldMk cId="0" sldId="276"/>
        </pc:sldMkLst>
        <pc:spChg chg="mod">
          <ac:chgData name="Jayantha Obeysekera" userId="746567d5-bca1-4cfe-9ff2-830dff7f142b" providerId="ADAL" clId="{0449B1CE-3603-4936-8D6C-FA466DF3740F}" dt="2026-04-20T14:52:45.674" v="10" actId="207"/>
          <ac:spMkLst>
            <pc:docMk/>
            <pc:sldMk cId="0" sldId="276"/>
            <ac:spMk id="1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2:45.674" v="10" actId="207"/>
          <ac:spMkLst>
            <pc:docMk/>
            <pc:sldMk cId="0" sldId="276"/>
            <ac:spMk id="16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2:45.674" v="10" actId="207"/>
          <ac:spMkLst>
            <pc:docMk/>
            <pc:sldMk cId="0" sldId="276"/>
            <ac:spMk id="1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2:45.674" v="10" actId="207"/>
          <ac:spMkLst>
            <pc:docMk/>
            <pc:sldMk cId="0" sldId="276"/>
            <ac:spMk id="2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2:45.674" v="10" actId="207"/>
          <ac:spMkLst>
            <pc:docMk/>
            <pc:sldMk cId="0" sldId="276"/>
            <ac:spMk id="2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1:57.244" v="5" actId="1076"/>
          <ac:spMkLst>
            <pc:docMk/>
            <pc:sldMk cId="0" sldId="276"/>
            <ac:spMk id="2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2:00.107" v="6" actId="1076"/>
          <ac:spMkLst>
            <pc:docMk/>
            <pc:sldMk cId="0" sldId="276"/>
            <ac:spMk id="2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2:56.133" v="11" actId="207"/>
          <ac:spMkLst>
            <pc:docMk/>
            <pc:sldMk cId="0" sldId="276"/>
            <ac:spMk id="2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3:05.945" v="12" actId="1076"/>
          <ac:spMkLst>
            <pc:docMk/>
            <pc:sldMk cId="0" sldId="276"/>
            <ac:spMk id="2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3:25.107" v="15" actId="207"/>
          <ac:spMkLst>
            <pc:docMk/>
            <pc:sldMk cId="0" sldId="276"/>
            <ac:spMk id="2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3:12.995" v="13" actId="1076"/>
          <ac:spMkLst>
            <pc:docMk/>
            <pc:sldMk cId="0" sldId="276"/>
            <ac:spMk id="31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3:31.152" v="16" actId="207"/>
          <ac:spMkLst>
            <pc:docMk/>
            <pc:sldMk cId="0" sldId="276"/>
            <ac:spMk id="3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3:20.177" v="14" actId="1076"/>
          <ac:spMkLst>
            <pc:docMk/>
            <pc:sldMk cId="0" sldId="276"/>
            <ac:spMk id="3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3:36.291" v="17" actId="207"/>
          <ac:spMkLst>
            <pc:docMk/>
            <pc:sldMk cId="0" sldId="276"/>
            <ac:spMk id="3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2:25.829" v="9" actId="1076"/>
          <ac:spMkLst>
            <pc:docMk/>
            <pc:sldMk cId="0" sldId="276"/>
            <ac:spMk id="38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3:44.438" v="28" actId="20577"/>
          <ac:spMkLst>
            <pc:docMk/>
            <pc:sldMk cId="0" sldId="276"/>
            <ac:spMk id="3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2:25.829" v="9" actId="1076"/>
          <ac:spMkLst>
            <pc:docMk/>
            <pc:sldMk cId="0" sldId="276"/>
            <ac:spMk id="40" creationId="{00000000-0000-0000-0000-000000000000}"/>
          </ac:spMkLst>
        </pc:spChg>
      </pc:sldChg>
      <pc:sldChg chg="modSp mod">
        <pc:chgData name="Jayantha Obeysekera" userId="746567d5-bca1-4cfe-9ff2-830dff7f142b" providerId="ADAL" clId="{0449B1CE-3603-4936-8D6C-FA466DF3740F}" dt="2026-04-20T15:00:04.284" v="105" actId="255"/>
        <pc:sldMkLst>
          <pc:docMk/>
          <pc:sldMk cId="0" sldId="279"/>
        </pc:sldMkLst>
        <pc:spChg chg="mod">
          <ac:chgData name="Jayantha Obeysekera" userId="746567d5-bca1-4cfe-9ff2-830dff7f142b" providerId="ADAL" clId="{0449B1CE-3603-4936-8D6C-FA466DF3740F}" dt="2026-04-20T15:00:04.284" v="105" actId="255"/>
          <ac:spMkLst>
            <pc:docMk/>
            <pc:sldMk cId="0" sldId="279"/>
            <ac:spMk id="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4:27.990" v="31" actId="207"/>
          <ac:spMkLst>
            <pc:docMk/>
            <pc:sldMk cId="0" sldId="279"/>
            <ac:spMk id="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5:16.289" v="42" actId="14100"/>
          <ac:spMkLst>
            <pc:docMk/>
            <pc:sldMk cId="0" sldId="279"/>
            <ac:spMk id="6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6:14.760" v="55" actId="14100"/>
          <ac:spMkLst>
            <pc:docMk/>
            <pc:sldMk cId="0" sldId="279"/>
            <ac:spMk id="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8:15.503" v="74" actId="255"/>
          <ac:spMkLst>
            <pc:docMk/>
            <pc:sldMk cId="0" sldId="279"/>
            <ac:spMk id="8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4:33.817" v="32" actId="14100"/>
          <ac:spMkLst>
            <pc:docMk/>
            <pc:sldMk cId="0" sldId="279"/>
            <ac:spMk id="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6:06.239" v="53" actId="14100"/>
          <ac:spMkLst>
            <pc:docMk/>
            <pc:sldMk cId="0" sldId="279"/>
            <ac:spMk id="1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7:42.009" v="69" actId="14100"/>
          <ac:spMkLst>
            <pc:docMk/>
            <pc:sldMk cId="0" sldId="279"/>
            <ac:spMk id="11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9:27.337" v="101" actId="107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4:56.151" v="37" actId="1076"/>
          <ac:spMkLst>
            <pc:docMk/>
            <pc:sldMk cId="0" sldId="279"/>
            <ac:spMk id="1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5:01.064" v="38" actId="1076"/>
          <ac:spMkLst>
            <pc:docMk/>
            <pc:sldMk cId="0" sldId="279"/>
            <ac:spMk id="1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5:06.344" v="39" actId="1076"/>
          <ac:spMkLst>
            <pc:docMk/>
            <pc:sldMk cId="0" sldId="279"/>
            <ac:spMk id="1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5:10.170" v="40" actId="1076"/>
          <ac:spMkLst>
            <pc:docMk/>
            <pc:sldMk cId="0" sldId="279"/>
            <ac:spMk id="16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5:13.563" v="41" actId="1076"/>
          <ac:spMkLst>
            <pc:docMk/>
            <pc:sldMk cId="0" sldId="279"/>
            <ac:spMk id="1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5:29.323" v="45" actId="1076"/>
          <ac:spMkLst>
            <pc:docMk/>
            <pc:sldMk cId="0" sldId="279"/>
            <ac:spMk id="18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5:32.190" v="46" actId="1076"/>
          <ac:spMkLst>
            <pc:docMk/>
            <pc:sldMk cId="0" sldId="279"/>
            <ac:spMk id="1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5:53.340" v="50" actId="1076"/>
          <ac:spMkLst>
            <pc:docMk/>
            <pc:sldMk cId="0" sldId="279"/>
            <ac:spMk id="2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7:35.102" v="68" actId="1076"/>
          <ac:spMkLst>
            <pc:docMk/>
            <pc:sldMk cId="0" sldId="279"/>
            <ac:spMk id="21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7:35.102" v="68" actId="1076"/>
          <ac:spMkLst>
            <pc:docMk/>
            <pc:sldMk cId="0" sldId="279"/>
            <ac:spMk id="2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7:35.102" v="68" actId="1076"/>
          <ac:spMkLst>
            <pc:docMk/>
            <pc:sldMk cId="0" sldId="279"/>
            <ac:spMk id="2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7:35.102" v="68" actId="1076"/>
          <ac:spMkLst>
            <pc:docMk/>
            <pc:sldMk cId="0" sldId="279"/>
            <ac:spMk id="2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7:20.507" v="67" actId="1076"/>
          <ac:spMkLst>
            <pc:docMk/>
            <pc:sldMk cId="0" sldId="279"/>
            <ac:spMk id="2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7:16.253" v="66" actId="14100"/>
          <ac:spMkLst>
            <pc:docMk/>
            <pc:sldMk cId="0" sldId="279"/>
            <ac:spMk id="26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8:47.607" v="80" actId="1076"/>
          <ac:spMkLst>
            <pc:docMk/>
            <pc:sldMk cId="0" sldId="279"/>
            <ac:spMk id="2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8:15.503" v="74" actId="255"/>
          <ac:spMkLst>
            <pc:docMk/>
            <pc:sldMk cId="0" sldId="279"/>
            <ac:spMk id="28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8:27.205" v="75" actId="255"/>
          <ac:spMkLst>
            <pc:docMk/>
            <pc:sldMk cId="0" sldId="279"/>
            <ac:spMk id="2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8:15.503" v="74" actId="255"/>
          <ac:spMkLst>
            <pc:docMk/>
            <pc:sldMk cId="0" sldId="279"/>
            <ac:spMk id="3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8:27.205" v="75" actId="255"/>
          <ac:spMkLst>
            <pc:docMk/>
            <pc:sldMk cId="0" sldId="279"/>
            <ac:spMk id="31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8:15.503" v="74" actId="255"/>
          <ac:spMkLst>
            <pc:docMk/>
            <pc:sldMk cId="0" sldId="279"/>
            <ac:spMk id="3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8:27.205" v="75" actId="255"/>
          <ac:spMkLst>
            <pc:docMk/>
            <pc:sldMk cId="0" sldId="279"/>
            <ac:spMk id="3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8:15.503" v="74" actId="255"/>
          <ac:spMkLst>
            <pc:docMk/>
            <pc:sldMk cId="0" sldId="279"/>
            <ac:spMk id="3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8:27.205" v="75" actId="255"/>
          <ac:spMkLst>
            <pc:docMk/>
            <pc:sldMk cId="0" sldId="279"/>
            <ac:spMk id="3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8:15.503" v="74" actId="255"/>
          <ac:spMkLst>
            <pc:docMk/>
            <pc:sldMk cId="0" sldId="279"/>
            <ac:spMk id="36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8:40.960" v="78" actId="255"/>
          <ac:spMkLst>
            <pc:docMk/>
            <pc:sldMk cId="0" sldId="279"/>
            <ac:spMk id="3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9:19.802" v="100" actId="20577"/>
          <ac:spMkLst>
            <pc:docMk/>
            <pc:sldMk cId="0" sldId="279"/>
            <ac:spMk id="38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9:32.675" v="102" actId="14100"/>
          <ac:spMkLst>
            <pc:docMk/>
            <pc:sldMk cId="0" sldId="279"/>
            <ac:spMk id="3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4:59:41.497" v="104" actId="207"/>
          <ac:spMkLst>
            <pc:docMk/>
            <pc:sldMk cId="0" sldId="279"/>
            <ac:spMk id="40" creationId="{00000000-0000-0000-0000-000000000000}"/>
          </ac:spMkLst>
        </pc:spChg>
      </pc:sldChg>
      <pc:sldChg chg="modSp mod">
        <pc:chgData name="Jayantha Obeysekera" userId="746567d5-bca1-4cfe-9ff2-830dff7f142b" providerId="ADAL" clId="{0449B1CE-3603-4936-8D6C-FA466DF3740F}" dt="2026-04-20T15:03:55.038" v="175" actId="1076"/>
        <pc:sldMkLst>
          <pc:docMk/>
          <pc:sldMk cId="0" sldId="280"/>
        </pc:sldMkLst>
        <pc:spChg chg="mod">
          <ac:chgData name="Jayantha Obeysekera" userId="746567d5-bca1-4cfe-9ff2-830dff7f142b" providerId="ADAL" clId="{0449B1CE-3603-4936-8D6C-FA466DF3740F}" dt="2026-04-20T15:00:44.063" v="123" actId="255"/>
          <ac:spMkLst>
            <pc:docMk/>
            <pc:sldMk cId="0" sldId="280"/>
            <ac:spMk id="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0:52.889" v="125" actId="207"/>
          <ac:spMkLst>
            <pc:docMk/>
            <pc:sldMk cId="0" sldId="280"/>
            <ac:spMk id="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2:05.154" v="136" actId="1076"/>
          <ac:spMkLst>
            <pc:docMk/>
            <pc:sldMk cId="0" sldId="280"/>
            <ac:spMk id="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2:16.054" v="137" actId="255"/>
          <ac:spMkLst>
            <pc:docMk/>
            <pc:sldMk cId="0" sldId="280"/>
            <ac:spMk id="8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1:40.790" v="131" actId="14100"/>
          <ac:spMkLst>
            <pc:docMk/>
            <pc:sldMk cId="0" sldId="280"/>
            <ac:spMk id="2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1:34.740" v="129" actId="14100"/>
          <ac:spMkLst>
            <pc:docMk/>
            <pc:sldMk cId="0" sldId="280"/>
            <ac:spMk id="21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1:53.647" v="134" actId="255"/>
          <ac:spMkLst>
            <pc:docMk/>
            <pc:sldMk cId="0" sldId="280"/>
            <ac:spMk id="3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2:27.281" v="139" actId="122"/>
          <ac:spMkLst>
            <pc:docMk/>
            <pc:sldMk cId="0" sldId="280"/>
            <ac:spMk id="3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3:51.703" v="174" actId="1076"/>
          <ac:spMkLst>
            <pc:docMk/>
            <pc:sldMk cId="0" sldId="280"/>
            <ac:spMk id="36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3:55.038" v="175" actId="1076"/>
          <ac:spMkLst>
            <pc:docMk/>
            <pc:sldMk cId="0" sldId="280"/>
            <ac:spMk id="3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2:38.298" v="140" actId="1076"/>
          <ac:spMkLst>
            <pc:docMk/>
            <pc:sldMk cId="0" sldId="280"/>
            <ac:spMk id="38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3:43.190" v="172" actId="207"/>
          <ac:spMkLst>
            <pc:docMk/>
            <pc:sldMk cId="0" sldId="280"/>
            <ac:spMk id="3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3:43.190" v="172" actId="207"/>
          <ac:spMkLst>
            <pc:docMk/>
            <pc:sldMk cId="0" sldId="280"/>
            <ac:spMk id="41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2:16.054" v="137" actId="255"/>
          <ac:spMkLst>
            <pc:docMk/>
            <pc:sldMk cId="0" sldId="280"/>
            <ac:spMk id="4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3:43.190" v="172" actId="207"/>
          <ac:spMkLst>
            <pc:docMk/>
            <pc:sldMk cId="0" sldId="280"/>
            <ac:spMk id="4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2:16.054" v="137" actId="255"/>
          <ac:spMkLst>
            <pc:docMk/>
            <pc:sldMk cId="0" sldId="280"/>
            <ac:spMk id="4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2:16.054" v="137" actId="255"/>
          <ac:spMkLst>
            <pc:docMk/>
            <pc:sldMk cId="0" sldId="280"/>
            <ac:spMk id="4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3:32.929" v="171" actId="207"/>
          <ac:spMkLst>
            <pc:docMk/>
            <pc:sldMk cId="0" sldId="280"/>
            <ac:spMk id="46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3:21.026" v="168" actId="1076"/>
          <ac:spMkLst>
            <pc:docMk/>
            <pc:sldMk cId="0" sldId="280"/>
            <ac:spMk id="47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3:24.251" v="169" actId="1076"/>
          <ac:spMkLst>
            <pc:docMk/>
            <pc:sldMk cId="0" sldId="280"/>
            <ac:spMk id="48" creationId="{00000000-0000-0000-0000-000000000000}"/>
          </ac:spMkLst>
        </pc:spChg>
      </pc:sldChg>
      <pc:sldChg chg="ord">
        <pc:chgData name="Jayantha Obeysekera" userId="746567d5-bca1-4cfe-9ff2-830dff7f142b" providerId="ADAL" clId="{0449B1CE-3603-4936-8D6C-FA466DF3740F}" dt="2026-04-26T08:34:07.344" v="272"/>
        <pc:sldMkLst>
          <pc:docMk/>
          <pc:sldMk cId="234714878" sldId="285"/>
        </pc:sldMkLst>
      </pc:sldChg>
      <pc:sldChg chg="modSp mod">
        <pc:chgData name="Jayantha Obeysekera" userId="746567d5-bca1-4cfe-9ff2-830dff7f142b" providerId="ADAL" clId="{0449B1CE-3603-4936-8D6C-FA466DF3740F}" dt="2026-04-20T15:08:44.260" v="241" actId="255"/>
        <pc:sldMkLst>
          <pc:docMk/>
          <pc:sldMk cId="0" sldId="286"/>
        </pc:sldMkLst>
        <pc:spChg chg="mod">
          <ac:chgData name="Jayantha Obeysekera" userId="746567d5-bca1-4cfe-9ff2-830dff7f142b" providerId="ADAL" clId="{0449B1CE-3603-4936-8D6C-FA466DF3740F}" dt="2026-04-20T15:07:12.481" v="225" actId="207"/>
          <ac:spMkLst>
            <pc:docMk/>
            <pc:sldMk cId="0" sldId="286"/>
            <ac:spMk id="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7:43.013" v="232" actId="1076"/>
          <ac:spMkLst>
            <pc:docMk/>
            <pc:sldMk cId="0" sldId="286"/>
            <ac:spMk id="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7:40.659" v="231" actId="1076"/>
          <ac:spMkLst>
            <pc:docMk/>
            <pc:sldMk cId="0" sldId="286"/>
            <ac:spMk id="5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7:35.904" v="230" actId="255"/>
          <ac:spMkLst>
            <pc:docMk/>
            <pc:sldMk cId="0" sldId="286"/>
            <ac:spMk id="6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7:52.929" v="233" actId="255"/>
          <ac:spMkLst>
            <pc:docMk/>
            <pc:sldMk cId="0" sldId="286"/>
            <ac:spMk id="8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8:07.616" v="235" actId="14100"/>
          <ac:spMkLst>
            <pc:docMk/>
            <pc:sldMk cId="0" sldId="286"/>
            <ac:spMk id="9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8:12.724" v="236" actId="14100"/>
          <ac:spMkLst>
            <pc:docMk/>
            <pc:sldMk cId="0" sldId="286"/>
            <ac:spMk id="10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8:00.453" v="234" actId="255"/>
          <ac:spMkLst>
            <pc:docMk/>
            <pc:sldMk cId="0" sldId="286"/>
            <ac:spMk id="11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8:23.838" v="237" actId="255"/>
          <ac:spMkLst>
            <pc:docMk/>
            <pc:sldMk cId="0" sldId="286"/>
            <ac:spMk id="13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8:29.414" v="239" actId="255"/>
          <ac:spMkLst>
            <pc:docMk/>
            <pc:sldMk cId="0" sldId="286"/>
            <ac:spMk id="14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8:37.039" v="240" actId="255"/>
          <ac:spMkLst>
            <pc:docMk/>
            <pc:sldMk cId="0" sldId="286"/>
            <ac:spMk id="16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0T15:08:44.260" v="241" actId="255"/>
          <ac:spMkLst>
            <pc:docMk/>
            <pc:sldMk cId="0" sldId="286"/>
            <ac:spMk id="17" creationId="{00000000-0000-0000-0000-000000000000}"/>
          </ac:spMkLst>
        </pc:spChg>
      </pc:sldChg>
      <pc:sldChg chg="modSp mod modClrScheme chgLayout">
        <pc:chgData name="Jayantha Obeysekera" userId="746567d5-bca1-4cfe-9ff2-830dff7f142b" providerId="ADAL" clId="{0449B1CE-3603-4936-8D6C-FA466DF3740F}" dt="2026-04-20T15:09:48.630" v="246" actId="255"/>
        <pc:sldMkLst>
          <pc:docMk/>
          <pc:sldMk cId="221300097" sldId="287"/>
        </pc:sldMkLst>
        <pc:spChg chg="mod ord">
          <ac:chgData name="Jayantha Obeysekera" userId="746567d5-bca1-4cfe-9ff2-830dff7f142b" providerId="ADAL" clId="{0449B1CE-3603-4936-8D6C-FA466DF3740F}" dt="2026-04-20T15:09:27.506" v="245" actId="1076"/>
          <ac:spMkLst>
            <pc:docMk/>
            <pc:sldMk cId="221300097" sldId="287"/>
            <ac:spMk id="2" creationId="{F055005E-621B-77A6-CFAF-0472F511E8A9}"/>
          </ac:spMkLst>
        </pc:spChg>
        <pc:spChg chg="mod ord">
          <ac:chgData name="Jayantha Obeysekera" userId="746567d5-bca1-4cfe-9ff2-830dff7f142b" providerId="ADAL" clId="{0449B1CE-3603-4936-8D6C-FA466DF3740F}" dt="2026-04-20T15:09:48.630" v="246" actId="255"/>
          <ac:spMkLst>
            <pc:docMk/>
            <pc:sldMk cId="221300097" sldId="287"/>
            <ac:spMk id="3" creationId="{6699B303-CF9A-5E79-43CB-44C185CED04D}"/>
          </ac:spMkLst>
        </pc:spChg>
      </pc:sldChg>
      <pc:sldChg chg="delSp modSp add mod setBg">
        <pc:chgData name="Jayantha Obeysekera" userId="746567d5-bca1-4cfe-9ff2-830dff7f142b" providerId="ADAL" clId="{0449B1CE-3603-4936-8D6C-FA466DF3740F}" dt="2026-04-25T20:37:03.498" v="249" actId="478"/>
        <pc:sldMkLst>
          <pc:docMk/>
          <pc:sldMk cId="0" sldId="288"/>
        </pc:sldMkLst>
        <pc:spChg chg="del">
          <ac:chgData name="Jayantha Obeysekera" userId="746567d5-bca1-4cfe-9ff2-830dff7f142b" providerId="ADAL" clId="{0449B1CE-3603-4936-8D6C-FA466DF3740F}" dt="2026-04-25T20:37:03.498" v="249" actId="478"/>
          <ac:spMkLst>
            <pc:docMk/>
            <pc:sldMk cId="0" sldId="288"/>
            <ac:spMk id="2" creationId="{00000000-0000-0000-0000-000000000000}"/>
          </ac:spMkLst>
        </pc:spChg>
        <pc:spChg chg="mod">
          <ac:chgData name="Jayantha Obeysekera" userId="746567d5-bca1-4cfe-9ff2-830dff7f142b" providerId="ADAL" clId="{0449B1CE-3603-4936-8D6C-FA466DF3740F}" dt="2026-04-25T20:36:54.176" v="248" actId="208"/>
          <ac:spMkLst>
            <pc:docMk/>
            <pc:sldMk cId="0" sldId="28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01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Course content adapted from the user-provided outline in Outline.docx (uploaded in conversation).
- Hero image generated with OpenAI image generation on 2026-03-24.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outline in Outline.docx (uploaded in conversation).
- Monitoring station photo: https://www.adasasystems.com/en/technology/online-stream-gauging-station.html
- Control room photo: https://www.evansonline.com/control-room-solutions-for-water-and-waste-water-centers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Prince, attached PDF, chapter 1 introduction and figure 1.1 discussion (pages 15–16).
- Prince, attached PDF, preface statement that the book focuses on ideas rather than coding (page 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Slide content adapted from the user's requested topic expansion in chat.</a:t>
            </a:r>
          </a:p>
          <a:p>
            <a:r>
              <a:t>- Workflow infographic generated with OpenAI image generation on 2026-03-24.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outline in Outline.docx (uploaded in conversation).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Asset — Unsplash water texture image URL used as decorative strip: https://images.unsplash.com/photo-1601325059290-eac581b71510?crop=entropy&amp;cs=tinysrgb&amp;fit=max&amp;fm=jpg&amp;ixid=MnwxMjA3fDB8MXxzZWFyY2h8M3x8d2F0ZXIlMjB0ZXh0dXJlfHwwfHx8fDE2Mjg3Mjc5MDE&amp;ixlib=rb-1.2.1&amp;q=80&amp;w=1080
Claim — USGS, “Data Science for Water Resources,” highlights reproducible and collaborative data workflows as a core focus area: https://www.usgs.gov/mission-areas/water-resources/science/data-science-water-resources
Claim — Yang &amp; Chui (2021), “Reliability Assessment of Machine Learning Models in Hydrological Predictions Through Metamorphic Testing,” emphasizes that average prediction accuracy may not reflect reliability for a specific input and that reliability checks matter under new conditions: https://doi.org/10.1029/2020WR029471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outline in Outline.docx (uploaded in conversation).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user-provided outline in Outline.docx (uploaded in conversation).
- GeoAI / IWRM diagram: https://www.mdpi.com/water/water-14-02211/article_deploy/html/images/water-14-02211-g002.png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Asset — Frantisek Duris, “A large control room with lots of control knobs,” Unsplash photo page: https://unsplash.com/photos/a-large-control-room-with-lots-of-control-knobs-C3DfIgig1j8 ; image file used: https://images.unsplash.com/photo-1738918937796-743064feefa1?fm=jpg&amp;q=80&amp;w=2400
Claim — NOAA overview “Machine Learning for Hydrologic Sciences: An Introductory Overview” describes decision trees, random forests, and boosting/XGBoost as common conventional ML methods for hydrologic sciences and notes that RF provides variable-importance scores: https://repository.library.noaa.gov/view/noaa/57067/noaa_57067_DS1.pdf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Claim — NOAA overview explains that conventional ML methods generally do not explicitly represent temporal evolution in hydrologic processes and that LSTM is an RNN architecture designed to learn long-term dependencies in time series: https://repository.library.noaa.gov/view/noaa/57067/noaa_57067_DS1.pdf
Claim — NOAA repository summary for “Deep learning rainfall–runoff predictions of extreme events” states that LSTM networks remained relatively accurate for extreme-event rainfall–runoff prediction compared with conceptual and process-based models in that study: https://repository.library.noaa.gov/view/noaa/46523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Claim — NOAA hydrologic ML overview defines clustering as an unsupervised learning method and identifies k-means as a popular clustering algorithm: https://repository.library.noaa.gov/view/noaa/57067/noaa_57067_DS1.pdf
Claim — The same NOAA overview notes that random forests provide variable-importance scores and describes tree ensembles and feature selection/value-importance concepts useful for interpretation: https://repository.library.noaa.gov/view/noaa/57067/noaa_57067_DS1.pdf
Claim — Yang &amp; Chui (2021) argue that reliability assessment matters because accuracy on observed data can be uncorrelated with consistency under new conditions: https://doi.org/10.1029/2020WR029471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Visual assets are cropped from an assistant-generated illustration created in this conversation; no external assets were used.
- Slide content is an instructional synthesis created for the user; no external non-trivial claims are cited.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C7AB-4B2A-080B-0028-1E180B707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C75A9-EE32-D3F2-EB95-7473A76D2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FE04F-95D6-2EDC-BE07-94473694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64C4-C9C9-42EC-A189-2DDBC43485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F8B09-6F53-F1E1-FFAB-7B3F1A0AC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3EC25-E06F-BDBB-A4A4-993D5355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3974-4381-4051-A9EC-EB0520A4F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5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3103-3252-D06A-3AED-B4FED8A08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B6F0-9D52-4BBE-5401-468AFA141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EFAC3-6552-3C6B-29E7-FFF95B41A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64C4-C9C9-42EC-A189-2DDBC43485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69C02-5CFD-C474-CD0C-D88FE8279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35E35-996B-5472-10E4-001F046FA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3974-4381-4051-A9EC-EB0520A4F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73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74E4-56C3-9DAA-CF17-15BF225ED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B48DC-E5B0-CC5E-E106-51ECEFFE1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14E76-D6FF-964E-5E87-06A4363CE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64C4-C9C9-42EC-A189-2DDBC43485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92EEA-BF11-F721-2291-887EA1BDF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34A37-34C2-F804-0FCC-91E94C331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3974-4381-4051-A9EC-EB0520A4F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6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4A67-8199-BE66-350D-22BE97B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04E5E-2716-E152-71D5-6E0A5DDE54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0BBB5-DCA3-5ED1-D194-C547A1598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F59AA-B423-EB70-4872-DC2C6F61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64C4-C9C9-42EC-A189-2DDBC43485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5F598-B18D-318A-E796-59455CD02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66646-89C2-FD26-0A74-4D15735FD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3974-4381-4051-A9EC-EB0520A4F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23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2B262-6C08-179F-1565-822FED981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9842F-74C7-0CD4-87F9-61E2F4BDC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5051A-C1DE-6D0E-219B-450139812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C4014-DE8F-DB6D-D50E-05F5E35BD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7B7141-3EDF-78FF-BC26-07052711D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DB64E7-D45D-D1D8-A4F2-67CBC911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64C4-C9C9-42EC-A189-2DDBC43485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C16C6B-6D9A-BD1B-102D-A18C65180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3A6A3F-7C8A-D3E4-8FEA-3C665EF4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3974-4381-4051-A9EC-EB0520A4F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3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F5FF-5852-2EFB-B336-8BA84FA49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B688B2-EC0E-8934-36B5-182918E39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64C4-C9C9-42EC-A189-2DDBC43485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D9348-A4E3-51F5-A4BC-2EA9E6311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05DA3-FBDD-99A0-951F-D7A3D706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3974-4381-4051-A9EC-EB0520A4F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9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DC241-AA0C-A025-7468-CFBFF2B8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64C4-C9C9-42EC-A189-2DDBC43485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6E179F-36F6-5750-398A-5E227396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5C4F1-4084-CE98-A451-762901FA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3974-4381-4051-A9EC-EB0520A4F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84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AB4F-95E9-D086-9C91-457ADD3C8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A9459-561C-416F-E622-20E75C52E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E22F7-B744-2247-63F1-B7CC51414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4FB6A-E954-B42F-EED9-852C6307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64C4-C9C9-42EC-A189-2DDBC43485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64368-C5CF-AF46-DEB6-00FF44EB0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70BD3-615B-861E-7656-BD862545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3974-4381-4051-A9EC-EB0520A4F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8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9241-99E6-66A1-3B7B-90D624D8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A1232F-4F4D-98F3-4E73-E38A7D42E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8C2CA-71B5-5176-BD08-B0EE91C26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28FDF-6236-C97C-F837-90A6D5C37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64C4-C9C9-42EC-A189-2DDBC43485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008C0-7333-E457-79CF-65DC7EB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6F10C-F579-3523-76C2-14DDD9D0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3974-4381-4051-A9EC-EB0520A4F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4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A0690-C967-E5D4-8F5D-2F1BF90F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F42E3-44EB-ACAD-92D0-319778354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2684E-B64C-7ED7-C30C-241331F4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64C4-C9C9-42EC-A189-2DDBC43485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B22B6-39DC-68A3-6192-B3401D41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31757-C891-36FC-ACDA-4FB60D9B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3974-4381-4051-A9EC-EB0520A4F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46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04DB2C-56EE-AE8E-4FDC-41E50C6EF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606B0-7B17-0731-39FB-48853B43D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52286-4F85-16AE-A1DD-79D615A51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64C4-C9C9-42EC-A189-2DDBC43485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95D4D-4D60-E594-D3B5-D6EC11DFD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6C153-407E-A206-2C7B-1D5AED95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3974-4381-4051-A9EC-EB0520A4F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046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312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135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61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680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35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AB63D-613C-E240-B779-817AC1057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7BF72-A59C-2700-29D3-5E877DB8E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73A1E-08C4-27E5-1285-DDE0B7A73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0464C4-C9C9-42EC-A189-2DDBC43485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D3D80-2350-E16E-0F3B-EE9EE4EFB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425B0-2648-EDDF-D624-102C6EB74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F3974-4381-4051-A9EC-EB0520A4F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5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22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94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cybertraining.dk-lab.xyz/workshop/ewri-2026" TargetMode="Externa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photograph_captures_an_aerial_view_of_a_large_re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-207034" y="-35010"/>
            <a:ext cx="12399034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8434" y="590219"/>
            <a:ext cx="7731165" cy="1600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&amp; Machine Learning Training Workshop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Water Resources &amp; Environmental Applications: A Primer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Shape 5"/>
          <p:cNvSpPr/>
          <p:nvPr/>
        </p:nvSpPr>
        <p:spPr>
          <a:xfrm>
            <a:off x="713232" y="3300121"/>
            <a:ext cx="1572768" cy="581765"/>
          </a:xfrm>
          <a:prstGeom prst="roundRect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34930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Beginner-friendly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2423160" y="3300121"/>
            <a:ext cx="1280160" cy="581765"/>
          </a:xfrm>
          <a:prstGeom prst="roundRect">
            <a:avLst/>
          </a:prstGeom>
          <a:solidFill>
            <a:srgbClr val="2E8D95"/>
          </a:solidFill>
          <a:ln w="12700">
            <a:solidFill>
              <a:srgbClr val="2E8D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423160" y="3493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Water-focused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813048" y="3300121"/>
            <a:ext cx="1681978" cy="581765"/>
          </a:xfrm>
          <a:prstGeom prst="roundRect">
            <a:avLst/>
          </a:prstGeom>
          <a:solidFill>
            <a:srgbClr val="6FBF73"/>
          </a:solidFill>
          <a:ln w="12700">
            <a:solidFill>
              <a:srgbClr val="6F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13048" y="349300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Hands-on mindset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584698" y="4527143"/>
            <a:ext cx="2917627" cy="1115569"/>
          </a:xfrm>
          <a:prstGeom prst="roundRect">
            <a:avLst/>
          </a:prstGeom>
          <a:solidFill>
            <a:schemeClr val="accent5">
              <a:lumMod val="20000"/>
              <a:lumOff val="80000"/>
              <a:alpha val="82000"/>
            </a:schemeClr>
          </a:solidFill>
          <a:ln w="1524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r>
              <a:rPr lang="en-US" dirty="0"/>
              <a:t>EWRI 2026 Congress</a:t>
            </a:r>
          </a:p>
          <a:p>
            <a:r>
              <a:rPr lang="en-US" dirty="0"/>
              <a:t>April 26, 1-5 PM</a:t>
            </a:r>
          </a:p>
          <a:p>
            <a:r>
              <a:rPr lang="en-US" dirty="0"/>
              <a:t>Mobile, Alabama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0084D2-5147-B0C1-6298-78B8BA34D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92" y="5925703"/>
            <a:ext cx="916208" cy="6841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9E6E9A-A158-3466-D226-24EAEBEE8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1902" y="5743044"/>
            <a:ext cx="1079946" cy="10799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522017-A785-A51E-9B50-86BF9C8C8E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1696" y="5948252"/>
            <a:ext cx="1327274" cy="6390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C68A1A-B98C-D37C-1AE4-19C5AF3C51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1134" y="5743044"/>
            <a:ext cx="1570583" cy="8834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005E-621B-77A6-CFAF-0472F511E8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0294" y="270234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Opening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9B303-CF9A-5E79-43CB-44C185CED0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024731"/>
            <a:ext cx="11083506" cy="5056892"/>
          </a:xfrm>
          <a:prstGeom prst="rect">
            <a:avLst/>
          </a:prstGeom>
        </p:spPr>
        <p:txBody>
          <a:bodyPr/>
          <a:lstStyle/>
          <a:p>
            <a:r>
              <a:rPr lang="en-US" sz="2600" dirty="0"/>
              <a:t>Workshop Objectives (managing expectations)</a:t>
            </a:r>
          </a:p>
          <a:p>
            <a:r>
              <a:rPr lang="en-US" sz="2600" dirty="0"/>
              <a:t>Introduction of Instructors</a:t>
            </a:r>
          </a:p>
          <a:p>
            <a:pPr lvl="1"/>
            <a:r>
              <a:rPr lang="en-US" sz="2600" dirty="0"/>
              <a:t>Jayantha Obeysekera, Research Professor, Institute of Environment, FIU</a:t>
            </a:r>
          </a:p>
          <a:p>
            <a:pPr lvl="1"/>
            <a:r>
              <a:rPr lang="en-US" sz="2600" dirty="0"/>
              <a:t>Todd Crowl, Professor, Director, Institute of Environment, FIU</a:t>
            </a:r>
          </a:p>
          <a:p>
            <a:pPr lvl="1"/>
            <a:r>
              <a:rPr lang="en-US" sz="2600" dirty="0"/>
              <a:t>Jason Liu, Professor, KFSCIS, College of Engineering and Computing, FIU</a:t>
            </a:r>
          </a:p>
          <a:p>
            <a:pPr lvl="1"/>
            <a:r>
              <a:rPr lang="en-US" sz="2600" dirty="0"/>
              <a:t>Wenqian Dong, Assistant Professor, Electrical Engineering and Computer Science, Oregon State University</a:t>
            </a:r>
          </a:p>
          <a:p>
            <a:pPr lvl="1"/>
            <a:r>
              <a:rPr lang="en-US" sz="2600" dirty="0"/>
              <a:t>Dongkuan Xu, Assistant Professor, Computer Science, NC State University</a:t>
            </a:r>
          </a:p>
          <a:p>
            <a:pPr lvl="1"/>
            <a:r>
              <a:rPr lang="en-US" sz="2600" dirty="0"/>
              <a:t>Hamed Najafi, Graduate Student, KFSCIS, FIU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00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930564" y="628858"/>
            <a:ext cx="4995863" cy="10826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EWRI 2026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ABED4-D1B0-9208-046C-71E7C63CB2EB}"/>
              </a:ext>
            </a:extLst>
          </p:cNvPr>
          <p:cNvSpPr txBox="1"/>
          <p:nvPr/>
        </p:nvSpPr>
        <p:spPr>
          <a:xfrm>
            <a:off x="396074" y="3886148"/>
            <a:ext cx="73151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hlinkClick r:id="rId2"/>
              </a:rPr>
              <a:t>https://cybertraining.dk-lab.xyz/workshop/ewri-2026</a:t>
            </a:r>
            <a:r>
              <a:rPr lang="en-US" sz="2400" i="1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CA345C-9EAF-893C-5E23-9D397BA67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273" y="1388251"/>
            <a:ext cx="3550163" cy="46491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45B27-46FD-6192-30AB-05C0BE044DFC}"/>
              </a:ext>
            </a:extLst>
          </p:cNvPr>
          <p:cNvSpPr txBox="1"/>
          <p:nvPr/>
        </p:nvSpPr>
        <p:spPr>
          <a:xfrm>
            <a:off x="703852" y="2229747"/>
            <a:ext cx="6842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+mj-lt"/>
              </a:rPr>
              <a:t>AI &amp; Machine Learning Training Workshop for Water Resources &amp; Environmental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7242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3ADC0D87-8818-A7BD-D905-5599FC5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Schedule for Today</a:t>
            </a:r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E979E676-851C-0CB2-D55C-B4347AC7C0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2093137"/>
              </p:ext>
            </p:extLst>
          </p:nvPr>
        </p:nvGraphicFramePr>
        <p:xfrm>
          <a:off x="670463" y="1585307"/>
          <a:ext cx="10745157" cy="5218267"/>
        </p:xfrm>
        <a:graphic>
          <a:graphicData uri="http://schemas.openxmlformats.org/drawingml/2006/table">
            <a:tbl>
              <a:tblPr firstRow="1" firstCol="1" bandRow="1"/>
              <a:tblGrid>
                <a:gridCol w="1443009">
                  <a:extLst>
                    <a:ext uri="{9D8B030D-6E8A-4147-A177-3AD203B41FA5}">
                      <a16:colId xmlns:a16="http://schemas.microsoft.com/office/drawing/2014/main" val="425533128"/>
                    </a:ext>
                  </a:extLst>
                </a:gridCol>
                <a:gridCol w="6927011">
                  <a:extLst>
                    <a:ext uri="{9D8B030D-6E8A-4147-A177-3AD203B41FA5}">
                      <a16:colId xmlns:a16="http://schemas.microsoft.com/office/drawing/2014/main" val="2337659334"/>
                    </a:ext>
                  </a:extLst>
                </a:gridCol>
                <a:gridCol w="2375137">
                  <a:extLst>
                    <a:ext uri="{9D8B030D-6E8A-4147-A177-3AD203B41FA5}">
                      <a16:colId xmlns:a16="http://schemas.microsoft.com/office/drawing/2014/main" val="933147390"/>
                    </a:ext>
                  </a:extLst>
                </a:gridCol>
              </a:tblGrid>
              <a:tr h="2715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Topic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Instructor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465089"/>
                  </a:ext>
                </a:extLst>
              </a:tr>
              <a:tr h="2715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1:00-1:15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Opening Remarks and Introductions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Jayantha Obeysekera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378413"/>
                  </a:ext>
                </a:extLst>
              </a:tr>
              <a:tr h="5131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1:15-1:45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Role of AI in Water and Environmental Science: Case Study in South Florida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Todd Crowl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775257"/>
                  </a:ext>
                </a:extLst>
              </a:tr>
              <a:tr h="5131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1:45-2:15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Introduction to AI/ML: Fundamentals, Hybrid approaches, Uncertainties, Ethical considerations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Jason Liu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582881"/>
                  </a:ext>
                </a:extLst>
              </a:tr>
              <a:tr h="2715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2:15-2:30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Q/A and/or Break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378095"/>
                  </a:ext>
                </a:extLst>
              </a:tr>
              <a:tr h="6298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2:30-3:45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AI/ML Methods:(Classification, Regression, RF, MLP, XGBoost, LSTM, CNN). Software systems (notebook options)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Wenqian Dong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Dongkuan Xu (DK)</a:t>
                      </a: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952236"/>
                  </a:ext>
                </a:extLst>
              </a:tr>
              <a:tr h="20708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3:45-4:45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Case Studies (10 mins each):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it-IT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Lake Okeechobee inflows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Sea Level Variability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it-IT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Groundwater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it-IT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Flood protection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it-IT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Downscaling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it-IT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Water quality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Jayantha Obeysekera, Hamed Najafi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826772"/>
                  </a:ext>
                </a:extLst>
              </a:tr>
              <a:tr h="2715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4:45-5:00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Concluding Remarks, Q&amp;A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6" marR="674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663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14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352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AI/ML matters in water resources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30352" y="804672"/>
            <a:ext cx="10789920" cy="0"/>
          </a:xfrm>
          <a:prstGeom prst="line">
            <a:avLst/>
          </a:prstGeom>
          <a:noFill/>
          <a:ln w="15240">
            <a:solidFill>
              <a:srgbClr val="9EB6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5585" y="896113"/>
            <a:ext cx="4069080" cy="5010912"/>
          </a:xfrm>
          <a:prstGeom prst="roundRect">
            <a:avLst>
              <a:gd name="adj" fmla="val 1798"/>
            </a:avLst>
          </a:prstGeom>
          <a:solidFill>
            <a:srgbClr val="FBFD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1047417"/>
            <a:ext cx="3611880" cy="12302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294861"/>
                </a:solidFill>
              </a:rPr>
              <a:t>Engineers already work with noisy, high-frequency, spatial, and time-dependent water data. ML helps when the goal is to</a:t>
            </a:r>
            <a:r>
              <a:rPr lang="en-US" sz="1800" dirty="0">
                <a:solidFill>
                  <a:srgbClr val="294861"/>
                </a:solidFill>
              </a:rPr>
              <a:t>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9120" y="2441447"/>
            <a:ext cx="3563112" cy="257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>
                <a:solidFill>
                  <a:srgbClr val="294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streamflow, stage, groundwater, or water quality
</a:t>
            </a:r>
            <a:r>
              <a:rPr lang="en-US" b="1" dirty="0">
                <a:solidFill>
                  <a:srgbClr val="2F6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>
                <a:solidFill>
                  <a:srgbClr val="294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flood / non-flood or wet / dry conditions(image recognition)
</a:t>
            </a:r>
            <a:r>
              <a:rPr lang="en-US" b="1" dirty="0">
                <a:solidFill>
                  <a:srgbClr val="2F6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>
                <a:solidFill>
                  <a:srgbClr val="294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patterns across watersheds and operating regimes
</a:t>
            </a:r>
            <a:r>
              <a:rPr lang="en-US" b="1" dirty="0">
                <a:solidFill>
                  <a:srgbClr val="2F6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>
                <a:solidFill>
                  <a:srgbClr val="294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sensor drift, outliers, and data-quality issues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3574" y="4946903"/>
            <a:ext cx="3611879" cy="86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Key idea: use ML to augment engineering judgment, not replace it.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73752" y="1078992"/>
            <a:ext cx="3246120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/mnt/data/stream_gauge.jpg"/>
          <p:cNvPicPr>
            <a:picLocks noChangeAspect="1"/>
          </p:cNvPicPr>
          <p:nvPr/>
        </p:nvPicPr>
        <p:blipFill>
          <a:blip r:embed="rId3"/>
          <a:srcRect t="14552" b="14552"/>
          <a:stretch/>
        </p:blipFill>
        <p:spPr>
          <a:xfrm>
            <a:off x="4983480" y="1188720"/>
            <a:ext cx="3026664" cy="160934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816352"/>
            <a:ext cx="3026664" cy="420624"/>
          </a:xfrm>
          <a:prstGeom prst="rect">
            <a:avLst/>
          </a:prstGeom>
          <a:solidFill>
            <a:srgbClr val="163A63">
              <a:alpha val="82000"/>
            </a:srgbClr>
          </a:solidFill>
          <a:ln w="12700">
            <a:solidFill>
              <a:srgbClr val="163A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175504" y="290779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Real-time monitoring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8275320" y="1078992"/>
            <a:ext cx="3337560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/mnt/data/water_control_room.webp"/>
          <p:cNvPicPr>
            <a:picLocks noChangeAspect="1"/>
          </p:cNvPicPr>
          <p:nvPr/>
        </p:nvPicPr>
        <p:blipFill>
          <a:blip r:embed="rId4"/>
          <a:srcRect l="9716" r="9716"/>
          <a:stretch/>
        </p:blipFill>
        <p:spPr>
          <a:xfrm>
            <a:off x="8385048" y="1188720"/>
            <a:ext cx="3118104" cy="160934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385048" y="2816352"/>
            <a:ext cx="3118104" cy="420624"/>
          </a:xfrm>
          <a:prstGeom prst="rect">
            <a:avLst/>
          </a:prstGeom>
          <a:solidFill>
            <a:srgbClr val="163A63">
              <a:alpha val="82000"/>
            </a:srgbClr>
          </a:solidFill>
          <a:ln w="12700">
            <a:solidFill>
              <a:srgbClr val="163A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330184" y="2890028"/>
            <a:ext cx="3227832" cy="26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Operations &amp; decision support</a:t>
            </a:r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4873752" y="3767328"/>
            <a:ext cx="6739128" cy="1920240"/>
          </a:xfrm>
          <a:prstGeom prst="roundRect">
            <a:avLst>
              <a:gd name="adj" fmla="val 3810"/>
            </a:avLst>
          </a:prstGeom>
          <a:solidFill>
            <a:srgbClr val="EAF3FB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157215" y="4041648"/>
            <a:ext cx="44267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63"/>
                </a:solidFill>
              </a:rPr>
              <a:t>Examples in this workshop</a:t>
            </a: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4930324" y="4506439"/>
            <a:ext cx="1299483" cy="108089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983480" y="4725895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F67A4"/>
                </a:solidFill>
              </a:rPr>
              <a:t>Streamflow</a:t>
            </a: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6282963" y="4501263"/>
            <a:ext cx="1072591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456699" y="479602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F67A4"/>
                </a:solidFill>
              </a:rPr>
              <a:t>Flood</a:t>
            </a:r>
            <a:endParaRPr lang="en-US" dirty="0"/>
          </a:p>
        </p:txBody>
      </p:sp>
      <p:sp>
        <p:nvSpPr>
          <p:cNvPr id="29" name="Shape 25"/>
          <p:cNvSpPr/>
          <p:nvPr/>
        </p:nvSpPr>
        <p:spPr>
          <a:xfrm>
            <a:off x="7483242" y="4526280"/>
            <a:ext cx="1188720" cy="108089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7637482" y="48463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F67A4"/>
                </a:solidFill>
              </a:rPr>
              <a:t>Groundwater</a:t>
            </a:r>
            <a:endParaRPr lang="en-US" dirty="0"/>
          </a:p>
        </p:txBody>
      </p:sp>
      <p:sp>
        <p:nvSpPr>
          <p:cNvPr id="32" name="Shape 28"/>
          <p:cNvSpPr/>
          <p:nvPr/>
        </p:nvSpPr>
        <p:spPr>
          <a:xfrm>
            <a:off x="8698186" y="4507043"/>
            <a:ext cx="1570526" cy="11372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8594143" y="4612373"/>
            <a:ext cx="1780147" cy="45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F67A4"/>
                </a:solidFill>
              </a:rPr>
              <a:t>Downscaling</a:t>
            </a:r>
            <a:endParaRPr lang="en-US" dirty="0"/>
          </a:p>
        </p:txBody>
      </p:sp>
      <p:sp>
        <p:nvSpPr>
          <p:cNvPr id="35" name="Shape 31"/>
          <p:cNvSpPr/>
          <p:nvPr/>
        </p:nvSpPr>
        <p:spPr>
          <a:xfrm>
            <a:off x="10277856" y="4526280"/>
            <a:ext cx="1225296" cy="108089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10451592" y="481077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F67A4"/>
                </a:solidFill>
              </a:rPr>
              <a:t>Sea Level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E15563-6A89-42C9-FBA2-7789D4C85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780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4E54F2B-214F-8006-0198-3C4EDE618D49}"/>
              </a:ext>
            </a:extLst>
          </p:cNvPr>
          <p:cNvSpPr/>
          <p:nvPr/>
        </p:nvSpPr>
        <p:spPr>
          <a:xfrm>
            <a:off x="367266" y="1814933"/>
            <a:ext cx="5524519" cy="4049507"/>
          </a:xfrm>
          <a:custGeom>
            <a:avLst/>
            <a:gdLst>
              <a:gd name="csX0" fmla="*/ 4980689 w 5268035"/>
              <a:gd name="csY0" fmla="*/ 0 h 2925318"/>
              <a:gd name="csX1" fmla="*/ 5268036 w 5268035"/>
              <a:gd name="csY1" fmla="*/ 0 h 2925318"/>
              <a:gd name="csX2" fmla="*/ 5268036 w 5268035"/>
              <a:gd name="csY2" fmla="*/ 2925319 h 2925318"/>
              <a:gd name="csX3" fmla="*/ 4980689 w 5268035"/>
              <a:gd name="csY3" fmla="*/ 2925319 h 2925318"/>
              <a:gd name="csX4" fmla="*/ 287347 w 5268035"/>
              <a:gd name="csY4" fmla="*/ 2925319 h 2925318"/>
              <a:gd name="csX5" fmla="*/ 0 w 5268035"/>
              <a:gd name="csY5" fmla="*/ 2925319 h 2925318"/>
              <a:gd name="csX6" fmla="*/ 0 w 5268035"/>
              <a:gd name="csY6" fmla="*/ 0 h 2925318"/>
              <a:gd name="csX7" fmla="*/ 287347 w 5268035"/>
              <a:gd name="csY7" fmla="*/ 0 h 29253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68035" h="2925318">
                <a:moveTo>
                  <a:pt x="4980689" y="0"/>
                </a:moveTo>
                <a:cubicBezTo>
                  <a:pt x="5139386" y="0"/>
                  <a:pt x="5268036" y="0"/>
                  <a:pt x="5268036" y="0"/>
                </a:cubicBezTo>
                <a:lnTo>
                  <a:pt x="5268036" y="2925319"/>
                </a:lnTo>
                <a:cubicBezTo>
                  <a:pt x="5268036" y="2925319"/>
                  <a:pt x="5139386" y="2925319"/>
                  <a:pt x="4980689" y="2925319"/>
                </a:cubicBezTo>
                <a:lnTo>
                  <a:pt x="287347" y="2925319"/>
                </a:lnTo>
                <a:cubicBezTo>
                  <a:pt x="128650" y="2925319"/>
                  <a:pt x="0" y="2925319"/>
                  <a:pt x="0" y="2925319"/>
                </a:cubicBezTo>
                <a:lnTo>
                  <a:pt x="0" y="0"/>
                </a:lnTo>
                <a:cubicBezTo>
                  <a:pt x="0" y="0"/>
                  <a:pt x="128650" y="0"/>
                  <a:pt x="287347" y="0"/>
                </a:cubicBezTo>
                <a:close/>
              </a:path>
            </a:pathLst>
          </a:custGeom>
          <a:solidFill>
            <a:srgbClr val="EAF4F8"/>
          </a:solidFill>
          <a:ln w="47873" cap="flat">
            <a:solidFill>
              <a:srgbClr val="17324D"/>
            </a:solidFill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294782-AA78-DBC2-5D6F-2BF1DAC32E9A}"/>
              </a:ext>
            </a:extLst>
          </p:cNvPr>
          <p:cNvSpPr/>
          <p:nvPr/>
        </p:nvSpPr>
        <p:spPr>
          <a:xfrm>
            <a:off x="820292" y="2330359"/>
            <a:ext cx="4848988" cy="273858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5109" y="4627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</a:rPr>
              <a:t>Few Basics</a:t>
            </a:r>
            <a:endParaRPr lang="en-US" sz="36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2B4760E-AAAE-B7B8-392D-B373C86B135F}"/>
              </a:ext>
            </a:extLst>
          </p:cNvPr>
          <p:cNvSpPr/>
          <p:nvPr/>
        </p:nvSpPr>
        <p:spPr>
          <a:xfrm>
            <a:off x="1025392" y="2652069"/>
            <a:ext cx="1155126" cy="1233635"/>
          </a:xfrm>
          <a:custGeom>
            <a:avLst/>
            <a:gdLst>
              <a:gd name="csX0" fmla="*/ 933879 w 1101498"/>
              <a:gd name="csY0" fmla="*/ 0 h 957377"/>
              <a:gd name="csX1" fmla="*/ 1101498 w 1101498"/>
              <a:gd name="csY1" fmla="*/ 0 h 957377"/>
              <a:gd name="csX2" fmla="*/ 1101498 w 1101498"/>
              <a:gd name="csY2" fmla="*/ 957377 h 957377"/>
              <a:gd name="csX3" fmla="*/ 933879 w 1101498"/>
              <a:gd name="csY3" fmla="*/ 957377 h 957377"/>
              <a:gd name="csX4" fmla="*/ 167619 w 1101498"/>
              <a:gd name="csY4" fmla="*/ 957377 h 957377"/>
              <a:gd name="csX5" fmla="*/ 0 w 1101498"/>
              <a:gd name="csY5" fmla="*/ 957377 h 957377"/>
              <a:gd name="csX6" fmla="*/ 0 w 1101498"/>
              <a:gd name="csY6" fmla="*/ 0 h 957377"/>
              <a:gd name="csX7" fmla="*/ 167619 w 1101498"/>
              <a:gd name="csY7" fmla="*/ 0 h 9573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1498" h="957377">
                <a:moveTo>
                  <a:pt x="933879" y="0"/>
                </a:moveTo>
                <a:cubicBezTo>
                  <a:pt x="1026453" y="0"/>
                  <a:pt x="1101498" y="0"/>
                  <a:pt x="1101498" y="0"/>
                </a:cubicBezTo>
                <a:lnTo>
                  <a:pt x="1101498" y="957377"/>
                </a:lnTo>
                <a:cubicBezTo>
                  <a:pt x="1101498" y="957377"/>
                  <a:pt x="1026453" y="957377"/>
                  <a:pt x="933879" y="957377"/>
                </a:cubicBezTo>
                <a:lnTo>
                  <a:pt x="167619" y="957377"/>
                </a:lnTo>
                <a:cubicBezTo>
                  <a:pt x="75046" y="957377"/>
                  <a:pt x="0" y="957377"/>
                  <a:pt x="0" y="957377"/>
                </a:cubicBezTo>
                <a:lnTo>
                  <a:pt x="0" y="0"/>
                </a:lnTo>
                <a:cubicBezTo>
                  <a:pt x="0" y="0"/>
                  <a:pt x="75046" y="0"/>
                  <a:pt x="167619" y="0"/>
                </a:cubicBezTo>
                <a:close/>
              </a:path>
            </a:pathLst>
          </a:custGeom>
          <a:solidFill>
            <a:srgbClr val="DFF4F6"/>
          </a:solidFill>
          <a:ln w="35905" cap="flat">
            <a:solidFill>
              <a:srgbClr val="17324D"/>
            </a:solidFill>
            <a:prstDash val="solid"/>
            <a:miter/>
          </a:ln>
          <a:effectLst>
            <a:softEdge rad="12700"/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BED84A2-EBC4-D70A-3D74-72B775E9C85D}"/>
              </a:ext>
            </a:extLst>
          </p:cNvPr>
          <p:cNvSpPr/>
          <p:nvPr/>
        </p:nvSpPr>
        <p:spPr>
          <a:xfrm>
            <a:off x="2209821" y="2635408"/>
            <a:ext cx="1582381" cy="1233635"/>
          </a:xfrm>
          <a:custGeom>
            <a:avLst/>
            <a:gdLst>
              <a:gd name="csX0" fmla="*/ 933879 w 1101498"/>
              <a:gd name="csY0" fmla="*/ 0 h 957377"/>
              <a:gd name="csX1" fmla="*/ 1101498 w 1101498"/>
              <a:gd name="csY1" fmla="*/ 0 h 957377"/>
              <a:gd name="csX2" fmla="*/ 1101498 w 1101498"/>
              <a:gd name="csY2" fmla="*/ 957377 h 957377"/>
              <a:gd name="csX3" fmla="*/ 933879 w 1101498"/>
              <a:gd name="csY3" fmla="*/ 957377 h 957377"/>
              <a:gd name="csX4" fmla="*/ 167619 w 1101498"/>
              <a:gd name="csY4" fmla="*/ 957377 h 957377"/>
              <a:gd name="csX5" fmla="*/ 0 w 1101498"/>
              <a:gd name="csY5" fmla="*/ 957377 h 957377"/>
              <a:gd name="csX6" fmla="*/ 0 w 1101498"/>
              <a:gd name="csY6" fmla="*/ 0 h 957377"/>
              <a:gd name="csX7" fmla="*/ 167619 w 1101498"/>
              <a:gd name="csY7" fmla="*/ 0 h 9573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1498" h="957377">
                <a:moveTo>
                  <a:pt x="933879" y="0"/>
                </a:moveTo>
                <a:cubicBezTo>
                  <a:pt x="1026453" y="0"/>
                  <a:pt x="1101498" y="0"/>
                  <a:pt x="1101498" y="0"/>
                </a:cubicBezTo>
                <a:lnTo>
                  <a:pt x="1101498" y="957377"/>
                </a:lnTo>
                <a:cubicBezTo>
                  <a:pt x="1101498" y="957377"/>
                  <a:pt x="1026453" y="957377"/>
                  <a:pt x="933879" y="957377"/>
                </a:cubicBezTo>
                <a:lnTo>
                  <a:pt x="167619" y="957377"/>
                </a:lnTo>
                <a:cubicBezTo>
                  <a:pt x="75046" y="957377"/>
                  <a:pt x="0" y="957377"/>
                  <a:pt x="0" y="957377"/>
                </a:cubicBezTo>
                <a:lnTo>
                  <a:pt x="0" y="0"/>
                </a:lnTo>
                <a:cubicBezTo>
                  <a:pt x="0" y="0"/>
                  <a:pt x="75046" y="0"/>
                  <a:pt x="167619" y="0"/>
                </a:cubicBezTo>
                <a:close/>
              </a:path>
            </a:pathLst>
          </a:custGeom>
          <a:solidFill>
            <a:srgbClr val="DFF4F6"/>
          </a:solidFill>
          <a:ln w="35905" cap="flat">
            <a:solidFill>
              <a:srgbClr val="17324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2F0C079-1EC6-1559-8B2A-F2510191FA29}"/>
              </a:ext>
            </a:extLst>
          </p:cNvPr>
          <p:cNvSpPr/>
          <p:nvPr/>
        </p:nvSpPr>
        <p:spPr>
          <a:xfrm>
            <a:off x="3864593" y="2615863"/>
            <a:ext cx="1658751" cy="1233635"/>
          </a:xfrm>
          <a:custGeom>
            <a:avLst/>
            <a:gdLst>
              <a:gd name="csX0" fmla="*/ 933879 w 1101498"/>
              <a:gd name="csY0" fmla="*/ 0 h 957377"/>
              <a:gd name="csX1" fmla="*/ 1101498 w 1101498"/>
              <a:gd name="csY1" fmla="*/ 0 h 957377"/>
              <a:gd name="csX2" fmla="*/ 1101498 w 1101498"/>
              <a:gd name="csY2" fmla="*/ 957377 h 957377"/>
              <a:gd name="csX3" fmla="*/ 933879 w 1101498"/>
              <a:gd name="csY3" fmla="*/ 957377 h 957377"/>
              <a:gd name="csX4" fmla="*/ 167619 w 1101498"/>
              <a:gd name="csY4" fmla="*/ 957377 h 957377"/>
              <a:gd name="csX5" fmla="*/ 0 w 1101498"/>
              <a:gd name="csY5" fmla="*/ 957377 h 957377"/>
              <a:gd name="csX6" fmla="*/ 0 w 1101498"/>
              <a:gd name="csY6" fmla="*/ 0 h 957377"/>
              <a:gd name="csX7" fmla="*/ 167619 w 1101498"/>
              <a:gd name="csY7" fmla="*/ 0 h 9573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01498" h="957377">
                <a:moveTo>
                  <a:pt x="933879" y="0"/>
                </a:moveTo>
                <a:cubicBezTo>
                  <a:pt x="1026453" y="0"/>
                  <a:pt x="1101498" y="0"/>
                  <a:pt x="1101498" y="0"/>
                </a:cubicBezTo>
                <a:lnTo>
                  <a:pt x="1101498" y="957377"/>
                </a:lnTo>
                <a:cubicBezTo>
                  <a:pt x="1101498" y="957377"/>
                  <a:pt x="1026453" y="957377"/>
                  <a:pt x="933879" y="957377"/>
                </a:cubicBezTo>
                <a:lnTo>
                  <a:pt x="167619" y="957377"/>
                </a:lnTo>
                <a:cubicBezTo>
                  <a:pt x="75046" y="957377"/>
                  <a:pt x="0" y="957377"/>
                  <a:pt x="0" y="957377"/>
                </a:cubicBezTo>
                <a:lnTo>
                  <a:pt x="0" y="0"/>
                </a:lnTo>
                <a:cubicBezTo>
                  <a:pt x="0" y="0"/>
                  <a:pt x="75046" y="0"/>
                  <a:pt x="167619" y="0"/>
                </a:cubicBezTo>
                <a:close/>
              </a:path>
            </a:pathLst>
          </a:custGeom>
          <a:solidFill>
            <a:srgbClr val="DFF4F6"/>
          </a:solidFill>
          <a:ln w="35905" cap="flat">
            <a:solidFill>
              <a:srgbClr val="17324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3D3AD74-1184-F222-B66E-7501A702A57C}"/>
              </a:ext>
            </a:extLst>
          </p:cNvPr>
          <p:cNvSpPr/>
          <p:nvPr/>
        </p:nvSpPr>
        <p:spPr>
          <a:xfrm>
            <a:off x="1348871" y="4096035"/>
            <a:ext cx="3998984" cy="808474"/>
          </a:xfrm>
          <a:custGeom>
            <a:avLst/>
            <a:gdLst>
              <a:gd name="csX0" fmla="*/ 3496060 w 3615788"/>
              <a:gd name="csY0" fmla="*/ 0 h 305828"/>
              <a:gd name="csX1" fmla="*/ 3615788 w 3615788"/>
              <a:gd name="csY1" fmla="*/ 0 h 305828"/>
              <a:gd name="csX2" fmla="*/ 3615788 w 3615788"/>
              <a:gd name="csY2" fmla="*/ 305829 h 305828"/>
              <a:gd name="csX3" fmla="*/ 3496060 w 3615788"/>
              <a:gd name="csY3" fmla="*/ 305829 h 305828"/>
              <a:gd name="csX4" fmla="*/ 119728 w 3615788"/>
              <a:gd name="csY4" fmla="*/ 305829 h 305828"/>
              <a:gd name="csX5" fmla="*/ 0 w 3615788"/>
              <a:gd name="csY5" fmla="*/ 305829 h 305828"/>
              <a:gd name="csX6" fmla="*/ 0 w 3615788"/>
              <a:gd name="csY6" fmla="*/ 0 h 305828"/>
              <a:gd name="csX7" fmla="*/ 119728 w 3615788"/>
              <a:gd name="csY7" fmla="*/ 0 h 305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615788" h="305828">
                <a:moveTo>
                  <a:pt x="3496060" y="0"/>
                </a:moveTo>
                <a:cubicBezTo>
                  <a:pt x="3562184" y="0"/>
                  <a:pt x="3615788" y="0"/>
                  <a:pt x="3615788" y="0"/>
                </a:cubicBezTo>
                <a:lnTo>
                  <a:pt x="3615788" y="305829"/>
                </a:lnTo>
                <a:cubicBezTo>
                  <a:pt x="3615788" y="305829"/>
                  <a:pt x="3562184" y="305829"/>
                  <a:pt x="3496060" y="305829"/>
                </a:cubicBezTo>
                <a:lnTo>
                  <a:pt x="119728" y="305829"/>
                </a:lnTo>
                <a:cubicBezTo>
                  <a:pt x="53604" y="305829"/>
                  <a:pt x="0" y="305829"/>
                  <a:pt x="0" y="305829"/>
                </a:cubicBezTo>
                <a:lnTo>
                  <a:pt x="0" y="0"/>
                </a:lnTo>
                <a:cubicBezTo>
                  <a:pt x="0" y="0"/>
                  <a:pt x="53604" y="0"/>
                  <a:pt x="119728" y="0"/>
                </a:cubicBezTo>
                <a:close/>
              </a:path>
            </a:pathLst>
          </a:custGeom>
          <a:solidFill>
            <a:srgbClr val="CFE5F1"/>
          </a:solidFill>
          <a:ln w="23937" cap="flat">
            <a:solidFill>
              <a:srgbClr val="17324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78AB9C-CA8D-7641-D311-BB4E661AEBF6}"/>
              </a:ext>
            </a:extLst>
          </p:cNvPr>
          <p:cNvSpPr txBox="1"/>
          <p:nvPr/>
        </p:nvSpPr>
        <p:spPr>
          <a:xfrm>
            <a:off x="1963064" y="1939300"/>
            <a:ext cx="283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spc="0" baseline="0" dirty="0">
                <a:ln/>
                <a:solidFill>
                  <a:srgbClr val="17324D"/>
                </a:solidFill>
                <a:latin typeface="Aptos"/>
                <a:sym typeface="Aptos"/>
                <a:rtl val="0"/>
              </a:rPr>
              <a:t>Artificial intelligence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3937F9-236E-12D6-739E-928C06970162}"/>
              </a:ext>
            </a:extLst>
          </p:cNvPr>
          <p:cNvSpPr txBox="1"/>
          <p:nvPr/>
        </p:nvSpPr>
        <p:spPr>
          <a:xfrm>
            <a:off x="2349485" y="2295144"/>
            <a:ext cx="204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pc="0" baseline="0" dirty="0">
                <a:ln/>
                <a:solidFill>
                  <a:srgbClr val="17324D"/>
                </a:solidFill>
                <a:latin typeface="Aptos"/>
                <a:sym typeface="Aptos"/>
                <a:rtl val="0"/>
              </a:rPr>
              <a:t>Machine learning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11BC2D-C63C-D03C-1548-A6FDD5E4D223}"/>
              </a:ext>
            </a:extLst>
          </p:cNvPr>
          <p:cNvSpPr txBox="1"/>
          <p:nvPr/>
        </p:nvSpPr>
        <p:spPr>
          <a:xfrm>
            <a:off x="996089" y="2782669"/>
            <a:ext cx="1353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pc="0" baseline="0" dirty="0">
                <a:ln/>
                <a:solidFill>
                  <a:srgbClr val="17324D"/>
                </a:solidFill>
                <a:latin typeface="Aptos"/>
                <a:sym typeface="Aptos"/>
                <a:rtl val="0"/>
              </a:rPr>
              <a:t>Supervisd learning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CFADF3-49E9-C225-839D-E84F01464F6E}"/>
              </a:ext>
            </a:extLst>
          </p:cNvPr>
          <p:cNvSpPr txBox="1"/>
          <p:nvPr/>
        </p:nvSpPr>
        <p:spPr>
          <a:xfrm>
            <a:off x="2209822" y="2815012"/>
            <a:ext cx="1566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pc="0" baseline="0" dirty="0">
                <a:ln/>
                <a:solidFill>
                  <a:srgbClr val="17324D"/>
                </a:solidFill>
                <a:latin typeface="Aptos"/>
                <a:sym typeface="Aptos"/>
                <a:rtl val="0"/>
              </a:rPr>
              <a:t>Unsupervised learning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99A397-FE38-0509-E7DC-74F8E1363369}"/>
              </a:ext>
            </a:extLst>
          </p:cNvPr>
          <p:cNvSpPr txBox="1"/>
          <p:nvPr/>
        </p:nvSpPr>
        <p:spPr>
          <a:xfrm>
            <a:off x="3859737" y="2848716"/>
            <a:ext cx="1715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pc="0" baseline="0" dirty="0">
                <a:ln/>
                <a:solidFill>
                  <a:srgbClr val="17324D"/>
                </a:solidFill>
                <a:latin typeface="Aptos"/>
                <a:sym typeface="Aptos"/>
                <a:rtl val="0"/>
              </a:rPr>
              <a:t>Reinforcement learning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72E950-47EB-E477-057C-3918A64B4765}"/>
              </a:ext>
            </a:extLst>
          </p:cNvPr>
          <p:cNvSpPr txBox="1"/>
          <p:nvPr/>
        </p:nvSpPr>
        <p:spPr>
          <a:xfrm>
            <a:off x="1527355" y="4135002"/>
            <a:ext cx="3189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pc="0" baseline="0" dirty="0">
                <a:ln/>
                <a:solidFill>
                  <a:srgbClr val="17324D"/>
                </a:solidFill>
                <a:latin typeface="Aptos"/>
                <a:sym typeface="Aptos"/>
                <a:rtl val="0"/>
              </a:rPr>
              <a:t>Deep learning contributes to all three</a:t>
            </a:r>
          </a:p>
        </p:txBody>
      </p:sp>
      <p:sp>
        <p:nvSpPr>
          <p:cNvPr id="8" name="Shape 5"/>
          <p:cNvSpPr/>
          <p:nvPr/>
        </p:nvSpPr>
        <p:spPr>
          <a:xfrm>
            <a:off x="5943600" y="2295144"/>
            <a:ext cx="128016" cy="12801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00216" y="2046342"/>
            <a:ext cx="5025772" cy="736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the broad field of building systems that simulate intelligent behavior.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0" y="2953512"/>
            <a:ext cx="128016" cy="12801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0216" y="2832811"/>
            <a:ext cx="4992624" cy="49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is a subset of AI that learns from observed data.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943600" y="3611880"/>
            <a:ext cx="128016" cy="12801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00216" y="3739896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uses deep neural networks and now powers many practical tasks in text, speech, and vision.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96089" y="521908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as one important branch of ML, not as the whole of AI.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72913" y="6565900"/>
            <a:ext cx="319087" cy="1635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3A63"/>
          </a:solidFill>
          <a:ln>
            <a:solidFill>
              <a:srgbClr val="163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8503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 dirty="0">
                <a:solidFill>
                  <a:srgbClr val="163A63"/>
                </a:solidFill>
                <a:latin typeface="Aptos Display"/>
              </a:rPr>
              <a:t>Making AI usable in practice: data, uncertainty, ethics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04672"/>
            <a:ext cx="10213848" cy="9144"/>
          </a:xfrm>
          <a:prstGeom prst="rect">
            <a:avLst/>
          </a:prstGeom>
          <a:solidFill>
            <a:srgbClr val="E3EAF0"/>
          </a:solidFill>
          <a:ln>
            <a:solidFill>
              <a:srgbClr val="E3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950976"/>
            <a:ext cx="102412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 dirty="0">
                <a:solidFill>
                  <a:srgbClr val="294861"/>
                </a:solidFill>
                <a:latin typeface="Aptos"/>
              </a:rPr>
              <a:t>The hard part is not only fitting a model — it is building a workflow engineers can defend.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463040"/>
            <a:ext cx="55778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491472"/>
            <a:ext cx="4450195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0" dirty="0">
                <a:solidFill>
                  <a:srgbClr val="163A63"/>
                </a:solidFill>
                <a:latin typeface="Aptos"/>
              </a:rPr>
              <a:t>From raw data to a defensible decision</a:t>
            </a:r>
          </a:p>
        </p:txBody>
      </p:sp>
      <p:pic>
        <p:nvPicPr>
          <p:cNvPr id="12" name="Picture 11" descr="inf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01952"/>
            <a:ext cx="5166360" cy="2286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32688" y="4480560"/>
            <a:ext cx="1060704" cy="1186244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4562856"/>
            <a:ext cx="1078992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b="1" i="0" dirty="0">
                <a:solidFill>
                  <a:srgbClr val="2F67A4"/>
                </a:solidFill>
                <a:latin typeface="Aptos"/>
              </a:rPr>
              <a:t>raw water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39696" y="4480560"/>
            <a:ext cx="1243584" cy="1186244"/>
          </a:xfrm>
          <a:prstGeom prst="roundRect">
            <a:avLst/>
          </a:prstGeom>
          <a:solidFill>
            <a:srgbClr val="EFF8F0"/>
          </a:solidFill>
          <a:ln w="12700">
            <a:solidFill>
              <a:srgbClr val="EF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57984" y="4562856"/>
            <a:ext cx="1243584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b="1" i="0">
                <a:solidFill>
                  <a:srgbClr val="6FBF73"/>
                </a:solidFill>
                <a:latin typeface="Aptos"/>
              </a:rPr>
              <a:t>AI-ready database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7872" y="4480560"/>
            <a:ext cx="1353312" cy="1105948"/>
          </a:xfrm>
          <a:prstGeom prst="roundRect">
            <a:avLst/>
          </a:prstGeom>
          <a:solidFill>
            <a:srgbClr val="FCF4EC"/>
          </a:solidFill>
          <a:ln w="12700">
            <a:solidFill>
              <a:srgbClr val="FC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4562856"/>
            <a:ext cx="1316736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b="1" i="0" dirty="0">
                <a:solidFill>
                  <a:srgbClr val="D47A43"/>
                </a:solidFill>
                <a:latin typeface="Aptos"/>
              </a:rPr>
              <a:t>model + uncertainty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4480560"/>
            <a:ext cx="1051560" cy="1069158"/>
          </a:xfrm>
          <a:prstGeom prst="roundRect">
            <a:avLst/>
          </a:prstGeom>
          <a:solidFill>
            <a:srgbClr val="FAEFF0"/>
          </a:solidFill>
          <a:ln w="12700">
            <a:solidFill>
              <a:srgbClr val="F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47488" y="4562856"/>
            <a:ext cx="1042415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b="1" i="0" dirty="0">
                <a:solidFill>
                  <a:srgbClr val="AF5D65"/>
                </a:solidFill>
                <a:latin typeface="Aptos"/>
              </a:rPr>
              <a:t>human decision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463040"/>
            <a:ext cx="2331720" cy="16002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3" y="1522217"/>
            <a:ext cx="20574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0" dirty="0">
                <a:solidFill>
                  <a:srgbClr val="163A63"/>
                </a:solidFill>
                <a:latin typeface="Aptos"/>
              </a:rPr>
              <a:t>AI-ready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5" y="1965960"/>
            <a:ext cx="2075687" cy="114492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294861"/>
                </a:solidFill>
                <a:latin typeface="Aptos"/>
              </a:rPr>
              <a:t>units, timestamps, locations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294861"/>
                </a:solidFill>
                <a:latin typeface="Aptos"/>
              </a:rPr>
              <a:t>metadata, QC flags, versioning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0848" y="1463040"/>
            <a:ext cx="2331720" cy="1600200"/>
          </a:xfrm>
          <a:prstGeom prst="roundRect">
            <a:avLst/>
          </a:prstGeom>
          <a:solidFill>
            <a:srgbClr val="FCF4EC"/>
          </a:solidFill>
          <a:ln w="12700">
            <a:solidFill>
              <a:srgbClr val="FC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8008" y="1590499"/>
            <a:ext cx="20574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0" dirty="0">
                <a:solidFill>
                  <a:srgbClr val="163A63"/>
                </a:solidFill>
                <a:latin typeface="Aptos"/>
              </a:rPr>
              <a:t>Data 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1965960"/>
            <a:ext cx="2075687" cy="114492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294861"/>
                </a:solidFill>
                <a:latin typeface="Aptos"/>
              </a:rPr>
              <a:t>missing sensors and sparse labels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294861"/>
                </a:solidFill>
                <a:latin typeface="Aptos"/>
              </a:rPr>
              <a:t>rare extremes and shifting conditions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273552"/>
            <a:ext cx="2331720" cy="2212634"/>
          </a:xfrm>
          <a:prstGeom prst="roundRect">
            <a:avLst/>
          </a:prstGeom>
          <a:solidFill>
            <a:srgbClr val="EFF8F0"/>
          </a:solidFill>
          <a:ln w="12700">
            <a:solidFill>
              <a:srgbClr val="EF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3429000"/>
            <a:ext cx="23317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0">
                <a:solidFill>
                  <a:srgbClr val="163A63"/>
                </a:solidFill>
                <a:latin typeface="Aptos"/>
              </a:rPr>
              <a:t>Uncertainty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0255" y="3776472"/>
            <a:ext cx="2075687" cy="1421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294861"/>
                </a:solidFill>
                <a:latin typeface="Aptos"/>
              </a:rPr>
              <a:t>blocked train/test splits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294861"/>
                </a:solidFill>
                <a:latin typeface="Aptos"/>
              </a:rPr>
              <a:t>ensembles, intervals, transfer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70848" y="3273552"/>
            <a:ext cx="2331720" cy="1600200"/>
          </a:xfrm>
          <a:prstGeom prst="roundRect">
            <a:avLst/>
          </a:prstGeom>
          <a:solidFill>
            <a:srgbClr val="FAEFF0"/>
          </a:solidFill>
          <a:ln w="12700">
            <a:solidFill>
              <a:srgbClr val="F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98864" y="3302085"/>
            <a:ext cx="23317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0" dirty="0">
                <a:solidFill>
                  <a:srgbClr val="163A63"/>
                </a:solidFill>
                <a:latin typeface="Aptos"/>
              </a:rPr>
              <a:t>Ethics &amp;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650510"/>
            <a:ext cx="2075687" cy="114492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294861"/>
                </a:solidFill>
                <a:latin typeface="Aptos"/>
              </a:rPr>
              <a:t>transparency, bias, privacy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294861"/>
                </a:solidFill>
                <a:latin typeface="Aptos"/>
              </a:rPr>
              <a:t>cybersecurity and human override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997774"/>
            <a:ext cx="10533888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41501" y="6014276"/>
            <a:ext cx="996696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b="1" dirty="0">
                <a:solidFill>
                  <a:srgbClr val="163A63"/>
                </a:solidFill>
                <a:latin typeface="Aptos"/>
              </a:rPr>
              <a:t>A</a:t>
            </a:r>
            <a:r>
              <a:rPr b="1" i="0" dirty="0">
                <a:solidFill>
                  <a:srgbClr val="163A63"/>
                </a:solidFill>
                <a:latin typeface="Aptos"/>
              </a:rPr>
              <a:t>sk “Do we trust the data, quantify the uncertainty, and know who owns the decision?”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0808" y="19668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352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kinds of problems will practitioners solve?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30352" y="804672"/>
            <a:ext cx="10789920" cy="0"/>
          </a:xfrm>
          <a:prstGeom prst="line">
            <a:avLst/>
          </a:prstGeom>
          <a:noFill/>
          <a:ln w="15240">
            <a:solidFill>
              <a:srgbClr val="9EB6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51B7D8"/>
          </a:solidFill>
          <a:ln w="12700">
            <a:solidFill>
              <a:srgbClr val="51B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61320" y="292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7A4"/>
                </a:solidFill>
              </a:rPr>
              <a:t>USE CASES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3504" y="102412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94861"/>
                </a:solidFill>
              </a:rPr>
              <a:t>Anchor around a few high-value engineering tasks rather than a long list of algorithms.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1664208"/>
            <a:ext cx="2487168" cy="2057400"/>
          </a:xfrm>
          <a:prstGeom prst="roundRect">
            <a:avLst>
              <a:gd name="adj" fmla="val 3556"/>
            </a:avLst>
          </a:prstGeom>
          <a:solidFill>
            <a:srgbClr val="EAF3FB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1664208"/>
            <a:ext cx="2487168" cy="292608"/>
          </a:xfrm>
          <a:prstGeom prst="rect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176479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Continuous prediction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987552" y="3026664"/>
            <a:ext cx="1389888" cy="0"/>
          </a:xfrm>
          <a:prstGeom prst="line">
            <a:avLst/>
          </a:prstGeom>
          <a:noFill/>
          <a:ln w="12700">
            <a:solidFill>
              <a:srgbClr val="8DA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7552" y="2249424"/>
            <a:ext cx="0" cy="777240"/>
          </a:xfrm>
          <a:prstGeom prst="line">
            <a:avLst/>
          </a:prstGeom>
          <a:noFill/>
          <a:ln w="12700">
            <a:solidFill>
              <a:srgbClr val="8DA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57046" y="2871216"/>
            <a:ext cx="236281" cy="0"/>
          </a:xfrm>
          <a:prstGeom prst="line">
            <a:avLst/>
          </a:prstGeom>
          <a:noFill/>
          <a:ln w="3048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93327" y="2793492"/>
            <a:ext cx="222382" cy="0"/>
          </a:xfrm>
          <a:prstGeom prst="line">
            <a:avLst/>
          </a:prstGeom>
          <a:noFill/>
          <a:ln w="3048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515709" y="2638044"/>
            <a:ext cx="236281" cy="62179"/>
          </a:xfrm>
          <a:prstGeom prst="line">
            <a:avLst/>
          </a:prstGeom>
          <a:noFill/>
          <a:ln w="3048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51990" y="2700223"/>
            <a:ext cx="236281" cy="0"/>
          </a:xfrm>
          <a:prstGeom prst="line">
            <a:avLst/>
          </a:prstGeom>
          <a:noFill/>
          <a:ln w="3048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88271" y="2482596"/>
            <a:ext cx="277978" cy="0"/>
          </a:xfrm>
          <a:prstGeom prst="line">
            <a:avLst/>
          </a:prstGeom>
          <a:noFill/>
          <a:ln w="3048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25042" y="2839212"/>
            <a:ext cx="64008" cy="64008"/>
          </a:xfrm>
          <a:prstGeom prst="ellipse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61323" y="2761488"/>
            <a:ext cx="64008" cy="64008"/>
          </a:xfrm>
          <a:prstGeom prst="ellipse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483705" y="2606040"/>
            <a:ext cx="64008" cy="64008"/>
          </a:xfrm>
          <a:prstGeom prst="ellipse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719986" y="2668219"/>
            <a:ext cx="64008" cy="64008"/>
          </a:xfrm>
          <a:prstGeom prst="ellipse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956267" y="2450592"/>
            <a:ext cx="64008" cy="64008"/>
          </a:xfrm>
          <a:prstGeom prst="ellipse">
            <a:avLst/>
          </a:prstGeom>
          <a:solidFill>
            <a:srgbClr val="D47A43"/>
          </a:solidFill>
          <a:ln w="12700">
            <a:solidFill>
              <a:srgbClr val="D47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34245" y="2341778"/>
            <a:ext cx="64008" cy="64008"/>
          </a:xfrm>
          <a:prstGeom prst="ellipse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913" y="3119692"/>
            <a:ext cx="256671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294861"/>
                </a:solidFill>
              </a:rPr>
              <a:t>streamflow, stage, water quality, groundwater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547872" y="1664208"/>
            <a:ext cx="2487168" cy="2057400"/>
          </a:xfrm>
          <a:prstGeom prst="roundRect">
            <a:avLst>
              <a:gd name="adj" fmla="val 3556"/>
            </a:avLst>
          </a:prstGeom>
          <a:solidFill>
            <a:srgbClr val="FCF1E8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547872" y="1664208"/>
            <a:ext cx="2487168" cy="292608"/>
          </a:xfrm>
          <a:prstGeom prst="rect">
            <a:avLst/>
          </a:prstGeom>
          <a:solidFill>
            <a:srgbClr val="D47A43"/>
          </a:solidFill>
          <a:ln w="12700">
            <a:solidFill>
              <a:srgbClr val="D47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0" y="1764792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Classification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941064" y="2212848"/>
            <a:ext cx="10789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8EA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41064" y="2212848"/>
            <a:ext cx="539496" cy="393192"/>
          </a:xfrm>
          <a:prstGeom prst="rect">
            <a:avLst/>
          </a:prstGeom>
          <a:solidFill>
            <a:srgbClr val="DDEFF7"/>
          </a:solidFill>
          <a:ln w="7620">
            <a:solidFill>
              <a:srgbClr val="8EA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80560" y="2212848"/>
            <a:ext cx="539496" cy="393192"/>
          </a:xfrm>
          <a:prstGeom prst="rect">
            <a:avLst/>
          </a:prstGeom>
          <a:solidFill>
            <a:srgbClr val="FCE7E5"/>
          </a:solidFill>
          <a:ln w="7620">
            <a:solidFill>
              <a:srgbClr val="8EA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941064" y="2606040"/>
            <a:ext cx="539496" cy="393192"/>
          </a:xfrm>
          <a:prstGeom prst="rect">
            <a:avLst/>
          </a:prstGeom>
          <a:solidFill>
            <a:srgbClr val="FCE7E5"/>
          </a:solidFill>
          <a:ln w="7620">
            <a:solidFill>
              <a:srgbClr val="8EA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80560" y="2606040"/>
            <a:ext cx="539496" cy="393192"/>
          </a:xfrm>
          <a:prstGeom prst="rect">
            <a:avLst/>
          </a:prstGeom>
          <a:solidFill>
            <a:srgbClr val="E6F5E8"/>
          </a:solidFill>
          <a:ln w="7620">
            <a:solidFill>
              <a:srgbClr val="8EA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94176" y="318211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294861"/>
                </a:solidFill>
              </a:rPr>
              <a:t>flood / non-flood, wet / dry, drought class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364224" y="1664208"/>
            <a:ext cx="2487168" cy="2057400"/>
          </a:xfrm>
          <a:prstGeom prst="roundRect">
            <a:avLst>
              <a:gd name="adj" fmla="val 3556"/>
            </a:avLst>
          </a:prstGeom>
          <a:solidFill>
            <a:srgbClr val="EFF8F0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64224" y="1664208"/>
            <a:ext cx="2487168" cy="292608"/>
          </a:xfrm>
          <a:prstGeom prst="rect">
            <a:avLst/>
          </a:prstGeom>
          <a:solidFill>
            <a:srgbClr val="6FBF73"/>
          </a:solidFill>
          <a:ln w="12700">
            <a:solidFill>
              <a:srgbClr val="6F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73952" y="1764792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Clustering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620256" y="3044952"/>
            <a:ext cx="1444752" cy="0"/>
          </a:xfrm>
          <a:prstGeom prst="line">
            <a:avLst/>
          </a:prstGeom>
          <a:noFill/>
          <a:ln w="12700">
            <a:solidFill>
              <a:srgbClr val="8DA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620256" y="2176272"/>
            <a:ext cx="0" cy="868680"/>
          </a:xfrm>
          <a:prstGeom prst="line">
            <a:avLst/>
          </a:prstGeom>
          <a:noFill/>
          <a:ln w="12700">
            <a:solidFill>
              <a:srgbClr val="8DA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805696" y="2721254"/>
            <a:ext cx="91440" cy="91440"/>
          </a:xfrm>
          <a:prstGeom prst="ellipse">
            <a:avLst/>
          </a:prstGeom>
          <a:solidFill>
            <a:srgbClr val="D8B14B"/>
          </a:solidFill>
          <a:ln w="12700">
            <a:solidFill>
              <a:srgbClr val="D8B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892381" y="2660447"/>
            <a:ext cx="91440" cy="91440"/>
          </a:xfrm>
          <a:prstGeom prst="ellipse">
            <a:avLst/>
          </a:prstGeom>
          <a:solidFill>
            <a:srgbClr val="D8B14B"/>
          </a:solidFill>
          <a:ln w="12700">
            <a:solidFill>
              <a:srgbClr val="D8B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762354" y="2625700"/>
            <a:ext cx="91440" cy="91440"/>
          </a:xfrm>
          <a:prstGeom prst="ellipse">
            <a:avLst/>
          </a:prstGeom>
          <a:solidFill>
            <a:srgbClr val="D8B14B"/>
          </a:solidFill>
          <a:ln w="12700">
            <a:solidFill>
              <a:srgbClr val="D8B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921276" y="2564892"/>
            <a:ext cx="91440" cy="91440"/>
          </a:xfrm>
          <a:prstGeom prst="ellipse">
            <a:avLst/>
          </a:prstGeom>
          <a:solidFill>
            <a:srgbClr val="D8B14B"/>
          </a:solidFill>
          <a:ln w="12700">
            <a:solidFill>
              <a:srgbClr val="D8B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022409" y="2660447"/>
            <a:ext cx="91440" cy="91440"/>
          </a:xfrm>
          <a:prstGeom prst="ellipse">
            <a:avLst/>
          </a:prstGeom>
          <a:solidFill>
            <a:srgbClr val="D8B14B"/>
          </a:solidFill>
          <a:ln w="12700">
            <a:solidFill>
              <a:srgbClr val="D8B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964619" y="2764688"/>
            <a:ext cx="91440" cy="91440"/>
          </a:xfrm>
          <a:prstGeom prst="ellipse">
            <a:avLst/>
          </a:prstGeom>
          <a:solidFill>
            <a:srgbClr val="D8B14B"/>
          </a:solidFill>
          <a:ln w="12700">
            <a:solidFill>
              <a:srgbClr val="D8B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354702" y="2373782"/>
            <a:ext cx="91440" cy="91440"/>
          </a:xfrm>
          <a:prstGeom prst="ellipse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455835" y="2425903"/>
            <a:ext cx="91440" cy="91440"/>
          </a:xfrm>
          <a:prstGeom prst="ellipse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528072" y="2304288"/>
            <a:ext cx="91440" cy="91440"/>
          </a:xfrm>
          <a:prstGeom prst="ellipse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629205" y="2391156"/>
            <a:ext cx="91440" cy="91440"/>
          </a:xfrm>
          <a:prstGeom prst="ellipse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542520" y="2504084"/>
            <a:ext cx="91440" cy="91440"/>
          </a:xfrm>
          <a:prstGeom prst="ellipse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412492" y="2504084"/>
            <a:ext cx="91440" cy="91440"/>
          </a:xfrm>
          <a:prstGeom prst="ellipse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614757" y="2669134"/>
            <a:ext cx="91440" cy="91440"/>
          </a:xfrm>
          <a:prstGeom prst="ellipse">
            <a:avLst/>
          </a:prstGeom>
          <a:solidFill>
            <a:srgbClr val="6FBF73"/>
          </a:solidFill>
          <a:ln w="12700">
            <a:solidFill>
              <a:srgbClr val="6F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744785" y="2703881"/>
            <a:ext cx="91440" cy="91440"/>
          </a:xfrm>
          <a:prstGeom prst="ellipse">
            <a:avLst/>
          </a:prstGeom>
          <a:solidFill>
            <a:srgbClr val="6FBF73"/>
          </a:solidFill>
          <a:ln w="12700">
            <a:solidFill>
              <a:srgbClr val="6F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672548" y="2582266"/>
            <a:ext cx="91440" cy="91440"/>
          </a:xfrm>
          <a:prstGeom prst="ellipse">
            <a:avLst/>
          </a:prstGeom>
          <a:solidFill>
            <a:srgbClr val="6FBF73"/>
          </a:solidFill>
          <a:ln w="12700">
            <a:solidFill>
              <a:srgbClr val="6F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17023" y="2617013"/>
            <a:ext cx="91440" cy="91440"/>
          </a:xfrm>
          <a:prstGeom prst="ellipse">
            <a:avLst/>
          </a:prstGeom>
          <a:solidFill>
            <a:srgbClr val="6FBF73"/>
          </a:solidFill>
          <a:ln w="12700">
            <a:solidFill>
              <a:srgbClr val="6F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759233" y="2521458"/>
            <a:ext cx="91440" cy="91440"/>
          </a:xfrm>
          <a:prstGeom prst="ellipse">
            <a:avLst/>
          </a:prstGeom>
          <a:solidFill>
            <a:srgbClr val="6FBF73"/>
          </a:solidFill>
          <a:ln w="12700">
            <a:solidFill>
              <a:srgbClr val="6F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571415" y="2547518"/>
            <a:ext cx="91440" cy="91440"/>
          </a:xfrm>
          <a:prstGeom prst="ellipse">
            <a:avLst/>
          </a:prstGeom>
          <a:solidFill>
            <a:srgbClr val="6FBF73"/>
          </a:solidFill>
          <a:ln w="12700">
            <a:solidFill>
              <a:srgbClr val="6F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406293" y="3182112"/>
            <a:ext cx="2426437" cy="3602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294861"/>
                </a:solidFill>
              </a:rPr>
              <a:t>similar basins, operating regimes, event types</a:t>
            </a: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9180576" y="1664208"/>
            <a:ext cx="2487168" cy="2057400"/>
          </a:xfrm>
          <a:prstGeom prst="roundRect">
            <a:avLst>
              <a:gd name="adj" fmla="val 3556"/>
            </a:avLst>
          </a:prstGeom>
          <a:solidFill>
            <a:srgbClr val="FBECEC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180576" y="1664208"/>
            <a:ext cx="2487168" cy="292608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290304" y="1764792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Anomaly detection</a:t>
            </a: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9381744" y="3044952"/>
            <a:ext cx="1572768" cy="0"/>
          </a:xfrm>
          <a:prstGeom prst="line">
            <a:avLst/>
          </a:prstGeom>
          <a:noFill/>
          <a:ln w="12700">
            <a:solidFill>
              <a:srgbClr val="8DA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381744" y="2176272"/>
            <a:ext cx="0" cy="868680"/>
          </a:xfrm>
          <a:prstGeom prst="line">
            <a:avLst/>
          </a:prstGeom>
          <a:noFill/>
          <a:ln w="12700">
            <a:solidFill>
              <a:srgbClr val="8DA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381744" y="2480310"/>
            <a:ext cx="1572768" cy="0"/>
          </a:xfrm>
          <a:prstGeom prst="line">
            <a:avLst/>
          </a:prstGeom>
          <a:noFill/>
          <a:ln w="12700">
            <a:solidFill>
              <a:srgbClr val="B6C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381744" y="2827782"/>
            <a:ext cx="1572768" cy="0"/>
          </a:xfrm>
          <a:prstGeom prst="line">
            <a:avLst/>
          </a:prstGeom>
          <a:noFill/>
          <a:ln w="12700">
            <a:solidFill>
              <a:srgbClr val="B6C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428927" y="2680106"/>
            <a:ext cx="141549" cy="0"/>
          </a:xfrm>
          <a:prstGeom prst="line">
            <a:avLst/>
          </a:prstGeom>
          <a:noFill/>
          <a:ln w="254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570476" y="2610612"/>
            <a:ext cx="94366" cy="104242"/>
          </a:xfrm>
          <a:prstGeom prst="line">
            <a:avLst/>
          </a:prstGeom>
          <a:noFill/>
          <a:ln w="254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664842" y="2714854"/>
            <a:ext cx="141549" cy="0"/>
          </a:xfrm>
          <a:prstGeom prst="line">
            <a:avLst/>
          </a:prstGeom>
          <a:noFill/>
          <a:ln w="254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806391" y="2462936"/>
            <a:ext cx="141549" cy="234544"/>
          </a:xfrm>
          <a:prstGeom prst="line">
            <a:avLst/>
          </a:prstGeom>
          <a:noFill/>
          <a:ln w="254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947940" y="2697480"/>
            <a:ext cx="157277" cy="0"/>
          </a:xfrm>
          <a:prstGeom prst="line">
            <a:avLst/>
          </a:prstGeom>
          <a:noFill/>
          <a:ln w="254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105217" y="2627986"/>
            <a:ext cx="157277" cy="121615"/>
          </a:xfrm>
          <a:prstGeom prst="line">
            <a:avLst/>
          </a:prstGeom>
          <a:noFill/>
          <a:ln w="254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262494" y="2749601"/>
            <a:ext cx="157277" cy="0"/>
          </a:xfrm>
          <a:prstGeom prst="line">
            <a:avLst/>
          </a:prstGeom>
          <a:noFill/>
          <a:ln w="254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419771" y="2706167"/>
            <a:ext cx="157277" cy="0"/>
          </a:xfrm>
          <a:prstGeom prst="line">
            <a:avLst/>
          </a:prstGeom>
          <a:noFill/>
          <a:ln w="254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577048" y="2662733"/>
            <a:ext cx="157277" cy="34747"/>
          </a:xfrm>
          <a:prstGeom prst="line">
            <a:avLst/>
          </a:prstGeom>
          <a:noFill/>
          <a:ln w="254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734324" y="2697480"/>
            <a:ext cx="141549" cy="0"/>
          </a:xfrm>
          <a:prstGeom prst="line">
            <a:avLst/>
          </a:prstGeom>
          <a:noFill/>
          <a:ln w="254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212202" y="2699309"/>
            <a:ext cx="100584" cy="100584"/>
          </a:xfrm>
          <a:prstGeom prst="ellipse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9326879" y="3182111"/>
            <a:ext cx="2405041" cy="4686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294861"/>
                </a:solidFill>
              </a:rPr>
              <a:t>sensor drift, telemetry gaps, impossible values</a:t>
            </a: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731520" y="3965968"/>
            <a:ext cx="10744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124712" y="4185710"/>
            <a:ext cx="1417320" cy="667512"/>
          </a:xfrm>
          <a:prstGeom prst="chevron">
            <a:avLst/>
          </a:prstGeom>
          <a:solidFill>
            <a:srgbClr val="2F67A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336463" y="4267532"/>
            <a:ext cx="994319" cy="4720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problem framing</a:t>
            </a:r>
            <a:endParaRPr lang="en-US" dirty="0"/>
          </a:p>
        </p:txBody>
      </p:sp>
      <p:sp>
        <p:nvSpPr>
          <p:cNvPr id="83" name="Shape 81"/>
          <p:cNvSpPr/>
          <p:nvPr/>
        </p:nvSpPr>
        <p:spPr>
          <a:xfrm>
            <a:off x="2996989" y="4197096"/>
            <a:ext cx="1613312" cy="667512"/>
          </a:xfrm>
          <a:prstGeom prst="chevron">
            <a:avLst/>
          </a:prstGeom>
          <a:solidFill>
            <a:srgbClr val="51B7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3444434" y="4370359"/>
            <a:ext cx="993259" cy="292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data split</a:t>
            </a:r>
            <a:endParaRPr lang="en-US" dirty="0"/>
          </a:p>
        </p:txBody>
      </p:sp>
      <p:sp>
        <p:nvSpPr>
          <p:cNvPr id="85" name="Shape 83"/>
          <p:cNvSpPr/>
          <p:nvPr/>
        </p:nvSpPr>
        <p:spPr>
          <a:xfrm>
            <a:off x="4998835" y="4229557"/>
            <a:ext cx="1475117" cy="651967"/>
          </a:xfrm>
          <a:prstGeom prst="chevron">
            <a:avLst/>
          </a:prstGeom>
          <a:solidFill>
            <a:srgbClr val="2F67A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071395" y="4345689"/>
            <a:ext cx="1261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baseline model</a:t>
            </a:r>
            <a:endParaRPr lang="en-US" dirty="0"/>
          </a:p>
        </p:txBody>
      </p:sp>
      <p:sp>
        <p:nvSpPr>
          <p:cNvPr id="87" name="Shape 85"/>
          <p:cNvSpPr/>
          <p:nvPr/>
        </p:nvSpPr>
        <p:spPr>
          <a:xfrm>
            <a:off x="7082614" y="4204161"/>
            <a:ext cx="1507221" cy="684428"/>
          </a:xfrm>
          <a:prstGeom prst="chevron">
            <a:avLst/>
          </a:prstGeom>
          <a:solidFill>
            <a:srgbClr val="51B7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362638" y="4395972"/>
            <a:ext cx="997346" cy="282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better ML model</a:t>
            </a:r>
            <a:endParaRPr lang="en-US" dirty="0"/>
          </a:p>
        </p:txBody>
      </p:sp>
      <p:sp>
        <p:nvSpPr>
          <p:cNvPr id="89" name="Shape 87"/>
          <p:cNvSpPr/>
          <p:nvPr/>
        </p:nvSpPr>
        <p:spPr>
          <a:xfrm>
            <a:off x="9217152" y="4240574"/>
            <a:ext cx="1472184" cy="612648"/>
          </a:xfrm>
          <a:prstGeom prst="chevron">
            <a:avLst/>
          </a:prstGeom>
          <a:solidFill>
            <a:srgbClr val="2F67A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9582787" y="4378295"/>
            <a:ext cx="861089" cy="266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error analysis</a:t>
            </a: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2089403" y="5767121"/>
            <a:ext cx="7937175" cy="19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1778B"/>
                </a:solidFill>
              </a:rPr>
              <a:t>Always connect the model choice back to the engineering decision.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&amp; workflow foundations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283696" y="301752"/>
            <a:ext cx="512064" cy="329184"/>
          </a:xfrm>
          <a:prstGeom prst="roundRect">
            <a:avLst>
              <a:gd name="adj" fmla="val 22222"/>
            </a:avLst>
          </a:prstGeom>
          <a:solidFill>
            <a:srgbClr val="DFF3F8"/>
          </a:solidFill>
          <a:ln w="12700">
            <a:solidFill>
              <a:srgbClr val="DFF3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225296" y="2331720"/>
            <a:ext cx="1207008" cy="0"/>
          </a:xfrm>
          <a:prstGeom prst="line">
            <a:avLst/>
          </a:prstGeom>
          <a:noFill/>
          <a:ln w="25400">
            <a:solidFill>
              <a:srgbClr val="8AB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154680" y="2331720"/>
            <a:ext cx="1207008" cy="0"/>
          </a:xfrm>
          <a:prstGeom prst="line">
            <a:avLst/>
          </a:prstGeom>
          <a:noFill/>
          <a:ln w="25400">
            <a:solidFill>
              <a:srgbClr val="8AB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084064" y="2331720"/>
            <a:ext cx="1207008" cy="0"/>
          </a:xfrm>
          <a:prstGeom prst="line">
            <a:avLst/>
          </a:prstGeom>
          <a:noFill/>
          <a:ln w="25400">
            <a:solidFill>
              <a:srgbClr val="8AB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013448" y="2331720"/>
            <a:ext cx="1207008" cy="0"/>
          </a:xfrm>
          <a:prstGeom prst="line">
            <a:avLst/>
          </a:prstGeom>
          <a:noFill/>
          <a:ln w="25400">
            <a:solidFill>
              <a:srgbClr val="8AB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13232" y="1436346"/>
            <a:ext cx="1560207" cy="1519289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8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1520" y="159041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Problem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59536" y="2074581"/>
            <a:ext cx="1335024" cy="46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target + lead time</a:t>
            </a:r>
          </a:p>
        </p:txBody>
      </p:sp>
      <p:sp>
        <p:nvSpPr>
          <p:cNvPr id="14" name="Shape 11"/>
          <p:cNvSpPr/>
          <p:nvPr/>
        </p:nvSpPr>
        <p:spPr>
          <a:xfrm>
            <a:off x="2679192" y="1436346"/>
            <a:ext cx="1554480" cy="1425726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8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648435" y="162259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Data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788920" y="2136071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features + labels</a:t>
            </a:r>
          </a:p>
        </p:txBody>
      </p:sp>
      <p:sp>
        <p:nvSpPr>
          <p:cNvPr id="17" name="Shape 14"/>
          <p:cNvSpPr/>
          <p:nvPr/>
        </p:nvSpPr>
        <p:spPr>
          <a:xfrm>
            <a:off x="4608576" y="1436346"/>
            <a:ext cx="1554480" cy="1425726"/>
          </a:xfrm>
          <a:prstGeom prst="roundRect">
            <a:avLst>
              <a:gd name="adj" fmla="val 6780"/>
            </a:avLst>
          </a:prstGeom>
          <a:solidFill>
            <a:srgbClr val="EAF7F4"/>
          </a:solidFill>
          <a:ln w="12700">
            <a:solidFill>
              <a:srgbClr val="D9E8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639425" y="1655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Split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18304" y="21945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train / valid / test</a:t>
            </a:r>
          </a:p>
        </p:txBody>
      </p:sp>
      <p:sp>
        <p:nvSpPr>
          <p:cNvPr id="20" name="Shape 17"/>
          <p:cNvSpPr/>
          <p:nvPr/>
        </p:nvSpPr>
        <p:spPr>
          <a:xfrm>
            <a:off x="6537960" y="1436346"/>
            <a:ext cx="1682496" cy="1425726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8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547473" y="1607775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Score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647688" y="2304288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metric by use case</a:t>
            </a:r>
          </a:p>
        </p:txBody>
      </p:sp>
      <p:sp>
        <p:nvSpPr>
          <p:cNvPr id="23" name="Shape 20"/>
          <p:cNvSpPr/>
          <p:nvPr/>
        </p:nvSpPr>
        <p:spPr>
          <a:xfrm>
            <a:off x="8973168" y="1384255"/>
            <a:ext cx="1682496" cy="1425726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8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078185" y="152201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Deploy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187913" y="2255338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check drift + failure modes</a:t>
            </a:r>
          </a:p>
        </p:txBody>
      </p:sp>
      <p:sp>
        <p:nvSpPr>
          <p:cNvPr id="26" name="Shape 23"/>
          <p:cNvSpPr/>
          <p:nvPr/>
        </p:nvSpPr>
        <p:spPr>
          <a:xfrm>
            <a:off x="535709" y="3310127"/>
            <a:ext cx="2618971" cy="2111521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E8EE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61631" y="3872111"/>
            <a:ext cx="73152" cy="98755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060704" y="3474720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18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abits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60704" y="3785616"/>
            <a:ext cx="19659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Leakage checks, missing-data strategy, scaling, lag selection, and a true baseline.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319272" y="3310127"/>
            <a:ext cx="2526792" cy="2111524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E8EE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361196" y="3995926"/>
            <a:ext cx="73152" cy="987552"/>
          </a:xfrm>
          <a:prstGeom prst="roundRect">
            <a:avLst>
              <a:gd name="adj" fmla="val 50000"/>
            </a:avLst>
          </a:prstGeom>
          <a:solidFill>
            <a:srgbClr val="61C5D6"/>
          </a:solidFill>
          <a:ln w="12700">
            <a:solidFill>
              <a:srgbClr val="61C5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48456" y="3474720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Match metrics to decisions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630168" y="3995926"/>
            <a:ext cx="19659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RMSE/MAE for level errors, NSE or KGE for hydrographs, precision-recall for rare events.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907024" y="3310128"/>
            <a:ext cx="2517648" cy="1892802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E8EE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045852" y="3872111"/>
            <a:ext cx="73152" cy="987552"/>
          </a:xfrm>
          <a:prstGeom prst="roundRect">
            <a:avLst>
              <a:gd name="adj" fmla="val 50000"/>
            </a:avLst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236208" y="3474720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Assess reliability, not only accuracy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254496" y="3840479"/>
            <a:ext cx="19659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 model can score well on average and still fail under new hydrologic conditions.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9354370" y="3325309"/>
            <a:ext cx="2051304" cy="2826329"/>
          </a:xfrm>
          <a:prstGeom prst="roundRect">
            <a:avLst>
              <a:gd name="adj" fmla="val 3774"/>
            </a:avLst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9790234" y="354264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Aptos"/>
              </a:rPr>
              <a:t>T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akeaway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9512866" y="4502762"/>
            <a:ext cx="153619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lvl="0"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0FB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Good workflow design before</a:t>
            </a:r>
            <a:r>
              <a:rPr lang="en-US" dirty="0">
                <a:solidFill>
                  <a:srgbClr val="F0FBFD"/>
                </a:solidFill>
              </a:rPr>
              <a:t> prevents many “ML mistakes” model tuning even starts.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352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method ladder for beginners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30352" y="804672"/>
            <a:ext cx="10789920" cy="0"/>
          </a:xfrm>
          <a:prstGeom prst="line">
            <a:avLst/>
          </a:prstGeom>
          <a:noFill/>
          <a:ln w="15240">
            <a:solidFill>
              <a:srgbClr val="9EB6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61320" y="292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7A4"/>
                </a:solidFill>
              </a:rPr>
              <a:t>METHODS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3504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94861"/>
                </a:solidFill>
              </a:rPr>
              <a:t>Move from interpretable baselines to more flexible models only when the data and objective justify it.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3504" y="1865376"/>
            <a:ext cx="1536192" cy="1115568"/>
          </a:xfrm>
          <a:prstGeom prst="chevron">
            <a:avLst/>
          </a:prstGeom>
          <a:solidFill>
            <a:srgbClr val="2F67A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0704" y="211226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Linear + logistic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regression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2313432" y="1888322"/>
            <a:ext cx="1655064" cy="1115568"/>
          </a:xfrm>
          <a:prstGeom prst="chevron">
            <a:avLst/>
          </a:prstGeom>
          <a:solidFill>
            <a:srgbClr val="2E8D95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79776" y="218231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Decision trees +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random forest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3968495" y="1865376"/>
            <a:ext cx="1682497" cy="1115568"/>
          </a:xfrm>
          <a:prstGeom prst="chevron">
            <a:avLst/>
          </a:prstGeom>
          <a:solidFill>
            <a:srgbClr val="6FBF7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25696" y="2148841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Gradient boosting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/ XGBoost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577840" y="1865376"/>
            <a:ext cx="1609344" cy="1115568"/>
          </a:xfrm>
          <a:prstGeom prst="chevron">
            <a:avLst/>
          </a:prstGeom>
          <a:solidFill>
            <a:srgbClr val="D8B14B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76188" y="2057401"/>
            <a:ext cx="914400" cy="69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Basic neural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networks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187183" y="1888322"/>
            <a:ext cx="1609343" cy="1092622"/>
          </a:xfrm>
          <a:prstGeom prst="chevron">
            <a:avLst/>
          </a:prstGeom>
          <a:solidFill>
            <a:srgbClr val="D47A4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26680" y="216091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LSTM for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time series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656001" y="1870637"/>
            <a:ext cx="1682497" cy="1092622"/>
          </a:xfrm>
          <a:prstGeom prst="chevron">
            <a:avLst/>
          </a:prstGeom>
          <a:solidFill>
            <a:srgbClr val="51B7D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869680" y="212140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75055" y="211709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Clustering +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PCA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10118786" y="1879264"/>
            <a:ext cx="1821468" cy="1092622"/>
          </a:xfrm>
          <a:prstGeom prst="chevron">
            <a:avLst/>
          </a:prstGeom>
          <a:solidFill>
            <a:srgbClr val="163A6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479024" y="212140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661904" y="221284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Evaluation +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interpretation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822960" y="3785616"/>
            <a:ext cx="3346704" cy="1682496"/>
          </a:xfrm>
          <a:prstGeom prst="roundRect">
            <a:avLst>
              <a:gd name="adj" fmla="val 4348"/>
            </a:avLst>
          </a:prstGeom>
          <a:solidFill>
            <a:srgbClr val="EAF3FB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25696" y="3785616"/>
            <a:ext cx="3346704" cy="1682496"/>
          </a:xfrm>
          <a:prstGeom prst="roundRect">
            <a:avLst>
              <a:gd name="adj" fmla="val 4348"/>
            </a:avLst>
          </a:prstGeom>
          <a:solidFill>
            <a:srgbClr val="EFF8F0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028432" y="3785616"/>
            <a:ext cx="3346704" cy="1682496"/>
          </a:xfrm>
          <a:prstGeom prst="roundRect">
            <a:avLst>
              <a:gd name="adj" fmla="val 4348"/>
            </a:avLst>
          </a:prstGeom>
          <a:solidFill>
            <a:srgbClr val="FCF1E8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60704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Start here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60704" y="440740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94861"/>
                </a:solidFill>
              </a:rPr>
              <a:t>Teach train/test split, overfitting, leakage, and interpretable baselines first.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663440" y="40782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Then add flexibility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663440" y="44074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94861"/>
                </a:solidFill>
              </a:rPr>
              <a:t>Tree ensembles often work very well on tabular hydrologic and water-quality datasets.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266176" y="40782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63"/>
                </a:solidFill>
              </a:rPr>
              <a:t>Use deep learning selectively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266176" y="44074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94861"/>
                </a:solidFill>
              </a:rPr>
              <a:t>LSTMs are especially useful when forecasting sequential behavior such as inflow or stage.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352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Reliability, interpretation, and physics-aware thinking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30352" y="804672"/>
            <a:ext cx="10789920" cy="0"/>
          </a:xfrm>
          <a:prstGeom prst="line">
            <a:avLst/>
          </a:prstGeom>
          <a:noFill/>
          <a:ln w="15240">
            <a:solidFill>
              <a:srgbClr val="9EB6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1" y="1033272"/>
            <a:ext cx="9738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94861"/>
                </a:solidFill>
              </a:rPr>
              <a:t>For engineers, model evaluation is not an afterthought. It is part of the method.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8096" y="1627631"/>
            <a:ext cx="3858768" cy="4790421"/>
          </a:xfrm>
          <a:prstGeom prst="roundRect">
            <a:avLst>
              <a:gd name="adj" fmla="val 1882"/>
            </a:avLst>
          </a:prstGeom>
          <a:solidFill>
            <a:srgbClr val="EAF3FB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4128" y="1874520"/>
            <a:ext cx="2581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63"/>
                </a:solidFill>
              </a:rPr>
              <a:t>Reliability checklist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42416" y="2359152"/>
            <a:ext cx="822960" cy="530352"/>
          </a:xfrm>
          <a:prstGeom prst="roundRect">
            <a:avLst/>
          </a:prstGeom>
          <a:solidFill>
            <a:srgbClr val="2F67A4"/>
          </a:solidFill>
          <a:ln w="12700">
            <a:solidFill>
              <a:srgbClr val="2F6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2416" y="254203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Train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883664" y="2519173"/>
            <a:ext cx="182880" cy="146304"/>
          </a:xfrm>
          <a:prstGeom prst="rightArrow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66544" y="2359152"/>
            <a:ext cx="822960" cy="530352"/>
          </a:xfrm>
          <a:prstGeom prst="roundRect">
            <a:avLst/>
          </a:prstGeom>
          <a:solidFill>
            <a:srgbClr val="51B7D8"/>
          </a:solidFill>
          <a:ln w="12700">
            <a:solidFill>
              <a:srgbClr val="51B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66544" y="254203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Validate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903306" y="2532888"/>
            <a:ext cx="182880" cy="146304"/>
          </a:xfrm>
          <a:prstGeom prst="rightArrow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090672" y="2359152"/>
            <a:ext cx="822960" cy="530352"/>
          </a:xfrm>
          <a:prstGeom prst="roundRect">
            <a:avLst/>
          </a:prstGeom>
          <a:solidFill>
            <a:srgbClr val="D47A43"/>
          </a:solidFill>
          <a:ln w="12700">
            <a:solidFill>
              <a:srgbClr val="D47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90672" y="254203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Test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3417" y="3072384"/>
            <a:ext cx="349507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>
                <a:solidFill>
                  <a:srgbClr val="294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cross-validation or hindcasting
</a:t>
            </a:r>
            <a:r>
              <a:rPr lang="en-US" b="1" dirty="0">
                <a:solidFill>
                  <a:srgbClr val="2F6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>
                <a:solidFill>
                  <a:srgbClr val="294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error metrics and residual checks
</a:t>
            </a:r>
            <a:r>
              <a:rPr lang="en-US" b="1" dirty="0">
                <a:solidFill>
                  <a:srgbClr val="2F6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>
                <a:solidFill>
                  <a:srgbClr val="294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importance or SHAP-level interpretation
</a:t>
            </a:r>
            <a:r>
              <a:rPr lang="en-US" b="1" dirty="0">
                <a:solidFill>
                  <a:srgbClr val="2F6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>
                <a:solidFill>
                  <a:srgbClr val="294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for leakage and extrapolation risk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13417" y="5183657"/>
            <a:ext cx="3362232" cy="958566"/>
          </a:xfrm>
          <a:prstGeom prst="roundRect">
            <a:avLst/>
          </a:prstGeom>
          <a:solidFill>
            <a:srgbClr val="FBECEC"/>
          </a:solidFill>
          <a:ln w="12700">
            <a:solidFill>
              <a:srgbClr val="C751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73471" y="5606004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75146"/>
                </a:solidFill>
              </a:rPr>
              <a:t>Engineering warning: a good score can still hide a bad model.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882896" y="1627632"/>
            <a:ext cx="6961172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57216" y="18745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63"/>
                </a:solidFill>
              </a:rPr>
              <a:t>Physics + ML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175504" y="2150824"/>
            <a:ext cx="3427509" cy="990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94861"/>
                </a:solidFill>
              </a:rPr>
              <a:t>Reinforce that ML works best alongside hydrologic understanding, process-based models, and domain constraints.</a:t>
            </a:r>
            <a:endParaRPr lang="en-US" dirty="0"/>
          </a:p>
        </p:txBody>
      </p:sp>
      <p:pic>
        <p:nvPicPr>
          <p:cNvPr id="26" name="Image 0" descr="/mnt/data/geoai_iw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773" y="2148840"/>
            <a:ext cx="3427510" cy="23019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157216" y="3326260"/>
            <a:ext cx="2377440" cy="516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63"/>
                </a:solidFill>
              </a:rPr>
              <a:t>Useful framing for beginners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175504" y="4043802"/>
            <a:ext cx="3226624" cy="1690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6FB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>
                <a:solidFill>
                  <a:srgbClr val="294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 informs feature design
</a:t>
            </a:r>
            <a:r>
              <a:rPr lang="en-US" b="1" dirty="0">
                <a:solidFill>
                  <a:srgbClr val="6FB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>
                <a:solidFill>
                  <a:srgbClr val="294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adds speed, pattern recognition, and surrogate behavior
</a:t>
            </a:r>
            <a:r>
              <a:rPr lang="en-US" b="1" dirty="0">
                <a:solidFill>
                  <a:srgbClr val="6FB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>
                <a:solidFill>
                  <a:srgbClr val="294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operators still need defensible, explainable outputs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Methods</a:t>
            </a:r>
            <a:r>
              <a:rPr lang="en-US" sz="36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T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abular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supervised learning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283696" y="301752"/>
            <a:ext cx="512064" cy="329184"/>
          </a:xfrm>
          <a:prstGeom prst="roundRect">
            <a:avLst>
              <a:gd name="adj" fmla="val 22222"/>
            </a:avLst>
          </a:prstGeom>
          <a:solidFill>
            <a:srgbClr val="DFF3F8"/>
          </a:solidFill>
          <a:ln w="12700">
            <a:solidFill>
              <a:srgbClr val="DFF3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83696" y="32461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E749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6" name="Image 0" descr="/mnt/data/water_ai_deck/control_room.jpg"/>
          <p:cNvPicPr>
            <a:picLocks noChangeAspect="1"/>
          </p:cNvPicPr>
          <p:nvPr/>
        </p:nvPicPr>
        <p:blipFill>
          <a:blip r:embed="rId3"/>
          <a:srcRect l="17949" r="17949"/>
          <a:stretch/>
        </p:blipFill>
        <p:spPr>
          <a:xfrm>
            <a:off x="8577072" y="1188720"/>
            <a:ext cx="2743200" cy="2852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1783080"/>
            <a:ext cx="1755648" cy="3648456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8E7ED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98448" y="1975104"/>
            <a:ext cx="493776" cy="493776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59536" y="25968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Linear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regression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14984" y="312724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A6DCE7"/>
          </a:solidFill>
          <a:ln>
            <a:solidFill>
              <a:srgbClr val="A6DCE7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7824" y="3881628"/>
            <a:ext cx="1426464" cy="1069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C71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Fast, interpretable, essential for benchmarking.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651760" y="1783080"/>
            <a:ext cx="1636776" cy="3648456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8E7ED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36976" y="1975104"/>
            <a:ext cx="493776" cy="493776"/>
          </a:xfrm>
          <a:prstGeom prst="ellipse">
            <a:avLst/>
          </a:prstGeom>
          <a:solidFill>
            <a:srgbClr val="61C5D6"/>
          </a:solidFill>
          <a:ln>
            <a:solidFill>
              <a:srgbClr val="61C5D6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798064" y="25968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Decision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trees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953512" y="312724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A6DCE7"/>
          </a:solidFill>
          <a:ln>
            <a:solidFill>
              <a:srgbClr val="A6DCE7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First ML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743200" y="3914581"/>
            <a:ext cx="1426464" cy="1069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C71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Handles nonlinear thresholds and interactions; easy to explain.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590288" y="1783080"/>
            <a:ext cx="1609344" cy="3648456"/>
          </a:xfrm>
          <a:prstGeom prst="roundRect">
            <a:avLst>
              <a:gd name="adj" fmla="val 4396"/>
            </a:avLst>
          </a:prstGeom>
          <a:solidFill>
            <a:srgbClr val="EAF7F4"/>
          </a:solidFill>
          <a:ln w="12700">
            <a:solidFill>
              <a:srgbClr val="D8E7ED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175504" y="1975104"/>
            <a:ext cx="493776" cy="493776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36592" y="25968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Random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forest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36592" y="3105854"/>
            <a:ext cx="1216152" cy="420624"/>
          </a:xfrm>
          <a:prstGeom prst="roundRect">
            <a:avLst>
              <a:gd name="adj" fmla="val 23529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Workhorse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718304" y="3611880"/>
            <a:ext cx="1426464" cy="1069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C71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Robust on tabular data; gives variable importance.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528816" y="1783079"/>
            <a:ext cx="1764792" cy="3648456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8E7ED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114032" y="1975104"/>
            <a:ext cx="493776" cy="493776"/>
          </a:xfrm>
          <a:prstGeom prst="ellipse">
            <a:avLst/>
          </a:prstGeom>
          <a:solidFill>
            <a:srgbClr val="F5C451"/>
          </a:solidFill>
          <a:ln>
            <a:solidFill>
              <a:srgbClr val="F5C451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675120" y="25968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Boosting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(XGBoost)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638544" y="3127248"/>
            <a:ext cx="1426464" cy="484632"/>
          </a:xfrm>
          <a:prstGeom prst="roundRect">
            <a:avLst>
              <a:gd name="adj" fmla="val 23529"/>
            </a:avLst>
          </a:prstGeom>
          <a:solidFill>
            <a:srgbClr val="F5C451"/>
          </a:solidFill>
          <a:ln>
            <a:solidFill>
              <a:srgbClr val="F5C451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697980" y="3926054"/>
            <a:ext cx="1426464" cy="1069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C71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Often strongest on structured features when tuned carefully.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8577072" y="4242816"/>
            <a:ext cx="2743200" cy="1426464"/>
          </a:xfrm>
          <a:prstGeom prst="roundRect">
            <a:avLst>
              <a:gd name="adj" fmla="val 5128"/>
            </a:avLst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814816" y="4480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Water examples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801358" y="4906016"/>
            <a:ext cx="2261501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80" b="0" i="0" u="none" strike="noStrike" kern="1200" cap="none" spc="0" normalizeH="0" baseline="0" noProof="0" dirty="0">
                <a:ln>
                  <a:noFill/>
                </a:ln>
                <a:solidFill>
                  <a:srgbClr val="F2FB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daily streamflow</a:t>
            </a:r>
            <a:endParaRPr kumimoji="0" lang="en-US" sz="12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80" b="0" i="0" u="none" strike="noStrike" kern="1200" cap="none" spc="0" normalizeH="0" baseline="0" noProof="0" dirty="0">
                <a:ln>
                  <a:noFill/>
                </a:ln>
                <a:solidFill>
                  <a:srgbClr val="F2FB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groundwater level</a:t>
            </a:r>
            <a:endParaRPr kumimoji="0" lang="en-US" sz="12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80" b="0" i="0" u="none" strike="noStrike" kern="1200" cap="none" spc="0" normalizeH="0" baseline="0" noProof="0" dirty="0">
                <a:ln>
                  <a:noFill/>
                </a:ln>
                <a:solidFill>
                  <a:srgbClr val="F2FB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chloride / nitrate</a:t>
            </a:r>
            <a:endParaRPr kumimoji="0" lang="en-US" sz="12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80" b="0" i="0" u="none" strike="noStrike" kern="1200" cap="none" spc="0" normalizeH="0" baseline="0" noProof="0" dirty="0">
                <a:ln>
                  <a:noFill/>
                </a:ln>
                <a:solidFill>
                  <a:srgbClr val="F2FB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drought index</a:t>
            </a:r>
            <a:endParaRPr kumimoji="0" lang="en-US" sz="12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832104" y="5630116"/>
            <a:ext cx="7168896" cy="658368"/>
          </a:xfrm>
          <a:prstGeom prst="roundRect">
            <a:avLst>
              <a:gd name="adj" fmla="val 8333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36272" y="5858716"/>
            <a:ext cx="6784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60" b="0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Suggested order: baseline linear model → one decision tree → random forest → gradient boosting, always comparing against the baseline hydrograph or regression result.</a:t>
            </a:r>
            <a:endParaRPr kumimoji="0" lang="en-US" sz="13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12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-series deep learning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04087" y="877823"/>
            <a:ext cx="8250131" cy="475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This is the first deep-learning topic most water engineers should see.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283696" y="301752"/>
            <a:ext cx="512064" cy="329184"/>
          </a:xfrm>
          <a:prstGeom prst="roundRect">
            <a:avLst>
              <a:gd name="adj" fmla="val 22222"/>
            </a:avLst>
          </a:prstGeom>
          <a:solidFill>
            <a:srgbClr val="DFF3F8"/>
          </a:solidFill>
          <a:ln w="12700">
            <a:solidFill>
              <a:srgbClr val="DFF3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83696" y="32461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E749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 flipV="1">
            <a:off x="1325880" y="2779776"/>
            <a:ext cx="1728216" cy="36576"/>
          </a:xfrm>
          <a:prstGeom prst="line">
            <a:avLst/>
          </a:prstGeom>
          <a:noFill/>
          <a:ln w="25400">
            <a:solidFill>
              <a:srgbClr val="8AB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20640" y="2779776"/>
            <a:ext cx="461772" cy="0"/>
          </a:xfrm>
          <a:prstGeom prst="line">
            <a:avLst/>
          </a:prstGeom>
          <a:noFill/>
          <a:ln w="25400">
            <a:solidFill>
              <a:srgbClr val="8AB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580376" y="2820493"/>
            <a:ext cx="338328" cy="0"/>
          </a:xfrm>
          <a:prstGeom prst="line">
            <a:avLst/>
          </a:prstGeom>
          <a:noFill/>
          <a:ln w="25400">
            <a:solidFill>
              <a:srgbClr val="8AB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86384" y="1627632"/>
            <a:ext cx="1664208" cy="2542032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8E7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70831" y="1627632"/>
            <a:ext cx="2049809" cy="246888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8E7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541264" y="1627631"/>
            <a:ext cx="2011680" cy="2523747"/>
          </a:xfrm>
          <a:prstGeom prst="roundRect">
            <a:avLst>
              <a:gd name="adj" fmla="val 4396"/>
            </a:avLst>
          </a:prstGeom>
          <a:solidFill>
            <a:srgbClr val="EAF7F4"/>
          </a:solidFill>
          <a:ln w="12700">
            <a:solidFill>
              <a:srgbClr val="CFE8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18704" y="1471670"/>
            <a:ext cx="2947416" cy="4471241"/>
          </a:xfrm>
          <a:prstGeom prst="roundRect">
            <a:avLst>
              <a:gd name="adj" fmla="val 2667"/>
            </a:avLst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7552" y="1801368"/>
            <a:ext cx="420624" cy="420624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t-3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90472" y="1815084"/>
            <a:ext cx="420624" cy="420624"/>
          </a:xfrm>
          <a:prstGeom prst="ellipse">
            <a:avLst/>
          </a:prstGeom>
          <a:solidFill>
            <a:srgbClr val="61C5D6"/>
          </a:solidFill>
          <a:ln>
            <a:solidFill>
              <a:srgbClr val="61C5D6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t-2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90114" y="1837599"/>
            <a:ext cx="420624" cy="420624"/>
          </a:xfrm>
          <a:prstGeom prst="ellipse">
            <a:avLst/>
          </a:prstGeom>
          <a:solidFill>
            <a:srgbClr val="F5C451"/>
          </a:solidFill>
          <a:ln>
            <a:solidFill>
              <a:srgbClr val="F5C451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t-1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9536" y="257860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Lagged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features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31135" y="3209716"/>
            <a:ext cx="1389888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C71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Classic way to give tabular models some “memory”.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49040" y="1764447"/>
            <a:ext cx="493776" cy="493776"/>
          </a:xfrm>
          <a:prstGeom prst="ellipse">
            <a:avLst/>
          </a:prstGeom>
          <a:solidFill>
            <a:srgbClr val="61C5D6"/>
          </a:solidFill>
          <a:ln>
            <a:solidFill>
              <a:srgbClr val="61C5D6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74136" y="2496311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Dense / MLP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network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145536" y="3260963"/>
            <a:ext cx="1993392" cy="38403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C71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Good to explain the idea of a neural network before sequence models.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43600" y="1783080"/>
            <a:ext cx="274320" cy="274320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54496" y="1783080"/>
            <a:ext cx="274320" cy="27432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65392" y="1783080"/>
            <a:ext cx="274320" cy="274320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76288" y="1783080"/>
            <a:ext cx="274320" cy="27432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88736" y="2425403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LSTM / sequence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32704" y="3215755"/>
            <a:ext cx="2011680" cy="74808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C71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Designed to learn time dependence directly from the sequence.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41064" y="1805940"/>
            <a:ext cx="250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Best beginner water uses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247888" y="2340864"/>
            <a:ext cx="128016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30768" y="22494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2FB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daily streamflow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47888" y="2779776"/>
            <a:ext cx="128016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30768" y="2688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2FB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reservoir inflow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247888" y="3218688"/>
            <a:ext cx="128016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430768" y="3127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2FB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water level / stage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47888" y="3657600"/>
            <a:ext cx="128016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430768" y="35661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2FB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groundwater level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247888" y="4096512"/>
            <a:ext cx="128016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430768" y="4005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2FB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rainfall–runoff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141064" y="4919817"/>
            <a:ext cx="2654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D7EEF4"/>
                </a:solidFill>
                <a:latin typeface="Aptos"/>
              </a:rPr>
              <a:t>A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D7EE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fter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D7EE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forests/boosting so </a:t>
            </a:r>
            <a:r>
              <a:rPr lang="en-US" dirty="0">
                <a:solidFill>
                  <a:srgbClr val="D7EEF4"/>
                </a:solidFill>
                <a:latin typeface="Aptos"/>
              </a:rPr>
              <a:t>we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D7EE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know what extra complexity buys them.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59536" y="4645151"/>
            <a:ext cx="6541928" cy="1368673"/>
          </a:xfrm>
          <a:prstGeom prst="roundRect">
            <a:avLst>
              <a:gd name="adj" fmla="val 9756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60704" y="4901184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Key teaching contrast: tabular models need hand-built lags and rolling features; LSTMs can learn long-term dependencies from sequences more directly.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Methods: Unsupervised learning and interpretation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03327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ools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for discovery, simplification, and trust-building.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283696" y="301752"/>
            <a:ext cx="512064" cy="329184"/>
          </a:xfrm>
          <a:prstGeom prst="roundRect">
            <a:avLst>
              <a:gd name="adj" fmla="val 22222"/>
            </a:avLst>
          </a:prstGeom>
          <a:solidFill>
            <a:srgbClr val="DFF3F8"/>
          </a:solidFill>
          <a:ln w="12700">
            <a:solidFill>
              <a:srgbClr val="DFF3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83696" y="32461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E749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9808" y="1335024"/>
            <a:ext cx="3611880" cy="4517136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7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35424" y="1335024"/>
            <a:ext cx="2331720" cy="4517136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7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040880" y="1335024"/>
            <a:ext cx="4224528" cy="4517136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8E7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7552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Clustering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98448" y="2331720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627632" y="2514600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83080" y="2139696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78608" y="2423160"/>
            <a:ext cx="164592" cy="164592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926080" y="2176272"/>
            <a:ext cx="164592" cy="164592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889504" y="2670048"/>
            <a:ext cx="164592" cy="164592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993392" y="3364992"/>
            <a:ext cx="164592" cy="164592"/>
          </a:xfrm>
          <a:prstGeom prst="ellipse">
            <a:avLst/>
          </a:prstGeom>
          <a:solidFill>
            <a:srgbClr val="61C5D6"/>
          </a:solidFill>
          <a:ln w="12700">
            <a:solidFill>
              <a:srgbClr val="61C5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331720" y="3163824"/>
            <a:ext cx="164592" cy="164592"/>
          </a:xfrm>
          <a:prstGeom prst="ellipse">
            <a:avLst/>
          </a:prstGeom>
          <a:solidFill>
            <a:srgbClr val="61C5D6"/>
          </a:solidFill>
          <a:ln w="12700">
            <a:solidFill>
              <a:srgbClr val="61C5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60320" y="3511296"/>
            <a:ext cx="164592" cy="164592"/>
          </a:xfrm>
          <a:prstGeom prst="ellipse">
            <a:avLst/>
          </a:prstGeom>
          <a:solidFill>
            <a:srgbClr val="61C5D6"/>
          </a:solidFill>
          <a:ln w="12700">
            <a:solidFill>
              <a:srgbClr val="61C5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7552" y="4005072"/>
            <a:ext cx="29718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C71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 for catchment grouping, regime discovery, and exploratory analysis.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08304" y="4956048"/>
            <a:ext cx="1075944" cy="475488"/>
          </a:xfrm>
          <a:prstGeom prst="roundRect">
            <a:avLst>
              <a:gd name="adj" fmla="val 23529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k-means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32304" y="4946904"/>
            <a:ext cx="1481328" cy="493776"/>
          </a:xfrm>
          <a:prstGeom prst="roundRect">
            <a:avLst>
              <a:gd name="adj" fmla="val 23529"/>
            </a:avLst>
          </a:prstGeom>
          <a:solidFill>
            <a:srgbClr val="61C5D6"/>
          </a:solidFill>
          <a:ln>
            <a:solidFill>
              <a:srgbClr val="61C5D6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hierarchical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54880" y="16093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PCA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83480" y="4407408"/>
            <a:ext cx="1325880" cy="0"/>
          </a:xfrm>
          <a:prstGeom prst="line">
            <a:avLst/>
          </a:prstGeom>
          <a:noFill/>
          <a:ln w="16510">
            <a:solidFill>
              <a:srgbClr val="9DB7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38928" y="4626864"/>
            <a:ext cx="0" cy="0"/>
          </a:xfrm>
          <a:prstGeom prst="line">
            <a:avLst/>
          </a:prstGeom>
          <a:noFill/>
          <a:ln w="16510">
            <a:solidFill>
              <a:srgbClr val="9DB7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230368" y="4224528"/>
            <a:ext cx="914400" cy="0"/>
          </a:xfrm>
          <a:prstGeom prst="line">
            <a:avLst/>
          </a:prstGeom>
          <a:noFill/>
          <a:ln w="22860">
            <a:solidFill>
              <a:srgbClr val="E05D5D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230368" y="4224528"/>
            <a:ext cx="822960" cy="0"/>
          </a:xfrm>
          <a:prstGeom prst="line">
            <a:avLst/>
          </a:prstGeom>
          <a:noFill/>
          <a:ln w="2286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468112" y="3913632"/>
            <a:ext cx="73152" cy="73152"/>
          </a:xfrm>
          <a:prstGeom prst="ellipse">
            <a:avLst/>
          </a:prstGeom>
          <a:solidFill>
            <a:srgbClr val="799CA8"/>
          </a:solidFill>
          <a:ln w="12700">
            <a:solidFill>
              <a:srgbClr val="799C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724144" y="3529584"/>
            <a:ext cx="73152" cy="73152"/>
          </a:xfrm>
          <a:prstGeom prst="ellipse">
            <a:avLst/>
          </a:prstGeom>
          <a:solidFill>
            <a:srgbClr val="799CA8"/>
          </a:solidFill>
          <a:ln w="12700">
            <a:solidFill>
              <a:srgbClr val="799C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0" y="3364992"/>
            <a:ext cx="73152" cy="73152"/>
          </a:xfrm>
          <a:prstGeom prst="ellipse">
            <a:avLst/>
          </a:prstGeom>
          <a:solidFill>
            <a:srgbClr val="799CA8"/>
          </a:solidFill>
          <a:ln w="12700">
            <a:solidFill>
              <a:srgbClr val="799C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797296" y="3017520"/>
            <a:ext cx="73152" cy="73152"/>
          </a:xfrm>
          <a:prstGeom prst="ellipse">
            <a:avLst/>
          </a:prstGeom>
          <a:solidFill>
            <a:srgbClr val="799CA8"/>
          </a:solidFill>
          <a:ln w="12700">
            <a:solidFill>
              <a:srgbClr val="799C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89320" y="3383280"/>
            <a:ext cx="73152" cy="73152"/>
          </a:xfrm>
          <a:prstGeom prst="ellipse">
            <a:avLst/>
          </a:prstGeom>
          <a:solidFill>
            <a:srgbClr val="799CA8"/>
          </a:solidFill>
          <a:ln w="12700">
            <a:solidFill>
              <a:srgbClr val="799C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623560" y="3767328"/>
            <a:ext cx="73152" cy="73152"/>
          </a:xfrm>
          <a:prstGeom prst="ellipse">
            <a:avLst/>
          </a:prstGeom>
          <a:solidFill>
            <a:srgbClr val="799CA8"/>
          </a:solidFill>
          <a:ln w="12700">
            <a:solidFill>
              <a:srgbClr val="799C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53328" y="2907792"/>
            <a:ext cx="73152" cy="73152"/>
          </a:xfrm>
          <a:prstGeom prst="ellipse">
            <a:avLst/>
          </a:prstGeom>
          <a:solidFill>
            <a:srgbClr val="799CA8"/>
          </a:solidFill>
          <a:ln w="12700">
            <a:solidFill>
              <a:srgbClr val="799C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17720" y="4745736"/>
            <a:ext cx="2075688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C71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Dimensionality reduction and collinearity relief.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96911" y="1609344"/>
            <a:ext cx="3529239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Interpretation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283196" y="2028329"/>
            <a:ext cx="2655901" cy="1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Feature importance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21323" y="2365363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rainfall lag</a:t>
            </a:r>
          </a:p>
        </p:txBody>
      </p:sp>
      <p:sp>
        <p:nvSpPr>
          <p:cNvPr id="38" name="Shape 36"/>
          <p:cNvSpPr/>
          <p:nvPr/>
        </p:nvSpPr>
        <p:spPr>
          <a:xfrm>
            <a:off x="8394192" y="2383651"/>
            <a:ext cx="1783080" cy="128016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33488" y="267004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PET</a:t>
            </a:r>
          </a:p>
        </p:txBody>
      </p:sp>
      <p:sp>
        <p:nvSpPr>
          <p:cNvPr id="40" name="Shape 38"/>
          <p:cNvSpPr/>
          <p:nvPr/>
        </p:nvSpPr>
        <p:spPr>
          <a:xfrm>
            <a:off x="8394192" y="2688336"/>
            <a:ext cx="1417320" cy="128016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333488" y="305409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basin area</a:t>
            </a:r>
          </a:p>
        </p:txBody>
      </p:sp>
      <p:sp>
        <p:nvSpPr>
          <p:cNvPr id="42" name="Shape 40"/>
          <p:cNvSpPr/>
          <p:nvPr/>
        </p:nvSpPr>
        <p:spPr>
          <a:xfrm>
            <a:off x="8394192" y="3072384"/>
            <a:ext cx="1005840" cy="128016"/>
          </a:xfrm>
          <a:prstGeom prst="roundRect">
            <a:avLst>
              <a:gd name="adj" fmla="val 28571"/>
            </a:avLst>
          </a:prstGeom>
          <a:solidFill>
            <a:srgbClr val="61C5D6"/>
          </a:solidFill>
          <a:ln w="12700">
            <a:solidFill>
              <a:srgbClr val="61C5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333488" y="343814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soil index</a:t>
            </a:r>
          </a:p>
        </p:txBody>
      </p:sp>
      <p:sp>
        <p:nvSpPr>
          <p:cNvPr id="44" name="Shape 42"/>
          <p:cNvSpPr/>
          <p:nvPr/>
        </p:nvSpPr>
        <p:spPr>
          <a:xfrm>
            <a:off x="8394192" y="3456432"/>
            <a:ext cx="749808" cy="128016"/>
          </a:xfrm>
          <a:prstGeom prst="roundRect">
            <a:avLst>
              <a:gd name="adj" fmla="val 28571"/>
            </a:avLst>
          </a:prstGeom>
          <a:solidFill>
            <a:srgbClr val="61C5D6"/>
          </a:solidFill>
          <a:ln w="12700">
            <a:solidFill>
              <a:srgbClr val="61C5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33488" y="396849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836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Reliability checks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15200" y="4328304"/>
            <a:ext cx="3715915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• errors by season / flow regime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• sensitivity to new conditions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• sanity checks against physics</a:t>
            </a:r>
          </a:p>
        </p:txBody>
      </p:sp>
      <p:sp>
        <p:nvSpPr>
          <p:cNvPr id="47" name="Shape 45"/>
          <p:cNvSpPr/>
          <p:nvPr/>
        </p:nvSpPr>
        <p:spPr>
          <a:xfrm>
            <a:off x="7438255" y="5250122"/>
            <a:ext cx="3542954" cy="472556"/>
          </a:xfrm>
          <a:prstGeom prst="roundRect">
            <a:avLst>
              <a:gd name="adj" fmla="val 11905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655252" y="5401171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2344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“why does the model believe this?”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2296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17324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17324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Methods</a:t>
            </a:r>
            <a:endParaRPr kumimoji="0" lang="en-US" sz="2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17324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Water-Resources Engineers</a:t>
            </a:r>
            <a:endParaRPr kumimoji="0" lang="en-US" sz="2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2144268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When to use Random Forest, XGBoost, LSTM, CNN, and MLP — with simple engineering analogies.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7" y="3429000"/>
            <a:ext cx="5303520" cy="0"/>
          </a:xfrm>
          <a:prstGeom prst="line">
            <a:avLst/>
          </a:prstGeom>
          <a:noFill/>
          <a:ln w="27940">
            <a:solidFill>
              <a:srgbClr val="17324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3831336"/>
            <a:ext cx="5303519" cy="46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Choose the model that matches the structure of your data: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4306824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Spreadsheets / watershed attributes → Random Forest, XGBoost, or MLP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Time series / forecasting → LSTM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Images, maps, and gridded data → CNN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0" y="731520"/>
            <a:ext cx="4343400" cy="539496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3970">
            <a:solidFill>
              <a:srgbClr val="D9E2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0" y="1143000"/>
            <a:ext cx="3611880" cy="603504"/>
          </a:xfrm>
          <a:prstGeom prst="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Spreadsheet / tabular data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0" y="2057399"/>
            <a:ext cx="978408" cy="603503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Random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Forest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41664" y="2057400"/>
            <a:ext cx="932688" cy="60350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939528" y="2057400"/>
            <a:ext cx="9326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MLP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281160" y="1746504"/>
            <a:ext cx="0" cy="237744"/>
          </a:xfrm>
          <a:prstGeom prst="line">
            <a:avLst/>
          </a:prstGeom>
          <a:noFill/>
          <a:ln w="16510">
            <a:solidFill>
              <a:srgbClr val="17324D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8080" y="2971800"/>
            <a:ext cx="3611880" cy="603504"/>
          </a:xfrm>
          <a:prstGeom prst="rect">
            <a:avLst/>
          </a:prstGeom>
          <a:solidFill>
            <a:srgbClr val="EAF4FB"/>
          </a:solidFill>
          <a:ln w="12700">
            <a:solidFill>
              <a:srgbClr val="1F78B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Time series / sequential data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77072" y="3904488"/>
            <a:ext cx="14447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F78B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LSTM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281160" y="3575304"/>
            <a:ext cx="0" cy="256032"/>
          </a:xfrm>
          <a:prstGeom prst="line">
            <a:avLst/>
          </a:prstGeom>
          <a:noFill/>
          <a:ln w="16510">
            <a:solidFill>
              <a:srgbClr val="17324D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8080" y="4754880"/>
            <a:ext cx="3611880" cy="603504"/>
          </a:xfrm>
          <a:prstGeom prst="rect">
            <a:avLst/>
          </a:prstGeom>
          <a:solidFill>
            <a:srgbClr val="F2ECFB"/>
          </a:solidFill>
          <a:ln w="12700">
            <a:solidFill>
              <a:srgbClr val="7E57C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Images, maps, and grids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77072" y="5486400"/>
            <a:ext cx="14447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E57C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CNN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281160" y="5358384"/>
            <a:ext cx="0" cy="91440"/>
          </a:xfrm>
          <a:prstGeom prst="line">
            <a:avLst/>
          </a:prstGeom>
          <a:noFill/>
          <a:ln w="16510">
            <a:solidFill>
              <a:srgbClr val="17324D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21792" y="438912"/>
            <a:ext cx="11107904" cy="121910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AF5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5852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</a:rPr>
              <a:t>IDEs for ML &amp; Deep Learning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991348"/>
            <a:ext cx="9820656" cy="435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4F6173"/>
                </a:solidFill>
              </a:rPr>
              <a:t>A simple stack: notebooks for exploration, VS Code for daily work, Colab for cloud access, and PyCharm for larger projects.</a:t>
            </a:r>
            <a:endParaRPr lang="en-US" sz="1480" dirty="0"/>
          </a:p>
        </p:txBody>
      </p:sp>
      <p:sp>
        <p:nvSpPr>
          <p:cNvPr id="6" name="Shape 4"/>
          <p:cNvSpPr/>
          <p:nvPr/>
        </p:nvSpPr>
        <p:spPr>
          <a:xfrm>
            <a:off x="3758184" y="2243739"/>
            <a:ext cx="4553712" cy="2547208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80560" y="28437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59E0B"/>
                </a:solidFill>
              </a:rPr>
              <a:t>1  Explore in Jupyter / Colab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80560" y="31363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B74FF"/>
                </a:solidFill>
              </a:rPr>
              <a:t>2  Build and debug in VS Code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98848" y="3596205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22C55E"/>
                </a:solidFill>
              </a:rPr>
              <a:t>3  Move to PyCharm for </a:t>
            </a:r>
            <a:r>
              <a:rPr lang="en-US" b="1" dirty="0">
                <a:solidFill>
                  <a:srgbClr val="22C55E"/>
                </a:solidFill>
              </a:rPr>
              <a:t>l</a:t>
            </a:r>
            <a:r>
              <a:rPr lang="en-US" sz="1680" b="1" dirty="0">
                <a:solidFill>
                  <a:srgbClr val="22C55E"/>
                </a:solidFill>
              </a:rPr>
              <a:t>arger projects</a:t>
            </a:r>
            <a:endParaRPr lang="en-US" sz="1680" dirty="0"/>
          </a:p>
        </p:txBody>
      </p:sp>
      <p:sp>
        <p:nvSpPr>
          <p:cNvPr id="12" name="Shape 10"/>
          <p:cNvSpPr/>
          <p:nvPr/>
        </p:nvSpPr>
        <p:spPr>
          <a:xfrm>
            <a:off x="1042416" y="1554480"/>
            <a:ext cx="1536192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vscode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666" y="1627632"/>
            <a:ext cx="1311691" cy="11887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2064" y="29260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6324F"/>
                </a:solidFill>
              </a:rPr>
              <a:t>VS Code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512064" y="3182112"/>
            <a:ext cx="2606040" cy="75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dirty="0">
                <a:solidFill>
                  <a:srgbClr val="4F6173"/>
                </a:solidFill>
              </a:rPr>
              <a:t>Flexible daily editor for Python environments, packages, and debugging.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1741932" y="3703320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217152" y="1572768"/>
            <a:ext cx="13716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/mnt/data/jupyter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1658014"/>
            <a:ext cx="1225296" cy="114624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485632" y="2926080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6324F"/>
                </a:solidFill>
              </a:rPr>
              <a:t>JupyterLab</a:t>
            </a:r>
            <a:endParaRPr lang="en-US" sz="1950" dirty="0"/>
          </a:p>
        </p:txBody>
      </p:sp>
      <p:sp>
        <p:nvSpPr>
          <p:cNvPr id="20" name="Text 16"/>
          <p:cNvSpPr/>
          <p:nvPr/>
        </p:nvSpPr>
        <p:spPr>
          <a:xfrm>
            <a:off x="8485632" y="3182112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dirty="0">
                <a:solidFill>
                  <a:srgbClr val="4F6173"/>
                </a:solidFill>
              </a:rPr>
              <a:t>Best for quick experiments, plots, equations, and notebooks.</a:t>
            </a:r>
            <a:endParaRPr lang="en-US" sz="1480" dirty="0"/>
          </a:p>
        </p:txBody>
      </p:sp>
      <p:sp>
        <p:nvSpPr>
          <p:cNvPr id="22" name="Shape 18"/>
          <p:cNvSpPr/>
          <p:nvPr/>
        </p:nvSpPr>
        <p:spPr>
          <a:xfrm>
            <a:off x="694944" y="3913632"/>
            <a:ext cx="213969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/mnt/data/colab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990580"/>
            <a:ext cx="1993392" cy="105311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10896" y="512064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6324F"/>
                </a:solidFill>
              </a:rPr>
              <a:t>Google Colab</a:t>
            </a:r>
            <a:endParaRPr lang="en-US" sz="1950" dirty="0"/>
          </a:p>
        </p:txBody>
      </p:sp>
      <p:sp>
        <p:nvSpPr>
          <p:cNvPr id="25" name="Text 20"/>
          <p:cNvSpPr/>
          <p:nvPr/>
        </p:nvSpPr>
        <p:spPr>
          <a:xfrm>
            <a:off x="310896" y="5376672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dirty="0">
                <a:solidFill>
                  <a:srgbClr val="4F6173"/>
                </a:solidFill>
              </a:rPr>
              <a:t>Zero setup and easy access to cloud runtimes and GPUs.</a:t>
            </a:r>
            <a:endParaRPr lang="en-US" sz="1480" dirty="0"/>
          </a:p>
        </p:txBody>
      </p:sp>
      <p:sp>
        <p:nvSpPr>
          <p:cNvPr id="27" name="Shape 22"/>
          <p:cNvSpPr/>
          <p:nvPr/>
        </p:nvSpPr>
        <p:spPr>
          <a:xfrm>
            <a:off x="9070848" y="3858768"/>
            <a:ext cx="170078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/mnt/data/pycharm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952821"/>
            <a:ext cx="1554480" cy="111034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540496" y="521208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6324F"/>
                </a:solidFill>
              </a:rPr>
              <a:t>PyCharm</a:t>
            </a:r>
            <a:endParaRPr lang="en-US" sz="1950" dirty="0"/>
          </a:p>
        </p:txBody>
      </p:sp>
      <p:sp>
        <p:nvSpPr>
          <p:cNvPr id="30" name="Text 24"/>
          <p:cNvSpPr/>
          <p:nvPr/>
        </p:nvSpPr>
        <p:spPr>
          <a:xfrm>
            <a:off x="8540496" y="546811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dirty="0">
                <a:solidFill>
                  <a:srgbClr val="4F6173"/>
                </a:solidFill>
              </a:rPr>
              <a:t>Helpful for larger Python projects and stronger organization.</a:t>
            </a:r>
            <a:endParaRPr lang="en-US" sz="14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D1BEE7492B748AAA939E15478942A" ma:contentTypeVersion="3" ma:contentTypeDescription="Create a new document." ma:contentTypeScope="" ma:versionID="a3ae003b3bc9c2f933d329e11d0c3319">
  <xsd:schema xmlns:xsd="http://www.w3.org/2001/XMLSchema" xmlns:xs="http://www.w3.org/2001/XMLSchema" xmlns:p="http://schemas.microsoft.com/office/2006/metadata/properties" xmlns:ns2="f5820155-a73e-4bed-81ca-61e3abc3ae5c" targetNamespace="http://schemas.microsoft.com/office/2006/metadata/properties" ma:root="true" ma:fieldsID="7eb7418994d847370236082d77edc9a3" ns2:_="">
    <xsd:import namespace="f5820155-a73e-4bed-81ca-61e3abc3ae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820155-a73e-4bed-81ca-61e3abc3ae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D27E47-4352-4DB4-B7E3-E24812B3F4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D317C4-0A9F-4BDC-8CE7-618525A536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820155-a73e-4bed-81ca-61e3abc3ae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8C2581-F6F1-4B17-BC29-F0F3C751294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2339</Words>
  <Application>Microsoft Office PowerPoint</Application>
  <PresentationFormat>Widescreen</PresentationFormat>
  <Paragraphs>300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Custom Design</vt:lpstr>
      <vt:lpstr>1_Office Theme</vt:lpstr>
      <vt:lpstr>2_Office Theme</vt:lpstr>
      <vt:lpstr>PowerPoint Presentation</vt:lpstr>
      <vt:lpstr>Opening Remarks</vt:lpstr>
      <vt:lpstr>EWRI 2026 </vt:lpstr>
      <vt:lpstr>Schedule for Today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Machine Learning for Water Resources Engineers</dc:title>
  <dc:subject>Beginner AI/ML for water resources engineers</dc:subject>
  <dc:creator>OpenAI</dc:creator>
  <cp:lastModifiedBy>Jayantha Obeysekera</cp:lastModifiedBy>
  <cp:revision>12</cp:revision>
  <dcterms:created xsi:type="dcterms:W3CDTF">2026-03-24T11:18:58Z</dcterms:created>
  <dcterms:modified xsi:type="dcterms:W3CDTF">2026-04-26T08:34:54Z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0x0101005E1D1BEE7492B748AAA939E15478942A</vt:lpwstr>
  </property>
</Properties>
</file>